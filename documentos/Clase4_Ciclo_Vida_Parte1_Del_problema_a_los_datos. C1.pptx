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8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9DF79B-92D2-5120-217B-7C36CE565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9306EA1-5B85-A75B-CF5B-CA2FB2384B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039B43-2661-DB6C-4001-5E8411009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E024A-286D-4A62-B8B5-7CBA92BDFED3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979485-D46F-7070-C180-A99F6C932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839A1-C57C-CAB9-CB2A-DCBED2A52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316C3-6D47-4B04-B824-CC57565471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85970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5BABCB-957C-52EC-948E-643DF7A73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2DAFDF-A8EA-4F39-5A4E-995703F0F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F2E25C-D2CE-83F8-C992-00C488A08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E024A-286D-4A62-B8B5-7CBA92BDFED3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D7C968-01E8-DAF2-E40D-F810F0B51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4E7027-9757-6E38-7540-33F8B9D7F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316C3-6D47-4B04-B824-CC57565471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94727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AB77F0-4E12-803B-CD25-66D25213F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4AB27C-31B2-47D1-8499-24C011DEC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D5BD69-BB5F-31D5-1174-B6FB22367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E024A-286D-4A62-B8B5-7CBA92BDFED3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F8AC48-BC3C-5FF1-C5F1-2D457059A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58B1C3-FD32-7A37-B9B1-4B65F5B1A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316C3-6D47-4B04-B824-CC57565471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8292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B6D078-4A0A-0A36-E7A2-3B68FD37B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889746-7B6F-B968-4F95-0AEBB45BB3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B5741D2-A484-A8DF-F7A3-02AF840B81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D36AC79-61D7-1714-CFF0-0BD1BE2C2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E024A-286D-4A62-B8B5-7CBA92BDFED3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ECA2A9-4C53-6A26-1C64-66681B81F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8C4B5C6-162F-BA66-DF84-03B8E737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316C3-6D47-4B04-B824-CC57565471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7125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5D9EA3-125A-7D13-B312-3936B7D01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6D87FBB-025C-C142-B98A-B5A22A7CC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B6C025F-F588-A6B7-78C1-40F7CB49B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541CA1C-075E-EFD6-7944-E5ACFE4381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2384BDC-B93A-E68E-4F59-4A819FE244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520F365-E282-5A48-401B-99EEB4166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E024A-286D-4A62-B8B5-7CBA92BDFED3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36DE877-00F4-DBB2-0AE5-2730C8E83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2D60491-189A-79CC-1D8F-221EC8BC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316C3-6D47-4B04-B824-CC57565471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62915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5B023B-2FED-EFEE-0352-6B4538F3F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F98721E-2136-AA06-0697-4CA3870ED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E024A-286D-4A62-B8B5-7CBA92BDFED3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1AF0F97-722F-763C-5F22-5D8D78BF0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F402799-758D-7B25-52CB-E87B69CE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316C3-6D47-4B04-B824-CC57565471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9673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D827B5E-F8AB-1C6A-388B-91F92C723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E024A-286D-4A62-B8B5-7CBA92BDFED3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F3A1E3E-9552-2127-032F-D9EC79328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C46413-1324-802F-35A7-DF941A3EF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316C3-6D47-4B04-B824-CC57565471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2943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8B23E8-127F-13AB-3786-6303D18E7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DAFEFA-5FEA-3013-6053-56ACB8499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BA9D1DF-E3CC-C415-6492-52C65FDFEA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4F26594-99A2-C906-1745-6F5C1FECD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E024A-286D-4A62-B8B5-7CBA92BDFED3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D83A30E-E780-AC44-FAFE-49EB89991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AFFD9D-69D3-99AD-16A4-7BA0AE301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316C3-6D47-4B04-B824-CC57565471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41188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F15828-606B-3BD1-9B1E-4D79FE90F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BC92C0-F748-4478-C1CE-0BCAF866BA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1D9F294-8B72-2D9A-4E3F-C95F1D9AC6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6B3934D-2114-F467-3CD0-3FC6B8CFA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E024A-286D-4A62-B8B5-7CBA92BDFED3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A73EC6A-C4DB-7779-3346-F99F82050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05AF542-C710-BD12-0B9F-CAD83C535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316C3-6D47-4B04-B824-CC57565471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405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392FE5-52E4-DE75-B2D6-B4B44651D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8AC8B7C-3C35-FA39-AE52-19E4F0847F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6CC06D-6615-EFB2-5E50-86B863F29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E024A-286D-4A62-B8B5-7CBA92BDFED3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8EF73E-BE20-FE86-0344-581EAF98B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6AD47F-B77F-3939-AB49-66900729E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316C3-6D47-4B04-B824-CC57565471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29296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D219448-CD6B-1C5F-4A65-66C2ABA921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0666730-5ECA-956D-6D3F-E1C6B4D565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9956B1-F7EF-3C9F-C76D-4C0D7B5A8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E024A-286D-4A62-B8B5-7CBA92BDFED3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A51672-B7D6-74A4-F71E-60EEC333F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BB5F3A-7B73-93E6-3F86-9487FCEC4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316C3-6D47-4B04-B824-CC57565471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64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F012182-45F2-9545-16A3-725CE696B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58E6BAC-6480-B7A1-24E2-0240879D5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D62D7F-172B-064B-2789-F5BF394326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DE024A-286D-4A62-B8B5-7CBA92BDFED3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DE0F4A-741A-5AB1-644C-299B3BFF6D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3CCBDB-7C07-0EFD-A6E3-E5DDA0CD03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D316C3-6D47-4B04-B824-CC57565471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3587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CD75F6B-C550-557F-9C46-ADF129F100C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0800" y="0"/>
            <a:ext cx="45212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03C057D-377C-448A-0B52-C5261715B8D0}"/>
              </a:ext>
            </a:extLst>
          </p:cNvPr>
          <p:cNvSpPr txBox="1"/>
          <p:nvPr/>
        </p:nvSpPr>
        <p:spPr>
          <a:xfrm>
            <a:off x="812800" y="1816100"/>
            <a:ext cx="609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0A896"/>
                </a:solidFill>
                <a:latin typeface="Calibri" panose="020F0502020204030204" pitchFamily="34" charset="0"/>
              </a:rPr>
              <a:t>C L A S E   3     ·     P A R T E   1   D E   2</a:t>
            </a:r>
            <a:endParaRPr lang="es-CO" sz="1000" b="1">
              <a:solidFill>
                <a:srgbClr val="00A896"/>
              </a:solidFill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D08D9EF-F03E-1254-0A2D-3550E00ACABB}"/>
              </a:ext>
            </a:extLst>
          </p:cNvPr>
          <p:cNvSpPr txBox="1"/>
          <p:nvPr/>
        </p:nvSpPr>
        <p:spPr>
          <a:xfrm>
            <a:off x="812800" y="21844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4000" b="1">
                <a:solidFill>
                  <a:srgbClr val="FFFFFF"/>
                </a:solidFill>
                <a:latin typeface="Cambria" panose="02040503050406030204" pitchFamily="18" charset="0"/>
              </a:rPr>
              <a:t>El Ciclo de Vida</a:t>
            </a:r>
          </a:p>
          <a:p>
            <a:pPr>
              <a:lnSpc>
                <a:spcPct val="115000"/>
              </a:lnSpc>
            </a:pPr>
            <a:r>
              <a:rPr lang="es-MX" sz="4000" b="1">
                <a:solidFill>
                  <a:srgbClr val="FFFFFF"/>
                </a:solidFill>
                <a:latin typeface="Cambria" panose="02040503050406030204" pitchFamily="18" charset="0"/>
              </a:rPr>
              <a:t>de los Datos</a:t>
            </a:r>
            <a:endParaRPr lang="es-CO" sz="4000" b="1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13EA168-6EDC-95BC-224D-7044A949747D}"/>
              </a:ext>
            </a:extLst>
          </p:cNvPr>
          <p:cNvSpPr/>
          <p:nvPr/>
        </p:nvSpPr>
        <p:spPr>
          <a:xfrm>
            <a:off x="812800" y="3962400"/>
            <a:ext cx="1016000" cy="50800"/>
          </a:xfrm>
          <a:prstGeom prst="rect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55F203E-FDC7-B9D2-DC81-D4DCD166E37B}"/>
              </a:ext>
            </a:extLst>
          </p:cNvPr>
          <p:cNvSpPr txBox="1"/>
          <p:nvPr/>
        </p:nvSpPr>
        <p:spPr>
          <a:xfrm>
            <a:off x="812800" y="42545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400">
                <a:solidFill>
                  <a:srgbClr val="C3D6D8"/>
                </a:solidFill>
                <a:latin typeface="Calibri" panose="020F0502020204030204" pitchFamily="34" charset="0"/>
              </a:rPr>
              <a:t>Del problema a los datos limpios · Etapas 1 a 3 del ciclo</a:t>
            </a:r>
            <a:endParaRPr lang="es-CO" sz="140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FD37DA1-9905-C450-8A59-8CC9B52BFE55}"/>
              </a:ext>
            </a:extLst>
          </p:cNvPr>
          <p:cNvSpPr txBox="1"/>
          <p:nvPr/>
        </p:nvSpPr>
        <p:spPr>
          <a:xfrm>
            <a:off x="812800" y="52070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00">
                <a:solidFill>
                  <a:srgbClr val="BFEAE4"/>
                </a:solidFill>
                <a:latin typeface="Calibri" panose="020F0502020204030204" pitchFamily="34" charset="0"/>
              </a:rPr>
              <a:t>Visualización de Datos  ·  Universidad EAN</a:t>
            </a:r>
            <a:endParaRPr lang="es-CO" sz="1100">
              <a:solidFill>
                <a:srgbClr val="BFEAE4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701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3D5DDCA-EB06-6518-9B24-44B8DD283D53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28090"/>
                </a:solidFill>
                <a:latin typeface="Calibri" panose="020F0502020204030204" pitchFamily="34" charset="0"/>
              </a:rPr>
              <a:t>R U T A   D E   L A   S E S I O N</a:t>
            </a:r>
            <a:endParaRPr lang="es-CO" sz="1000" b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8588296-31C8-F581-8545-524B575A1B0F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100" b="1">
                <a:solidFill>
                  <a:srgbClr val="012E33"/>
                </a:solidFill>
                <a:latin typeface="Cambria" panose="02040503050406030204" pitchFamily="18" charset="0"/>
              </a:rPr>
              <a:t>Lo que veremos hoy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B03FF3F-69BB-281C-CA5F-D4BCA8B4D4C3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02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1112AB6-BD4A-610D-233D-E6E95DA8AF34}"/>
              </a:ext>
            </a:extLst>
          </p:cNvPr>
          <p:cNvSpPr/>
          <p:nvPr/>
        </p:nvSpPr>
        <p:spPr>
          <a:xfrm>
            <a:off x="850900" y="1676400"/>
            <a:ext cx="10490200" cy="8382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F592AD7-094D-D642-3A26-6AE57DB8EDCE}"/>
              </a:ext>
            </a:extLst>
          </p:cNvPr>
          <p:cNvSpPr/>
          <p:nvPr/>
        </p:nvSpPr>
        <p:spPr>
          <a:xfrm>
            <a:off x="1117600" y="1892300"/>
            <a:ext cx="406400" cy="4064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300" b="1">
                <a:solidFill>
                  <a:srgbClr val="FFFFFF"/>
                </a:solidFill>
                <a:latin typeface="Cambria" panose="02040503050406030204" pitchFamily="18" charset="0"/>
              </a:rPr>
              <a:t>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ECCF351-2E94-71BB-3340-EE94898E7754}"/>
              </a:ext>
            </a:extLst>
          </p:cNvPr>
          <p:cNvSpPr txBox="1"/>
          <p:nvPr/>
        </p:nvSpPr>
        <p:spPr>
          <a:xfrm>
            <a:off x="1714500" y="18542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500" b="1">
                <a:solidFill>
                  <a:srgbClr val="012E33"/>
                </a:solidFill>
                <a:latin typeface="Cambria" panose="02040503050406030204" pitchFamily="18" charset="0"/>
              </a:rPr>
              <a:t>El proceso, no el algoritmo</a:t>
            </a:r>
            <a:endParaRPr lang="es-CO" sz="150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1F25996-3F64-CFF1-F417-1E82137492E8}"/>
              </a:ext>
            </a:extLst>
          </p:cNvPr>
          <p:cNvSpPr txBox="1"/>
          <p:nvPr/>
        </p:nvSpPr>
        <p:spPr>
          <a:xfrm>
            <a:off x="5334000" y="19050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Por qué un proyecto de datos es un recorrido de ocho etapas</a:t>
            </a:r>
            <a:endParaRPr lang="es-CO" sz="12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9421E3B-0AFC-4977-64C2-B8D787ACAC9F}"/>
              </a:ext>
            </a:extLst>
          </p:cNvPr>
          <p:cNvSpPr txBox="1"/>
          <p:nvPr/>
        </p:nvSpPr>
        <p:spPr>
          <a:xfrm>
            <a:off x="10350500" y="19304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1150" b="1">
                <a:solidFill>
                  <a:srgbClr val="00A896"/>
                </a:solidFill>
                <a:latin typeface="Calibri" panose="020F0502020204030204" pitchFamily="34" charset="0"/>
              </a:rPr>
              <a:t>8 min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C0612AF-EA4D-0747-6979-BFA83F5F0256}"/>
              </a:ext>
            </a:extLst>
          </p:cNvPr>
          <p:cNvSpPr/>
          <p:nvPr/>
        </p:nvSpPr>
        <p:spPr>
          <a:xfrm>
            <a:off x="850900" y="2616200"/>
            <a:ext cx="10490200" cy="8382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B88B0838-CA95-F47A-65AB-F92DF0CCFA3D}"/>
              </a:ext>
            </a:extLst>
          </p:cNvPr>
          <p:cNvSpPr/>
          <p:nvPr/>
        </p:nvSpPr>
        <p:spPr>
          <a:xfrm>
            <a:off x="1117600" y="2832100"/>
            <a:ext cx="406400" cy="4064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300" b="1">
                <a:solidFill>
                  <a:srgbClr val="FFFFFF"/>
                </a:solidFill>
                <a:latin typeface="Cambria" panose="02040503050406030204" pitchFamily="18" charset="0"/>
              </a:rPr>
              <a:t>2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7403B8E-C1D6-BC95-A4F5-D2C20996042B}"/>
              </a:ext>
            </a:extLst>
          </p:cNvPr>
          <p:cNvSpPr txBox="1"/>
          <p:nvPr/>
        </p:nvSpPr>
        <p:spPr>
          <a:xfrm>
            <a:off x="1714500" y="27940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500" b="1">
                <a:solidFill>
                  <a:srgbClr val="012E33"/>
                </a:solidFill>
                <a:latin typeface="Cambria" panose="02040503050406030204" pitchFamily="18" charset="0"/>
              </a:rPr>
              <a:t>Etapa 1: el problema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7612F35-D95D-7825-AA32-E0CF36A82561}"/>
              </a:ext>
            </a:extLst>
          </p:cNvPr>
          <p:cNvSpPr txBox="1"/>
          <p:nvPr/>
        </p:nvSpPr>
        <p:spPr>
          <a:xfrm>
            <a:off x="5334000" y="28448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Definir la pregunta correcta antes de tocar un solo dato</a:t>
            </a:r>
            <a:endParaRPr lang="es-CO" sz="12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B264CC8-FA46-843B-64D8-96F418FE1E35}"/>
              </a:ext>
            </a:extLst>
          </p:cNvPr>
          <p:cNvSpPr txBox="1"/>
          <p:nvPr/>
        </p:nvSpPr>
        <p:spPr>
          <a:xfrm>
            <a:off x="10350500" y="28702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1150" b="1">
                <a:solidFill>
                  <a:srgbClr val="00A896"/>
                </a:solidFill>
                <a:latin typeface="Calibri" panose="020F0502020204030204" pitchFamily="34" charset="0"/>
              </a:rPr>
              <a:t>12 min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48F7169-F186-B189-521B-C930BE575998}"/>
              </a:ext>
            </a:extLst>
          </p:cNvPr>
          <p:cNvSpPr/>
          <p:nvPr/>
        </p:nvSpPr>
        <p:spPr>
          <a:xfrm>
            <a:off x="850900" y="3556000"/>
            <a:ext cx="10490200" cy="8382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933E550A-4D73-B6E1-5708-58140925F946}"/>
              </a:ext>
            </a:extLst>
          </p:cNvPr>
          <p:cNvSpPr/>
          <p:nvPr/>
        </p:nvSpPr>
        <p:spPr>
          <a:xfrm>
            <a:off x="1117600" y="3771900"/>
            <a:ext cx="406400" cy="4064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300" b="1">
                <a:solidFill>
                  <a:srgbClr val="FFFFFF"/>
                </a:solidFill>
                <a:latin typeface="Cambria" panose="02040503050406030204" pitchFamily="18" charset="0"/>
              </a:rPr>
              <a:t>3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D9EA407-78BA-B102-240B-CCAD7D941B08}"/>
              </a:ext>
            </a:extLst>
          </p:cNvPr>
          <p:cNvSpPr txBox="1"/>
          <p:nvPr/>
        </p:nvSpPr>
        <p:spPr>
          <a:xfrm>
            <a:off x="1714500" y="37338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500" b="1">
                <a:solidFill>
                  <a:srgbClr val="012E33"/>
                </a:solidFill>
                <a:latin typeface="Cambria" panose="02040503050406030204" pitchFamily="18" charset="0"/>
              </a:rPr>
              <a:t>Etapa 2: los datos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0AF8FCC-EAF8-FA64-538A-D455515C55E3}"/>
              </a:ext>
            </a:extLst>
          </p:cNvPr>
          <p:cNvSpPr txBox="1"/>
          <p:nvPr/>
        </p:nvSpPr>
        <p:spPr>
          <a:xfrm>
            <a:off x="5334000" y="37846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Dónde buscarlos y cómo evaluar si sirven</a:t>
            </a:r>
            <a:endParaRPr lang="es-CO" sz="12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1731F2A-2AE2-6F2F-718C-EC66C53293E2}"/>
              </a:ext>
            </a:extLst>
          </p:cNvPr>
          <p:cNvSpPr txBox="1"/>
          <p:nvPr/>
        </p:nvSpPr>
        <p:spPr>
          <a:xfrm>
            <a:off x="10350500" y="38100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1150" b="1">
                <a:solidFill>
                  <a:srgbClr val="00A896"/>
                </a:solidFill>
                <a:latin typeface="Calibri" panose="020F0502020204030204" pitchFamily="34" charset="0"/>
              </a:rPr>
              <a:t>12 min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FED8832-C4D7-65A8-65FD-063D27A18C8D}"/>
              </a:ext>
            </a:extLst>
          </p:cNvPr>
          <p:cNvSpPr/>
          <p:nvPr/>
        </p:nvSpPr>
        <p:spPr>
          <a:xfrm>
            <a:off x="850900" y="4495800"/>
            <a:ext cx="10490200" cy="8382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B6810C52-F0D6-C4C2-C424-85690AB6626F}"/>
              </a:ext>
            </a:extLst>
          </p:cNvPr>
          <p:cNvSpPr/>
          <p:nvPr/>
        </p:nvSpPr>
        <p:spPr>
          <a:xfrm>
            <a:off x="1117600" y="4711700"/>
            <a:ext cx="406400" cy="4064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300" b="1">
                <a:solidFill>
                  <a:srgbClr val="FFFFFF"/>
                </a:solidFill>
                <a:latin typeface="Cambria" panose="02040503050406030204" pitchFamily="18" charset="0"/>
              </a:rPr>
              <a:t>4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4EE9355-EF75-21C9-48DF-F8DB0F651668}"/>
              </a:ext>
            </a:extLst>
          </p:cNvPr>
          <p:cNvSpPr txBox="1"/>
          <p:nvPr/>
        </p:nvSpPr>
        <p:spPr>
          <a:xfrm>
            <a:off x="1714500" y="46736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500" b="1">
                <a:solidFill>
                  <a:srgbClr val="012E33"/>
                </a:solidFill>
                <a:latin typeface="Cambria" panose="02040503050406030204" pitchFamily="18" charset="0"/>
              </a:rPr>
              <a:t>Etapa 3: la limpieza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1588F2A-C79D-75F7-917A-043AB07027AF}"/>
              </a:ext>
            </a:extLst>
          </p:cNvPr>
          <p:cNvSpPr txBox="1"/>
          <p:nvPr/>
        </p:nvSpPr>
        <p:spPr>
          <a:xfrm>
            <a:off x="5334000" y="47244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El 80% del trabajo: donde se decide si el resultado es confiable</a:t>
            </a:r>
            <a:endParaRPr lang="es-CO" sz="12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DC481D6-0FA5-D277-64EF-AD2ABAA6FC7F}"/>
              </a:ext>
            </a:extLst>
          </p:cNvPr>
          <p:cNvSpPr txBox="1"/>
          <p:nvPr/>
        </p:nvSpPr>
        <p:spPr>
          <a:xfrm>
            <a:off x="10350500" y="4749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1150" b="1">
                <a:solidFill>
                  <a:srgbClr val="00A896"/>
                </a:solidFill>
                <a:latin typeface="Calibri" panose="020F0502020204030204" pitchFamily="34" charset="0"/>
              </a:rPr>
              <a:t>15 min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93D52042-82A9-6904-A9DD-D59F813F2708}"/>
              </a:ext>
            </a:extLst>
          </p:cNvPr>
          <p:cNvSpPr/>
          <p:nvPr/>
        </p:nvSpPr>
        <p:spPr>
          <a:xfrm>
            <a:off x="850900" y="5435600"/>
            <a:ext cx="10490200" cy="8382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61195989-0F82-7D98-979F-6B49AA0DD23B}"/>
              </a:ext>
            </a:extLst>
          </p:cNvPr>
          <p:cNvSpPr/>
          <p:nvPr/>
        </p:nvSpPr>
        <p:spPr>
          <a:xfrm>
            <a:off x="1117600" y="5651500"/>
            <a:ext cx="406400" cy="4064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300" b="1">
                <a:solidFill>
                  <a:srgbClr val="FFFFFF"/>
                </a:solidFill>
                <a:latin typeface="Cambria" panose="02040503050406030204" pitchFamily="18" charset="0"/>
              </a:rPr>
              <a:t>5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9936A098-CEED-5E2D-E9A1-9CBB15D99B1E}"/>
              </a:ext>
            </a:extLst>
          </p:cNvPr>
          <p:cNvSpPr txBox="1"/>
          <p:nvPr/>
        </p:nvSpPr>
        <p:spPr>
          <a:xfrm>
            <a:off x="1714500" y="56134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500" b="1">
                <a:solidFill>
                  <a:srgbClr val="012E33"/>
                </a:solidFill>
                <a:latin typeface="Cambria" panose="02040503050406030204" pitchFamily="18" charset="0"/>
              </a:rPr>
              <a:t>CSI Datos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C420EF7-52C8-4814-781D-F8C8A45D0E22}"/>
              </a:ext>
            </a:extLst>
          </p:cNvPr>
          <p:cNvSpPr txBox="1"/>
          <p:nvPr/>
        </p:nvSpPr>
        <p:spPr>
          <a:xfrm>
            <a:off x="5334000" y="56642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Actividad de cierre por equipos con entrega en Canvas</a:t>
            </a:r>
            <a:endParaRPr lang="es-CO" sz="12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169B6A2-C297-E341-2C95-15781B1F29C7}"/>
              </a:ext>
            </a:extLst>
          </p:cNvPr>
          <p:cNvSpPr txBox="1"/>
          <p:nvPr/>
        </p:nvSpPr>
        <p:spPr>
          <a:xfrm>
            <a:off x="10350500" y="5689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1150" b="1">
                <a:solidFill>
                  <a:srgbClr val="00A896"/>
                </a:solidFill>
                <a:latin typeface="Calibri" panose="020F0502020204030204" pitchFamily="34" charset="0"/>
              </a:rPr>
              <a:t>25 min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008B653-E14B-AEE8-B322-FAE2B64B242E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028090"/>
                </a:solidFill>
                <a:latin typeface="Calibri" panose="020F0502020204030204" pitchFamily="34" charset="0"/>
              </a:rPr>
              <a:t>La segunda mitad del ciclo (análisis, modelo, comunicación y decisión) la vemos en la próxima sesión.</a:t>
            </a:r>
            <a:endParaRPr lang="es-CO" sz="115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599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FBC18CC-E19D-8421-5E34-D633A410EE27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28090"/>
                </a:solidFill>
                <a:latin typeface="Calibri" panose="020F0502020204030204" pitchFamily="34" charset="0"/>
              </a:rPr>
              <a:t>D O N D E   Q U E D A M O S</a:t>
            </a:r>
            <a:endParaRPr lang="es-CO" sz="1000" b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31A7D65-2ED8-91B2-9753-B39D3FCCFEE1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3100" b="1">
                <a:solidFill>
                  <a:srgbClr val="012E33"/>
                </a:solidFill>
                <a:latin typeface="Cambria" panose="02040503050406030204" pitchFamily="18" charset="0"/>
              </a:rPr>
              <a:t>De la anatomía al proceso</a:t>
            </a:r>
            <a:endParaRPr lang="es-CO" sz="310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6122BD1-EF1C-A076-E914-27E98C6D3A21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03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A75699C-82CE-F72C-6AE2-9F1FCE5E455D}"/>
              </a:ext>
            </a:extLst>
          </p:cNvPr>
          <p:cNvSpPr/>
          <p:nvPr/>
        </p:nvSpPr>
        <p:spPr>
          <a:xfrm>
            <a:off x="850900" y="1778000"/>
            <a:ext cx="5080000" cy="30480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D9F5379-EA54-1481-96D1-71867A5D107F}"/>
              </a:ext>
            </a:extLst>
          </p:cNvPr>
          <p:cNvSpPr txBox="1"/>
          <p:nvPr/>
        </p:nvSpPr>
        <p:spPr>
          <a:xfrm>
            <a:off x="1206500" y="20955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700" b="1">
                <a:solidFill>
                  <a:srgbClr val="028090"/>
                </a:solidFill>
                <a:latin typeface="Cambria" panose="02040503050406030204" pitchFamily="18" charset="0"/>
              </a:rPr>
              <a:t>Clase anterior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2BF3359-3EB4-958B-D2AC-83247D9776E6}"/>
              </a:ext>
            </a:extLst>
          </p:cNvPr>
          <p:cNvSpPr txBox="1"/>
          <p:nvPr/>
        </p:nvSpPr>
        <p:spPr>
          <a:xfrm>
            <a:off x="1206500" y="25400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300">
                <a:solidFill>
                  <a:srgbClr val="5C6C6E"/>
                </a:solidFill>
                <a:latin typeface="Calibri" panose="020F0502020204030204" pitchFamily="34" charset="0"/>
              </a:rPr>
              <a:t>Aprendimos a mirar UN dato:</a:t>
            </a:r>
          </a:p>
          <a:p>
            <a:pPr>
              <a:lnSpc>
                <a:spcPct val="115000"/>
              </a:lnSpc>
            </a:pPr>
            <a:endParaRPr lang="es-MX" sz="1300">
              <a:solidFill>
                <a:srgbClr val="5C6C6E"/>
              </a:solidFill>
              <a:latin typeface="Calibri" panose="020F0502020204030204" pitchFamily="34" charset="0"/>
            </a:endParaRPr>
          </a:p>
          <a:p>
            <a:pPr>
              <a:lnSpc>
                <a:spcPct val="115000"/>
              </a:lnSpc>
            </a:pPr>
            <a:r>
              <a:rPr lang="es-MX" sz="1300">
                <a:solidFill>
                  <a:srgbClr val="5C6C6E"/>
                </a:solidFill>
                <a:latin typeface="Calibri" panose="020F0502020204030204" pitchFamily="34" charset="0"/>
              </a:rPr>
              <a:t>· Cualitativo: nominal y ordinal</a:t>
            </a:r>
          </a:p>
          <a:p>
            <a:pPr>
              <a:lnSpc>
                <a:spcPct val="115000"/>
              </a:lnSpc>
            </a:pPr>
            <a:r>
              <a:rPr lang="es-MX" sz="1300">
                <a:solidFill>
                  <a:srgbClr val="5C6C6E"/>
                </a:solidFill>
                <a:latin typeface="Calibri" panose="020F0502020204030204" pitchFamily="34" charset="0"/>
              </a:rPr>
              <a:t>· Cuantitativo: discreto y continuo</a:t>
            </a:r>
          </a:p>
          <a:p>
            <a:pPr>
              <a:lnSpc>
                <a:spcPct val="115000"/>
              </a:lnSpc>
            </a:pPr>
            <a:r>
              <a:rPr lang="es-MX" sz="1300">
                <a:solidFill>
                  <a:srgbClr val="5C6C6E"/>
                </a:solidFill>
                <a:latin typeface="Calibri" panose="020F0502020204030204" pitchFamily="34" charset="0"/>
              </a:rPr>
              <a:t>· Y qué operaciones y qué gráficos permite cada tipo.</a:t>
            </a:r>
            <a:endParaRPr lang="es-CO" sz="13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7BE0B3B-929C-6994-47C7-7A0CD77AB76A}"/>
              </a:ext>
            </a:extLst>
          </p:cNvPr>
          <p:cNvSpPr/>
          <p:nvPr/>
        </p:nvSpPr>
        <p:spPr>
          <a:xfrm>
            <a:off x="6261100" y="1778000"/>
            <a:ext cx="5080000" cy="3048000"/>
          </a:xfrm>
          <a:prstGeom prst="rect">
            <a:avLst/>
          </a:prstGeom>
          <a:solidFill>
            <a:srgbClr val="012E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3DE50E0-8D2B-10B8-DE9B-6D06661FE607}"/>
              </a:ext>
            </a:extLst>
          </p:cNvPr>
          <p:cNvSpPr txBox="1"/>
          <p:nvPr/>
        </p:nvSpPr>
        <p:spPr>
          <a:xfrm>
            <a:off x="6616700" y="20955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700" b="1">
                <a:solidFill>
                  <a:srgbClr val="02C39A"/>
                </a:solidFill>
                <a:latin typeface="Cambria" panose="02040503050406030204" pitchFamily="18" charset="0"/>
              </a:rPr>
              <a:t>Hoy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19E13D8-0191-01C6-5009-652059DA50DD}"/>
              </a:ext>
            </a:extLst>
          </p:cNvPr>
          <p:cNvSpPr txBox="1"/>
          <p:nvPr/>
        </p:nvSpPr>
        <p:spPr>
          <a:xfrm>
            <a:off x="6616700" y="25400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300">
                <a:solidFill>
                  <a:srgbClr val="C3D6D8"/>
                </a:solidFill>
                <a:latin typeface="Calibri" panose="020F0502020204030204" pitchFamily="34" charset="0"/>
              </a:rPr>
              <a:t>Aprendemos a mirar EL PROCESO:</a:t>
            </a:r>
          </a:p>
          <a:p>
            <a:pPr>
              <a:lnSpc>
                <a:spcPct val="115000"/>
              </a:lnSpc>
            </a:pPr>
            <a:endParaRPr lang="es-MX" sz="1300">
              <a:solidFill>
                <a:srgbClr val="C3D6D8"/>
              </a:solidFill>
              <a:latin typeface="Calibri" panose="020F0502020204030204" pitchFamily="34" charset="0"/>
            </a:endParaRPr>
          </a:p>
          <a:p>
            <a:pPr>
              <a:lnSpc>
                <a:spcPct val="115000"/>
              </a:lnSpc>
            </a:pPr>
            <a:r>
              <a:rPr lang="es-MX" sz="1300">
                <a:solidFill>
                  <a:srgbClr val="C3D6D8"/>
                </a:solidFill>
                <a:latin typeface="Calibri" panose="020F0502020204030204" pitchFamily="34" charset="0"/>
              </a:rPr>
              <a:t>· Qué le pasa a ese dato desde que alguien lo genera hasta que alguien decide algo con él.</a:t>
            </a:r>
          </a:p>
          <a:p>
            <a:pPr>
              <a:lnSpc>
                <a:spcPct val="115000"/>
              </a:lnSpc>
            </a:pPr>
            <a:r>
              <a:rPr lang="es-MX" sz="1300">
                <a:solidFill>
                  <a:srgbClr val="C3D6D8"/>
                </a:solidFill>
                <a:latin typeface="Calibri" panose="020F0502020204030204" pitchFamily="34" charset="0"/>
              </a:rPr>
              <a:t>· Y algo nuevo: la ESTRUCTURA de la tabla, que no es lo mismo que el tipo de dato.</a:t>
            </a:r>
            <a:endParaRPr lang="es-CO" sz="130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BDCA853-1936-0403-2014-4DF77A5D230C}"/>
              </a:ext>
            </a:extLst>
          </p:cNvPr>
          <p:cNvSpPr txBox="1"/>
          <p:nvPr/>
        </p:nvSpPr>
        <p:spPr>
          <a:xfrm>
            <a:off x="850900" y="5143500"/>
            <a:ext cx="1049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MX" sz="1500" b="1">
                <a:solidFill>
                  <a:srgbClr val="012E33"/>
                </a:solidFill>
                <a:latin typeface="Cambria" panose="02040503050406030204" pitchFamily="18" charset="0"/>
              </a:rPr>
              <a:t>Saber qué es un dato no basta: hay que saber por dónde pasa, quién lo toca y en qué punto se puede dañar.</a:t>
            </a:r>
            <a:endParaRPr lang="es-CO" sz="150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885025E-6BB3-5386-52BE-7F530E1CC07A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028090"/>
                </a:solidFill>
                <a:latin typeface="Calibri" panose="020F0502020204030204" pitchFamily="34" charset="0"/>
              </a:rPr>
              <a:t>Un proyecto de datos no falla por el algoritmo: falla por la etapa que alguien decidió saltarse.</a:t>
            </a:r>
            <a:endParaRPr lang="es-CO" sz="115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059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08FFEF3-68FB-3D5F-558D-222FDD7A7CDA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28090"/>
                </a:solidFill>
                <a:latin typeface="Calibri" panose="020F0502020204030204" pitchFamily="34" charset="0"/>
              </a:rPr>
              <a:t>C O N E X I O N   C O N   L A   C L A S E   A N T E R I O R</a:t>
            </a:r>
            <a:endParaRPr lang="es-CO" sz="1000" b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44811E8-3996-40C5-01E5-DBA4B2384679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3100" b="1">
                <a:solidFill>
                  <a:srgbClr val="012E33"/>
                </a:solidFill>
                <a:latin typeface="Cambria" panose="02040503050406030204" pitchFamily="18" charset="0"/>
              </a:rPr>
              <a:t>John Snow ya recorrió este ciclo</a:t>
            </a:r>
            <a:endParaRPr lang="es-CO" sz="310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C3B8772-F562-4EEA-E5CF-BCB6F73C2854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04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22AA88E-280B-4DB0-6EDF-53F9B3629997}"/>
              </a:ext>
            </a:extLst>
          </p:cNvPr>
          <p:cNvSpPr txBox="1"/>
          <p:nvPr/>
        </p:nvSpPr>
        <p:spPr>
          <a:xfrm>
            <a:off x="850900" y="1625600"/>
            <a:ext cx="1049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350">
                <a:solidFill>
                  <a:srgbClr val="5C6C6E"/>
                </a:solidFill>
                <a:latin typeface="Calibri" panose="020F0502020204030204" pitchFamily="34" charset="0"/>
              </a:rPr>
              <a:t>El mapa del cólera de 1854 no fue un golpe de suerte ni un dibujo bonito: fue un proyecto de datos completo, ejecutado sin computador. Miren cómo cada paso que dio corresponde a una etapa del ciclo:</a:t>
            </a:r>
            <a:endParaRPr lang="es-CO" sz="13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0AE87CB-5F85-4610-ACE8-DB31170CE058}"/>
              </a:ext>
            </a:extLst>
          </p:cNvPr>
          <p:cNvSpPr/>
          <p:nvPr/>
        </p:nvSpPr>
        <p:spPr>
          <a:xfrm>
            <a:off x="850900" y="2235200"/>
            <a:ext cx="10490200" cy="5080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DD50E59-756F-1FE7-55A2-2E82EB1CA17F}"/>
              </a:ext>
            </a:extLst>
          </p:cNvPr>
          <p:cNvSpPr/>
          <p:nvPr/>
        </p:nvSpPr>
        <p:spPr>
          <a:xfrm>
            <a:off x="1092200" y="2311400"/>
            <a:ext cx="355600" cy="3556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000" b="1">
                <a:solidFill>
                  <a:srgbClr val="FFFFFF"/>
                </a:solidFill>
                <a:latin typeface="Cambria" panose="02040503050406030204" pitchFamily="18" charset="0"/>
              </a:rPr>
              <a:t>1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160BDB2-AE97-A1E0-B0D5-25979685A2E0}"/>
              </a:ext>
            </a:extLst>
          </p:cNvPr>
          <p:cNvSpPr txBox="1"/>
          <p:nvPr/>
        </p:nvSpPr>
        <p:spPr>
          <a:xfrm>
            <a:off x="1625600" y="23749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250" b="1">
                <a:solidFill>
                  <a:srgbClr val="012E33"/>
                </a:solidFill>
                <a:latin typeface="Cambria" panose="02040503050406030204" pitchFamily="18" charset="0"/>
              </a:rPr>
              <a:t>Problema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FA266D9-55E1-A3ED-2D09-0F8A2DE06765}"/>
              </a:ext>
            </a:extLst>
          </p:cNvPr>
          <p:cNvSpPr txBox="1"/>
          <p:nvPr/>
        </p:nvSpPr>
        <p:spPr>
          <a:xfrm>
            <a:off x="3810000" y="2374900"/>
            <a:ext cx="730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La gente muere de cólera y nadie sabe por qué. ¿Se transmite por el aire, como todos creen?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1E9AA5B-276E-7526-3ECD-B16428F425D1}"/>
              </a:ext>
            </a:extLst>
          </p:cNvPr>
          <p:cNvSpPr/>
          <p:nvPr/>
        </p:nvSpPr>
        <p:spPr>
          <a:xfrm>
            <a:off x="850900" y="2794000"/>
            <a:ext cx="10490200" cy="5080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CD175CA2-4709-35E7-465D-E875D1E19631}"/>
              </a:ext>
            </a:extLst>
          </p:cNvPr>
          <p:cNvSpPr/>
          <p:nvPr/>
        </p:nvSpPr>
        <p:spPr>
          <a:xfrm>
            <a:off x="1092200" y="2870200"/>
            <a:ext cx="355600" cy="3556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000" b="1">
                <a:solidFill>
                  <a:srgbClr val="FFFFFF"/>
                </a:solidFill>
                <a:latin typeface="Cambria" panose="02040503050406030204" pitchFamily="18" charset="0"/>
              </a:rPr>
              <a:t>2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02ECE3E-B0D3-A72E-6F03-563BBEBAC8AD}"/>
              </a:ext>
            </a:extLst>
          </p:cNvPr>
          <p:cNvSpPr txBox="1"/>
          <p:nvPr/>
        </p:nvSpPr>
        <p:spPr>
          <a:xfrm>
            <a:off x="1625600" y="29337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250" b="1">
                <a:solidFill>
                  <a:srgbClr val="012E33"/>
                </a:solidFill>
                <a:latin typeface="Cambria" panose="02040503050406030204" pitchFamily="18" charset="0"/>
              </a:rPr>
              <a:t>Datos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E78D972-4E4B-2BB5-B4C6-9F58A96E35E9}"/>
              </a:ext>
            </a:extLst>
          </p:cNvPr>
          <p:cNvSpPr txBox="1"/>
          <p:nvPr/>
        </p:nvSpPr>
        <p:spPr>
          <a:xfrm>
            <a:off x="3810000" y="2933700"/>
            <a:ext cx="730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Recorre el barrio casa por casa: registra cada muerte y la ubicación de cada pozo de agua.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EC5B04A-9340-B99B-49E7-E5406CE38D8B}"/>
              </a:ext>
            </a:extLst>
          </p:cNvPr>
          <p:cNvSpPr/>
          <p:nvPr/>
        </p:nvSpPr>
        <p:spPr>
          <a:xfrm>
            <a:off x="850900" y="3352800"/>
            <a:ext cx="10490200" cy="5080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7E104601-6655-C75F-87C3-3168953EC696}"/>
              </a:ext>
            </a:extLst>
          </p:cNvPr>
          <p:cNvSpPr/>
          <p:nvPr/>
        </p:nvSpPr>
        <p:spPr>
          <a:xfrm>
            <a:off x="1092200" y="3429000"/>
            <a:ext cx="355600" cy="3556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000" b="1">
                <a:solidFill>
                  <a:srgbClr val="FFFFFF"/>
                </a:solidFill>
                <a:latin typeface="Cambria" panose="02040503050406030204" pitchFamily="18" charset="0"/>
              </a:rPr>
              <a:t>3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984367B-19C5-31D7-F155-CFDE8096D6CF}"/>
              </a:ext>
            </a:extLst>
          </p:cNvPr>
          <p:cNvSpPr txBox="1"/>
          <p:nvPr/>
        </p:nvSpPr>
        <p:spPr>
          <a:xfrm>
            <a:off x="1625600" y="34925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250" b="1">
                <a:solidFill>
                  <a:srgbClr val="012E33"/>
                </a:solidFill>
                <a:latin typeface="Cambria" panose="02040503050406030204" pitchFamily="18" charset="0"/>
              </a:rPr>
              <a:t>Limpieza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B1AD043-6F71-A502-C38F-EC0571187CA6}"/>
              </a:ext>
            </a:extLst>
          </p:cNvPr>
          <p:cNvSpPr txBox="1"/>
          <p:nvPr/>
        </p:nvSpPr>
        <p:spPr>
          <a:xfrm>
            <a:off x="3810000" y="3492500"/>
            <a:ext cx="730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Descarta los casos mal ubicados y verifica direcciones dudosas preguntando a los vecinos.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94D089C-7B9F-6030-B926-67A02B963572}"/>
              </a:ext>
            </a:extLst>
          </p:cNvPr>
          <p:cNvSpPr/>
          <p:nvPr/>
        </p:nvSpPr>
        <p:spPr>
          <a:xfrm>
            <a:off x="850900" y="3911600"/>
            <a:ext cx="10490200" cy="5080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CA9A8251-6CFA-F044-850F-B188B7DCEC67}"/>
              </a:ext>
            </a:extLst>
          </p:cNvPr>
          <p:cNvSpPr/>
          <p:nvPr/>
        </p:nvSpPr>
        <p:spPr>
          <a:xfrm>
            <a:off x="1092200" y="3987800"/>
            <a:ext cx="355600" cy="3556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000" b="1">
                <a:solidFill>
                  <a:srgbClr val="FFFFFF"/>
                </a:solidFill>
                <a:latin typeface="Cambria" panose="02040503050406030204" pitchFamily="18" charset="0"/>
              </a:rPr>
              <a:t>4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077090D-2567-6453-C447-CBFA015C9F0C}"/>
              </a:ext>
            </a:extLst>
          </p:cNvPr>
          <p:cNvSpPr txBox="1"/>
          <p:nvPr/>
        </p:nvSpPr>
        <p:spPr>
          <a:xfrm>
            <a:off x="1625600" y="40513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250" b="1">
                <a:solidFill>
                  <a:srgbClr val="012E33"/>
                </a:solidFill>
                <a:latin typeface="Cambria" panose="02040503050406030204" pitchFamily="18" charset="0"/>
              </a:rPr>
              <a:t>EDA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B092CD4-6244-9D93-6D95-D16B5000D443}"/>
              </a:ext>
            </a:extLst>
          </p:cNvPr>
          <p:cNvSpPr txBox="1"/>
          <p:nvPr/>
        </p:nvSpPr>
        <p:spPr>
          <a:xfrm>
            <a:off x="3810000" y="4051300"/>
            <a:ext cx="730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Los mapea. Al verlos juntos aparece el patrón: las muertes se agrupan alrededor de un pozo.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13E28CA-B861-B17C-9659-EAE02E34D839}"/>
              </a:ext>
            </a:extLst>
          </p:cNvPr>
          <p:cNvSpPr/>
          <p:nvPr/>
        </p:nvSpPr>
        <p:spPr>
          <a:xfrm>
            <a:off x="850900" y="4470400"/>
            <a:ext cx="10490200" cy="5080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865A88CE-8B13-582F-314B-60CE5EBF8EBB}"/>
              </a:ext>
            </a:extLst>
          </p:cNvPr>
          <p:cNvSpPr/>
          <p:nvPr/>
        </p:nvSpPr>
        <p:spPr>
          <a:xfrm>
            <a:off x="1092200" y="4546600"/>
            <a:ext cx="355600" cy="3556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000" b="1">
                <a:solidFill>
                  <a:srgbClr val="FFFFFF"/>
                </a:solidFill>
                <a:latin typeface="Cambria" panose="02040503050406030204" pitchFamily="18" charset="0"/>
              </a:rPr>
              <a:t>5-6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4029858-3D8A-2D7D-7657-DFD58CA436FD}"/>
              </a:ext>
            </a:extLst>
          </p:cNvPr>
          <p:cNvSpPr txBox="1"/>
          <p:nvPr/>
        </p:nvSpPr>
        <p:spPr>
          <a:xfrm>
            <a:off x="1625600" y="46101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250" b="1">
                <a:solidFill>
                  <a:srgbClr val="012E33"/>
                </a:solidFill>
                <a:latin typeface="Cambria" panose="02040503050406030204" pitchFamily="18" charset="0"/>
              </a:rPr>
              <a:t>Modelo y evaluación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BF1368C-AD50-1CFB-A9F8-441046760EFC}"/>
              </a:ext>
            </a:extLst>
          </p:cNvPr>
          <p:cNvSpPr txBox="1"/>
          <p:nvPr/>
        </p:nvSpPr>
        <p:spPr>
          <a:xfrm>
            <a:off x="3810000" y="4610100"/>
            <a:ext cx="730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Formula la hipótesis del agua contaminada y busca casos que la contradigan.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C55DC5DD-D5C9-00BE-E37A-CF4C1B52FE2A}"/>
              </a:ext>
            </a:extLst>
          </p:cNvPr>
          <p:cNvSpPr/>
          <p:nvPr/>
        </p:nvSpPr>
        <p:spPr>
          <a:xfrm>
            <a:off x="850900" y="5029200"/>
            <a:ext cx="10490200" cy="5080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C110A167-3710-AC0E-0ABF-BB7DBE67C710}"/>
              </a:ext>
            </a:extLst>
          </p:cNvPr>
          <p:cNvSpPr/>
          <p:nvPr/>
        </p:nvSpPr>
        <p:spPr>
          <a:xfrm>
            <a:off x="1092200" y="5105400"/>
            <a:ext cx="355600" cy="3556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000" b="1">
                <a:solidFill>
                  <a:srgbClr val="FFFFFF"/>
                </a:solidFill>
                <a:latin typeface="Cambria" panose="02040503050406030204" pitchFamily="18" charset="0"/>
              </a:rPr>
              <a:t>7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B494515-07AA-52B9-0A22-4737A14F66FD}"/>
              </a:ext>
            </a:extLst>
          </p:cNvPr>
          <p:cNvSpPr txBox="1"/>
          <p:nvPr/>
        </p:nvSpPr>
        <p:spPr>
          <a:xfrm>
            <a:off x="1625600" y="51689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250" b="1">
                <a:solidFill>
                  <a:srgbClr val="012E33"/>
                </a:solidFill>
                <a:latin typeface="Cambria" panose="02040503050406030204" pitchFamily="18" charset="0"/>
              </a:rPr>
              <a:t>Visualización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6A9118B-C4D0-3F81-8ADB-955BB551CBE2}"/>
              </a:ext>
            </a:extLst>
          </p:cNvPr>
          <p:cNvSpPr txBox="1"/>
          <p:nvPr/>
        </p:nvSpPr>
        <p:spPr>
          <a:xfrm>
            <a:off x="3810000" y="5168900"/>
            <a:ext cx="730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El mapa de puntos: una imagen que cualquier autoridad entiende sin estadística.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A45F2BB1-4E4E-91D6-E388-7C3E8A935D56}"/>
              </a:ext>
            </a:extLst>
          </p:cNvPr>
          <p:cNvSpPr/>
          <p:nvPr/>
        </p:nvSpPr>
        <p:spPr>
          <a:xfrm>
            <a:off x="850900" y="5588000"/>
            <a:ext cx="10490200" cy="5080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9572741F-3069-E5A1-CE69-4B94D238A76F}"/>
              </a:ext>
            </a:extLst>
          </p:cNvPr>
          <p:cNvSpPr/>
          <p:nvPr/>
        </p:nvSpPr>
        <p:spPr>
          <a:xfrm>
            <a:off x="1092200" y="5664200"/>
            <a:ext cx="355600" cy="3556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000" b="1">
                <a:solidFill>
                  <a:srgbClr val="FFFFFF"/>
                </a:solidFill>
                <a:latin typeface="Cambria" panose="02040503050406030204" pitchFamily="18" charset="0"/>
              </a:rPr>
              <a:t>8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B2E97A5E-01F7-866F-B1E5-76CB7B4BE898}"/>
              </a:ext>
            </a:extLst>
          </p:cNvPr>
          <p:cNvSpPr txBox="1"/>
          <p:nvPr/>
        </p:nvSpPr>
        <p:spPr>
          <a:xfrm>
            <a:off x="1625600" y="57277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250" b="1">
                <a:solidFill>
                  <a:srgbClr val="012E33"/>
                </a:solidFill>
                <a:latin typeface="Cambria" panose="02040503050406030204" pitchFamily="18" charset="0"/>
              </a:rPr>
              <a:t>Decisión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E96E6DBE-2484-8005-E7AE-FC48E2AB5E97}"/>
              </a:ext>
            </a:extLst>
          </p:cNvPr>
          <p:cNvSpPr txBox="1"/>
          <p:nvPr/>
        </p:nvSpPr>
        <p:spPr>
          <a:xfrm>
            <a:off x="3810000" y="5727700"/>
            <a:ext cx="730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Le quitan la manija a la bomba. Los contagios caen. Nace la epidemiología moderna.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A8FFB93F-5123-B41A-0871-4B2E4D7F58E7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028090"/>
                </a:solidFill>
                <a:latin typeface="Calibri" panose="020F0502020204030204" pitchFamily="34" charset="0"/>
              </a:rPr>
              <a:t>Las herramientas cambian cada cinco años. El proceso lleva 170 años igual.</a:t>
            </a:r>
            <a:endParaRPr lang="es-CO" sz="115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583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84792F2-0784-D447-A690-7C0DFCE8FE8A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0A896"/>
                </a:solidFill>
                <a:latin typeface="Calibri" panose="020F0502020204030204" pitchFamily="34" charset="0"/>
              </a:rPr>
              <a:t>V I S I O N   G E N E R A L</a:t>
            </a:r>
            <a:endParaRPr lang="es-CO" sz="1000" b="1">
              <a:solidFill>
                <a:srgbClr val="00A896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8B32670-4881-B1BF-32F2-7CB1D41395F2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3100" b="1">
                <a:solidFill>
                  <a:srgbClr val="FFFFFF"/>
                </a:solidFill>
                <a:latin typeface="Cambria" panose="02040503050406030204" pitchFamily="18" charset="0"/>
              </a:rPr>
              <a:t>No es una línea recta. Es un ciclo.</a:t>
            </a:r>
            <a:endParaRPr lang="es-CO" sz="3100" b="1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96C8675-085D-6FE8-5849-C7A4DD44BDB5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0B4249"/>
                </a:solidFill>
                <a:latin typeface="Cambria" panose="02040503050406030204" pitchFamily="18" charset="0"/>
              </a:rPr>
              <a:t>05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CA735C7-9DA8-9F3B-03DB-9C20AA83F32B}"/>
              </a:ext>
            </a:extLst>
          </p:cNvPr>
          <p:cNvSpPr/>
          <p:nvPr/>
        </p:nvSpPr>
        <p:spPr>
          <a:xfrm>
            <a:off x="850900" y="1905000"/>
            <a:ext cx="2413000" cy="13970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DFD6CA06-34B7-756A-7F7E-DEB1F5537314}"/>
              </a:ext>
            </a:extLst>
          </p:cNvPr>
          <p:cNvSpPr/>
          <p:nvPr/>
        </p:nvSpPr>
        <p:spPr>
          <a:xfrm>
            <a:off x="1104900" y="2159000"/>
            <a:ext cx="431800" cy="4318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400" b="1">
                <a:solidFill>
                  <a:srgbClr val="012E33"/>
                </a:solidFill>
                <a:latin typeface="Cambria" panose="02040503050406030204" pitchFamily="18" charset="0"/>
              </a:rPr>
              <a:t>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51F9541-99A7-3BBE-2355-F0D5F0512245}"/>
              </a:ext>
            </a:extLst>
          </p:cNvPr>
          <p:cNvSpPr txBox="1"/>
          <p:nvPr/>
        </p:nvSpPr>
        <p:spPr>
          <a:xfrm>
            <a:off x="1104900" y="2717800"/>
            <a:ext cx="19685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FFFFFF"/>
                </a:solidFill>
                <a:latin typeface="Cambria" panose="02040503050406030204" pitchFamily="18" charset="0"/>
              </a:rPr>
              <a:t>Problema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237B66C-7FF6-A9B5-D27B-E415FF124454}"/>
              </a:ext>
            </a:extLst>
          </p:cNvPr>
          <p:cNvSpPr/>
          <p:nvPr/>
        </p:nvSpPr>
        <p:spPr>
          <a:xfrm>
            <a:off x="3517900" y="1905000"/>
            <a:ext cx="2413000" cy="13970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078F5161-2CF8-FE36-AEDF-13031494B1AF}"/>
              </a:ext>
            </a:extLst>
          </p:cNvPr>
          <p:cNvSpPr/>
          <p:nvPr/>
        </p:nvSpPr>
        <p:spPr>
          <a:xfrm>
            <a:off x="3771900" y="2159000"/>
            <a:ext cx="431800" cy="4318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400" b="1">
                <a:solidFill>
                  <a:srgbClr val="012E33"/>
                </a:solidFill>
                <a:latin typeface="Cambria" panose="02040503050406030204" pitchFamily="18" charset="0"/>
              </a:rPr>
              <a:t>2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0921BE6-7F43-7B42-60B9-5148D1B072D0}"/>
              </a:ext>
            </a:extLst>
          </p:cNvPr>
          <p:cNvSpPr txBox="1"/>
          <p:nvPr/>
        </p:nvSpPr>
        <p:spPr>
          <a:xfrm>
            <a:off x="3771900" y="2717800"/>
            <a:ext cx="19685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FFFFFF"/>
                </a:solidFill>
                <a:latin typeface="Cambria" panose="02040503050406030204" pitchFamily="18" charset="0"/>
              </a:rPr>
              <a:t>Datos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2E1D1EC-8CCA-90DE-F709-08D4DDB56F2E}"/>
              </a:ext>
            </a:extLst>
          </p:cNvPr>
          <p:cNvSpPr/>
          <p:nvPr/>
        </p:nvSpPr>
        <p:spPr>
          <a:xfrm>
            <a:off x="6184900" y="1905000"/>
            <a:ext cx="2413000" cy="13970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038B003A-9E17-29E5-1008-89B7D8B0B697}"/>
              </a:ext>
            </a:extLst>
          </p:cNvPr>
          <p:cNvSpPr/>
          <p:nvPr/>
        </p:nvSpPr>
        <p:spPr>
          <a:xfrm>
            <a:off x="6438900" y="2159000"/>
            <a:ext cx="431800" cy="4318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400" b="1">
                <a:solidFill>
                  <a:srgbClr val="012E33"/>
                </a:solidFill>
                <a:latin typeface="Cambria" panose="02040503050406030204" pitchFamily="18" charset="0"/>
              </a:rPr>
              <a:t>3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F5E516D-7403-37C9-AD4A-C7D8F97D38ED}"/>
              </a:ext>
            </a:extLst>
          </p:cNvPr>
          <p:cNvSpPr txBox="1"/>
          <p:nvPr/>
        </p:nvSpPr>
        <p:spPr>
          <a:xfrm>
            <a:off x="6438900" y="2717800"/>
            <a:ext cx="19685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FFFFFF"/>
                </a:solidFill>
                <a:latin typeface="Cambria" panose="02040503050406030204" pitchFamily="18" charset="0"/>
              </a:rPr>
              <a:t>Limpieza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E1B720C-BACC-2444-5625-3ADD3C97E3F6}"/>
              </a:ext>
            </a:extLst>
          </p:cNvPr>
          <p:cNvSpPr/>
          <p:nvPr/>
        </p:nvSpPr>
        <p:spPr>
          <a:xfrm>
            <a:off x="8851900" y="1905000"/>
            <a:ext cx="2413000" cy="13970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D66733B6-3F78-6C44-F5D6-6C2D1E6FD644}"/>
              </a:ext>
            </a:extLst>
          </p:cNvPr>
          <p:cNvSpPr/>
          <p:nvPr/>
        </p:nvSpPr>
        <p:spPr>
          <a:xfrm>
            <a:off x="9105900" y="2159000"/>
            <a:ext cx="431800" cy="431800"/>
          </a:xfrm>
          <a:prstGeom prst="ellipse">
            <a:avLst/>
          </a:prstGeom>
          <a:solidFill>
            <a:srgbClr val="012E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400" b="1">
                <a:solidFill>
                  <a:srgbClr val="02C39A"/>
                </a:solidFill>
                <a:latin typeface="Cambria" panose="02040503050406030204" pitchFamily="18" charset="0"/>
              </a:rPr>
              <a:t>4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5032886-966F-EF92-8F95-630C4971FF22}"/>
              </a:ext>
            </a:extLst>
          </p:cNvPr>
          <p:cNvSpPr txBox="1"/>
          <p:nvPr/>
        </p:nvSpPr>
        <p:spPr>
          <a:xfrm>
            <a:off x="9105900" y="2717800"/>
            <a:ext cx="19685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0B4249"/>
                </a:solidFill>
                <a:latin typeface="Cambria" panose="02040503050406030204" pitchFamily="18" charset="0"/>
              </a:rPr>
              <a:t>EDA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014356F-F232-0712-5ED2-F024522F3EFA}"/>
              </a:ext>
            </a:extLst>
          </p:cNvPr>
          <p:cNvSpPr/>
          <p:nvPr/>
        </p:nvSpPr>
        <p:spPr>
          <a:xfrm>
            <a:off x="850900" y="3556000"/>
            <a:ext cx="2413000" cy="13970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CDB83BF2-A617-EB8A-9463-0BA2E32D206E}"/>
              </a:ext>
            </a:extLst>
          </p:cNvPr>
          <p:cNvSpPr/>
          <p:nvPr/>
        </p:nvSpPr>
        <p:spPr>
          <a:xfrm>
            <a:off x="1104900" y="3810000"/>
            <a:ext cx="431800" cy="431800"/>
          </a:xfrm>
          <a:prstGeom prst="ellipse">
            <a:avLst/>
          </a:prstGeom>
          <a:solidFill>
            <a:srgbClr val="012E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400" b="1">
                <a:solidFill>
                  <a:srgbClr val="02C39A"/>
                </a:solidFill>
                <a:latin typeface="Cambria" panose="02040503050406030204" pitchFamily="18" charset="0"/>
              </a:rPr>
              <a:t>5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FF4427C-60A2-C501-BC5E-C935F388C927}"/>
              </a:ext>
            </a:extLst>
          </p:cNvPr>
          <p:cNvSpPr txBox="1"/>
          <p:nvPr/>
        </p:nvSpPr>
        <p:spPr>
          <a:xfrm>
            <a:off x="1104900" y="4368800"/>
            <a:ext cx="19685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0B4249"/>
                </a:solidFill>
                <a:latin typeface="Cambria" panose="02040503050406030204" pitchFamily="18" charset="0"/>
              </a:rPr>
              <a:t>Modelo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D5E5CAD-CF6C-6CD9-398F-6C5BBC4EA56C}"/>
              </a:ext>
            </a:extLst>
          </p:cNvPr>
          <p:cNvSpPr/>
          <p:nvPr/>
        </p:nvSpPr>
        <p:spPr>
          <a:xfrm>
            <a:off x="3517900" y="3556000"/>
            <a:ext cx="2413000" cy="13970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16C5ED6C-7CDF-6439-7CCC-38FE2939C186}"/>
              </a:ext>
            </a:extLst>
          </p:cNvPr>
          <p:cNvSpPr/>
          <p:nvPr/>
        </p:nvSpPr>
        <p:spPr>
          <a:xfrm>
            <a:off x="3771900" y="3810000"/>
            <a:ext cx="431800" cy="431800"/>
          </a:xfrm>
          <a:prstGeom prst="ellipse">
            <a:avLst/>
          </a:prstGeom>
          <a:solidFill>
            <a:srgbClr val="012E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400" b="1">
                <a:solidFill>
                  <a:srgbClr val="02C39A"/>
                </a:solidFill>
                <a:latin typeface="Cambria" panose="02040503050406030204" pitchFamily="18" charset="0"/>
              </a:rPr>
              <a:t>6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52B5887-E8C1-6CC5-242A-D200758F69DA}"/>
              </a:ext>
            </a:extLst>
          </p:cNvPr>
          <p:cNvSpPr txBox="1"/>
          <p:nvPr/>
        </p:nvSpPr>
        <p:spPr>
          <a:xfrm>
            <a:off x="3771900" y="4368800"/>
            <a:ext cx="19685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0B4249"/>
                </a:solidFill>
                <a:latin typeface="Cambria" panose="02040503050406030204" pitchFamily="18" charset="0"/>
              </a:rPr>
              <a:t>Evaluación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3EA4447-AD25-5F21-9EF8-4C309CB9DADB}"/>
              </a:ext>
            </a:extLst>
          </p:cNvPr>
          <p:cNvSpPr/>
          <p:nvPr/>
        </p:nvSpPr>
        <p:spPr>
          <a:xfrm>
            <a:off x="6184900" y="3556000"/>
            <a:ext cx="2413000" cy="13970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DB8DD9F-8467-8018-5E61-D670523BC53C}"/>
              </a:ext>
            </a:extLst>
          </p:cNvPr>
          <p:cNvSpPr/>
          <p:nvPr/>
        </p:nvSpPr>
        <p:spPr>
          <a:xfrm>
            <a:off x="6438900" y="3810000"/>
            <a:ext cx="431800" cy="431800"/>
          </a:xfrm>
          <a:prstGeom prst="ellipse">
            <a:avLst/>
          </a:prstGeom>
          <a:solidFill>
            <a:srgbClr val="012E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400" b="1">
                <a:solidFill>
                  <a:srgbClr val="02C39A"/>
                </a:solidFill>
                <a:latin typeface="Cambria" panose="02040503050406030204" pitchFamily="18" charset="0"/>
              </a:rPr>
              <a:t>7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EAF3FBB-262B-54E3-21AA-7337D7519792}"/>
              </a:ext>
            </a:extLst>
          </p:cNvPr>
          <p:cNvSpPr txBox="1"/>
          <p:nvPr/>
        </p:nvSpPr>
        <p:spPr>
          <a:xfrm>
            <a:off x="6438900" y="4368800"/>
            <a:ext cx="19685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0B4249"/>
                </a:solidFill>
                <a:latin typeface="Cambria" panose="02040503050406030204" pitchFamily="18" charset="0"/>
              </a:rPr>
              <a:t>Visualización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212FA381-3E5C-F789-BB89-9F33705F0AEB}"/>
              </a:ext>
            </a:extLst>
          </p:cNvPr>
          <p:cNvSpPr/>
          <p:nvPr/>
        </p:nvSpPr>
        <p:spPr>
          <a:xfrm>
            <a:off x="8851900" y="3556000"/>
            <a:ext cx="2413000" cy="13970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A40BD2B8-1BC3-ED73-DB0B-DEFC090DE060}"/>
              </a:ext>
            </a:extLst>
          </p:cNvPr>
          <p:cNvSpPr/>
          <p:nvPr/>
        </p:nvSpPr>
        <p:spPr>
          <a:xfrm>
            <a:off x="9105900" y="3810000"/>
            <a:ext cx="431800" cy="431800"/>
          </a:xfrm>
          <a:prstGeom prst="ellipse">
            <a:avLst/>
          </a:prstGeom>
          <a:solidFill>
            <a:srgbClr val="012E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400" b="1">
                <a:solidFill>
                  <a:srgbClr val="02C39A"/>
                </a:solidFill>
                <a:latin typeface="Cambria" panose="02040503050406030204" pitchFamily="18" charset="0"/>
              </a:rPr>
              <a:t>8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B6C9361E-7B25-D942-2D74-63D4BFF0E327}"/>
              </a:ext>
            </a:extLst>
          </p:cNvPr>
          <p:cNvSpPr txBox="1"/>
          <p:nvPr/>
        </p:nvSpPr>
        <p:spPr>
          <a:xfrm>
            <a:off x="9105900" y="4368800"/>
            <a:ext cx="19685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0B4249"/>
                </a:solidFill>
                <a:latin typeface="Cambria" panose="02040503050406030204" pitchFamily="18" charset="0"/>
              </a:rPr>
              <a:t>Decisión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529440E-1432-9D43-9B19-4F385C8D2348}"/>
              </a:ext>
            </a:extLst>
          </p:cNvPr>
          <p:cNvSpPr txBox="1"/>
          <p:nvPr/>
        </p:nvSpPr>
        <p:spPr>
          <a:xfrm>
            <a:off x="850900" y="5308600"/>
            <a:ext cx="1049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MX" sz="1300" i="1">
                <a:solidFill>
                  <a:srgbClr val="02C39A"/>
                </a:solidFill>
                <a:latin typeface="Calibri" panose="020F0502020204030204" pitchFamily="34" charset="0"/>
              </a:rPr>
              <a:t>Hoy trabajamos las tres primeras. Las cinco restantes, en la próxima sesión.</a:t>
            </a:r>
            <a:endParaRPr lang="es-CO" sz="1300" i="1">
              <a:solidFill>
                <a:srgbClr val="02C39A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51B203AF-0F0E-436F-D407-73FD13456D33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BFEAE4"/>
                </a:solidFill>
                <a:latin typeface="Calibri" panose="020F0502020204030204" pitchFamily="34" charset="0"/>
              </a:rPr>
              <a:t>Las etapas en gris no desaparecen: solo esperan turno. Ya saben desde ahora hacia dónde vamos.</a:t>
            </a:r>
            <a:endParaRPr lang="es-CO" sz="1150" i="1">
              <a:solidFill>
                <a:srgbClr val="BFEAE4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2345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26745C4-B7A6-BD36-FC6A-F5D176E621DF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28090"/>
                </a:solidFill>
                <a:latin typeface="Calibri" panose="020F0502020204030204" pitchFamily="34" charset="0"/>
              </a:rPr>
              <a:t>P O R   Q U E   I M P O R T A</a:t>
            </a:r>
            <a:endParaRPr lang="es-CO" sz="1000" b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E92CC7A-336E-2887-0C26-58A857AD7A04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3100" b="1">
                <a:solidFill>
                  <a:srgbClr val="012E33"/>
                </a:solidFill>
                <a:latin typeface="Cambria" panose="02040503050406030204" pitchFamily="18" charset="0"/>
              </a:rPr>
              <a:t>Dos cifras que explican el oficio</a:t>
            </a:r>
            <a:endParaRPr lang="es-CO" sz="310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7CD9FD-7284-D5D0-9304-969A11B5D09F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06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9A6860F-9CBD-3902-10C2-553454182B65}"/>
              </a:ext>
            </a:extLst>
          </p:cNvPr>
          <p:cNvSpPr/>
          <p:nvPr/>
        </p:nvSpPr>
        <p:spPr>
          <a:xfrm>
            <a:off x="850900" y="1841500"/>
            <a:ext cx="5080000" cy="25400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517AC79-EA08-8023-723B-C6A5000B1457}"/>
              </a:ext>
            </a:extLst>
          </p:cNvPr>
          <p:cNvSpPr txBox="1"/>
          <p:nvPr/>
        </p:nvSpPr>
        <p:spPr>
          <a:xfrm>
            <a:off x="1206500" y="21590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5400" b="1">
                <a:solidFill>
                  <a:srgbClr val="028090"/>
                </a:solidFill>
                <a:latin typeface="Cambria" panose="02040503050406030204" pitchFamily="18" charset="0"/>
              </a:rPr>
              <a:t>80%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2D4329D-DB37-D06A-F474-0D501259D701}"/>
              </a:ext>
            </a:extLst>
          </p:cNvPr>
          <p:cNvSpPr txBox="1"/>
          <p:nvPr/>
        </p:nvSpPr>
        <p:spPr>
          <a:xfrm>
            <a:off x="1206500" y="31115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400">
                <a:solidFill>
                  <a:srgbClr val="5C6C6E"/>
                </a:solidFill>
                <a:latin typeface="Calibri" panose="020F0502020204030204" pitchFamily="34" charset="0"/>
              </a:rPr>
              <a:t>del tiempo de un proyecto se va en conseguir y limpiar los datos, no en modelar.</a:t>
            </a:r>
            <a:endParaRPr lang="es-CO" sz="14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A8FCB75-2F1D-132A-8E46-7712B190ED40}"/>
              </a:ext>
            </a:extLst>
          </p:cNvPr>
          <p:cNvSpPr/>
          <p:nvPr/>
        </p:nvSpPr>
        <p:spPr>
          <a:xfrm>
            <a:off x="6261100" y="1841500"/>
            <a:ext cx="5080000" cy="2540000"/>
          </a:xfrm>
          <a:prstGeom prst="rect">
            <a:avLst/>
          </a:prstGeom>
          <a:solidFill>
            <a:srgbClr val="012E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24F76B9-5F4A-9CDE-31B0-D30413119C80}"/>
              </a:ext>
            </a:extLst>
          </p:cNvPr>
          <p:cNvSpPr txBox="1"/>
          <p:nvPr/>
        </p:nvSpPr>
        <p:spPr>
          <a:xfrm>
            <a:off x="6616700" y="21590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5400" b="1">
                <a:solidFill>
                  <a:srgbClr val="02C39A"/>
                </a:solidFill>
                <a:latin typeface="Cambria" panose="02040503050406030204" pitchFamily="18" charset="0"/>
              </a:rPr>
              <a:t>32%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C7405E1-E9CC-2D46-0EA4-BE02162C44CE}"/>
              </a:ext>
            </a:extLst>
          </p:cNvPr>
          <p:cNvSpPr txBox="1"/>
          <p:nvPr/>
        </p:nvSpPr>
        <p:spPr>
          <a:xfrm>
            <a:off x="6616700" y="31115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400">
                <a:solidFill>
                  <a:srgbClr val="C3D6D8"/>
                </a:solidFill>
                <a:latin typeface="Calibri" panose="020F0502020204030204" pitchFamily="34" charset="0"/>
              </a:rPr>
              <a:t>de los datos disponibles en las empresas es realmente aprovechado. El resto se queda guardado.</a:t>
            </a:r>
            <a:endParaRPr lang="es-CO" sz="140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C400AF6-147A-A3EE-6BE3-9BAC0471C0B2}"/>
              </a:ext>
            </a:extLst>
          </p:cNvPr>
          <p:cNvSpPr txBox="1"/>
          <p:nvPr/>
        </p:nvSpPr>
        <p:spPr>
          <a:xfrm>
            <a:off x="850900" y="4762500"/>
            <a:ext cx="1049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400">
                <a:solidFill>
                  <a:srgbClr val="012E33"/>
                </a:solidFill>
                <a:latin typeface="Calibri" panose="020F0502020204030204" pitchFamily="34" charset="0"/>
              </a:rPr>
              <a:t>El cuello de botella no es la falta de datos ni la falta de algoritmos: es todo lo que ocurre entre el dato crudo y la decisión. Las tres etapas de hoy son justamente ese tramo.</a:t>
            </a:r>
            <a:endParaRPr lang="es-CO" sz="1400">
              <a:solidFill>
                <a:srgbClr val="012E33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6F3C193-996A-36F8-AD8D-11AF3C6B870E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028090"/>
                </a:solidFill>
                <a:latin typeface="Calibri" panose="020F0502020204030204" pitchFamily="34" charset="0"/>
              </a:rPr>
              <a:t>Fuente: estimaciones frecuentes en la industria del análisis de datos.</a:t>
            </a:r>
            <a:endParaRPr lang="es-CO" sz="115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458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52DF098-B555-3E4D-791B-DD0EFF80E5F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080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33FDC721-1287-B225-E9E2-6E6CF8852111}"/>
              </a:ext>
            </a:extLst>
          </p:cNvPr>
          <p:cNvSpPr txBox="1"/>
          <p:nvPr/>
        </p:nvSpPr>
        <p:spPr>
          <a:xfrm>
            <a:off x="5715000" y="30480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0A896"/>
                </a:solidFill>
                <a:latin typeface="Calibri" panose="020F0502020204030204" pitchFamily="34" charset="0"/>
              </a:rPr>
              <a:t>E T A P A   1</a:t>
            </a:r>
            <a:endParaRPr lang="es-CO" sz="1000" b="1">
              <a:solidFill>
                <a:srgbClr val="00A896"/>
              </a:solidFill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D28D441-4189-E095-834C-1B6E3F244561}"/>
              </a:ext>
            </a:extLst>
          </p:cNvPr>
          <p:cNvSpPr txBox="1"/>
          <p:nvPr/>
        </p:nvSpPr>
        <p:spPr>
          <a:xfrm>
            <a:off x="5715000" y="3327400"/>
            <a:ext cx="584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300" b="1">
                <a:solidFill>
                  <a:srgbClr val="FFFFFF"/>
                </a:solidFill>
                <a:latin typeface="Cambria" panose="02040503050406030204" pitchFamily="18" charset="0"/>
              </a:rPr>
              <a:t>Definir el problema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D7B5F69-FF2F-5D9F-5D47-3BF1C1A4DA4A}"/>
              </a:ext>
            </a:extLst>
          </p:cNvPr>
          <p:cNvSpPr txBox="1"/>
          <p:nvPr/>
        </p:nvSpPr>
        <p:spPr>
          <a:xfrm>
            <a:off x="5715000" y="4572000"/>
            <a:ext cx="558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350">
                <a:solidFill>
                  <a:srgbClr val="C3D6D8"/>
                </a:solidFill>
                <a:latin typeface="Calibri" panose="020F0502020204030204" pitchFamily="34" charset="0"/>
              </a:rPr>
              <a:t>Antes de escribir una línea de código hay dos preguntas: qué se quiere decidir y quién va a decidirlo.</a:t>
            </a:r>
            <a:endParaRPr lang="es-CO" sz="13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14B9EAC-85BE-6A50-08FD-23AF989F2703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0B4249"/>
                </a:solidFill>
                <a:latin typeface="Cambria" panose="02040503050406030204" pitchFamily="18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38664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98D58CF-B288-A942-812D-217009AC496F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000" b="1">
                <a:solidFill>
                  <a:srgbClr val="028090"/>
                </a:solidFill>
                <a:latin typeface="Calibri" panose="020F0502020204030204" pitchFamily="34" charset="0"/>
              </a:rPr>
              <a:t>E T A P A   1   D E   8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16A5E4-A846-86AE-C826-9B4395E0CC48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100" b="1">
                <a:solidFill>
                  <a:srgbClr val="012E33"/>
                </a:solidFill>
                <a:latin typeface="Cambria" panose="02040503050406030204" pitchFamily="18" charset="0"/>
              </a:rPr>
              <a:t>Las cuatro preguntas iniciales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1BA1F95-0A58-BF85-47AE-F96DA0109704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08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BBB8694-0CA6-9E72-5B33-130464136A6E}"/>
              </a:ext>
            </a:extLst>
          </p:cNvPr>
          <p:cNvSpPr txBox="1"/>
          <p:nvPr/>
        </p:nvSpPr>
        <p:spPr>
          <a:xfrm>
            <a:off x="850900" y="1625600"/>
            <a:ext cx="1049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400">
                <a:solidFill>
                  <a:srgbClr val="5C6C6E"/>
                </a:solidFill>
                <a:latin typeface="Calibri" panose="020F0502020204030204" pitchFamily="34" charset="0"/>
              </a:rPr>
              <a:t>Un proyecto de datos sin un problema claro es una solución buscando pregunta. Estas cuatro se responden ANTES de tocar los datos:</a:t>
            </a:r>
            <a:endParaRPr lang="es-CO" sz="14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DB17C43-3675-6450-A1DE-431D35FD9076}"/>
              </a:ext>
            </a:extLst>
          </p:cNvPr>
          <p:cNvSpPr/>
          <p:nvPr/>
        </p:nvSpPr>
        <p:spPr>
          <a:xfrm>
            <a:off x="850900" y="2222500"/>
            <a:ext cx="5156200" cy="1498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0C3CB4D7-654B-9108-374A-01794A3987D6}"/>
              </a:ext>
            </a:extLst>
          </p:cNvPr>
          <p:cNvSpPr/>
          <p:nvPr/>
        </p:nvSpPr>
        <p:spPr>
          <a:xfrm>
            <a:off x="1130300" y="2476500"/>
            <a:ext cx="406400" cy="4064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300" b="1">
                <a:solidFill>
                  <a:srgbClr val="FFFFFF"/>
                </a:solidFill>
                <a:latin typeface="Cambria" panose="02040503050406030204" pitchFamily="18" charset="0"/>
              </a:rPr>
              <a:t>1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B2436AB-4DEC-BDD1-025E-88AE3676A892}"/>
              </a:ext>
            </a:extLst>
          </p:cNvPr>
          <p:cNvSpPr txBox="1"/>
          <p:nvPr/>
        </p:nvSpPr>
        <p:spPr>
          <a:xfrm>
            <a:off x="1689100" y="250190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450" b="1">
                <a:solidFill>
                  <a:srgbClr val="012E33"/>
                </a:solidFill>
                <a:latin typeface="Cambria" panose="02040503050406030204" pitchFamily="18" charset="0"/>
              </a:rPr>
              <a:t>¿Qué decisión se quiere tomar al final?</a:t>
            </a:r>
            <a:endParaRPr lang="es-CO" sz="145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0EF0017-7A43-414D-471D-3B8CA192F60E}"/>
              </a:ext>
            </a:extLst>
          </p:cNvPr>
          <p:cNvSpPr txBox="1"/>
          <p:nvPr/>
        </p:nvSpPr>
        <p:spPr>
          <a:xfrm>
            <a:off x="1130300" y="3009900"/>
            <a:ext cx="462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Si nadie va a decidir nada distinto con el resultado, el proyecto no es necesario.</a:t>
            </a:r>
            <a:endParaRPr lang="es-CO" sz="12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BF13F2F-6EE7-E814-8F15-248147FC0448}"/>
              </a:ext>
            </a:extLst>
          </p:cNvPr>
          <p:cNvSpPr/>
          <p:nvPr/>
        </p:nvSpPr>
        <p:spPr>
          <a:xfrm>
            <a:off x="6184900" y="2222500"/>
            <a:ext cx="5156200" cy="1498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F4FEE20A-0817-CCD2-C622-9BD4406A618C}"/>
              </a:ext>
            </a:extLst>
          </p:cNvPr>
          <p:cNvSpPr/>
          <p:nvPr/>
        </p:nvSpPr>
        <p:spPr>
          <a:xfrm>
            <a:off x="6464300" y="2476500"/>
            <a:ext cx="406400" cy="4064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300" b="1">
                <a:solidFill>
                  <a:srgbClr val="FFFFFF"/>
                </a:solidFill>
                <a:latin typeface="Cambria" panose="02040503050406030204" pitchFamily="18" charset="0"/>
              </a:rPr>
              <a:t>2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54A621F-6961-BC59-DB87-C568FF521DC1}"/>
              </a:ext>
            </a:extLst>
          </p:cNvPr>
          <p:cNvSpPr txBox="1"/>
          <p:nvPr/>
        </p:nvSpPr>
        <p:spPr>
          <a:xfrm>
            <a:off x="7023100" y="250190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450" b="1">
                <a:solidFill>
                  <a:srgbClr val="012E33"/>
                </a:solidFill>
                <a:latin typeface="Cambria" panose="02040503050406030204" pitchFamily="18" charset="0"/>
              </a:rPr>
              <a:t>¿Quién va a tomar esa decisión?</a:t>
            </a:r>
            <a:endParaRPr lang="es-CO" sz="145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450C237-2442-95CC-40EB-87E0738212C6}"/>
              </a:ext>
            </a:extLst>
          </p:cNvPr>
          <p:cNvSpPr txBox="1"/>
          <p:nvPr/>
        </p:nvSpPr>
        <p:spPr>
          <a:xfrm>
            <a:off x="6464300" y="3009900"/>
            <a:ext cx="462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Determina el lenguaje, el nivel de detalle y el formato de entrega.</a:t>
            </a:r>
            <a:endParaRPr lang="es-CO" sz="12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6136000-5E68-40D3-5521-465A67514DFC}"/>
              </a:ext>
            </a:extLst>
          </p:cNvPr>
          <p:cNvSpPr/>
          <p:nvPr/>
        </p:nvSpPr>
        <p:spPr>
          <a:xfrm>
            <a:off x="850900" y="3873500"/>
            <a:ext cx="5156200" cy="1498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86FCFCB7-DF9A-7B80-CFCC-4E35D908C8CB}"/>
              </a:ext>
            </a:extLst>
          </p:cNvPr>
          <p:cNvSpPr/>
          <p:nvPr/>
        </p:nvSpPr>
        <p:spPr>
          <a:xfrm>
            <a:off x="1130300" y="4127500"/>
            <a:ext cx="406400" cy="4064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300" b="1">
                <a:solidFill>
                  <a:srgbClr val="FFFFFF"/>
                </a:solidFill>
                <a:latin typeface="Cambria" panose="02040503050406030204" pitchFamily="18" charset="0"/>
              </a:rPr>
              <a:t>3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4012419-C720-CDE8-BAC6-5BB48880C417}"/>
              </a:ext>
            </a:extLst>
          </p:cNvPr>
          <p:cNvSpPr txBox="1"/>
          <p:nvPr/>
        </p:nvSpPr>
        <p:spPr>
          <a:xfrm>
            <a:off x="1689100" y="415290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450" b="1">
                <a:solidFill>
                  <a:srgbClr val="012E33"/>
                </a:solidFill>
                <a:latin typeface="Cambria" panose="02040503050406030204" pitchFamily="18" charset="0"/>
              </a:rPr>
              <a:t>¿Qué pasa si nos equivocamos?</a:t>
            </a:r>
            <a:endParaRPr lang="es-CO" sz="145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E4E3D81-FD59-D458-5682-EA7C9E4887FF}"/>
              </a:ext>
            </a:extLst>
          </p:cNvPr>
          <p:cNvSpPr txBox="1"/>
          <p:nvPr/>
        </p:nvSpPr>
        <p:spPr>
          <a:xfrm>
            <a:off x="1130300" y="4660900"/>
            <a:ext cx="462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Define cuánto rigor y cuánta validación necesita el análisis.</a:t>
            </a:r>
            <a:endParaRPr lang="es-CO" sz="12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685F287-CA32-168A-89A3-162D0140A52D}"/>
              </a:ext>
            </a:extLst>
          </p:cNvPr>
          <p:cNvSpPr/>
          <p:nvPr/>
        </p:nvSpPr>
        <p:spPr>
          <a:xfrm>
            <a:off x="6184900" y="3873500"/>
            <a:ext cx="5156200" cy="1498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17100AC6-30C2-A8B7-E914-B14C6265167B}"/>
              </a:ext>
            </a:extLst>
          </p:cNvPr>
          <p:cNvSpPr/>
          <p:nvPr/>
        </p:nvSpPr>
        <p:spPr>
          <a:xfrm>
            <a:off x="6464300" y="4127500"/>
            <a:ext cx="406400" cy="4064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300" b="1">
                <a:solidFill>
                  <a:srgbClr val="FFFFFF"/>
                </a:solidFill>
                <a:latin typeface="Cambria" panose="02040503050406030204" pitchFamily="18" charset="0"/>
              </a:rPr>
              <a:t>4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47C03F63-9A74-3390-26C0-150ECE67678C}"/>
              </a:ext>
            </a:extLst>
          </p:cNvPr>
          <p:cNvSpPr txBox="1"/>
          <p:nvPr/>
        </p:nvSpPr>
        <p:spPr>
          <a:xfrm>
            <a:off x="7023100" y="415290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450" b="1">
                <a:solidFill>
                  <a:srgbClr val="012E33"/>
                </a:solidFill>
                <a:latin typeface="Cambria" panose="02040503050406030204" pitchFamily="18" charset="0"/>
              </a:rPr>
              <a:t>¿Cómo sabremos si el proyecto funcionó?</a:t>
            </a:r>
            <a:endParaRPr lang="es-CO" sz="145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ED9C7E0-0C41-A29B-CB81-B959FACBBE02}"/>
              </a:ext>
            </a:extLst>
          </p:cNvPr>
          <p:cNvSpPr txBox="1"/>
          <p:nvPr/>
        </p:nvSpPr>
        <p:spPr>
          <a:xfrm>
            <a:off x="6464300" y="4660900"/>
            <a:ext cx="462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Sin criterio de éxito definido desde el inicio, cualquier resultado parecerá aceptable.</a:t>
            </a:r>
            <a:endParaRPr lang="es-CO" sz="12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3124A97-7FDD-3250-8E16-E88F37FC16C2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028090"/>
                </a:solidFill>
                <a:latin typeface="Calibri" panose="020F0502020204030204" pitchFamily="34" charset="0"/>
              </a:rPr>
              <a:t>La etapa 1 no produce ningún archivo, y es la que más proyectos salva.</a:t>
            </a:r>
            <a:endParaRPr lang="es-CO" sz="115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148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CE6A1C5-18A7-D7AF-C126-71B3863D106F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28090"/>
                </a:solidFill>
                <a:latin typeface="Calibri" panose="020F0502020204030204" pitchFamily="34" charset="0"/>
              </a:rPr>
              <a:t>E T A P A   1   E N   D E T A L L E</a:t>
            </a:r>
            <a:endParaRPr lang="es-CO" sz="1000" b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0834E03-06D1-7693-0BA1-8A4DB9F1684F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3100" b="1">
                <a:solidFill>
                  <a:srgbClr val="012E33"/>
                </a:solidFill>
                <a:latin typeface="Cambria" panose="02040503050406030204" pitchFamily="18" charset="0"/>
              </a:rPr>
              <a:t>Cómo se ve una buena pregunta</a:t>
            </a:r>
            <a:endParaRPr lang="es-CO" sz="310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82B8443-0D73-B78D-2056-DBF876759610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09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0DB17E2-70D0-53A1-F1D9-BB3037BF8826}"/>
              </a:ext>
            </a:extLst>
          </p:cNvPr>
          <p:cNvSpPr/>
          <p:nvPr/>
        </p:nvSpPr>
        <p:spPr>
          <a:xfrm>
            <a:off x="850900" y="1714500"/>
            <a:ext cx="10490200" cy="1346200"/>
          </a:xfrm>
          <a:prstGeom prst="rect">
            <a:avLst/>
          </a:prstGeom>
          <a:solidFill>
            <a:srgbClr val="FBED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48491C1-8631-7E47-1665-BA13FEAFEC0A}"/>
              </a:ext>
            </a:extLst>
          </p:cNvPr>
          <p:cNvSpPr txBox="1"/>
          <p:nvPr/>
        </p:nvSpPr>
        <p:spPr>
          <a:xfrm>
            <a:off x="1168400" y="1968500"/>
            <a:ext cx="139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000" b="1">
                <a:solidFill>
                  <a:srgbClr val="C0564B"/>
                </a:solidFill>
                <a:latin typeface="Calibri" panose="020F0502020204030204" pitchFamily="34" charset="0"/>
              </a:rPr>
              <a:t>V A G 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7985D07-3188-678A-897B-2084D44711AA}"/>
              </a:ext>
            </a:extLst>
          </p:cNvPr>
          <p:cNvSpPr txBox="1"/>
          <p:nvPr/>
        </p:nvSpPr>
        <p:spPr>
          <a:xfrm>
            <a:off x="1168400" y="22479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550" b="1">
                <a:solidFill>
                  <a:srgbClr val="012E33"/>
                </a:solidFill>
                <a:latin typeface="Cambria" panose="02040503050406030204" pitchFamily="18" charset="0"/>
              </a:rPr>
              <a:t>¿Cómo va la movilidad en Bogotá?</a:t>
            </a:r>
            <a:endParaRPr lang="es-CO" sz="155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95F5C3D-5686-28F5-8931-D060282B1716}"/>
              </a:ext>
            </a:extLst>
          </p:cNvPr>
          <p:cNvSpPr txBox="1"/>
          <p:nvPr/>
        </p:nvSpPr>
        <p:spPr>
          <a:xfrm>
            <a:off x="9080500" y="20193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00">
                <a:solidFill>
                  <a:srgbClr val="5C6C6E"/>
                </a:solidFill>
                <a:latin typeface="Calibri" panose="020F0502020204030204" pitchFamily="34" charset="0"/>
              </a:rPr>
              <a:t>No define qué medir, dónde ni cuándo. No se puede responder con datos.</a:t>
            </a:r>
            <a:endParaRPr lang="es-CO" sz="11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3F63129-6E3F-25CE-692F-9602146AB5DF}"/>
              </a:ext>
            </a:extLst>
          </p:cNvPr>
          <p:cNvSpPr/>
          <p:nvPr/>
        </p:nvSpPr>
        <p:spPr>
          <a:xfrm>
            <a:off x="850900" y="3187700"/>
            <a:ext cx="10490200" cy="13462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9D00534-24CB-A946-41B5-2018EAB86A96}"/>
              </a:ext>
            </a:extLst>
          </p:cNvPr>
          <p:cNvSpPr txBox="1"/>
          <p:nvPr/>
        </p:nvSpPr>
        <p:spPr>
          <a:xfrm>
            <a:off x="1168400" y="3441700"/>
            <a:ext cx="139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28090"/>
                </a:solidFill>
                <a:latin typeface="Calibri" panose="020F0502020204030204" pitchFamily="34" charset="0"/>
              </a:rPr>
              <a:t>M E J O R</a:t>
            </a:r>
            <a:endParaRPr lang="es-CO" sz="1000" b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41B50D4-4177-E879-3A97-45599F62D93A}"/>
              </a:ext>
            </a:extLst>
          </p:cNvPr>
          <p:cNvSpPr txBox="1"/>
          <p:nvPr/>
        </p:nvSpPr>
        <p:spPr>
          <a:xfrm>
            <a:off x="1168400" y="37211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550" b="1">
                <a:solidFill>
                  <a:srgbClr val="012E33"/>
                </a:solidFill>
                <a:latin typeface="Cambria" panose="02040503050406030204" pitchFamily="18" charset="0"/>
              </a:rPr>
              <a:t>¿Cómo varían los tiempos de viaje en TransMilenio?</a:t>
            </a:r>
            <a:endParaRPr lang="es-CO" sz="155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925148F-8610-3C20-415C-90E371CDAB2E}"/>
              </a:ext>
            </a:extLst>
          </p:cNvPr>
          <p:cNvSpPr txBox="1"/>
          <p:nvPr/>
        </p:nvSpPr>
        <p:spPr>
          <a:xfrm>
            <a:off x="9080500" y="34925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00">
                <a:solidFill>
                  <a:srgbClr val="5C6C6E"/>
                </a:solidFill>
                <a:latin typeface="Calibri" panose="020F0502020204030204" pitchFamily="34" charset="0"/>
              </a:rPr>
              <a:t>Ya define el objeto de estudio, pero le falta periodo y comparación.</a:t>
            </a:r>
            <a:endParaRPr lang="es-CO" sz="11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43157BB-9466-6E7C-E3AA-67EDC588FAE2}"/>
              </a:ext>
            </a:extLst>
          </p:cNvPr>
          <p:cNvSpPr/>
          <p:nvPr/>
        </p:nvSpPr>
        <p:spPr>
          <a:xfrm>
            <a:off x="850900" y="4660900"/>
            <a:ext cx="10490200" cy="1346200"/>
          </a:xfrm>
          <a:prstGeom prst="rect">
            <a:avLst/>
          </a:prstGeom>
          <a:solidFill>
            <a:srgbClr val="E8F7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ED90D53-BCB4-3731-9E29-C988AA744F1A}"/>
              </a:ext>
            </a:extLst>
          </p:cNvPr>
          <p:cNvSpPr txBox="1"/>
          <p:nvPr/>
        </p:nvSpPr>
        <p:spPr>
          <a:xfrm>
            <a:off x="1168400" y="4914900"/>
            <a:ext cx="139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0A896"/>
                </a:solidFill>
                <a:latin typeface="Calibri" panose="020F0502020204030204" pitchFamily="34" charset="0"/>
              </a:rPr>
              <a:t>B U E N A</a:t>
            </a:r>
            <a:endParaRPr lang="es-CO" sz="1000" b="1">
              <a:solidFill>
                <a:srgbClr val="00A896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31D8D4A-70BB-A794-4843-00D5C9D849E5}"/>
              </a:ext>
            </a:extLst>
          </p:cNvPr>
          <p:cNvSpPr txBox="1"/>
          <p:nvPr/>
        </p:nvSpPr>
        <p:spPr>
          <a:xfrm>
            <a:off x="1168400" y="51943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550" b="1">
                <a:solidFill>
                  <a:srgbClr val="012E33"/>
                </a:solidFill>
                <a:latin typeface="Cambria" panose="02040503050406030204" pitchFamily="18" charset="0"/>
              </a:rPr>
              <a:t>¿Cómo cambiaron los tiempos promedio de viaje en la troncal Caracas entre 2023 y 2025, por franja horaria?</a:t>
            </a:r>
            <a:endParaRPr lang="es-CO" sz="155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7F1AE5F-2DF2-14AD-E24A-81FE07E439BD}"/>
              </a:ext>
            </a:extLst>
          </p:cNvPr>
          <p:cNvSpPr txBox="1"/>
          <p:nvPr/>
        </p:nvSpPr>
        <p:spPr>
          <a:xfrm>
            <a:off x="9080500" y="49657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00">
                <a:solidFill>
                  <a:srgbClr val="5C6C6E"/>
                </a:solidFill>
                <a:latin typeface="Calibri" panose="020F0502020204030204" pitchFamily="34" charset="0"/>
              </a:rPr>
              <a:t>Medible, acotada en tiempo y espacio, y comparable. Se sabe qué tabla se necesita.</a:t>
            </a:r>
            <a:endParaRPr lang="es-CO" sz="11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819E78B-0DF2-E204-A19C-8AC016266DF3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028090"/>
                </a:solidFill>
                <a:latin typeface="Calibri" panose="020F0502020204030204" pitchFamily="34" charset="0"/>
              </a:rPr>
              <a:t>Prueba rápida: si no puedes nombrar la tabla o el archivo que necesitarías para responderla, la pregunta todavía no está lista.</a:t>
            </a:r>
            <a:endParaRPr lang="es-CO" sz="115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549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BAC2B91-B06B-3CEC-AB4A-D4211F6551C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080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C26A72B7-E517-F87D-32F5-3A8FDE6F4D0A}"/>
              </a:ext>
            </a:extLst>
          </p:cNvPr>
          <p:cNvSpPr txBox="1"/>
          <p:nvPr/>
        </p:nvSpPr>
        <p:spPr>
          <a:xfrm>
            <a:off x="5715000" y="30480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0A896"/>
                </a:solidFill>
                <a:latin typeface="Calibri" panose="020F0502020204030204" pitchFamily="34" charset="0"/>
              </a:rPr>
              <a:t>E T A P A   2</a:t>
            </a:r>
            <a:endParaRPr lang="es-CO" sz="1000" b="1">
              <a:solidFill>
                <a:srgbClr val="00A896"/>
              </a:solidFill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2EC2DEB-1FE1-8277-7295-4C1A434D1E73}"/>
              </a:ext>
            </a:extLst>
          </p:cNvPr>
          <p:cNvSpPr txBox="1"/>
          <p:nvPr/>
        </p:nvSpPr>
        <p:spPr>
          <a:xfrm>
            <a:off x="5715000" y="3327400"/>
            <a:ext cx="584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300" b="1">
                <a:solidFill>
                  <a:srgbClr val="FFFFFF"/>
                </a:solidFill>
                <a:latin typeface="Cambria" panose="02040503050406030204" pitchFamily="18" charset="0"/>
              </a:rPr>
              <a:t>Recolectar los datos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E27A4FF-5F17-E67F-959B-D33B528630C3}"/>
              </a:ext>
            </a:extLst>
          </p:cNvPr>
          <p:cNvSpPr txBox="1"/>
          <p:nvPr/>
        </p:nvSpPr>
        <p:spPr>
          <a:xfrm>
            <a:off x="5715000" y="4572000"/>
            <a:ext cx="558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350">
                <a:solidFill>
                  <a:srgbClr val="C3D6D8"/>
                </a:solidFill>
                <a:latin typeface="Calibri" panose="020F0502020204030204" pitchFamily="34" charset="0"/>
              </a:rPr>
              <a:t>Los datos casi nunca llegan limpios ni ordenados. Llegan crudos, y de muchas fuentes distintas.</a:t>
            </a:r>
            <a:endParaRPr lang="es-CO" sz="13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ECA5AEF-FD58-C1A8-8756-0E8762627604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0B4249"/>
                </a:solidFill>
                <a:latin typeface="Cambria" panose="02040503050406030204" pitchFamily="18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25191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5F7D18F-15DF-43E2-507B-C777FBD9761F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000" b="1">
                <a:solidFill>
                  <a:srgbClr val="028090"/>
                </a:solidFill>
                <a:latin typeface="Calibri" panose="020F0502020204030204" pitchFamily="34" charset="0"/>
              </a:rPr>
              <a:t>E T A P A   2   D E   8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FA07333-9036-3959-81A9-FCA9E421490A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3100" b="1">
                <a:solidFill>
                  <a:srgbClr val="012E33"/>
                </a:solidFill>
                <a:latin typeface="Cambria" panose="02040503050406030204" pitchFamily="18" charset="0"/>
              </a:rPr>
              <a:t>Cada fuente trae su propia suciedad</a:t>
            </a:r>
            <a:endParaRPr lang="es-CO" sz="310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D9C42F6-A08F-EE3C-03D2-C0D99FDBB44E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11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E2A9FD1-6F4C-FF5C-4450-9E0C405FDB5D}"/>
              </a:ext>
            </a:extLst>
          </p:cNvPr>
          <p:cNvSpPr/>
          <p:nvPr/>
        </p:nvSpPr>
        <p:spPr>
          <a:xfrm>
            <a:off x="850900" y="1841500"/>
            <a:ext cx="2413000" cy="22860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A65E44E-B1F5-D43E-AE42-7520F600FD7B}"/>
              </a:ext>
            </a:extLst>
          </p:cNvPr>
          <p:cNvSpPr txBox="1"/>
          <p:nvPr/>
        </p:nvSpPr>
        <p:spPr>
          <a:xfrm>
            <a:off x="1104900" y="21209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550" b="1">
                <a:solidFill>
                  <a:srgbClr val="028090"/>
                </a:solidFill>
                <a:latin typeface="Cambria" panose="02040503050406030204" pitchFamily="18" charset="0"/>
              </a:rPr>
              <a:t>API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E086471-1E1D-BEDA-8D3B-5814815A3746}"/>
              </a:ext>
            </a:extLst>
          </p:cNvPr>
          <p:cNvSpPr/>
          <p:nvPr/>
        </p:nvSpPr>
        <p:spPr>
          <a:xfrm>
            <a:off x="1104900" y="2527300"/>
            <a:ext cx="431800" cy="50800"/>
          </a:xfrm>
          <a:prstGeom prst="rect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272BD71-B80E-0476-AA72-1C28A5763F63}"/>
              </a:ext>
            </a:extLst>
          </p:cNvPr>
          <p:cNvSpPr txBox="1"/>
          <p:nvPr/>
        </p:nvSpPr>
        <p:spPr>
          <a:xfrm>
            <a:off x="1104900" y="27305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Datos de otros sistemas o servicios en línea. Se consultan en tiempo real y suelen venir en formato JSON.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9E21A05-4EAC-F463-32E6-DF093A930B12}"/>
              </a:ext>
            </a:extLst>
          </p:cNvPr>
          <p:cNvSpPr/>
          <p:nvPr/>
        </p:nvSpPr>
        <p:spPr>
          <a:xfrm>
            <a:off x="3517900" y="1841500"/>
            <a:ext cx="2413000" cy="22860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3773F96-1B24-B5EF-D872-515BC9F59476}"/>
              </a:ext>
            </a:extLst>
          </p:cNvPr>
          <p:cNvSpPr txBox="1"/>
          <p:nvPr/>
        </p:nvSpPr>
        <p:spPr>
          <a:xfrm>
            <a:off x="3771900" y="21209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550" b="1">
                <a:solidFill>
                  <a:srgbClr val="028090"/>
                </a:solidFill>
                <a:latin typeface="Cambria" panose="02040503050406030204" pitchFamily="18" charset="0"/>
              </a:rPr>
              <a:t>Encuestas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0EF18FF-1DF2-C16C-E8D2-6C6015A8E789}"/>
              </a:ext>
            </a:extLst>
          </p:cNvPr>
          <p:cNvSpPr/>
          <p:nvPr/>
        </p:nvSpPr>
        <p:spPr>
          <a:xfrm>
            <a:off x="3771900" y="2527300"/>
            <a:ext cx="431800" cy="50800"/>
          </a:xfrm>
          <a:prstGeom prst="rect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57B13AA-9D76-82B8-93FC-0E188FE40830}"/>
              </a:ext>
            </a:extLst>
          </p:cNvPr>
          <p:cNvSpPr txBox="1"/>
          <p:nvPr/>
        </p:nvSpPr>
        <p:spPr>
          <a:xfrm>
            <a:off x="3771900" y="27305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Información directa de personas. Muy rica, pero con sesgo de quien responde y errores de digitación.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24A6672-4BD2-1A39-1DAB-70A3B4B90320}"/>
              </a:ext>
            </a:extLst>
          </p:cNvPr>
          <p:cNvSpPr/>
          <p:nvPr/>
        </p:nvSpPr>
        <p:spPr>
          <a:xfrm>
            <a:off x="6184900" y="1841500"/>
            <a:ext cx="2413000" cy="22860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380B98F-7911-5E9D-33FA-43EE1F43A0E1}"/>
              </a:ext>
            </a:extLst>
          </p:cNvPr>
          <p:cNvSpPr txBox="1"/>
          <p:nvPr/>
        </p:nvSpPr>
        <p:spPr>
          <a:xfrm>
            <a:off x="6438900" y="21209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550" b="1">
                <a:solidFill>
                  <a:srgbClr val="028090"/>
                </a:solidFill>
                <a:latin typeface="Cambria" panose="02040503050406030204" pitchFamily="18" charset="0"/>
              </a:rPr>
              <a:t>Sensores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FB70B36-77A3-4A18-B85F-BE95B12E5C85}"/>
              </a:ext>
            </a:extLst>
          </p:cNvPr>
          <p:cNvSpPr/>
          <p:nvPr/>
        </p:nvSpPr>
        <p:spPr>
          <a:xfrm>
            <a:off x="6438900" y="2527300"/>
            <a:ext cx="431800" cy="50800"/>
          </a:xfrm>
          <a:prstGeom prst="rect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5FCBA43-CF4A-3656-E790-4D613F9AD947}"/>
              </a:ext>
            </a:extLst>
          </p:cNvPr>
          <p:cNvSpPr txBox="1"/>
          <p:nvPr/>
        </p:nvSpPr>
        <p:spPr>
          <a:xfrm>
            <a:off x="6438900" y="27305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Mediciones automáticas y continuas. Alto volumen y riesgo de vacíos por desconexión.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AFC1E52-1425-A6A9-6B79-92E54831BDAA}"/>
              </a:ext>
            </a:extLst>
          </p:cNvPr>
          <p:cNvSpPr/>
          <p:nvPr/>
        </p:nvSpPr>
        <p:spPr>
          <a:xfrm>
            <a:off x="8851900" y="1841500"/>
            <a:ext cx="2413000" cy="22860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4EBD9DB-35F8-7AA1-742B-CC1E5B49B950}"/>
              </a:ext>
            </a:extLst>
          </p:cNvPr>
          <p:cNvSpPr txBox="1"/>
          <p:nvPr/>
        </p:nvSpPr>
        <p:spPr>
          <a:xfrm>
            <a:off x="9105900" y="21209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550" b="1">
                <a:solidFill>
                  <a:srgbClr val="028090"/>
                </a:solidFill>
                <a:latin typeface="Cambria" panose="02040503050406030204" pitchFamily="18" charset="0"/>
              </a:rPr>
              <a:t>Bases de datos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CEB7D92-F76E-6670-B9BB-AF528CC42623}"/>
              </a:ext>
            </a:extLst>
          </p:cNvPr>
          <p:cNvSpPr/>
          <p:nvPr/>
        </p:nvSpPr>
        <p:spPr>
          <a:xfrm>
            <a:off x="9105900" y="2527300"/>
            <a:ext cx="431800" cy="50800"/>
          </a:xfrm>
          <a:prstGeom prst="rect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B07A436-9B39-B4E3-843C-E3CDDECE3F37}"/>
              </a:ext>
            </a:extLst>
          </p:cNvPr>
          <p:cNvSpPr txBox="1"/>
          <p:nvPr/>
        </p:nvSpPr>
        <p:spPr>
          <a:xfrm>
            <a:off x="9105900" y="27305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Registros históricos ya almacenados. Confiables, pero pensados para operar, no para analizar.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AC5C710E-20E8-E9B1-3D4C-1CF4AB26D8C1}"/>
              </a:ext>
            </a:extLst>
          </p:cNvPr>
          <p:cNvSpPr/>
          <p:nvPr/>
        </p:nvSpPr>
        <p:spPr>
          <a:xfrm>
            <a:off x="850900" y="4419600"/>
            <a:ext cx="10490200" cy="1168400"/>
          </a:xfrm>
          <a:prstGeom prst="rect">
            <a:avLst/>
          </a:prstGeom>
          <a:solidFill>
            <a:srgbClr val="012E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03BEE3F-6AFE-CCA0-6E56-EBBC64109D57}"/>
              </a:ext>
            </a:extLst>
          </p:cNvPr>
          <p:cNvSpPr txBox="1"/>
          <p:nvPr/>
        </p:nvSpPr>
        <p:spPr>
          <a:xfrm>
            <a:off x="1168400" y="45974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400" b="1">
                <a:solidFill>
                  <a:srgbClr val="02C39A"/>
                </a:solidFill>
                <a:latin typeface="Cambria" panose="02040503050406030204" pitchFamily="18" charset="0"/>
              </a:rPr>
              <a:t>Y para su proyecto: los portales de datos abiertos que ya conocen</a:t>
            </a:r>
            <a:endParaRPr lang="es-CO" sz="1400" b="1">
              <a:solidFill>
                <a:srgbClr val="02C39A"/>
              </a:solidFill>
              <a:latin typeface="Cambria" panose="020405030504060302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8700EBB-8D94-8B51-E4E6-ED2CD025FD42}"/>
              </a:ext>
            </a:extLst>
          </p:cNvPr>
          <p:cNvSpPr txBox="1"/>
          <p:nvPr/>
        </p:nvSpPr>
        <p:spPr>
          <a:xfrm>
            <a:off x="1206500" y="5029200"/>
            <a:ext cx="247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250">
                <a:solidFill>
                  <a:srgbClr val="C3D6D8"/>
                </a:solidFill>
                <a:latin typeface="Calibri" panose="020F0502020204030204" pitchFamily="34" charset="0"/>
              </a:rPr>
              <a:t>·  Kaggle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CE05FE0-E542-4768-BDB4-AE19102C3B04}"/>
              </a:ext>
            </a:extLst>
          </p:cNvPr>
          <p:cNvSpPr txBox="1"/>
          <p:nvPr/>
        </p:nvSpPr>
        <p:spPr>
          <a:xfrm>
            <a:off x="3810000" y="5029200"/>
            <a:ext cx="247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250">
                <a:solidFill>
                  <a:srgbClr val="C3D6D8"/>
                </a:solidFill>
                <a:latin typeface="Calibri" panose="020F0502020204030204" pitchFamily="34" charset="0"/>
              </a:rPr>
              <a:t>·  Google Dataset Search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742021A1-6E85-C0B5-958A-CB5EEDEA0B50}"/>
              </a:ext>
            </a:extLst>
          </p:cNvPr>
          <p:cNvSpPr txBox="1"/>
          <p:nvPr/>
        </p:nvSpPr>
        <p:spPr>
          <a:xfrm>
            <a:off x="6413500" y="5029200"/>
            <a:ext cx="247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250">
                <a:solidFill>
                  <a:srgbClr val="C3D6D8"/>
                </a:solidFill>
                <a:latin typeface="Calibri" panose="020F0502020204030204" pitchFamily="34" charset="0"/>
              </a:rPr>
              <a:t>·  datos.gov.co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07BC231-80B7-1037-5FFA-431EEF1D0581}"/>
              </a:ext>
            </a:extLst>
          </p:cNvPr>
          <p:cNvSpPr txBox="1"/>
          <p:nvPr/>
        </p:nvSpPr>
        <p:spPr>
          <a:xfrm>
            <a:off x="9017000" y="5029200"/>
            <a:ext cx="247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250">
                <a:solidFill>
                  <a:srgbClr val="C3D6D8"/>
                </a:solidFill>
                <a:latin typeface="Calibri" panose="020F0502020204030204" pitchFamily="34" charset="0"/>
              </a:rPr>
              <a:t>·  UCI ML Repository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6B62174-303E-2FCC-9799-027505F72799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028090"/>
                </a:solidFill>
                <a:latin typeface="Calibri" panose="020F0502020204030204" pitchFamily="34" charset="0"/>
              </a:rPr>
              <a:t>Recuerden el checklist del explorador: interesante, más de 500 filas, riqueza de variables, potencial narrativo, documentado y accesible.</a:t>
            </a:r>
            <a:endParaRPr lang="es-CO" sz="115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363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D86C522-DC29-3CA3-B149-CC96D8E9F980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0A896"/>
                </a:solidFill>
                <a:latin typeface="Calibri" panose="020F0502020204030204" pitchFamily="34" charset="0"/>
              </a:rPr>
              <a:t>E T A P A   2   E N   D E T A L L E</a:t>
            </a:r>
            <a:endParaRPr lang="es-CO" sz="1000" b="1">
              <a:solidFill>
                <a:srgbClr val="00A896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925922A-0C8E-AE4A-D702-BD153C1768B9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3100" b="1">
                <a:solidFill>
                  <a:srgbClr val="FFFFFF"/>
                </a:solidFill>
                <a:latin typeface="Cambria" panose="02040503050406030204" pitchFamily="18" charset="0"/>
              </a:rPr>
              <a:t>Antes de descargar: revisen cuatro cosas</a:t>
            </a:r>
            <a:endParaRPr lang="es-CO" sz="3100" b="1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9D0FF54-600A-39FA-A418-483765F7B132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0B4249"/>
                </a:solidFill>
                <a:latin typeface="Cambria" panose="02040503050406030204" pitchFamily="18" charset="0"/>
              </a:rPr>
              <a:t>12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A966718-8F62-CCC3-A0E3-B6D0C5157FAD}"/>
              </a:ext>
            </a:extLst>
          </p:cNvPr>
          <p:cNvSpPr/>
          <p:nvPr/>
        </p:nvSpPr>
        <p:spPr>
          <a:xfrm>
            <a:off x="850900" y="1905000"/>
            <a:ext cx="5156200" cy="16002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448AFCC1-83E8-269E-A287-D4A37BD732FD}"/>
              </a:ext>
            </a:extLst>
          </p:cNvPr>
          <p:cNvSpPr/>
          <p:nvPr/>
        </p:nvSpPr>
        <p:spPr>
          <a:xfrm>
            <a:off x="1155700" y="2209800"/>
            <a:ext cx="406400" cy="4064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300" b="1">
                <a:solidFill>
                  <a:srgbClr val="012E33"/>
                </a:solidFill>
                <a:latin typeface="Cambria" panose="02040503050406030204" pitchFamily="18" charset="0"/>
              </a:rPr>
              <a:t>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3E6D3DC-40B9-2474-2EBA-E0CDEAD81F42}"/>
              </a:ext>
            </a:extLst>
          </p:cNvPr>
          <p:cNvSpPr txBox="1"/>
          <p:nvPr/>
        </p:nvSpPr>
        <p:spPr>
          <a:xfrm>
            <a:off x="1714500" y="22352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500" b="1">
                <a:solidFill>
                  <a:srgbClr val="FFFFFF"/>
                </a:solidFill>
                <a:latin typeface="Cambria" panose="02040503050406030204" pitchFamily="18" charset="0"/>
              </a:rPr>
              <a:t>Licencia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F3F8F53-543B-96C2-3A61-79AE9ECECCE8}"/>
              </a:ext>
            </a:extLst>
          </p:cNvPr>
          <p:cNvSpPr txBox="1"/>
          <p:nvPr/>
        </p:nvSpPr>
        <p:spPr>
          <a:xfrm>
            <a:off x="1155700" y="2768600"/>
            <a:ext cx="462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C3D6D8"/>
                </a:solidFill>
                <a:latin typeface="Calibri" panose="020F0502020204030204" pitchFamily="34" charset="0"/>
              </a:rPr>
              <a:t>¿El uso está permitido? ¿Exige citar la fuente? Que un dato sea accesible no significa que sea tuyo para usarlo.</a:t>
            </a:r>
            <a:endParaRPr lang="es-CO" sz="11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0698747-6E73-321E-0DDC-BA9FDFFB7324}"/>
              </a:ext>
            </a:extLst>
          </p:cNvPr>
          <p:cNvSpPr/>
          <p:nvPr/>
        </p:nvSpPr>
        <p:spPr>
          <a:xfrm>
            <a:off x="6184900" y="1905000"/>
            <a:ext cx="5156200" cy="16002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674541B-07B0-E1DD-E05B-294D9955C403}"/>
              </a:ext>
            </a:extLst>
          </p:cNvPr>
          <p:cNvSpPr/>
          <p:nvPr/>
        </p:nvSpPr>
        <p:spPr>
          <a:xfrm>
            <a:off x="6489700" y="2209800"/>
            <a:ext cx="406400" cy="4064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300" b="1">
                <a:solidFill>
                  <a:srgbClr val="012E33"/>
                </a:solidFill>
                <a:latin typeface="Cambria" panose="02040503050406030204" pitchFamily="18" charset="0"/>
              </a:rPr>
              <a:t>2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A5EAF80-586A-AD10-1528-E729651C1C87}"/>
              </a:ext>
            </a:extLst>
          </p:cNvPr>
          <p:cNvSpPr txBox="1"/>
          <p:nvPr/>
        </p:nvSpPr>
        <p:spPr>
          <a:xfrm>
            <a:off x="7048500" y="22352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500" b="1">
                <a:solidFill>
                  <a:srgbClr val="FFFFFF"/>
                </a:solidFill>
                <a:latin typeface="Cambria" panose="02040503050406030204" pitchFamily="18" charset="0"/>
              </a:rPr>
              <a:t>Actualización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A9CB5F5-D7AD-F633-1A8B-A4D7248E9B58}"/>
              </a:ext>
            </a:extLst>
          </p:cNvPr>
          <p:cNvSpPr txBox="1"/>
          <p:nvPr/>
        </p:nvSpPr>
        <p:spPr>
          <a:xfrm>
            <a:off x="6489700" y="2768600"/>
            <a:ext cx="462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C3D6D8"/>
                </a:solidFill>
                <a:latin typeface="Calibri" panose="020F0502020204030204" pitchFamily="34" charset="0"/>
              </a:rPr>
              <a:t>¿De cuándo son los datos? Un dataset de 2019 no responde preguntas sobre hoy.</a:t>
            </a:r>
            <a:endParaRPr lang="es-CO" sz="11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F8AA8EF-2FAD-35C0-0403-2BD326232669}"/>
              </a:ext>
            </a:extLst>
          </p:cNvPr>
          <p:cNvSpPr/>
          <p:nvPr/>
        </p:nvSpPr>
        <p:spPr>
          <a:xfrm>
            <a:off x="850900" y="3683000"/>
            <a:ext cx="5156200" cy="16002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B2171295-19B1-1BFC-F128-16D881A080F2}"/>
              </a:ext>
            </a:extLst>
          </p:cNvPr>
          <p:cNvSpPr/>
          <p:nvPr/>
        </p:nvSpPr>
        <p:spPr>
          <a:xfrm>
            <a:off x="1155700" y="3987800"/>
            <a:ext cx="406400" cy="4064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300" b="1">
                <a:solidFill>
                  <a:srgbClr val="012E33"/>
                </a:solidFill>
                <a:latin typeface="Cambria" panose="02040503050406030204" pitchFamily="18" charset="0"/>
              </a:rPr>
              <a:t>3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B26BD8E-C201-4596-49D0-F089D7AD110D}"/>
              </a:ext>
            </a:extLst>
          </p:cNvPr>
          <p:cNvSpPr txBox="1"/>
          <p:nvPr/>
        </p:nvSpPr>
        <p:spPr>
          <a:xfrm>
            <a:off x="1714500" y="40132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500" b="1">
                <a:solidFill>
                  <a:srgbClr val="FFFFFF"/>
                </a:solidFill>
                <a:latin typeface="Cambria" panose="02040503050406030204" pitchFamily="18" charset="0"/>
              </a:rPr>
              <a:t>Diccionario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F99DCFB-0014-3555-97CC-F6957891FC83}"/>
              </a:ext>
            </a:extLst>
          </p:cNvPr>
          <p:cNvSpPr txBox="1"/>
          <p:nvPr/>
        </p:nvSpPr>
        <p:spPr>
          <a:xfrm>
            <a:off x="1155700" y="4546600"/>
            <a:ext cx="462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C3D6D8"/>
                </a:solidFill>
                <a:latin typeface="Calibri" panose="020F0502020204030204" pitchFamily="34" charset="0"/>
              </a:rPr>
              <a:t>¿Existe documentación que explique qué significa cada columna y en qué unidades está?</a:t>
            </a:r>
            <a:endParaRPr lang="es-CO" sz="11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382F1B1-2653-A209-B1B4-647E56AC451E}"/>
              </a:ext>
            </a:extLst>
          </p:cNvPr>
          <p:cNvSpPr/>
          <p:nvPr/>
        </p:nvSpPr>
        <p:spPr>
          <a:xfrm>
            <a:off x="6184900" y="3683000"/>
            <a:ext cx="5156200" cy="16002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371DE113-8EBA-C6F6-7817-5719E2F96258}"/>
              </a:ext>
            </a:extLst>
          </p:cNvPr>
          <p:cNvSpPr/>
          <p:nvPr/>
        </p:nvSpPr>
        <p:spPr>
          <a:xfrm>
            <a:off x="6489700" y="3987800"/>
            <a:ext cx="406400" cy="4064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300" b="1">
                <a:solidFill>
                  <a:srgbClr val="012E33"/>
                </a:solidFill>
                <a:latin typeface="Cambria" panose="02040503050406030204" pitchFamily="18" charset="0"/>
              </a:rPr>
              <a:t>4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4102887-DA16-6501-8E9B-37DA6653957F}"/>
              </a:ext>
            </a:extLst>
          </p:cNvPr>
          <p:cNvSpPr txBox="1"/>
          <p:nvPr/>
        </p:nvSpPr>
        <p:spPr>
          <a:xfrm>
            <a:off x="7048500" y="40132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500" b="1">
                <a:solidFill>
                  <a:srgbClr val="FFFFFF"/>
                </a:solidFill>
                <a:latin typeface="Cambria" panose="02040503050406030204" pitchFamily="18" charset="0"/>
              </a:rPr>
              <a:t>Cobertura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9345F5C-45FB-3047-97D6-6F1234E1EE9C}"/>
              </a:ext>
            </a:extLst>
          </p:cNvPr>
          <p:cNvSpPr txBox="1"/>
          <p:nvPr/>
        </p:nvSpPr>
        <p:spPr>
          <a:xfrm>
            <a:off x="6489700" y="4546600"/>
            <a:ext cx="462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C3D6D8"/>
                </a:solidFill>
                <a:latin typeface="Calibri" panose="020F0502020204030204" pitchFamily="34" charset="0"/>
              </a:rPr>
              <a:t>¿A quién representa y a quién deja por fuera? Todo dato tiene un sesgo de origen.</a:t>
            </a:r>
            <a:endParaRPr lang="es-CO" sz="11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BE4B7CD-9064-1181-8100-3F77EC3492CD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BFEAE4"/>
                </a:solidFill>
                <a:latin typeface="Calibri" panose="020F0502020204030204" pitchFamily="34" charset="0"/>
              </a:rPr>
              <a:t>En Colombia aplica la Ley 1581 de 2012: los datos personales exigen autorización previa y finalidad definida.</a:t>
            </a:r>
            <a:endParaRPr lang="es-CO" sz="1150" i="1">
              <a:solidFill>
                <a:srgbClr val="BFEAE4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823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D9EE544-C231-C79F-FF9F-2C4506952C7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080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7E550D0-B001-C01E-B7AD-995B40CDE0EE}"/>
              </a:ext>
            </a:extLst>
          </p:cNvPr>
          <p:cNvSpPr txBox="1"/>
          <p:nvPr/>
        </p:nvSpPr>
        <p:spPr>
          <a:xfrm>
            <a:off x="5715000" y="30480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0A896"/>
                </a:solidFill>
                <a:latin typeface="Calibri" panose="020F0502020204030204" pitchFamily="34" charset="0"/>
              </a:rPr>
              <a:t>E T A P A   3</a:t>
            </a:r>
            <a:endParaRPr lang="es-CO" sz="1000" b="1">
              <a:solidFill>
                <a:srgbClr val="00A896"/>
              </a:solidFill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6227A7F-C44F-2C1E-E0A0-7378F1DC06E6}"/>
              </a:ext>
            </a:extLst>
          </p:cNvPr>
          <p:cNvSpPr txBox="1"/>
          <p:nvPr/>
        </p:nvSpPr>
        <p:spPr>
          <a:xfrm>
            <a:off x="5715000" y="3327400"/>
            <a:ext cx="584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300" b="1">
                <a:solidFill>
                  <a:srgbClr val="FFFFFF"/>
                </a:solidFill>
                <a:latin typeface="Cambria" panose="02040503050406030204" pitchFamily="18" charset="0"/>
              </a:rPr>
              <a:t>Limpiar los datos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6922EA0-6E39-0ED9-E326-6B7594C40FCC}"/>
              </a:ext>
            </a:extLst>
          </p:cNvPr>
          <p:cNvSpPr txBox="1"/>
          <p:nvPr/>
        </p:nvSpPr>
        <p:spPr>
          <a:xfrm>
            <a:off x="5715000" y="4572000"/>
            <a:ext cx="558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350">
                <a:solidFill>
                  <a:srgbClr val="C3D6D8"/>
                </a:solidFill>
                <a:latin typeface="Calibri" panose="020F0502020204030204" pitchFamily="34" charset="0"/>
              </a:rPr>
              <a:t>La etapa menos glamorosa del proceso y la que decide si el resultado será confiable o basura con buen diseño.</a:t>
            </a:r>
            <a:endParaRPr lang="es-CO" sz="13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E1A8758-F193-603F-37D9-36947325313B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0B4249"/>
                </a:solidFill>
                <a:latin typeface="Cambria" panose="02040503050406030204" pitchFamily="18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27149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3B5B673-E049-677A-CCF4-7D40998FE7F1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000" b="1">
                <a:solidFill>
                  <a:srgbClr val="028090"/>
                </a:solidFill>
                <a:latin typeface="Calibri" panose="020F0502020204030204" pitchFamily="34" charset="0"/>
              </a:rPr>
              <a:t>E T A P A   3   D E   8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A05439D-04B7-0217-6B75-92252D1A0B96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100" b="1">
                <a:solidFill>
                  <a:srgbClr val="012E33"/>
                </a:solidFill>
                <a:latin typeface="Cambria" panose="02040503050406030204" pitchFamily="18" charset="0"/>
              </a:rPr>
              <a:t>Los cuatro problemas típicos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51DB484-F560-51EE-B263-8B7C4DB2A44D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14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EDFFA73-D464-7905-B755-B46D1BF14148}"/>
              </a:ext>
            </a:extLst>
          </p:cNvPr>
          <p:cNvSpPr/>
          <p:nvPr/>
        </p:nvSpPr>
        <p:spPr>
          <a:xfrm>
            <a:off x="850900" y="1778000"/>
            <a:ext cx="3810000" cy="2667000"/>
          </a:xfrm>
          <a:prstGeom prst="rect">
            <a:avLst/>
          </a:prstGeom>
          <a:solidFill>
            <a:srgbClr val="012E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B6E71C1-F8A6-F765-4AEB-ED8BD97F07D2}"/>
              </a:ext>
            </a:extLst>
          </p:cNvPr>
          <p:cNvSpPr txBox="1"/>
          <p:nvPr/>
        </p:nvSpPr>
        <p:spPr>
          <a:xfrm>
            <a:off x="1206500" y="22225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6000" b="1">
                <a:solidFill>
                  <a:srgbClr val="02C39A"/>
                </a:solidFill>
                <a:latin typeface="Cambria" panose="02040503050406030204" pitchFamily="18" charset="0"/>
              </a:rPr>
              <a:t>80%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7A26054-B8A6-62CB-688F-7FCE6314E877}"/>
              </a:ext>
            </a:extLst>
          </p:cNvPr>
          <p:cNvSpPr txBox="1"/>
          <p:nvPr/>
        </p:nvSpPr>
        <p:spPr>
          <a:xfrm>
            <a:off x="1206500" y="33020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400">
                <a:solidFill>
                  <a:srgbClr val="C3D6D8"/>
                </a:solidFill>
                <a:latin typeface="Calibri" panose="020F0502020204030204" pitchFamily="34" charset="0"/>
              </a:rPr>
              <a:t>del tiempo de un proyecto de datos se invierte aquí</a:t>
            </a:r>
            <a:endParaRPr lang="es-CO" sz="140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0589779-C60E-452E-6D8E-6AC689B72A2A}"/>
              </a:ext>
            </a:extLst>
          </p:cNvPr>
          <p:cNvSpPr/>
          <p:nvPr/>
        </p:nvSpPr>
        <p:spPr>
          <a:xfrm>
            <a:off x="4991100" y="1778000"/>
            <a:ext cx="6350000" cy="609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4F516D4-47D4-9038-606B-A683E71AF28A}"/>
              </a:ext>
            </a:extLst>
          </p:cNvPr>
          <p:cNvSpPr txBox="1"/>
          <p:nvPr/>
        </p:nvSpPr>
        <p:spPr>
          <a:xfrm>
            <a:off x="5245100" y="1943100"/>
            <a:ext cx="222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350" b="1">
                <a:solidFill>
                  <a:srgbClr val="028090"/>
                </a:solidFill>
                <a:latin typeface="Cambria" panose="02040503050406030204" pitchFamily="18" charset="0"/>
              </a:rPr>
              <a:t>Duplicados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80C60AD-01D0-3DBB-63B0-50EDC08EA487}"/>
              </a:ext>
            </a:extLst>
          </p:cNvPr>
          <p:cNvSpPr txBox="1"/>
          <p:nvPr/>
        </p:nvSpPr>
        <p:spPr>
          <a:xfrm>
            <a:off x="7594600" y="19050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00">
                <a:solidFill>
                  <a:srgbClr val="5C6C6E"/>
                </a:solidFill>
                <a:latin typeface="Calibri" panose="020F0502020204030204" pitchFamily="34" charset="0"/>
              </a:rPr>
              <a:t>Un mismo hecho contado dos veces distorsiona cualquier promedio o conteo.</a:t>
            </a:r>
            <a:endParaRPr lang="es-CO" sz="11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4B043A2-DAB9-951C-712F-01EF6F56CD24}"/>
              </a:ext>
            </a:extLst>
          </p:cNvPr>
          <p:cNvSpPr/>
          <p:nvPr/>
        </p:nvSpPr>
        <p:spPr>
          <a:xfrm>
            <a:off x="4991100" y="2476500"/>
            <a:ext cx="6350000" cy="609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099DD35-1C40-2AF9-DD6C-379A408E0874}"/>
              </a:ext>
            </a:extLst>
          </p:cNvPr>
          <p:cNvSpPr txBox="1"/>
          <p:nvPr/>
        </p:nvSpPr>
        <p:spPr>
          <a:xfrm>
            <a:off x="5245100" y="2641600"/>
            <a:ext cx="222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350" b="1">
                <a:solidFill>
                  <a:srgbClr val="028090"/>
                </a:solidFill>
                <a:latin typeface="Cambria" panose="02040503050406030204" pitchFamily="18" charset="0"/>
              </a:rPr>
              <a:t>Valores nulos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AD6EF6A-A242-9E1B-BCE8-AFE1BDEF9AAF}"/>
              </a:ext>
            </a:extLst>
          </p:cNvPr>
          <p:cNvSpPr txBox="1"/>
          <p:nvPr/>
        </p:nvSpPr>
        <p:spPr>
          <a:xfrm>
            <a:off x="7594600" y="26035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00">
                <a:solidFill>
                  <a:srgbClr val="5C6C6E"/>
                </a:solidFill>
                <a:latin typeface="Calibri" panose="020F0502020204030204" pitchFamily="34" charset="0"/>
              </a:rPr>
              <a:t>Celdas vacías por error de captura o campos opcionales. Nunca se ignoran en silencio.</a:t>
            </a:r>
            <a:endParaRPr lang="es-CO" sz="11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8191A7C-5D7D-4927-E479-8E275F8E9ADA}"/>
              </a:ext>
            </a:extLst>
          </p:cNvPr>
          <p:cNvSpPr/>
          <p:nvPr/>
        </p:nvSpPr>
        <p:spPr>
          <a:xfrm>
            <a:off x="4991100" y="3175000"/>
            <a:ext cx="6350000" cy="609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FD408FF-17A1-B902-2300-3442E68C5881}"/>
              </a:ext>
            </a:extLst>
          </p:cNvPr>
          <p:cNvSpPr txBox="1"/>
          <p:nvPr/>
        </p:nvSpPr>
        <p:spPr>
          <a:xfrm>
            <a:off x="5245100" y="3340100"/>
            <a:ext cx="222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350" b="1">
                <a:solidFill>
                  <a:srgbClr val="028090"/>
                </a:solidFill>
                <a:latin typeface="Cambria" panose="02040503050406030204" pitchFamily="18" charset="0"/>
              </a:rPr>
              <a:t>Formatos inconsistentes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C1CB911-6A60-E947-2DA2-006A2D641A68}"/>
              </a:ext>
            </a:extLst>
          </p:cNvPr>
          <p:cNvSpPr txBox="1"/>
          <p:nvPr/>
        </p:nvSpPr>
        <p:spPr>
          <a:xfrm>
            <a:off x="7594600" y="33020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00">
                <a:solidFill>
                  <a:srgbClr val="5C6C6E"/>
                </a:solidFill>
                <a:latin typeface="Calibri" panose="020F0502020204030204" pitchFamily="34" charset="0"/>
              </a:rPr>
              <a:t>'Bogotá', 'BOGOTA' y 'bta' son tres ciudades distintas para el computador.</a:t>
            </a:r>
            <a:endParaRPr lang="es-CO" sz="11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EF68244-92C9-1B24-E71D-2E0AC38A1AB4}"/>
              </a:ext>
            </a:extLst>
          </p:cNvPr>
          <p:cNvSpPr/>
          <p:nvPr/>
        </p:nvSpPr>
        <p:spPr>
          <a:xfrm>
            <a:off x="4991100" y="3873500"/>
            <a:ext cx="6350000" cy="609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106660E-25C9-F2DD-07EC-7135E98896AA}"/>
              </a:ext>
            </a:extLst>
          </p:cNvPr>
          <p:cNvSpPr txBox="1"/>
          <p:nvPr/>
        </p:nvSpPr>
        <p:spPr>
          <a:xfrm>
            <a:off x="5245100" y="4038600"/>
            <a:ext cx="222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350" b="1">
                <a:solidFill>
                  <a:srgbClr val="028090"/>
                </a:solidFill>
                <a:latin typeface="Cambria" panose="02040503050406030204" pitchFamily="18" charset="0"/>
              </a:rPr>
              <a:t>Valores imposibles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B518EF7-2A53-2260-640E-783200B04265}"/>
              </a:ext>
            </a:extLst>
          </p:cNvPr>
          <p:cNvSpPr txBox="1"/>
          <p:nvPr/>
        </p:nvSpPr>
        <p:spPr>
          <a:xfrm>
            <a:off x="7594600" y="40005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00">
                <a:solidFill>
                  <a:srgbClr val="5C6C6E"/>
                </a:solidFill>
                <a:latin typeface="Calibri" panose="020F0502020204030204" pitchFamily="34" charset="0"/>
              </a:rPr>
              <a:t>Una edad de 200 años o un precio negativo son señales de alarma, no datos.</a:t>
            </a:r>
            <a:endParaRPr lang="es-CO" sz="11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93E206F-42A9-DEB4-1044-10F64BDEB251}"/>
              </a:ext>
            </a:extLst>
          </p:cNvPr>
          <p:cNvSpPr txBox="1"/>
          <p:nvPr/>
        </p:nvSpPr>
        <p:spPr>
          <a:xfrm>
            <a:off x="850900" y="4762500"/>
            <a:ext cx="1049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MX" sz="1600" b="1">
                <a:solidFill>
                  <a:srgbClr val="012E33"/>
                </a:solidFill>
                <a:latin typeface="Cambria" panose="02040503050406030204" pitchFamily="18" charset="0"/>
              </a:rPr>
              <a:t>Regla de oro: basura entra, basura sale. Ningún algoritmo corrige datos mal recogidos.</a:t>
            </a:r>
            <a:endParaRPr lang="es-CO" sz="160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508C08C-A17A-C0C2-7648-A19A28A378C7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028090"/>
                </a:solidFill>
                <a:latin typeface="Calibri" panose="020F0502020204030204" pitchFamily="34" charset="0"/>
              </a:rPr>
              <a:t>Si la limpieza está mal hecha, todo lo que viene después hereda el error... y lo hereda en silencio.</a:t>
            </a:r>
            <a:endParaRPr lang="es-CO" sz="115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436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1F1AF8C-250A-2531-91FD-582A4EFC8FE6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28090"/>
                </a:solidFill>
                <a:latin typeface="Calibri" panose="020F0502020204030204" pitchFamily="34" charset="0"/>
              </a:rPr>
              <a:t>E T A P A   3   E N   D E T A L L E</a:t>
            </a:r>
            <a:endParaRPr lang="es-CO" sz="1000" b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BCEAC61-6D3B-F0D2-FE08-2F7F542AF19B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100" b="1">
                <a:solidFill>
                  <a:srgbClr val="012E33"/>
                </a:solidFill>
                <a:latin typeface="Cambria" panose="02040503050406030204" pitchFamily="18" charset="0"/>
              </a:rPr>
              <a:t>Tres caminos frente a un dato faltante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CF77306-1674-11F3-068B-6877E2AE9A5B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15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BC9036A-2CDC-1241-2E6B-6B383DB9F001}"/>
              </a:ext>
            </a:extLst>
          </p:cNvPr>
          <p:cNvSpPr/>
          <p:nvPr/>
        </p:nvSpPr>
        <p:spPr>
          <a:xfrm>
            <a:off x="850900" y="1752600"/>
            <a:ext cx="3403600" cy="38100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2BAD13B-59D4-4FDD-B8C0-85ED6FD6D798}"/>
              </a:ext>
            </a:extLst>
          </p:cNvPr>
          <p:cNvSpPr txBox="1"/>
          <p:nvPr/>
        </p:nvSpPr>
        <p:spPr>
          <a:xfrm>
            <a:off x="1130300" y="20066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b="1">
                <a:solidFill>
                  <a:srgbClr val="028090"/>
                </a:solidFill>
                <a:latin typeface="Cambria" panose="02040503050406030204" pitchFamily="18" charset="0"/>
              </a:rPr>
              <a:t>Eliminar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5B6A800-84DF-8A30-9601-9302CD2E2971}"/>
              </a:ext>
            </a:extLst>
          </p:cNvPr>
          <p:cNvSpPr/>
          <p:nvPr/>
        </p:nvSpPr>
        <p:spPr>
          <a:xfrm>
            <a:off x="1130300" y="2438400"/>
            <a:ext cx="431800" cy="50800"/>
          </a:xfrm>
          <a:prstGeom prst="rect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4F4A02A-C3F9-CC18-21F1-C109AAEEBF71}"/>
              </a:ext>
            </a:extLst>
          </p:cNvPr>
          <p:cNvSpPr txBox="1"/>
          <p:nvPr/>
        </p:nvSpPr>
        <p:spPr>
          <a:xfrm>
            <a:off x="1130300" y="26416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150">
                <a:solidFill>
                  <a:srgbClr val="012E33"/>
                </a:solidFill>
                <a:latin typeface="Calibri" panose="020F0502020204030204" pitchFamily="34" charset="0"/>
              </a:rPr>
              <a:t>Se descarta la fila o la columna incompleta.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67AC644-1861-0AF0-1507-37E8401C2972}"/>
              </a:ext>
            </a:extLst>
          </p:cNvPr>
          <p:cNvSpPr txBox="1"/>
          <p:nvPr/>
        </p:nvSpPr>
        <p:spPr>
          <a:xfrm>
            <a:off x="1130300" y="34798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850" b="1">
                <a:solidFill>
                  <a:srgbClr val="028090"/>
                </a:solidFill>
                <a:latin typeface="Calibri" panose="020F0502020204030204" pitchFamily="34" charset="0"/>
              </a:rPr>
              <a:t>C U A N D O</a:t>
            </a:r>
            <a:endParaRPr lang="es-CO" sz="850" b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75AEDAD-E5B6-3CB7-39C6-749AD3C393AE}"/>
              </a:ext>
            </a:extLst>
          </p:cNvPr>
          <p:cNvSpPr txBox="1"/>
          <p:nvPr/>
        </p:nvSpPr>
        <p:spPr>
          <a:xfrm>
            <a:off x="1130300" y="37084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00">
                <a:solidFill>
                  <a:srgbClr val="5C6C6E"/>
                </a:solidFill>
                <a:latin typeface="Calibri" panose="020F0502020204030204" pitchFamily="34" charset="0"/>
              </a:rPr>
              <a:t>Cuando son pocos y su ausencia es aleatoria.</a:t>
            </a:r>
            <a:endParaRPr lang="es-CO" sz="11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DB3FC0D-E59D-C6E8-28F5-52C815BF0A81}"/>
              </a:ext>
            </a:extLst>
          </p:cNvPr>
          <p:cNvSpPr txBox="1"/>
          <p:nvPr/>
        </p:nvSpPr>
        <p:spPr>
          <a:xfrm>
            <a:off x="1130300" y="43434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850" b="1">
                <a:solidFill>
                  <a:srgbClr val="028090"/>
                </a:solidFill>
                <a:latin typeface="Calibri" panose="020F0502020204030204" pitchFamily="34" charset="0"/>
              </a:rPr>
              <a:t>O J 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4592C3B-AC58-68E4-6E2F-E22AD2C82AF1}"/>
              </a:ext>
            </a:extLst>
          </p:cNvPr>
          <p:cNvSpPr txBox="1"/>
          <p:nvPr/>
        </p:nvSpPr>
        <p:spPr>
          <a:xfrm>
            <a:off x="1130300" y="45720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00">
                <a:solidFill>
                  <a:srgbClr val="5C6C6E"/>
                </a:solidFill>
                <a:latin typeface="Calibri" panose="020F0502020204030204" pitchFamily="34" charset="0"/>
              </a:rPr>
              <a:t>Se pierde información y puede introducir sesgo si los faltantes no son aleatorios.</a:t>
            </a:r>
            <a:endParaRPr lang="es-CO" sz="11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26D395D-3767-D8C2-5025-46B1D025CCED}"/>
              </a:ext>
            </a:extLst>
          </p:cNvPr>
          <p:cNvSpPr/>
          <p:nvPr/>
        </p:nvSpPr>
        <p:spPr>
          <a:xfrm>
            <a:off x="4470400" y="1752600"/>
            <a:ext cx="3403600" cy="38100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F54C37D-E5A1-9F42-C5DF-09913E41AFB9}"/>
              </a:ext>
            </a:extLst>
          </p:cNvPr>
          <p:cNvSpPr txBox="1"/>
          <p:nvPr/>
        </p:nvSpPr>
        <p:spPr>
          <a:xfrm>
            <a:off x="4749800" y="20066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b="1">
                <a:solidFill>
                  <a:srgbClr val="028090"/>
                </a:solidFill>
                <a:latin typeface="Cambria" panose="02040503050406030204" pitchFamily="18" charset="0"/>
              </a:rPr>
              <a:t>Imputar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42D5CD3-7326-D9D0-5E3C-F7133668C8B2}"/>
              </a:ext>
            </a:extLst>
          </p:cNvPr>
          <p:cNvSpPr/>
          <p:nvPr/>
        </p:nvSpPr>
        <p:spPr>
          <a:xfrm>
            <a:off x="4749800" y="2438400"/>
            <a:ext cx="431800" cy="50800"/>
          </a:xfrm>
          <a:prstGeom prst="rect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E4516CB-3D3B-B27D-3BF3-7E0DE72C830E}"/>
              </a:ext>
            </a:extLst>
          </p:cNvPr>
          <p:cNvSpPr txBox="1"/>
          <p:nvPr/>
        </p:nvSpPr>
        <p:spPr>
          <a:xfrm>
            <a:off x="4749800" y="26416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012E33"/>
                </a:solidFill>
                <a:latin typeface="Calibri" panose="020F0502020204030204" pitchFamily="34" charset="0"/>
              </a:rPr>
              <a:t>Se reemplaza por un valor estimado: media, mediana, el más frecuente o un modelo.</a:t>
            </a:r>
            <a:endParaRPr lang="es-CO" sz="1150">
              <a:solidFill>
                <a:srgbClr val="012E33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0B886CC-BA8C-38DD-F607-56DD1188932C}"/>
              </a:ext>
            </a:extLst>
          </p:cNvPr>
          <p:cNvSpPr txBox="1"/>
          <p:nvPr/>
        </p:nvSpPr>
        <p:spPr>
          <a:xfrm>
            <a:off x="4749800" y="34798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850" b="1">
                <a:solidFill>
                  <a:srgbClr val="028090"/>
                </a:solidFill>
                <a:latin typeface="Calibri" panose="020F0502020204030204" pitchFamily="34" charset="0"/>
              </a:rPr>
              <a:t>C U A N D O</a:t>
            </a:r>
            <a:endParaRPr lang="es-CO" sz="850" b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B0471A9-BC43-ED9E-2915-95B0D908CB57}"/>
              </a:ext>
            </a:extLst>
          </p:cNvPr>
          <p:cNvSpPr txBox="1"/>
          <p:nvPr/>
        </p:nvSpPr>
        <p:spPr>
          <a:xfrm>
            <a:off x="4749800" y="37084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00">
                <a:solidFill>
                  <a:srgbClr val="5C6C6E"/>
                </a:solidFill>
                <a:latin typeface="Calibri" panose="020F0502020204030204" pitchFamily="34" charset="0"/>
              </a:rPr>
              <a:t>Cuando la variable es importante y hay información para estimar.</a:t>
            </a:r>
            <a:endParaRPr lang="es-CO" sz="11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758CAFC-3DEE-E376-B290-24A08D1EF037}"/>
              </a:ext>
            </a:extLst>
          </p:cNvPr>
          <p:cNvSpPr txBox="1"/>
          <p:nvPr/>
        </p:nvSpPr>
        <p:spPr>
          <a:xfrm>
            <a:off x="4749800" y="43434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850" b="1">
                <a:solidFill>
                  <a:srgbClr val="028090"/>
                </a:solidFill>
                <a:latin typeface="Calibri" panose="020F0502020204030204" pitchFamily="34" charset="0"/>
              </a:rPr>
              <a:t>O J O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E7536CD-0A6B-5E62-1278-1BCDCF121FB5}"/>
              </a:ext>
            </a:extLst>
          </p:cNvPr>
          <p:cNvSpPr txBox="1"/>
          <p:nvPr/>
        </p:nvSpPr>
        <p:spPr>
          <a:xfrm>
            <a:off x="4749800" y="45720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00">
                <a:solidFill>
                  <a:srgbClr val="5C6C6E"/>
                </a:solidFill>
                <a:latin typeface="Calibri" panose="020F0502020204030204" pitchFamily="34" charset="0"/>
              </a:rPr>
              <a:t>Se inventa un dato: hay que reportarlo y nunca presentarlo como observación real.</a:t>
            </a:r>
            <a:endParaRPr lang="es-CO" sz="11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4CD0874C-5753-40EB-F9EC-4F890CB39994}"/>
              </a:ext>
            </a:extLst>
          </p:cNvPr>
          <p:cNvSpPr/>
          <p:nvPr/>
        </p:nvSpPr>
        <p:spPr>
          <a:xfrm>
            <a:off x="8089900" y="1752600"/>
            <a:ext cx="3403600" cy="38100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E66FC0A-CECA-BC5C-35CD-108ACEC5D895}"/>
              </a:ext>
            </a:extLst>
          </p:cNvPr>
          <p:cNvSpPr txBox="1"/>
          <p:nvPr/>
        </p:nvSpPr>
        <p:spPr>
          <a:xfrm>
            <a:off x="8369300" y="20066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b="1">
                <a:solidFill>
                  <a:srgbClr val="028090"/>
                </a:solidFill>
                <a:latin typeface="Cambria" panose="02040503050406030204" pitchFamily="18" charset="0"/>
              </a:rPr>
              <a:t>Marcar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09C4BE5-87E6-D360-8D8B-FFAD9B28D424}"/>
              </a:ext>
            </a:extLst>
          </p:cNvPr>
          <p:cNvSpPr/>
          <p:nvPr/>
        </p:nvSpPr>
        <p:spPr>
          <a:xfrm>
            <a:off x="8369300" y="2438400"/>
            <a:ext cx="431800" cy="50800"/>
          </a:xfrm>
          <a:prstGeom prst="rect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5ECAF93B-821A-EEF2-0110-9DB4689D17B1}"/>
              </a:ext>
            </a:extLst>
          </p:cNvPr>
          <p:cNvSpPr txBox="1"/>
          <p:nvPr/>
        </p:nvSpPr>
        <p:spPr>
          <a:xfrm>
            <a:off x="8369300" y="26416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012E33"/>
                </a:solidFill>
                <a:latin typeface="Calibri" panose="020F0502020204030204" pitchFamily="34" charset="0"/>
              </a:rPr>
              <a:t>La ausencia se trata como una categoría en sí misma: 'no informa'.</a:t>
            </a:r>
            <a:endParaRPr lang="es-CO" sz="1150">
              <a:solidFill>
                <a:srgbClr val="012E33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0A56487-A625-DAC7-0536-10C372973F95}"/>
              </a:ext>
            </a:extLst>
          </p:cNvPr>
          <p:cNvSpPr txBox="1"/>
          <p:nvPr/>
        </p:nvSpPr>
        <p:spPr>
          <a:xfrm>
            <a:off x="8369300" y="34798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850" b="1">
                <a:solidFill>
                  <a:srgbClr val="028090"/>
                </a:solidFill>
                <a:latin typeface="Calibri" panose="020F0502020204030204" pitchFamily="34" charset="0"/>
              </a:rPr>
              <a:t>C U A N D O</a:t>
            </a:r>
            <a:endParaRPr lang="es-CO" sz="850" b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6AB5A47-96B9-29C5-881F-D858A03AC06F}"/>
              </a:ext>
            </a:extLst>
          </p:cNvPr>
          <p:cNvSpPr txBox="1"/>
          <p:nvPr/>
        </p:nvSpPr>
        <p:spPr>
          <a:xfrm>
            <a:off x="8369300" y="37084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00">
                <a:solidFill>
                  <a:srgbClr val="5C6C6E"/>
                </a:solidFill>
                <a:latin typeface="Calibri" panose="020F0502020204030204" pitchFamily="34" charset="0"/>
              </a:rPr>
              <a:t>Cuando el hecho de no responder ya dice algo del fenómeno.</a:t>
            </a:r>
            <a:endParaRPr lang="es-CO" sz="11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9EEBF740-4615-F8F7-27C6-6C1A8089F1EA}"/>
              </a:ext>
            </a:extLst>
          </p:cNvPr>
          <p:cNvSpPr txBox="1"/>
          <p:nvPr/>
        </p:nvSpPr>
        <p:spPr>
          <a:xfrm>
            <a:off x="8369300" y="43434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850" b="1">
                <a:solidFill>
                  <a:srgbClr val="028090"/>
                </a:solidFill>
                <a:latin typeface="Calibri" panose="020F0502020204030204" pitchFamily="34" charset="0"/>
              </a:rPr>
              <a:t>O J O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A85C04F-B689-E1C2-4997-C7ADE99222A5}"/>
              </a:ext>
            </a:extLst>
          </p:cNvPr>
          <p:cNvSpPr txBox="1"/>
          <p:nvPr/>
        </p:nvSpPr>
        <p:spPr>
          <a:xfrm>
            <a:off x="8369300" y="45720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00">
                <a:solidFill>
                  <a:srgbClr val="5C6C6E"/>
                </a:solidFill>
                <a:latin typeface="Calibri" panose="020F0502020204030204" pitchFamily="34" charset="0"/>
              </a:rPr>
              <a:t>Exige explicar la categoría para que nadie la confunda con un cero.</a:t>
            </a:r>
            <a:endParaRPr lang="es-CO" sz="11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8BF4A5AA-FAE6-38D2-2686-E2DDDA00A72F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028090"/>
                </a:solidFill>
                <a:latin typeface="Calibri" panose="020F0502020204030204" pitchFamily="34" charset="0"/>
              </a:rPr>
              <a:t>La decisión se documenta SIEMPRE: cuántos datos se vieron afectados y qué criterio se aplicó.</a:t>
            </a:r>
            <a:endParaRPr lang="es-CO" sz="115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0449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810FEAE-DC47-E8C3-7905-F1AEB7433F9C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28090"/>
                </a:solidFill>
                <a:latin typeface="Calibri" panose="020F0502020204030204" pitchFamily="34" charset="0"/>
              </a:rPr>
              <a:t>T E M A   N U E V O     ·     T I D Y   1   D E   3</a:t>
            </a:r>
            <a:endParaRPr lang="es-CO" sz="1000" b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0B189DD-85BD-B11C-91D6-08C976DADF66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3100" b="1">
                <a:solidFill>
                  <a:srgbClr val="012E33"/>
                </a:solidFill>
                <a:latin typeface="Cambria" panose="02040503050406030204" pitchFamily="18" charset="0"/>
              </a:rPr>
              <a:t>Más allá del tipo: la estructura</a:t>
            </a:r>
            <a:endParaRPr lang="es-CO" sz="310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FB482C7-411A-88D3-BAF7-E5DBED9175E4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16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F9DE5EC-9935-70DD-FFF3-DB0FC67124ED}"/>
              </a:ext>
            </a:extLst>
          </p:cNvPr>
          <p:cNvSpPr txBox="1"/>
          <p:nvPr/>
        </p:nvSpPr>
        <p:spPr>
          <a:xfrm>
            <a:off x="850900" y="1625600"/>
            <a:ext cx="1049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350">
                <a:solidFill>
                  <a:srgbClr val="5C6C6E"/>
                </a:solidFill>
                <a:latin typeface="Calibri" panose="020F0502020204030204" pitchFamily="34" charset="0"/>
              </a:rPr>
              <a:t>Hasta ahora hablamos del TIPO de cada dato. Pero una tabla puede tener todos los tipos correctos y aun así ser inservible para graficar, porque le falta algo distinto: la ESTRUCTURA. Hadley Wickham definió en 2014 tres reglas para una tabla ordenada, o tidy:</a:t>
            </a:r>
            <a:endParaRPr lang="es-CO" sz="13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9ADCA1F-BC55-90D0-29B7-70F1E3EB22B4}"/>
              </a:ext>
            </a:extLst>
          </p:cNvPr>
          <p:cNvSpPr/>
          <p:nvPr/>
        </p:nvSpPr>
        <p:spPr>
          <a:xfrm>
            <a:off x="850900" y="2311400"/>
            <a:ext cx="3403600" cy="26035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28FD177A-6E19-290B-A293-EB7A692C71D0}"/>
              </a:ext>
            </a:extLst>
          </p:cNvPr>
          <p:cNvSpPr/>
          <p:nvPr/>
        </p:nvSpPr>
        <p:spPr>
          <a:xfrm>
            <a:off x="1130300" y="2590800"/>
            <a:ext cx="457200" cy="4572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500" b="1">
                <a:solidFill>
                  <a:srgbClr val="FFFFFF"/>
                </a:solidFill>
                <a:latin typeface="Cambria" panose="02040503050406030204" pitchFamily="18" charset="0"/>
              </a:rPr>
              <a:t>1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8C5F801-BBF8-75E9-3056-D833C76D3AFA}"/>
              </a:ext>
            </a:extLst>
          </p:cNvPr>
          <p:cNvSpPr txBox="1"/>
          <p:nvPr/>
        </p:nvSpPr>
        <p:spPr>
          <a:xfrm>
            <a:off x="1130300" y="32004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550" b="1">
                <a:solidFill>
                  <a:srgbClr val="012E33"/>
                </a:solidFill>
                <a:latin typeface="Cambria" panose="02040503050406030204" pitchFamily="18" charset="0"/>
              </a:rPr>
              <a:t>Cada variable</a:t>
            </a:r>
          </a:p>
          <a:p>
            <a:pPr>
              <a:lnSpc>
                <a:spcPct val="115000"/>
              </a:lnSpc>
            </a:pPr>
            <a:r>
              <a:rPr lang="es-MX" sz="1550" b="1">
                <a:solidFill>
                  <a:srgbClr val="012E33"/>
                </a:solidFill>
                <a:latin typeface="Cambria" panose="02040503050406030204" pitchFamily="18" charset="0"/>
              </a:rPr>
              <a:t>en una columna</a:t>
            </a:r>
            <a:endParaRPr lang="es-CO" sz="155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CBE365A-DC8C-37ED-20BD-13718EE09E6D}"/>
              </a:ext>
            </a:extLst>
          </p:cNvPr>
          <p:cNvSpPr txBox="1"/>
          <p:nvPr/>
        </p:nvSpPr>
        <p:spPr>
          <a:xfrm>
            <a:off x="1130300" y="39116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Si 'año' es una variable, debe existir una columna llamada año. No puede estar repartida en varios encabezados.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3E9AA1A-3D32-2D0D-E3A6-AB6132690294}"/>
              </a:ext>
            </a:extLst>
          </p:cNvPr>
          <p:cNvSpPr/>
          <p:nvPr/>
        </p:nvSpPr>
        <p:spPr>
          <a:xfrm>
            <a:off x="4470400" y="2311400"/>
            <a:ext cx="3403600" cy="26035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91AAD6F8-B875-DB2F-D2BD-0FDF0ACA0191}"/>
              </a:ext>
            </a:extLst>
          </p:cNvPr>
          <p:cNvSpPr/>
          <p:nvPr/>
        </p:nvSpPr>
        <p:spPr>
          <a:xfrm>
            <a:off x="4749800" y="2590800"/>
            <a:ext cx="457200" cy="4572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500" b="1">
                <a:solidFill>
                  <a:srgbClr val="FFFFFF"/>
                </a:solidFill>
                <a:latin typeface="Cambria" panose="02040503050406030204" pitchFamily="18" charset="0"/>
              </a:rPr>
              <a:t>2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953E13F-A9DC-3112-6C23-71F7E95E6480}"/>
              </a:ext>
            </a:extLst>
          </p:cNvPr>
          <p:cNvSpPr txBox="1"/>
          <p:nvPr/>
        </p:nvSpPr>
        <p:spPr>
          <a:xfrm>
            <a:off x="4749800" y="32004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550" b="1">
                <a:solidFill>
                  <a:srgbClr val="012E33"/>
                </a:solidFill>
                <a:latin typeface="Cambria" panose="02040503050406030204" pitchFamily="18" charset="0"/>
              </a:rPr>
              <a:t>Cada observación</a:t>
            </a:r>
          </a:p>
          <a:p>
            <a:pPr>
              <a:lnSpc>
                <a:spcPct val="115000"/>
              </a:lnSpc>
            </a:pPr>
            <a:r>
              <a:rPr lang="es-MX" sz="1550" b="1">
                <a:solidFill>
                  <a:srgbClr val="012E33"/>
                </a:solidFill>
                <a:latin typeface="Cambria" panose="02040503050406030204" pitchFamily="18" charset="0"/>
              </a:rPr>
              <a:t>en una fila</a:t>
            </a:r>
            <a:endParaRPr lang="es-CO" sz="155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663E517-970F-EE46-8FC0-B3E48BEC89B8}"/>
              </a:ext>
            </a:extLst>
          </p:cNvPr>
          <p:cNvSpPr txBox="1"/>
          <p:nvPr/>
        </p:nvSpPr>
        <p:spPr>
          <a:xfrm>
            <a:off x="4749800" y="39116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Una fila = un hecho medido. Si un hecho ocupa media fila o se parte en dos, la tabla está desordenada.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B2F1FBE-3761-ECBF-E59B-56970F3BC476}"/>
              </a:ext>
            </a:extLst>
          </p:cNvPr>
          <p:cNvSpPr/>
          <p:nvPr/>
        </p:nvSpPr>
        <p:spPr>
          <a:xfrm>
            <a:off x="8089900" y="2311400"/>
            <a:ext cx="3403600" cy="26035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83E39642-70A1-AC8F-FA74-23D20AAFD16D}"/>
              </a:ext>
            </a:extLst>
          </p:cNvPr>
          <p:cNvSpPr/>
          <p:nvPr/>
        </p:nvSpPr>
        <p:spPr>
          <a:xfrm>
            <a:off x="8369300" y="2590800"/>
            <a:ext cx="457200" cy="4572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500" b="1">
                <a:solidFill>
                  <a:srgbClr val="FFFFFF"/>
                </a:solidFill>
                <a:latin typeface="Cambria" panose="02040503050406030204" pitchFamily="18" charset="0"/>
              </a:rPr>
              <a:t>3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52A027A-9EBC-60C3-846A-3C9AE2FA26BF}"/>
              </a:ext>
            </a:extLst>
          </p:cNvPr>
          <p:cNvSpPr txBox="1"/>
          <p:nvPr/>
        </p:nvSpPr>
        <p:spPr>
          <a:xfrm>
            <a:off x="8369300" y="32004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550" b="1">
                <a:solidFill>
                  <a:srgbClr val="012E33"/>
                </a:solidFill>
                <a:latin typeface="Cambria" panose="02040503050406030204" pitchFamily="18" charset="0"/>
              </a:rPr>
              <a:t>Cada tipo de unidad</a:t>
            </a:r>
          </a:p>
          <a:p>
            <a:pPr>
              <a:lnSpc>
                <a:spcPct val="115000"/>
              </a:lnSpc>
            </a:pPr>
            <a:r>
              <a:rPr lang="es-MX" sz="1550" b="1">
                <a:solidFill>
                  <a:srgbClr val="012E33"/>
                </a:solidFill>
                <a:latin typeface="Cambria" panose="02040503050406030204" pitchFamily="18" charset="0"/>
              </a:rPr>
              <a:t>en su propia tabla</a:t>
            </a:r>
            <a:endParaRPr lang="es-CO" sz="155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F1DA1FA-0BA9-A9BA-D4E5-450CBEB95C23}"/>
              </a:ext>
            </a:extLst>
          </p:cNvPr>
          <p:cNvSpPr txBox="1"/>
          <p:nvPr/>
        </p:nvSpPr>
        <p:spPr>
          <a:xfrm>
            <a:off x="8369300" y="39116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No mezclar estudiantes con cursos en la misma tabla: son unidades distintas y merecen tablas distintas.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1C30B81-28DC-76BF-6E54-D1938E7A68E6}"/>
              </a:ext>
            </a:extLst>
          </p:cNvPr>
          <p:cNvSpPr/>
          <p:nvPr/>
        </p:nvSpPr>
        <p:spPr>
          <a:xfrm>
            <a:off x="850900" y="5130800"/>
            <a:ext cx="10490200" cy="685800"/>
          </a:xfrm>
          <a:prstGeom prst="rect">
            <a:avLst/>
          </a:prstGeom>
          <a:solidFill>
            <a:srgbClr val="012E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E1FD79E-AC7A-28E6-F253-CF23827F3CE1}"/>
              </a:ext>
            </a:extLst>
          </p:cNvPr>
          <p:cNvSpPr txBox="1"/>
          <p:nvPr/>
        </p:nvSpPr>
        <p:spPr>
          <a:xfrm>
            <a:off x="1168400" y="52832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MX" sz="1450" i="1">
                <a:solidFill>
                  <a:srgbClr val="FFFFFF"/>
                </a:solidFill>
                <a:latin typeface="Cambria" panose="02040503050406030204" pitchFamily="18" charset="0"/>
              </a:rPr>
              <a:t>“Los datos ordenados son para las computadoras lo que la gramática es para las palabras.”</a:t>
            </a:r>
            <a:endParaRPr lang="es-CO" sz="1450" i="1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4ADB07CD-4192-58B7-D955-3899243D35A1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1150" i="1">
                <a:solidFill>
                  <a:srgbClr val="028090"/>
                </a:solidFill>
                <a:latin typeface="Calibri" panose="020F0502020204030204" pitchFamily="34" charset="0"/>
              </a:rPr>
              <a:t>Wickham, H. (2014). Tidy Data. Journal of Statistical Software, 59(10). Artículo en acceso abierto.</a:t>
            </a:r>
            <a:endParaRPr lang="es-CO" sz="115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5614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E83D631-6732-25E6-1FFB-17D85C47C0AB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000" b="1">
                <a:solidFill>
                  <a:srgbClr val="028090"/>
                </a:solidFill>
                <a:latin typeface="Calibri" panose="020F0502020204030204" pitchFamily="34" charset="0"/>
              </a:rPr>
              <a:t>T I D Y   2   D E   3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0B1D0C1-6339-6B19-79A3-7EA8A34E041F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3100" b="1">
                <a:solidFill>
                  <a:srgbClr val="012E33"/>
                </a:solidFill>
                <a:latin typeface="Cambria" panose="02040503050406030204" pitchFamily="18" charset="0"/>
              </a:rPr>
              <a:t>El mismo dato, antes y después</a:t>
            </a:r>
            <a:endParaRPr lang="es-CO" sz="310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67C1AA9-6FFA-9352-463E-234CE1D092B2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17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4ECD6FD-D994-E8AB-719B-6638896C68BE}"/>
              </a:ext>
            </a:extLst>
          </p:cNvPr>
          <p:cNvSpPr txBox="1"/>
          <p:nvPr/>
        </p:nvSpPr>
        <p:spPr>
          <a:xfrm>
            <a:off x="850900" y="19304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C0564B"/>
                </a:solidFill>
                <a:latin typeface="Calibri" panose="020F0502020204030204" pitchFamily="34" charset="0"/>
              </a:rPr>
              <a:t>M E S S Y     ·     F O R M A T O   A N C H O</a:t>
            </a:r>
            <a:endParaRPr lang="es-CO" sz="1000" b="1">
              <a:solidFill>
                <a:srgbClr val="C0564B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C1901AB-CD5C-CA48-8DD9-ECC0D2B9C008}"/>
              </a:ext>
            </a:extLst>
          </p:cNvPr>
          <p:cNvSpPr/>
          <p:nvPr/>
        </p:nvSpPr>
        <p:spPr>
          <a:xfrm>
            <a:off x="850900" y="2260600"/>
            <a:ext cx="1625600" cy="431800"/>
          </a:xfrm>
          <a:prstGeom prst="rect">
            <a:avLst/>
          </a:prstGeom>
          <a:solidFill>
            <a:srgbClr val="012E33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200" b="1">
                <a:solidFill>
                  <a:srgbClr val="FFFFFF"/>
                </a:solidFill>
                <a:latin typeface="Consolas" panose="020B0609020204030204" pitchFamily="49" charset="0"/>
              </a:rPr>
              <a:t>ciudad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3BE40F2-D43E-B7E3-65C4-5E26E19A154D}"/>
              </a:ext>
            </a:extLst>
          </p:cNvPr>
          <p:cNvSpPr/>
          <p:nvPr/>
        </p:nvSpPr>
        <p:spPr>
          <a:xfrm>
            <a:off x="2501900" y="2260600"/>
            <a:ext cx="1625600" cy="431800"/>
          </a:xfrm>
          <a:prstGeom prst="rect">
            <a:avLst/>
          </a:prstGeom>
          <a:solidFill>
            <a:srgbClr val="012E33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200" b="1">
                <a:solidFill>
                  <a:srgbClr val="FFFFFF"/>
                </a:solidFill>
                <a:latin typeface="Consolas" panose="020B0609020204030204" pitchFamily="49" charset="0"/>
              </a:rPr>
              <a:t>2023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0517794-C157-B125-DDB6-8848F79D7D89}"/>
              </a:ext>
            </a:extLst>
          </p:cNvPr>
          <p:cNvSpPr/>
          <p:nvPr/>
        </p:nvSpPr>
        <p:spPr>
          <a:xfrm>
            <a:off x="4152900" y="2260600"/>
            <a:ext cx="1625600" cy="431800"/>
          </a:xfrm>
          <a:prstGeom prst="rect">
            <a:avLst/>
          </a:prstGeom>
          <a:solidFill>
            <a:srgbClr val="012E33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200" b="1">
                <a:solidFill>
                  <a:srgbClr val="FFFFFF"/>
                </a:solidFill>
                <a:latin typeface="Consolas" panose="020B0609020204030204" pitchFamily="49" charset="0"/>
              </a:rPr>
              <a:t>2024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8663D26-E9F9-911F-3E5F-DC431AD83F0F}"/>
              </a:ext>
            </a:extLst>
          </p:cNvPr>
          <p:cNvSpPr/>
          <p:nvPr/>
        </p:nvSpPr>
        <p:spPr>
          <a:xfrm>
            <a:off x="850900" y="2692400"/>
            <a:ext cx="1625600" cy="406400"/>
          </a:xfrm>
          <a:prstGeom prst="rect">
            <a:avLst/>
          </a:prstGeom>
          <a:solidFill>
            <a:srgbClr val="FBEDEA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100">
                <a:solidFill>
                  <a:srgbClr val="5C6C6E"/>
                </a:solidFill>
                <a:latin typeface="Consolas" panose="020B0609020204030204" pitchFamily="49" charset="0"/>
              </a:rPr>
              <a:t>Bogotá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0964011-64EB-C8EA-1B70-9F6CB2255AEE}"/>
              </a:ext>
            </a:extLst>
          </p:cNvPr>
          <p:cNvSpPr/>
          <p:nvPr/>
        </p:nvSpPr>
        <p:spPr>
          <a:xfrm>
            <a:off x="2501900" y="2692400"/>
            <a:ext cx="1625600" cy="406400"/>
          </a:xfrm>
          <a:prstGeom prst="rect">
            <a:avLst/>
          </a:prstGeom>
          <a:solidFill>
            <a:srgbClr val="FBEDEA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100">
                <a:solidFill>
                  <a:srgbClr val="5C6C6E"/>
                </a:solidFill>
                <a:latin typeface="Consolas" panose="020B0609020204030204" pitchFamily="49" charset="0"/>
              </a:rPr>
              <a:t>120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C3C026E-8EEF-1DF6-CDCE-2EC295A375A2}"/>
              </a:ext>
            </a:extLst>
          </p:cNvPr>
          <p:cNvSpPr/>
          <p:nvPr/>
        </p:nvSpPr>
        <p:spPr>
          <a:xfrm>
            <a:off x="4152900" y="2692400"/>
            <a:ext cx="1625600" cy="406400"/>
          </a:xfrm>
          <a:prstGeom prst="rect">
            <a:avLst/>
          </a:prstGeom>
          <a:solidFill>
            <a:srgbClr val="FBEDEA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100">
                <a:solidFill>
                  <a:srgbClr val="5C6C6E"/>
                </a:solidFill>
                <a:latin typeface="Consolas" panose="020B0609020204030204" pitchFamily="49" charset="0"/>
              </a:rPr>
              <a:t>135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FC4DC6B-DC0E-45A1-F3B6-ADA7648FCE25}"/>
              </a:ext>
            </a:extLst>
          </p:cNvPr>
          <p:cNvSpPr/>
          <p:nvPr/>
        </p:nvSpPr>
        <p:spPr>
          <a:xfrm>
            <a:off x="850900" y="3098800"/>
            <a:ext cx="1625600" cy="406400"/>
          </a:xfrm>
          <a:prstGeom prst="rect">
            <a:avLst/>
          </a:prstGeom>
          <a:solidFill>
            <a:srgbClr val="FBEDEA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100">
                <a:solidFill>
                  <a:srgbClr val="5C6C6E"/>
                </a:solidFill>
                <a:latin typeface="Consolas" panose="020B0609020204030204" pitchFamily="49" charset="0"/>
              </a:rPr>
              <a:t>Medellín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6EF2A3C-8DB1-13E3-7610-C7561B6742FA}"/>
              </a:ext>
            </a:extLst>
          </p:cNvPr>
          <p:cNvSpPr/>
          <p:nvPr/>
        </p:nvSpPr>
        <p:spPr>
          <a:xfrm>
            <a:off x="2501900" y="3098800"/>
            <a:ext cx="1625600" cy="406400"/>
          </a:xfrm>
          <a:prstGeom prst="rect">
            <a:avLst/>
          </a:prstGeom>
          <a:solidFill>
            <a:srgbClr val="FBEDEA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100">
                <a:solidFill>
                  <a:srgbClr val="5C6C6E"/>
                </a:solidFill>
                <a:latin typeface="Consolas" panose="020B0609020204030204" pitchFamily="49" charset="0"/>
              </a:rPr>
              <a:t>98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8ED7167-C030-EB20-DDF4-09AF98AE54E6}"/>
              </a:ext>
            </a:extLst>
          </p:cNvPr>
          <p:cNvSpPr/>
          <p:nvPr/>
        </p:nvSpPr>
        <p:spPr>
          <a:xfrm>
            <a:off x="4152900" y="3098800"/>
            <a:ext cx="1625600" cy="406400"/>
          </a:xfrm>
          <a:prstGeom prst="rect">
            <a:avLst/>
          </a:prstGeom>
          <a:solidFill>
            <a:srgbClr val="FBEDEA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100">
                <a:solidFill>
                  <a:srgbClr val="5C6C6E"/>
                </a:solidFill>
                <a:latin typeface="Consolas" panose="020B0609020204030204" pitchFamily="49" charset="0"/>
              </a:rPr>
              <a:t>104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0BD5C4B-0447-AF4A-69FA-45AF963C2A24}"/>
              </a:ext>
            </a:extLst>
          </p:cNvPr>
          <p:cNvSpPr/>
          <p:nvPr/>
        </p:nvSpPr>
        <p:spPr>
          <a:xfrm>
            <a:off x="850900" y="3505200"/>
            <a:ext cx="1625600" cy="406400"/>
          </a:xfrm>
          <a:prstGeom prst="rect">
            <a:avLst/>
          </a:prstGeom>
          <a:solidFill>
            <a:srgbClr val="FBEDEA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100">
                <a:solidFill>
                  <a:srgbClr val="5C6C6E"/>
                </a:solidFill>
                <a:latin typeface="Consolas" panose="020B0609020204030204" pitchFamily="49" charset="0"/>
              </a:rPr>
              <a:t>Cali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CB9793A-335B-A4A7-C915-98A97CF8D2A7}"/>
              </a:ext>
            </a:extLst>
          </p:cNvPr>
          <p:cNvSpPr/>
          <p:nvPr/>
        </p:nvSpPr>
        <p:spPr>
          <a:xfrm>
            <a:off x="2501900" y="3505200"/>
            <a:ext cx="1625600" cy="406400"/>
          </a:xfrm>
          <a:prstGeom prst="rect">
            <a:avLst/>
          </a:prstGeom>
          <a:solidFill>
            <a:srgbClr val="FBEDEA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100">
                <a:solidFill>
                  <a:srgbClr val="5C6C6E"/>
                </a:solidFill>
                <a:latin typeface="Consolas" panose="020B0609020204030204" pitchFamily="49" charset="0"/>
              </a:rPr>
              <a:t>76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0018960-FB48-3077-4056-A0701BA0A4F1}"/>
              </a:ext>
            </a:extLst>
          </p:cNvPr>
          <p:cNvSpPr/>
          <p:nvPr/>
        </p:nvSpPr>
        <p:spPr>
          <a:xfrm>
            <a:off x="4152900" y="3505200"/>
            <a:ext cx="1625600" cy="406400"/>
          </a:xfrm>
          <a:prstGeom prst="rect">
            <a:avLst/>
          </a:prstGeom>
          <a:solidFill>
            <a:srgbClr val="FBEDEA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100">
                <a:solidFill>
                  <a:srgbClr val="5C6C6E"/>
                </a:solidFill>
                <a:latin typeface="Consolas" panose="020B0609020204030204" pitchFamily="49" charset="0"/>
              </a:rPr>
              <a:t>81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A19A115-0111-113D-72DD-560D39B9B7B2}"/>
              </a:ext>
            </a:extLst>
          </p:cNvPr>
          <p:cNvSpPr txBox="1"/>
          <p:nvPr/>
        </p:nvSpPr>
        <p:spPr>
          <a:xfrm>
            <a:off x="850900" y="40894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El año está escondido en los nombres de las columnas: no es una variable, es un encabezado. No se puede graficar el tiempo.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869D2990-C776-E473-AFE3-4C8CFC6B0428}"/>
              </a:ext>
            </a:extLst>
          </p:cNvPr>
          <p:cNvSpPr/>
          <p:nvPr/>
        </p:nvSpPr>
        <p:spPr>
          <a:xfrm>
            <a:off x="5969000" y="3238500"/>
            <a:ext cx="558800" cy="5588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2000" b="1">
                <a:solidFill>
                  <a:srgbClr val="FFFFFF"/>
                </a:solidFill>
                <a:latin typeface="Cambria" panose="02040503050406030204" pitchFamily="18" charset="0"/>
              </a:rPr>
              <a:t>&gt;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2413B26-7124-C5FC-CBBF-27F2D1876F27}"/>
              </a:ext>
            </a:extLst>
          </p:cNvPr>
          <p:cNvSpPr txBox="1"/>
          <p:nvPr/>
        </p:nvSpPr>
        <p:spPr>
          <a:xfrm>
            <a:off x="6921500" y="19304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0A896"/>
                </a:solidFill>
                <a:latin typeface="Calibri" panose="020F0502020204030204" pitchFamily="34" charset="0"/>
              </a:rPr>
              <a:t>T I D Y     ·     F O R M A T O   L A R G O</a:t>
            </a:r>
            <a:endParaRPr lang="es-CO" sz="1000" b="1">
              <a:solidFill>
                <a:srgbClr val="00A896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475EB16-F390-59D7-BB67-9502510C4FBB}"/>
              </a:ext>
            </a:extLst>
          </p:cNvPr>
          <p:cNvSpPr/>
          <p:nvPr/>
        </p:nvSpPr>
        <p:spPr>
          <a:xfrm>
            <a:off x="6921500" y="2260600"/>
            <a:ext cx="1447800" cy="431800"/>
          </a:xfrm>
          <a:prstGeom prst="rect">
            <a:avLst/>
          </a:prstGeom>
          <a:solidFill>
            <a:srgbClr val="012E33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200" b="1">
                <a:solidFill>
                  <a:srgbClr val="FFFFFF"/>
                </a:solidFill>
                <a:latin typeface="Consolas" panose="020B0609020204030204" pitchFamily="49" charset="0"/>
              </a:rPr>
              <a:t>ciudad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D78B8C1-73F6-F171-3889-1CD6EE5B880E}"/>
              </a:ext>
            </a:extLst>
          </p:cNvPr>
          <p:cNvSpPr/>
          <p:nvPr/>
        </p:nvSpPr>
        <p:spPr>
          <a:xfrm>
            <a:off x="8394700" y="2260600"/>
            <a:ext cx="1447800" cy="431800"/>
          </a:xfrm>
          <a:prstGeom prst="rect">
            <a:avLst/>
          </a:prstGeom>
          <a:solidFill>
            <a:srgbClr val="012E33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200" b="1">
                <a:solidFill>
                  <a:srgbClr val="FFFFFF"/>
                </a:solidFill>
                <a:latin typeface="Consolas" panose="020B0609020204030204" pitchFamily="49" charset="0"/>
              </a:rPr>
              <a:t>año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DBE8B04-C80C-1DAA-E48D-08FC76FA5741}"/>
              </a:ext>
            </a:extLst>
          </p:cNvPr>
          <p:cNvSpPr/>
          <p:nvPr/>
        </p:nvSpPr>
        <p:spPr>
          <a:xfrm>
            <a:off x="9867900" y="2260600"/>
            <a:ext cx="1447800" cy="431800"/>
          </a:xfrm>
          <a:prstGeom prst="rect">
            <a:avLst/>
          </a:prstGeom>
          <a:solidFill>
            <a:srgbClr val="012E33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200" b="1">
                <a:solidFill>
                  <a:srgbClr val="FFFFFF"/>
                </a:solidFill>
                <a:latin typeface="Consolas" panose="020B0609020204030204" pitchFamily="49" charset="0"/>
              </a:rPr>
              <a:t>valor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4B84EB34-CB38-8F81-43E5-F049330367EE}"/>
              </a:ext>
            </a:extLst>
          </p:cNvPr>
          <p:cNvSpPr/>
          <p:nvPr/>
        </p:nvSpPr>
        <p:spPr>
          <a:xfrm>
            <a:off x="6921500" y="2692400"/>
            <a:ext cx="1447800" cy="381000"/>
          </a:xfrm>
          <a:prstGeom prst="rect">
            <a:avLst/>
          </a:prstGeom>
          <a:solidFill>
            <a:srgbClr val="E8F7F4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100">
                <a:solidFill>
                  <a:srgbClr val="5C6C6E"/>
                </a:solidFill>
                <a:latin typeface="Consolas" panose="020B0609020204030204" pitchFamily="49" charset="0"/>
              </a:rPr>
              <a:t>Bogotá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A842B579-48BF-DA2A-7D9C-962826091A2E}"/>
              </a:ext>
            </a:extLst>
          </p:cNvPr>
          <p:cNvSpPr/>
          <p:nvPr/>
        </p:nvSpPr>
        <p:spPr>
          <a:xfrm>
            <a:off x="8394700" y="2692400"/>
            <a:ext cx="1447800" cy="381000"/>
          </a:xfrm>
          <a:prstGeom prst="rect">
            <a:avLst/>
          </a:prstGeom>
          <a:solidFill>
            <a:srgbClr val="E8F7F4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100">
                <a:solidFill>
                  <a:srgbClr val="5C6C6E"/>
                </a:solidFill>
                <a:latin typeface="Consolas" panose="020B0609020204030204" pitchFamily="49" charset="0"/>
              </a:rPr>
              <a:t>2023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0A04F6FB-F444-5453-3349-FD5BDC6F0322}"/>
              </a:ext>
            </a:extLst>
          </p:cNvPr>
          <p:cNvSpPr/>
          <p:nvPr/>
        </p:nvSpPr>
        <p:spPr>
          <a:xfrm>
            <a:off x="9867900" y="2692400"/>
            <a:ext cx="1447800" cy="381000"/>
          </a:xfrm>
          <a:prstGeom prst="rect">
            <a:avLst/>
          </a:prstGeom>
          <a:solidFill>
            <a:srgbClr val="E8F7F4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100">
                <a:solidFill>
                  <a:srgbClr val="5C6C6E"/>
                </a:solidFill>
                <a:latin typeface="Consolas" panose="020B0609020204030204" pitchFamily="49" charset="0"/>
              </a:rPr>
              <a:t>120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94457BB5-6A80-C925-8157-A6292B7B251A}"/>
              </a:ext>
            </a:extLst>
          </p:cNvPr>
          <p:cNvSpPr/>
          <p:nvPr/>
        </p:nvSpPr>
        <p:spPr>
          <a:xfrm>
            <a:off x="6921500" y="3073400"/>
            <a:ext cx="1447800" cy="381000"/>
          </a:xfrm>
          <a:prstGeom prst="rect">
            <a:avLst/>
          </a:prstGeom>
          <a:solidFill>
            <a:srgbClr val="E8F7F4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100">
                <a:solidFill>
                  <a:srgbClr val="5C6C6E"/>
                </a:solidFill>
                <a:latin typeface="Consolas" panose="020B0609020204030204" pitchFamily="49" charset="0"/>
              </a:rPr>
              <a:t>Bogotá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66480F35-0FC9-C314-DE0C-581A92BBA6F6}"/>
              </a:ext>
            </a:extLst>
          </p:cNvPr>
          <p:cNvSpPr/>
          <p:nvPr/>
        </p:nvSpPr>
        <p:spPr>
          <a:xfrm>
            <a:off x="8394700" y="3073400"/>
            <a:ext cx="1447800" cy="381000"/>
          </a:xfrm>
          <a:prstGeom prst="rect">
            <a:avLst/>
          </a:prstGeom>
          <a:solidFill>
            <a:srgbClr val="E8F7F4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100">
                <a:solidFill>
                  <a:srgbClr val="5C6C6E"/>
                </a:solidFill>
                <a:latin typeface="Consolas" panose="020B0609020204030204" pitchFamily="49" charset="0"/>
              </a:rPr>
              <a:t>2024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34A8B5F0-7F09-4270-E242-34022911C783}"/>
              </a:ext>
            </a:extLst>
          </p:cNvPr>
          <p:cNvSpPr/>
          <p:nvPr/>
        </p:nvSpPr>
        <p:spPr>
          <a:xfrm>
            <a:off x="9867900" y="3073400"/>
            <a:ext cx="1447800" cy="381000"/>
          </a:xfrm>
          <a:prstGeom prst="rect">
            <a:avLst/>
          </a:prstGeom>
          <a:solidFill>
            <a:srgbClr val="E8F7F4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100">
                <a:solidFill>
                  <a:srgbClr val="5C6C6E"/>
                </a:solidFill>
                <a:latin typeface="Consolas" panose="020B0609020204030204" pitchFamily="49" charset="0"/>
              </a:rPr>
              <a:t>135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1C805D03-603F-9821-66F7-3E8B32B80997}"/>
              </a:ext>
            </a:extLst>
          </p:cNvPr>
          <p:cNvSpPr/>
          <p:nvPr/>
        </p:nvSpPr>
        <p:spPr>
          <a:xfrm>
            <a:off x="6921500" y="3454400"/>
            <a:ext cx="1447800" cy="381000"/>
          </a:xfrm>
          <a:prstGeom prst="rect">
            <a:avLst/>
          </a:prstGeom>
          <a:solidFill>
            <a:srgbClr val="E8F7F4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100">
                <a:solidFill>
                  <a:srgbClr val="5C6C6E"/>
                </a:solidFill>
                <a:latin typeface="Consolas" panose="020B0609020204030204" pitchFamily="49" charset="0"/>
              </a:rPr>
              <a:t>Medellín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48BAF373-4D7F-2E83-2D0E-A63FFF554CD6}"/>
              </a:ext>
            </a:extLst>
          </p:cNvPr>
          <p:cNvSpPr/>
          <p:nvPr/>
        </p:nvSpPr>
        <p:spPr>
          <a:xfrm>
            <a:off x="8394700" y="3454400"/>
            <a:ext cx="1447800" cy="381000"/>
          </a:xfrm>
          <a:prstGeom prst="rect">
            <a:avLst/>
          </a:prstGeom>
          <a:solidFill>
            <a:srgbClr val="E8F7F4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100">
                <a:solidFill>
                  <a:srgbClr val="5C6C6E"/>
                </a:solidFill>
                <a:latin typeface="Consolas" panose="020B0609020204030204" pitchFamily="49" charset="0"/>
              </a:rPr>
              <a:t>2023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D57FBEDC-B24D-A6E4-CEF0-20B28866FDE8}"/>
              </a:ext>
            </a:extLst>
          </p:cNvPr>
          <p:cNvSpPr/>
          <p:nvPr/>
        </p:nvSpPr>
        <p:spPr>
          <a:xfrm>
            <a:off x="9867900" y="3454400"/>
            <a:ext cx="1447800" cy="381000"/>
          </a:xfrm>
          <a:prstGeom prst="rect">
            <a:avLst/>
          </a:prstGeom>
          <a:solidFill>
            <a:srgbClr val="E8F7F4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100">
                <a:solidFill>
                  <a:srgbClr val="5C6C6E"/>
                </a:solidFill>
                <a:latin typeface="Consolas" panose="020B0609020204030204" pitchFamily="49" charset="0"/>
              </a:rPr>
              <a:t>98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868C18D4-5E15-C5B3-2FFD-72CCAE56AE28}"/>
              </a:ext>
            </a:extLst>
          </p:cNvPr>
          <p:cNvSpPr/>
          <p:nvPr/>
        </p:nvSpPr>
        <p:spPr>
          <a:xfrm>
            <a:off x="6921500" y="3835400"/>
            <a:ext cx="1447800" cy="381000"/>
          </a:xfrm>
          <a:prstGeom prst="rect">
            <a:avLst/>
          </a:prstGeom>
          <a:solidFill>
            <a:srgbClr val="E8F7F4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100">
                <a:solidFill>
                  <a:srgbClr val="5C6C6E"/>
                </a:solidFill>
                <a:latin typeface="Consolas" panose="020B0609020204030204" pitchFamily="49" charset="0"/>
              </a:rPr>
              <a:t>Medellín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80E78988-9C50-6E05-3EC4-8471BFC30CC3}"/>
              </a:ext>
            </a:extLst>
          </p:cNvPr>
          <p:cNvSpPr/>
          <p:nvPr/>
        </p:nvSpPr>
        <p:spPr>
          <a:xfrm>
            <a:off x="8394700" y="3835400"/>
            <a:ext cx="1447800" cy="381000"/>
          </a:xfrm>
          <a:prstGeom prst="rect">
            <a:avLst/>
          </a:prstGeom>
          <a:solidFill>
            <a:srgbClr val="E8F7F4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100">
                <a:solidFill>
                  <a:srgbClr val="5C6C6E"/>
                </a:solidFill>
                <a:latin typeface="Consolas" panose="020B0609020204030204" pitchFamily="49" charset="0"/>
              </a:rPr>
              <a:t>2024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F30AE6C8-30E8-3D56-955D-D2F107548AC3}"/>
              </a:ext>
            </a:extLst>
          </p:cNvPr>
          <p:cNvSpPr/>
          <p:nvPr/>
        </p:nvSpPr>
        <p:spPr>
          <a:xfrm>
            <a:off x="9867900" y="3835400"/>
            <a:ext cx="1447800" cy="381000"/>
          </a:xfrm>
          <a:prstGeom prst="rect">
            <a:avLst/>
          </a:prstGeom>
          <a:solidFill>
            <a:srgbClr val="E8F7F4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100">
                <a:solidFill>
                  <a:srgbClr val="5C6C6E"/>
                </a:solidFill>
                <a:latin typeface="Consolas" panose="020B0609020204030204" pitchFamily="49" charset="0"/>
              </a:rPr>
              <a:t>104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FCFCF785-B18B-F5A1-6AE1-5DF5C638D8BA}"/>
              </a:ext>
            </a:extLst>
          </p:cNvPr>
          <p:cNvSpPr txBox="1"/>
          <p:nvPr/>
        </p:nvSpPr>
        <p:spPr>
          <a:xfrm>
            <a:off x="6921500" y="4343400"/>
            <a:ext cx="444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Cada fila es una observación y cada variable tiene su columna. Listo para graficar.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1C11CFE-798D-1202-0C39-163ADC1C3FEC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028090"/>
                </a:solidFill>
                <a:latin typeface="Calibri" panose="020F0502020204030204" pitchFamily="34" charset="0"/>
              </a:rPr>
              <a:t>Pasar de ancho a largo se llama 'pivotar'. En Excel es tabla dinámica; en Python, melt(); en R, pivot_longer().</a:t>
            </a:r>
            <a:endParaRPr lang="es-CO" sz="115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5726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F083AE1-9A03-0382-21C8-65A8EA5A420C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000" b="1">
                <a:solidFill>
                  <a:srgbClr val="00A896"/>
                </a:solidFill>
                <a:latin typeface="Calibri" panose="020F0502020204030204" pitchFamily="34" charset="0"/>
              </a:rPr>
              <a:t>T I D Y   3   D E   3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D485475-C8B8-445E-C4BD-299E3DDF000C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3100" b="1">
                <a:solidFill>
                  <a:srgbClr val="FFFFFF"/>
                </a:solidFill>
                <a:latin typeface="Cambria" panose="02040503050406030204" pitchFamily="18" charset="0"/>
              </a:rPr>
              <a:t>Sin tidy no hay visualización</a:t>
            </a:r>
            <a:endParaRPr lang="es-CO" sz="3100" b="1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5706672-44D0-F8B5-B3C1-1C998E1DBE75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0B4249"/>
                </a:solidFill>
                <a:latin typeface="Cambria" panose="02040503050406030204" pitchFamily="18" charset="0"/>
              </a:rPr>
              <a:t>18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4164720-9020-3093-C2C9-68C01B3173C5}"/>
              </a:ext>
            </a:extLst>
          </p:cNvPr>
          <p:cNvSpPr txBox="1"/>
          <p:nvPr/>
        </p:nvSpPr>
        <p:spPr>
          <a:xfrm>
            <a:off x="850900" y="1600200"/>
            <a:ext cx="1049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300">
                <a:solidFill>
                  <a:srgbClr val="C3D6D8"/>
                </a:solidFill>
                <a:latin typeface="Calibri" panose="020F0502020204030204" pitchFamily="34" charset="0"/>
              </a:rPr>
              <a:t>Esto no es un capricho de estilo. Todas las herramientas que usaremos este semestre esperan formato largo, porque su lógica es la misma: asignar una variable a cada propiedad visual.</a:t>
            </a:r>
            <a:endParaRPr lang="es-CO" sz="130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C18527B-97C4-F0B0-A6E6-B54E7C2967BF}"/>
              </a:ext>
            </a:extLst>
          </p:cNvPr>
          <p:cNvSpPr/>
          <p:nvPr/>
        </p:nvSpPr>
        <p:spPr>
          <a:xfrm>
            <a:off x="850900" y="2184400"/>
            <a:ext cx="10490200" cy="7620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83281B4-7CC8-1C22-BBD3-85C782C579B2}"/>
              </a:ext>
            </a:extLst>
          </p:cNvPr>
          <p:cNvSpPr txBox="1"/>
          <p:nvPr/>
        </p:nvSpPr>
        <p:spPr>
          <a:xfrm>
            <a:off x="1143000" y="24003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00" b="1">
                <a:solidFill>
                  <a:srgbClr val="02C39A"/>
                </a:solidFill>
                <a:latin typeface="Cambria" panose="02040503050406030204" pitchFamily="18" charset="0"/>
              </a:rPr>
              <a:t>Matplotlib / Seaborn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3ACB6B2-4433-AD80-9B79-CD0DB06AD8B0}"/>
              </a:ext>
            </a:extLst>
          </p:cNvPr>
          <p:cNvSpPr txBox="1"/>
          <p:nvPr/>
        </p:nvSpPr>
        <p:spPr>
          <a:xfrm>
            <a:off x="4318000" y="2374900"/>
            <a:ext cx="6794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C3D6D8"/>
                </a:solidFill>
                <a:latin typeface="Calibri" panose="020F0502020204030204" pitchFamily="34" charset="0"/>
              </a:rPr>
              <a:t>plt.plot(x, y) necesita que x e y sean columnas. Si el año está en el encabezado, no hay columna x.</a:t>
            </a:r>
            <a:endParaRPr lang="es-CO" sz="11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AA9DCF5-82EE-F436-5607-9256267FE8C6}"/>
              </a:ext>
            </a:extLst>
          </p:cNvPr>
          <p:cNvSpPr/>
          <p:nvPr/>
        </p:nvSpPr>
        <p:spPr>
          <a:xfrm>
            <a:off x="850900" y="3048000"/>
            <a:ext cx="10490200" cy="7620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1D9AB91-3292-4542-6B3A-F2DCEB973CE9}"/>
              </a:ext>
            </a:extLst>
          </p:cNvPr>
          <p:cNvSpPr txBox="1"/>
          <p:nvPr/>
        </p:nvSpPr>
        <p:spPr>
          <a:xfrm>
            <a:off x="1143000" y="32639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00" b="1">
                <a:solidFill>
                  <a:srgbClr val="02C39A"/>
                </a:solidFill>
                <a:latin typeface="Cambria" panose="02040503050406030204" pitchFamily="18" charset="0"/>
              </a:rPr>
              <a:t>Plotly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1C6F990-09A4-8FC1-1C72-51EC9C64FACF}"/>
              </a:ext>
            </a:extLst>
          </p:cNvPr>
          <p:cNvSpPr txBox="1"/>
          <p:nvPr/>
        </p:nvSpPr>
        <p:spPr>
          <a:xfrm>
            <a:off x="4318000" y="3238500"/>
            <a:ext cx="6794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C3D6D8"/>
                </a:solidFill>
                <a:latin typeface="Calibri" panose="020F0502020204030204" pitchFamily="34" charset="0"/>
              </a:rPr>
              <a:t>px.line(df, x='año', y='valor', color='ciudad'): los tres argumentos son nombres de columna.</a:t>
            </a:r>
            <a:endParaRPr lang="es-CO" sz="11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22C90C1-8DC0-3E30-E428-FA36CD0A4B6A}"/>
              </a:ext>
            </a:extLst>
          </p:cNvPr>
          <p:cNvSpPr/>
          <p:nvPr/>
        </p:nvSpPr>
        <p:spPr>
          <a:xfrm>
            <a:off x="850900" y="3911600"/>
            <a:ext cx="10490200" cy="7620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B48AA90-4AE0-34DF-8246-56AED0D1CCBF}"/>
              </a:ext>
            </a:extLst>
          </p:cNvPr>
          <p:cNvSpPr txBox="1"/>
          <p:nvPr/>
        </p:nvSpPr>
        <p:spPr>
          <a:xfrm>
            <a:off x="1143000" y="41275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00" b="1">
                <a:solidFill>
                  <a:srgbClr val="02C39A"/>
                </a:solidFill>
                <a:latin typeface="Cambria" panose="02040503050406030204" pitchFamily="18" charset="0"/>
              </a:rPr>
              <a:t>Power BI / Tableau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4BD07EB-4759-2D17-6846-4B6E5F92AC31}"/>
              </a:ext>
            </a:extLst>
          </p:cNvPr>
          <p:cNvSpPr txBox="1"/>
          <p:nvPr/>
        </p:nvSpPr>
        <p:spPr>
          <a:xfrm>
            <a:off x="4318000" y="4102100"/>
            <a:ext cx="6794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C3D6D8"/>
                </a:solidFill>
                <a:latin typeface="Calibri" panose="020F0502020204030204" pitchFamily="34" charset="0"/>
              </a:rPr>
              <a:t>Los campos que arrastran a filas, columnas y color son columnas de la tabla. Sin ellas, no hay qué arrastrar.</a:t>
            </a:r>
            <a:endParaRPr lang="es-CO" sz="11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643472C-1E5A-4941-D3AB-A67C66277152}"/>
              </a:ext>
            </a:extLst>
          </p:cNvPr>
          <p:cNvSpPr/>
          <p:nvPr/>
        </p:nvSpPr>
        <p:spPr>
          <a:xfrm>
            <a:off x="850900" y="4775200"/>
            <a:ext cx="10490200" cy="7366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C5CAC06-9368-BFAC-0184-F6E8B75B713F}"/>
              </a:ext>
            </a:extLst>
          </p:cNvPr>
          <p:cNvSpPr txBox="1"/>
          <p:nvPr/>
        </p:nvSpPr>
        <p:spPr>
          <a:xfrm>
            <a:off x="1168400" y="4953000"/>
            <a:ext cx="9906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MX" sz="1450" b="1">
                <a:solidFill>
                  <a:srgbClr val="FFFFFF"/>
                </a:solidFill>
                <a:latin typeface="Cambria" panose="02040503050406030204" pitchFamily="18" charset="0"/>
              </a:rPr>
              <a:t>Cada variable en una columna = cada variable disponible para ser color, tamaño, eje o forma.</a:t>
            </a:r>
            <a:endParaRPr lang="es-CO" sz="1450" b="1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D8A0C8E-BDDE-CFA0-A851-22686DB2D9F9}"/>
              </a:ext>
            </a:extLst>
          </p:cNvPr>
          <p:cNvSpPr txBox="1"/>
          <p:nvPr/>
        </p:nvSpPr>
        <p:spPr>
          <a:xfrm>
            <a:off x="850900" y="5638800"/>
            <a:ext cx="1049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MX" sz="1250" i="1">
                <a:solidFill>
                  <a:srgbClr val="00A896"/>
                </a:solidFill>
                <a:latin typeface="Calibri" panose="020F0502020204030204" pitchFamily="34" charset="0"/>
              </a:rPr>
              <a:t>Regla práctica: si para graficar necesitan escribir a mano el nombre de una columna, la tabla no está tidy.</a:t>
            </a:r>
            <a:endParaRPr lang="es-CO" sz="1250" i="1">
              <a:solidFill>
                <a:srgbClr val="00A896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1F46C0F-D207-CAE7-0886-8A56DA331C54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BFEAE4"/>
                </a:solidFill>
                <a:latin typeface="Calibri" panose="020F0502020204030204" pitchFamily="34" charset="0"/>
              </a:rPr>
              <a:t>Por eso la limpieza no es un trámite previo al curso: es la condición para que el curso sea posible.</a:t>
            </a:r>
            <a:endParaRPr lang="es-CO" sz="1150" i="1">
              <a:solidFill>
                <a:srgbClr val="BFEAE4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68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29FC136-5838-98C7-6502-C8690F6A2B76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0A896"/>
                </a:solidFill>
                <a:latin typeface="Calibri" panose="020F0502020204030204" pitchFamily="34" charset="0"/>
              </a:rPr>
              <a:t>C I E R R E   D E   L A   P R I M E R A   M I T A D</a:t>
            </a:r>
            <a:endParaRPr lang="es-CO" sz="1000" b="1">
              <a:solidFill>
                <a:srgbClr val="00A896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9F0C669-1262-5EC9-082D-234AD57D78EB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3100" b="1">
                <a:solidFill>
                  <a:srgbClr val="FFFFFF"/>
                </a:solidFill>
                <a:latin typeface="Cambria" panose="02040503050406030204" pitchFamily="18" charset="0"/>
              </a:rPr>
              <a:t>Lo que ya tienen en las manos</a:t>
            </a:r>
            <a:endParaRPr lang="es-CO" sz="3100" b="1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8D9AEF7-AB28-D709-7039-BDC4726E58C3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0B4249"/>
                </a:solidFill>
                <a:latin typeface="Cambria" panose="02040503050406030204" pitchFamily="18" charset="0"/>
              </a:rPr>
              <a:t>19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361F98F-32DF-97FB-2A73-5E0831877DCE}"/>
              </a:ext>
            </a:extLst>
          </p:cNvPr>
          <p:cNvSpPr/>
          <p:nvPr/>
        </p:nvSpPr>
        <p:spPr>
          <a:xfrm>
            <a:off x="850900" y="1930400"/>
            <a:ext cx="10490200" cy="9906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6C1853A9-8110-CBA6-779C-B952551B98A9}"/>
              </a:ext>
            </a:extLst>
          </p:cNvPr>
          <p:cNvSpPr/>
          <p:nvPr/>
        </p:nvSpPr>
        <p:spPr>
          <a:xfrm>
            <a:off x="1143000" y="2209800"/>
            <a:ext cx="431800" cy="4318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400" b="1">
                <a:solidFill>
                  <a:srgbClr val="012E33"/>
                </a:solidFill>
                <a:latin typeface="Cambria" panose="02040503050406030204" pitchFamily="18" charset="0"/>
              </a:rPr>
              <a:t>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78890FA-D481-60F3-DF79-EEEFFC47C291}"/>
              </a:ext>
            </a:extLst>
          </p:cNvPr>
          <p:cNvSpPr txBox="1"/>
          <p:nvPr/>
        </p:nvSpPr>
        <p:spPr>
          <a:xfrm>
            <a:off x="1778000" y="2159000"/>
            <a:ext cx="368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550" b="1">
                <a:solidFill>
                  <a:srgbClr val="FFFFFF"/>
                </a:solidFill>
                <a:latin typeface="Cambria" panose="02040503050406030204" pitchFamily="18" charset="0"/>
              </a:rPr>
              <a:t>Saben formular la pregunta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9A9A51A-F3CC-1AA9-502C-E8D03D009DF9}"/>
              </a:ext>
            </a:extLst>
          </p:cNvPr>
          <p:cNvSpPr txBox="1"/>
          <p:nvPr/>
        </p:nvSpPr>
        <p:spPr>
          <a:xfrm>
            <a:off x="5715000" y="2184400"/>
            <a:ext cx="5397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C3D6D8"/>
                </a:solidFill>
                <a:latin typeface="Calibri" panose="020F0502020204030204" pitchFamily="34" charset="0"/>
              </a:rPr>
              <a:t>Medible, acotada en tiempo y espacio, comparable. Y saben nombrar la tabla que necesitan.</a:t>
            </a:r>
            <a:endParaRPr lang="es-CO" sz="120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2980B93-F2B5-43C3-6801-8E5671F50E3D}"/>
              </a:ext>
            </a:extLst>
          </p:cNvPr>
          <p:cNvSpPr/>
          <p:nvPr/>
        </p:nvSpPr>
        <p:spPr>
          <a:xfrm>
            <a:off x="850900" y="3048000"/>
            <a:ext cx="10490200" cy="9906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033E7AE-8D40-97D9-E227-7736D116C736}"/>
              </a:ext>
            </a:extLst>
          </p:cNvPr>
          <p:cNvSpPr/>
          <p:nvPr/>
        </p:nvSpPr>
        <p:spPr>
          <a:xfrm>
            <a:off x="1143000" y="3327400"/>
            <a:ext cx="431800" cy="4318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400" b="1">
                <a:solidFill>
                  <a:srgbClr val="012E33"/>
                </a:solidFill>
                <a:latin typeface="Cambria" panose="02040503050406030204" pitchFamily="18" charset="0"/>
              </a:rPr>
              <a:t>2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30003FC-1527-3EBF-6C9A-6ADBCC163661}"/>
              </a:ext>
            </a:extLst>
          </p:cNvPr>
          <p:cNvSpPr txBox="1"/>
          <p:nvPr/>
        </p:nvSpPr>
        <p:spPr>
          <a:xfrm>
            <a:off x="1778000" y="3276600"/>
            <a:ext cx="368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550" b="1">
                <a:solidFill>
                  <a:srgbClr val="FFFFFF"/>
                </a:solidFill>
                <a:latin typeface="Cambria" panose="02040503050406030204" pitchFamily="18" charset="0"/>
              </a:rPr>
              <a:t>Saben conseguir los datos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FF216BF-AF10-6B27-691A-B8BEA70B0EB1}"/>
              </a:ext>
            </a:extLst>
          </p:cNvPr>
          <p:cNvSpPr txBox="1"/>
          <p:nvPr/>
        </p:nvSpPr>
        <p:spPr>
          <a:xfrm>
            <a:off x="5715000" y="3302000"/>
            <a:ext cx="5397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C3D6D8"/>
                </a:solidFill>
                <a:latin typeface="Calibri" panose="020F0502020204030204" pitchFamily="34" charset="0"/>
              </a:rPr>
              <a:t>Conocen las fuentes, sus sesgos típicos y los cuatro criterios para evaluarlas.</a:t>
            </a:r>
            <a:endParaRPr lang="es-CO" sz="120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7FBE992-1F7D-0A30-7759-AECFFFFF708D}"/>
              </a:ext>
            </a:extLst>
          </p:cNvPr>
          <p:cNvSpPr/>
          <p:nvPr/>
        </p:nvSpPr>
        <p:spPr>
          <a:xfrm>
            <a:off x="850900" y="4165600"/>
            <a:ext cx="10490200" cy="9906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CD770414-945F-CDAE-91BE-FA1A6CF3A95D}"/>
              </a:ext>
            </a:extLst>
          </p:cNvPr>
          <p:cNvSpPr/>
          <p:nvPr/>
        </p:nvSpPr>
        <p:spPr>
          <a:xfrm>
            <a:off x="1143000" y="4445000"/>
            <a:ext cx="431800" cy="4318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400" b="1">
                <a:solidFill>
                  <a:srgbClr val="012E33"/>
                </a:solidFill>
                <a:latin typeface="Cambria" panose="02040503050406030204" pitchFamily="18" charset="0"/>
              </a:rPr>
              <a:t>3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A9ADBFD-F8B4-1F82-7F66-9E33919BB90B}"/>
              </a:ext>
            </a:extLst>
          </p:cNvPr>
          <p:cNvSpPr txBox="1"/>
          <p:nvPr/>
        </p:nvSpPr>
        <p:spPr>
          <a:xfrm>
            <a:off x="1778000" y="4394200"/>
            <a:ext cx="368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550" b="1">
                <a:solidFill>
                  <a:srgbClr val="FFFFFF"/>
                </a:solidFill>
                <a:latin typeface="Cambria" panose="02040503050406030204" pitchFamily="18" charset="0"/>
              </a:rPr>
              <a:t>Saben dejarlos usables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6100D57-31BD-8C05-1162-D882751DD2A2}"/>
              </a:ext>
            </a:extLst>
          </p:cNvPr>
          <p:cNvSpPr txBox="1"/>
          <p:nvPr/>
        </p:nvSpPr>
        <p:spPr>
          <a:xfrm>
            <a:off x="5715000" y="4419600"/>
            <a:ext cx="5397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C3D6D8"/>
                </a:solidFill>
                <a:latin typeface="Calibri" panose="020F0502020204030204" pitchFamily="34" charset="0"/>
              </a:rPr>
              <a:t>Detectan duplicados, nulos, formatos inconsistentes y valores imposibles, y saben qué hacer con cada uno.</a:t>
            </a:r>
            <a:endParaRPr lang="es-CO" sz="120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9669476-C9BE-F7B1-ECF0-7F79D62F0FCD}"/>
              </a:ext>
            </a:extLst>
          </p:cNvPr>
          <p:cNvSpPr txBox="1"/>
          <p:nvPr/>
        </p:nvSpPr>
        <p:spPr>
          <a:xfrm>
            <a:off x="850900" y="5461000"/>
            <a:ext cx="10490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MX" sz="1500" b="1">
                <a:solidFill>
                  <a:srgbClr val="02C39A"/>
                </a:solidFill>
                <a:latin typeface="Cambria" panose="02040503050406030204" pitchFamily="18" charset="0"/>
              </a:rPr>
              <a:t>Con eso ya pueden ensuciarse las manos. Y eso es exactamente lo que van a hacer ahora.</a:t>
            </a:r>
            <a:endParaRPr lang="es-CO" sz="1500" b="1">
              <a:solidFill>
                <a:srgbClr val="02C39A"/>
              </a:solidFill>
              <a:latin typeface="Cambria" panose="02040503050406030204" pitchFamily="18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8AAC481-2F22-C489-C6DC-1E944B99CEDD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BFEAE4"/>
                </a:solidFill>
                <a:latin typeface="Calibri" panose="020F0502020204030204" pitchFamily="34" charset="0"/>
              </a:rPr>
              <a:t>La próxima sesión: qué hacer con esos datos ya limpios (etapas 4 a 8).</a:t>
            </a:r>
            <a:endParaRPr lang="es-CO" sz="1150" i="1">
              <a:solidFill>
                <a:srgbClr val="BFEAE4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3908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FA615A5-4B68-F3B3-CE93-EA966CFEE91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080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338D55A5-61DD-5FD0-5850-F8752D720D1B}"/>
              </a:ext>
            </a:extLst>
          </p:cNvPr>
          <p:cNvSpPr txBox="1"/>
          <p:nvPr/>
        </p:nvSpPr>
        <p:spPr>
          <a:xfrm>
            <a:off x="5715000" y="20955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0A896"/>
                </a:solidFill>
                <a:latin typeface="Calibri" panose="020F0502020204030204" pitchFamily="34" charset="0"/>
              </a:rPr>
              <a:t>A C T I V I D A D   D E   C I E R R E     ·     2 5   M I N</a:t>
            </a:r>
            <a:endParaRPr lang="es-CO" sz="1000" b="1">
              <a:solidFill>
                <a:srgbClr val="00A896"/>
              </a:solidFill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A7574D1-726A-2263-6547-487C14BFB044}"/>
              </a:ext>
            </a:extLst>
          </p:cNvPr>
          <p:cNvSpPr txBox="1"/>
          <p:nvPr/>
        </p:nvSpPr>
        <p:spPr>
          <a:xfrm>
            <a:off x="5715000" y="2413000"/>
            <a:ext cx="584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3400" b="1">
                <a:solidFill>
                  <a:srgbClr val="FFFFFF"/>
                </a:solidFill>
                <a:latin typeface="Cambria" panose="02040503050406030204" pitchFamily="18" charset="0"/>
              </a:rPr>
              <a:t>CSI: Datos</a:t>
            </a:r>
          </a:p>
          <a:p>
            <a:pPr>
              <a:lnSpc>
                <a:spcPct val="115000"/>
              </a:lnSpc>
            </a:pPr>
            <a:r>
              <a:rPr lang="es-MX" sz="3400" b="1">
                <a:solidFill>
                  <a:srgbClr val="FFFFFF"/>
                </a:solidFill>
                <a:latin typeface="Cambria" panose="02040503050406030204" pitchFamily="18" charset="0"/>
              </a:rPr>
              <a:t>El caso del dataset contaminado</a:t>
            </a:r>
            <a:endParaRPr lang="es-CO" sz="3400" b="1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DDD0E76-BB26-166C-F1AD-7BDCD365B4A9}"/>
              </a:ext>
            </a:extLst>
          </p:cNvPr>
          <p:cNvSpPr/>
          <p:nvPr/>
        </p:nvSpPr>
        <p:spPr>
          <a:xfrm>
            <a:off x="5715000" y="4089400"/>
            <a:ext cx="1016000" cy="50800"/>
          </a:xfrm>
          <a:prstGeom prst="rect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DC48975-D468-AD05-2CE3-9E7486EE3FD7}"/>
              </a:ext>
            </a:extLst>
          </p:cNvPr>
          <p:cNvSpPr txBox="1"/>
          <p:nvPr/>
        </p:nvSpPr>
        <p:spPr>
          <a:xfrm>
            <a:off x="5715000" y="4381500"/>
            <a:ext cx="558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350">
                <a:solidFill>
                  <a:srgbClr val="C3D6D8"/>
                </a:solidFill>
                <a:latin typeface="Calibri" panose="020F0502020204030204" pitchFamily="34" charset="0"/>
              </a:rPr>
              <a:t>La Secretaría de Movilidad va a publicar un dataset abierto de su sistema de bicicletas. Antes de hacerlo, los contrató a ustedes como peritos forenses de datos.</a:t>
            </a:r>
          </a:p>
          <a:p>
            <a:pPr>
              <a:lnSpc>
                <a:spcPct val="115000"/>
              </a:lnSpc>
            </a:pPr>
            <a:endParaRPr lang="es-MX" sz="1350">
              <a:solidFill>
                <a:srgbClr val="C3D6D8"/>
              </a:solidFill>
              <a:latin typeface="Calibri" panose="020F0502020204030204" pitchFamily="34" charset="0"/>
            </a:endParaRPr>
          </a:p>
          <a:p>
            <a:pPr>
              <a:lnSpc>
                <a:spcPct val="115000"/>
              </a:lnSpc>
            </a:pPr>
            <a:r>
              <a:rPr lang="es-MX" sz="1350">
                <a:solidFill>
                  <a:srgbClr val="C3D6D8"/>
                </a:solidFill>
                <a:latin typeface="Calibri" panose="020F0502020204030204" pitchFamily="34" charset="0"/>
              </a:rPr>
              <a:t>Su misión: encontrar todo lo que está mal antes de que se publique.</a:t>
            </a:r>
            <a:endParaRPr lang="es-CO" sz="13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CD19C95-C39B-ED43-2D74-FD502B668284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0B4249"/>
                </a:solidFill>
                <a:latin typeface="Cambria" panose="02040503050406030204" pitchFamily="18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21414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A3818DA-8122-F240-853D-B2B463D580D0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28090"/>
                </a:solidFill>
                <a:latin typeface="Calibri" panose="020F0502020204030204" pitchFamily="34" charset="0"/>
              </a:rPr>
              <a:t>C S I   D A T O S</a:t>
            </a:r>
            <a:endParaRPr lang="es-CO" sz="1000" b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6DFF66E-2A1A-8489-111F-BD812EFDE5AE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100" b="1">
                <a:solidFill>
                  <a:srgbClr val="012E33"/>
                </a:solidFill>
                <a:latin typeface="Cambria" panose="02040503050406030204" pitchFamily="18" charset="0"/>
              </a:rPr>
              <a:t>Reglas del caso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FC038D0-ED6B-F6E1-46BD-527A4165387E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21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7E5FADB-2CA0-CFE2-1591-8BF4DEEFF487}"/>
              </a:ext>
            </a:extLst>
          </p:cNvPr>
          <p:cNvSpPr/>
          <p:nvPr/>
        </p:nvSpPr>
        <p:spPr>
          <a:xfrm>
            <a:off x="850900" y="1752600"/>
            <a:ext cx="10490200" cy="7874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6CBA75F-D8AF-3FEB-46D0-0F52CE2EF6EB}"/>
              </a:ext>
            </a:extLst>
          </p:cNvPr>
          <p:cNvSpPr txBox="1"/>
          <p:nvPr/>
        </p:nvSpPr>
        <p:spPr>
          <a:xfrm>
            <a:off x="1168400" y="19812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028090"/>
                </a:solidFill>
                <a:latin typeface="Cambria" panose="02040503050406030204" pitchFamily="18" charset="0"/>
              </a:rPr>
              <a:t>Equipos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2497629-7A2D-1AF1-7C59-8F4E5C603170}"/>
              </a:ext>
            </a:extLst>
          </p:cNvPr>
          <p:cNvSpPr txBox="1"/>
          <p:nvPr/>
        </p:nvSpPr>
        <p:spPr>
          <a:xfrm>
            <a:off x="3302000" y="1955800"/>
            <a:ext cx="7810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Los mismos del proyecto. Descarguen el archivo desde Canvas o trabajen sobre la proyección.</a:t>
            </a:r>
            <a:endParaRPr lang="es-CO" sz="12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2F7BFD2-5AFD-3976-87EB-6EC6CD97C76A}"/>
              </a:ext>
            </a:extLst>
          </p:cNvPr>
          <p:cNvSpPr/>
          <p:nvPr/>
        </p:nvSpPr>
        <p:spPr>
          <a:xfrm>
            <a:off x="850900" y="2641600"/>
            <a:ext cx="10490200" cy="7874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6AF014A-F01A-37C3-8489-46664C203CED}"/>
              </a:ext>
            </a:extLst>
          </p:cNvPr>
          <p:cNvSpPr txBox="1"/>
          <p:nvPr/>
        </p:nvSpPr>
        <p:spPr>
          <a:xfrm>
            <a:off x="1168400" y="28702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028090"/>
                </a:solidFill>
                <a:latin typeface="Cambria" panose="02040503050406030204" pitchFamily="18" charset="0"/>
              </a:rPr>
              <a:t>Tiempo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E879472-629B-7C78-F7F3-E74CB4081162}"/>
              </a:ext>
            </a:extLst>
          </p:cNvPr>
          <p:cNvSpPr txBox="1"/>
          <p:nvPr/>
        </p:nvSpPr>
        <p:spPr>
          <a:xfrm>
            <a:off x="3302000" y="2844800"/>
            <a:ext cx="7810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12 minutos de investigación. Cronómetro en pantalla, sin prórroga.</a:t>
            </a:r>
            <a:endParaRPr lang="es-CO" sz="12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C64FC3A-550D-E13B-D975-85F0BB03209B}"/>
              </a:ext>
            </a:extLst>
          </p:cNvPr>
          <p:cNvSpPr/>
          <p:nvPr/>
        </p:nvSpPr>
        <p:spPr>
          <a:xfrm>
            <a:off x="850900" y="3530600"/>
            <a:ext cx="10490200" cy="7874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5DD8A10-8713-6393-4840-6A817CF3DA67}"/>
              </a:ext>
            </a:extLst>
          </p:cNvPr>
          <p:cNvSpPr txBox="1"/>
          <p:nvPr/>
        </p:nvSpPr>
        <p:spPr>
          <a:xfrm>
            <a:off x="1168400" y="37592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028090"/>
                </a:solidFill>
                <a:latin typeface="Cambria" panose="02040503050406030204" pitchFamily="18" charset="0"/>
              </a:rPr>
              <a:t>Puntaje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A80E6BD-6806-4121-EF8A-FE992F8054EE}"/>
              </a:ext>
            </a:extLst>
          </p:cNvPr>
          <p:cNvSpPr txBox="1"/>
          <p:nvPr/>
        </p:nvSpPr>
        <p:spPr>
          <a:xfrm>
            <a:off x="3302000" y="3733800"/>
            <a:ext cx="7810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+10 puntos por cada problema real detectado y bien clasificado. +5 adicionales si proponen el tratamiento correcto.</a:t>
            </a:r>
            <a:endParaRPr lang="es-CO" sz="12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E040CBA-9596-808A-DA4D-D0B37FC16198}"/>
              </a:ext>
            </a:extLst>
          </p:cNvPr>
          <p:cNvSpPr/>
          <p:nvPr/>
        </p:nvSpPr>
        <p:spPr>
          <a:xfrm>
            <a:off x="850900" y="4419600"/>
            <a:ext cx="10490200" cy="7874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78C8741-9DEF-E030-10D9-8A285B64D519}"/>
              </a:ext>
            </a:extLst>
          </p:cNvPr>
          <p:cNvSpPr txBox="1"/>
          <p:nvPr/>
        </p:nvSpPr>
        <p:spPr>
          <a:xfrm>
            <a:off x="1168400" y="46482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028090"/>
                </a:solidFill>
                <a:latin typeface="Cambria" panose="02040503050406030204" pitchFamily="18" charset="0"/>
              </a:rPr>
              <a:t>Trampa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2175AEA-627D-FB5B-92A8-351651BFEF1C}"/>
              </a:ext>
            </a:extLst>
          </p:cNvPr>
          <p:cNvSpPr txBox="1"/>
          <p:nvPr/>
        </p:nvSpPr>
        <p:spPr>
          <a:xfrm>
            <a:off x="3302000" y="4622800"/>
            <a:ext cx="7810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Hay al menos un valor que PARECE un error y no lo es. Marcarlo como error: -5 puntos.</a:t>
            </a:r>
            <a:endParaRPr lang="es-CO" sz="12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AC80559-723F-58CA-AC89-176F56EBE360}"/>
              </a:ext>
            </a:extLst>
          </p:cNvPr>
          <p:cNvSpPr/>
          <p:nvPr/>
        </p:nvSpPr>
        <p:spPr>
          <a:xfrm>
            <a:off x="850900" y="5308600"/>
            <a:ext cx="10490200" cy="7874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3B7D632-0E4B-A4AB-32E0-6C1A8BDFB848}"/>
              </a:ext>
            </a:extLst>
          </p:cNvPr>
          <p:cNvSpPr txBox="1"/>
          <p:nvPr/>
        </p:nvSpPr>
        <p:spPr>
          <a:xfrm>
            <a:off x="1168400" y="55372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028090"/>
                </a:solidFill>
                <a:latin typeface="Cambria" panose="02040503050406030204" pitchFamily="18" charset="0"/>
              </a:rPr>
              <a:t>Socialización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642DED9-ECC2-46EA-EC04-89142FE0128D}"/>
              </a:ext>
            </a:extLst>
          </p:cNvPr>
          <p:cNvSpPr txBox="1"/>
          <p:nvPr/>
        </p:nvSpPr>
        <p:spPr>
          <a:xfrm>
            <a:off x="3302000" y="5511800"/>
            <a:ext cx="7810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Cada equipo aporta UN hallazgo distinto, por turnos. El equipo que no tenga uno nuevo, queda fuera de la ronda.</a:t>
            </a:r>
            <a:endParaRPr lang="es-CO" sz="12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A61A284-227B-CB1B-E131-C9734DD22FA3}"/>
              </a:ext>
            </a:extLst>
          </p:cNvPr>
          <p:cNvSpPr/>
          <p:nvPr/>
        </p:nvSpPr>
        <p:spPr>
          <a:xfrm>
            <a:off x="850900" y="6197600"/>
            <a:ext cx="10490200" cy="508000"/>
          </a:xfrm>
          <a:prstGeom prst="rect">
            <a:avLst/>
          </a:prstGeom>
          <a:solidFill>
            <a:srgbClr val="012E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9D05AA6-22F7-980A-B037-588AE4CF5C05}"/>
              </a:ext>
            </a:extLst>
          </p:cNvPr>
          <p:cNvSpPr txBox="1"/>
          <p:nvPr/>
        </p:nvSpPr>
        <p:spPr>
          <a:xfrm>
            <a:off x="1168400" y="63246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50" i="1">
                <a:solidFill>
                  <a:srgbClr val="02C39A"/>
                </a:solidFill>
                <a:latin typeface="Calibri" panose="020F0502020204030204" pitchFamily="34" charset="0"/>
              </a:rPr>
              <a:t>Pista del perito: revisen columna por columna, no fila por fila. Es más rápido y encuentran más.</a:t>
            </a:r>
            <a:endParaRPr lang="es-CO" sz="1250" i="1">
              <a:solidFill>
                <a:srgbClr val="02C39A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9433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3BD58C1-7166-58B0-35A8-2A066E985602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28090"/>
                </a:solidFill>
                <a:latin typeface="Calibri" panose="020F0502020204030204" pitchFamily="34" charset="0"/>
              </a:rPr>
              <a:t>E L   E X P E D I E N T E</a:t>
            </a:r>
            <a:endParaRPr lang="es-CO" sz="1000" b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DB20E4-5214-C88A-326C-85B65E59E791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100" b="1">
                <a:solidFill>
                  <a:srgbClr val="012E33"/>
                </a:solidFill>
                <a:latin typeface="Cambria" panose="02040503050406030204" pitchFamily="18" charset="0"/>
              </a:rPr>
              <a:t>viajes_bicicletas_marzo.csv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9662853-5D48-1D51-B66B-92CD7F7A4840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22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70BFACA-C1C1-1A88-802B-D8A82B58F0DA}"/>
              </a:ext>
            </a:extLst>
          </p:cNvPr>
          <p:cNvSpPr/>
          <p:nvPr/>
        </p:nvSpPr>
        <p:spPr>
          <a:xfrm>
            <a:off x="1346200" y="1651000"/>
            <a:ext cx="584200" cy="355600"/>
          </a:xfrm>
          <a:prstGeom prst="rect">
            <a:avLst/>
          </a:prstGeom>
          <a:solidFill>
            <a:srgbClr val="012E33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50" b="1">
                <a:solidFill>
                  <a:srgbClr val="FFFFFF"/>
                </a:solidFill>
                <a:latin typeface="Consolas" panose="020B0609020204030204" pitchFamily="49" charset="0"/>
              </a:rPr>
              <a:t>id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9BDE9B3-D107-C152-8D72-28EAB217E755}"/>
              </a:ext>
            </a:extLst>
          </p:cNvPr>
          <p:cNvSpPr/>
          <p:nvPr/>
        </p:nvSpPr>
        <p:spPr>
          <a:xfrm>
            <a:off x="1930400" y="1651000"/>
            <a:ext cx="1371600" cy="355600"/>
          </a:xfrm>
          <a:prstGeom prst="rect">
            <a:avLst/>
          </a:prstGeom>
          <a:solidFill>
            <a:srgbClr val="012E33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50" b="1">
                <a:solidFill>
                  <a:srgbClr val="FFFFFF"/>
                </a:solidFill>
                <a:latin typeface="Consolas" panose="020B0609020204030204" pitchFamily="49" charset="0"/>
              </a:rPr>
              <a:t>fecha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E750DA2-EBE5-09AF-8673-7DD51699BCA5}"/>
              </a:ext>
            </a:extLst>
          </p:cNvPr>
          <p:cNvSpPr/>
          <p:nvPr/>
        </p:nvSpPr>
        <p:spPr>
          <a:xfrm>
            <a:off x="3302000" y="1651000"/>
            <a:ext cx="2133600" cy="355600"/>
          </a:xfrm>
          <a:prstGeom prst="rect">
            <a:avLst/>
          </a:prstGeom>
          <a:solidFill>
            <a:srgbClr val="012E33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50" b="1">
                <a:solidFill>
                  <a:srgbClr val="FFFFFF"/>
                </a:solidFill>
                <a:latin typeface="Consolas" panose="020B0609020204030204" pitchFamily="49" charset="0"/>
              </a:rPr>
              <a:t>estacion_origen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3B1373D-D772-EC23-DDBD-833C890E7508}"/>
              </a:ext>
            </a:extLst>
          </p:cNvPr>
          <p:cNvSpPr/>
          <p:nvPr/>
        </p:nvSpPr>
        <p:spPr>
          <a:xfrm>
            <a:off x="5435600" y="1651000"/>
            <a:ext cx="1498600" cy="355600"/>
          </a:xfrm>
          <a:prstGeom prst="rect">
            <a:avLst/>
          </a:prstGeom>
          <a:solidFill>
            <a:srgbClr val="012E33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50" b="1">
                <a:solidFill>
                  <a:srgbClr val="FFFFFF"/>
                </a:solidFill>
                <a:latin typeface="Consolas" panose="020B0609020204030204" pitchFamily="49" charset="0"/>
              </a:rPr>
              <a:t>duracion_min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C748671-4BFD-9649-733C-7CEFF198B765}"/>
              </a:ext>
            </a:extLst>
          </p:cNvPr>
          <p:cNvSpPr/>
          <p:nvPr/>
        </p:nvSpPr>
        <p:spPr>
          <a:xfrm>
            <a:off x="6934200" y="1651000"/>
            <a:ext cx="1498600" cy="355600"/>
          </a:xfrm>
          <a:prstGeom prst="rect">
            <a:avLst/>
          </a:prstGeom>
          <a:solidFill>
            <a:srgbClr val="012E33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50" b="1">
                <a:solidFill>
                  <a:srgbClr val="FFFFFF"/>
                </a:solidFill>
                <a:latin typeface="Consolas" panose="020B0609020204030204" pitchFamily="49" charset="0"/>
              </a:rPr>
              <a:t>edad_usuario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8CED0FB-2AB6-D505-8AAD-153E726F1789}"/>
              </a:ext>
            </a:extLst>
          </p:cNvPr>
          <p:cNvSpPr/>
          <p:nvPr/>
        </p:nvSpPr>
        <p:spPr>
          <a:xfrm>
            <a:off x="8432800" y="1651000"/>
            <a:ext cx="1625600" cy="355600"/>
          </a:xfrm>
          <a:prstGeom prst="rect">
            <a:avLst/>
          </a:prstGeom>
          <a:solidFill>
            <a:srgbClr val="012E33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50" b="1">
                <a:solidFill>
                  <a:srgbClr val="FFFFFF"/>
                </a:solidFill>
                <a:latin typeface="Consolas" panose="020B0609020204030204" pitchFamily="49" charset="0"/>
              </a:rPr>
              <a:t>tipo_usuario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A764B41-2DA5-B95E-826D-04D9402DCE1B}"/>
              </a:ext>
            </a:extLst>
          </p:cNvPr>
          <p:cNvSpPr/>
          <p:nvPr/>
        </p:nvSpPr>
        <p:spPr>
          <a:xfrm>
            <a:off x="1346200" y="2006600"/>
            <a:ext cx="5842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9067788-A39F-BEDE-F8C0-4A267523DD98}"/>
              </a:ext>
            </a:extLst>
          </p:cNvPr>
          <p:cNvSpPr/>
          <p:nvPr/>
        </p:nvSpPr>
        <p:spPr>
          <a:xfrm>
            <a:off x="1930400" y="2006600"/>
            <a:ext cx="1371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2025-03-01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8B3C0ED-B8FD-98E8-1569-11A808545BBC}"/>
              </a:ext>
            </a:extLst>
          </p:cNvPr>
          <p:cNvSpPr/>
          <p:nvPr/>
        </p:nvSpPr>
        <p:spPr>
          <a:xfrm>
            <a:off x="3302000" y="2006600"/>
            <a:ext cx="2133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Chapinero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5173CB9-7BDA-786F-1C0E-C9136490F556}"/>
              </a:ext>
            </a:extLst>
          </p:cNvPr>
          <p:cNvSpPr/>
          <p:nvPr/>
        </p:nvSpPr>
        <p:spPr>
          <a:xfrm>
            <a:off x="5435600" y="2006600"/>
            <a:ext cx="1498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12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9F05EB4-EC97-641B-A46F-90E0C9844BBA}"/>
              </a:ext>
            </a:extLst>
          </p:cNvPr>
          <p:cNvSpPr/>
          <p:nvPr/>
        </p:nvSpPr>
        <p:spPr>
          <a:xfrm>
            <a:off x="6934200" y="2006600"/>
            <a:ext cx="1498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28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9702450-AFFC-9D43-83B3-842107E00DB4}"/>
              </a:ext>
            </a:extLst>
          </p:cNvPr>
          <p:cNvSpPr/>
          <p:nvPr/>
        </p:nvSpPr>
        <p:spPr>
          <a:xfrm>
            <a:off x="8432800" y="2006600"/>
            <a:ext cx="1625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mensual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5F7616B-F87A-0EC1-41A0-3B6AC56952E9}"/>
              </a:ext>
            </a:extLst>
          </p:cNvPr>
          <p:cNvSpPr/>
          <p:nvPr/>
        </p:nvSpPr>
        <p:spPr>
          <a:xfrm>
            <a:off x="1346200" y="2336800"/>
            <a:ext cx="5842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4BFE1ED-9FB4-18E5-4196-AE2A9DECDB53}"/>
              </a:ext>
            </a:extLst>
          </p:cNvPr>
          <p:cNvSpPr/>
          <p:nvPr/>
        </p:nvSpPr>
        <p:spPr>
          <a:xfrm>
            <a:off x="1930400" y="2336800"/>
            <a:ext cx="1371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2025-03-01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AC276BD-DA85-863E-8FD5-06362BD28B26}"/>
              </a:ext>
            </a:extLst>
          </p:cNvPr>
          <p:cNvSpPr/>
          <p:nvPr/>
        </p:nvSpPr>
        <p:spPr>
          <a:xfrm>
            <a:off x="3302000" y="2336800"/>
            <a:ext cx="2133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CHAPINERO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587B99E-5D90-6202-F6F2-3DB989CDD5B7}"/>
              </a:ext>
            </a:extLst>
          </p:cNvPr>
          <p:cNvSpPr/>
          <p:nvPr/>
        </p:nvSpPr>
        <p:spPr>
          <a:xfrm>
            <a:off x="5435600" y="2336800"/>
            <a:ext cx="1498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8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5E453A1B-BD64-9A50-FC9A-D944B069CE5C}"/>
              </a:ext>
            </a:extLst>
          </p:cNvPr>
          <p:cNvSpPr/>
          <p:nvPr/>
        </p:nvSpPr>
        <p:spPr>
          <a:xfrm>
            <a:off x="6934200" y="2336800"/>
            <a:ext cx="1498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34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984F6B1-9B44-E1B8-AA59-904A4948C114}"/>
              </a:ext>
            </a:extLst>
          </p:cNvPr>
          <p:cNvSpPr/>
          <p:nvPr/>
        </p:nvSpPr>
        <p:spPr>
          <a:xfrm>
            <a:off x="8432800" y="2336800"/>
            <a:ext cx="1625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ocasional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C83CF751-A6D3-6A67-DC51-489A59A907C7}"/>
              </a:ext>
            </a:extLst>
          </p:cNvPr>
          <p:cNvSpPr/>
          <p:nvPr/>
        </p:nvSpPr>
        <p:spPr>
          <a:xfrm>
            <a:off x="1346200" y="2667000"/>
            <a:ext cx="5842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778A9FC4-C55A-E523-15BD-7982CE200417}"/>
              </a:ext>
            </a:extLst>
          </p:cNvPr>
          <p:cNvSpPr/>
          <p:nvPr/>
        </p:nvSpPr>
        <p:spPr>
          <a:xfrm>
            <a:off x="1930400" y="2667000"/>
            <a:ext cx="1371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2025-03-02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D9DEBAF1-0899-7917-3EE1-C14EB56A83A9}"/>
              </a:ext>
            </a:extLst>
          </p:cNvPr>
          <p:cNvSpPr/>
          <p:nvPr/>
        </p:nvSpPr>
        <p:spPr>
          <a:xfrm>
            <a:off x="3302000" y="2667000"/>
            <a:ext cx="2133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Usaquén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C91E4514-CB98-4C1E-FFD2-FC99EA7AAB99}"/>
              </a:ext>
            </a:extLst>
          </p:cNvPr>
          <p:cNvSpPr/>
          <p:nvPr/>
        </p:nvSpPr>
        <p:spPr>
          <a:xfrm>
            <a:off x="5435600" y="2667000"/>
            <a:ext cx="1498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15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19B25F1B-4424-374A-EE52-E3F1CF3C38E6}"/>
              </a:ext>
            </a:extLst>
          </p:cNvPr>
          <p:cNvSpPr/>
          <p:nvPr/>
        </p:nvSpPr>
        <p:spPr>
          <a:xfrm>
            <a:off x="6934200" y="2667000"/>
            <a:ext cx="1498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22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6B15B585-7BD3-3F77-2B9B-0B8B68E385DF}"/>
              </a:ext>
            </a:extLst>
          </p:cNvPr>
          <p:cNvSpPr/>
          <p:nvPr/>
        </p:nvSpPr>
        <p:spPr>
          <a:xfrm>
            <a:off x="8432800" y="2667000"/>
            <a:ext cx="1625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mensual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865A6278-0AE6-9015-1224-8B08EC2C6381}"/>
              </a:ext>
            </a:extLst>
          </p:cNvPr>
          <p:cNvSpPr/>
          <p:nvPr/>
        </p:nvSpPr>
        <p:spPr>
          <a:xfrm>
            <a:off x="1346200" y="2997200"/>
            <a:ext cx="5842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6257B1D-1D6A-B44B-160B-B73EA42EAA31}"/>
              </a:ext>
            </a:extLst>
          </p:cNvPr>
          <p:cNvSpPr/>
          <p:nvPr/>
        </p:nvSpPr>
        <p:spPr>
          <a:xfrm>
            <a:off x="1930400" y="2997200"/>
            <a:ext cx="1371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2025-03-02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EA988629-01DB-D12E-00E8-FD220D6B5BDA}"/>
              </a:ext>
            </a:extLst>
          </p:cNvPr>
          <p:cNvSpPr/>
          <p:nvPr/>
        </p:nvSpPr>
        <p:spPr>
          <a:xfrm>
            <a:off x="3302000" y="2997200"/>
            <a:ext cx="2133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Chapinero 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F8D8FFE1-FD28-42BB-AEFF-99D2DEA7BFDC}"/>
              </a:ext>
            </a:extLst>
          </p:cNvPr>
          <p:cNvSpPr/>
          <p:nvPr/>
        </p:nvSpPr>
        <p:spPr>
          <a:xfrm>
            <a:off x="5435600" y="2997200"/>
            <a:ext cx="1498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-5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A7AA7EB5-BE67-8236-D590-4BACA0D3CB1C}"/>
              </a:ext>
            </a:extLst>
          </p:cNvPr>
          <p:cNvSpPr/>
          <p:nvPr/>
        </p:nvSpPr>
        <p:spPr>
          <a:xfrm>
            <a:off x="6934200" y="2997200"/>
            <a:ext cx="1498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41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9C926ADC-F3FB-043D-5FEC-EAC36C35271D}"/>
              </a:ext>
            </a:extLst>
          </p:cNvPr>
          <p:cNvSpPr/>
          <p:nvPr/>
        </p:nvSpPr>
        <p:spPr>
          <a:xfrm>
            <a:off x="8432800" y="2997200"/>
            <a:ext cx="1625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Mensual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8F2FD160-3C4D-334C-B068-E988726139A7}"/>
              </a:ext>
            </a:extLst>
          </p:cNvPr>
          <p:cNvSpPr/>
          <p:nvPr/>
        </p:nvSpPr>
        <p:spPr>
          <a:xfrm>
            <a:off x="1346200" y="3327400"/>
            <a:ext cx="5842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2DC410F-3975-2312-3B01-847BFB45DA1D}"/>
              </a:ext>
            </a:extLst>
          </p:cNvPr>
          <p:cNvSpPr/>
          <p:nvPr/>
        </p:nvSpPr>
        <p:spPr>
          <a:xfrm>
            <a:off x="1930400" y="3327400"/>
            <a:ext cx="1371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2025-03-03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27B74D93-8DC8-C039-6C81-DA668DC107B0}"/>
              </a:ext>
            </a:extLst>
          </p:cNvPr>
          <p:cNvSpPr/>
          <p:nvPr/>
        </p:nvSpPr>
        <p:spPr>
          <a:xfrm>
            <a:off x="3302000" y="3327400"/>
            <a:ext cx="2133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Teusaquillo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94F56B68-ACCF-9C94-2F1B-C9D7B837C26A}"/>
              </a:ext>
            </a:extLst>
          </p:cNvPr>
          <p:cNvSpPr/>
          <p:nvPr/>
        </p:nvSpPr>
        <p:spPr>
          <a:xfrm>
            <a:off x="5435600" y="3327400"/>
            <a:ext cx="1498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347DD4DA-C33B-1444-CD71-AF4F577B6F99}"/>
              </a:ext>
            </a:extLst>
          </p:cNvPr>
          <p:cNvSpPr/>
          <p:nvPr/>
        </p:nvSpPr>
        <p:spPr>
          <a:xfrm>
            <a:off x="6934200" y="3327400"/>
            <a:ext cx="1498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29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3A862CC5-D77E-0310-B567-6DB8241D5512}"/>
              </a:ext>
            </a:extLst>
          </p:cNvPr>
          <p:cNvSpPr/>
          <p:nvPr/>
        </p:nvSpPr>
        <p:spPr>
          <a:xfrm>
            <a:off x="8432800" y="3327400"/>
            <a:ext cx="1625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ocasional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7A73D598-5D04-EB07-288B-6F6908F02114}"/>
              </a:ext>
            </a:extLst>
          </p:cNvPr>
          <p:cNvSpPr/>
          <p:nvPr/>
        </p:nvSpPr>
        <p:spPr>
          <a:xfrm>
            <a:off x="1346200" y="3657600"/>
            <a:ext cx="5842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E74DD309-8F14-5631-1391-7FEB361C2051}"/>
              </a:ext>
            </a:extLst>
          </p:cNvPr>
          <p:cNvSpPr/>
          <p:nvPr/>
        </p:nvSpPr>
        <p:spPr>
          <a:xfrm>
            <a:off x="1930400" y="3657600"/>
            <a:ext cx="1371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2025-03-03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D7D88F33-CAD5-6C03-E469-29E4E8024455}"/>
              </a:ext>
            </a:extLst>
          </p:cNvPr>
          <p:cNvSpPr/>
          <p:nvPr/>
        </p:nvSpPr>
        <p:spPr>
          <a:xfrm>
            <a:off x="3302000" y="3657600"/>
            <a:ext cx="2133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Usaquén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A953D717-125A-AB2B-5DBC-74D6BF9CF9DA}"/>
              </a:ext>
            </a:extLst>
          </p:cNvPr>
          <p:cNvSpPr/>
          <p:nvPr/>
        </p:nvSpPr>
        <p:spPr>
          <a:xfrm>
            <a:off x="5435600" y="3657600"/>
            <a:ext cx="1498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145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C05A9B2A-CA42-F408-6747-CB5764DB70F9}"/>
              </a:ext>
            </a:extLst>
          </p:cNvPr>
          <p:cNvSpPr/>
          <p:nvPr/>
        </p:nvSpPr>
        <p:spPr>
          <a:xfrm>
            <a:off x="6934200" y="3657600"/>
            <a:ext cx="1498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31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77FCAA5A-9C0A-AB75-7AE0-5417BCFB25DF}"/>
              </a:ext>
            </a:extLst>
          </p:cNvPr>
          <p:cNvSpPr/>
          <p:nvPr/>
        </p:nvSpPr>
        <p:spPr>
          <a:xfrm>
            <a:off x="8432800" y="3657600"/>
            <a:ext cx="1625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mensual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03304235-92F1-553F-8890-6A35B08B7507}"/>
              </a:ext>
            </a:extLst>
          </p:cNvPr>
          <p:cNvSpPr/>
          <p:nvPr/>
        </p:nvSpPr>
        <p:spPr>
          <a:xfrm>
            <a:off x="1346200" y="3987800"/>
            <a:ext cx="5842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7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DBFBFE68-643C-E923-7C1E-4663A3FB2F73}"/>
              </a:ext>
            </a:extLst>
          </p:cNvPr>
          <p:cNvSpPr/>
          <p:nvPr/>
        </p:nvSpPr>
        <p:spPr>
          <a:xfrm>
            <a:off x="1930400" y="3987800"/>
            <a:ext cx="1371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03/03/2025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57B0E562-BF78-54BB-CB5B-3B1FEA01EA21}"/>
              </a:ext>
            </a:extLst>
          </p:cNvPr>
          <p:cNvSpPr/>
          <p:nvPr/>
        </p:nvSpPr>
        <p:spPr>
          <a:xfrm>
            <a:off x="3302000" y="3987800"/>
            <a:ext cx="2133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Chapinero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CAD0D46E-4EA5-B913-481A-373B86952D6E}"/>
              </a:ext>
            </a:extLst>
          </p:cNvPr>
          <p:cNvSpPr/>
          <p:nvPr/>
        </p:nvSpPr>
        <p:spPr>
          <a:xfrm>
            <a:off x="5435600" y="3987800"/>
            <a:ext cx="1498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11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D117383A-7606-E3D7-C760-C1F1603C4A94}"/>
              </a:ext>
            </a:extLst>
          </p:cNvPr>
          <p:cNvSpPr/>
          <p:nvPr/>
        </p:nvSpPr>
        <p:spPr>
          <a:xfrm>
            <a:off x="6934200" y="3987800"/>
            <a:ext cx="1498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19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E33A7D3A-9DF1-CCA7-F56B-ABB695E07076}"/>
              </a:ext>
            </a:extLst>
          </p:cNvPr>
          <p:cNvSpPr/>
          <p:nvPr/>
        </p:nvSpPr>
        <p:spPr>
          <a:xfrm>
            <a:off x="8432800" y="3987800"/>
            <a:ext cx="1625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ocasional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4FE67C50-4357-AA62-CE41-705C5B2C5860}"/>
              </a:ext>
            </a:extLst>
          </p:cNvPr>
          <p:cNvSpPr/>
          <p:nvPr/>
        </p:nvSpPr>
        <p:spPr>
          <a:xfrm>
            <a:off x="1346200" y="4318000"/>
            <a:ext cx="5842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8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D5EF5D74-78F6-075C-9232-BA59D6A0E20B}"/>
              </a:ext>
            </a:extLst>
          </p:cNvPr>
          <p:cNvSpPr/>
          <p:nvPr/>
        </p:nvSpPr>
        <p:spPr>
          <a:xfrm>
            <a:off x="1930400" y="4318000"/>
            <a:ext cx="1371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2025-03-04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FFBC5A5A-FD2F-3575-C600-206936DE74F4}"/>
              </a:ext>
            </a:extLst>
          </p:cNvPr>
          <p:cNvSpPr/>
          <p:nvPr/>
        </p:nvSpPr>
        <p:spPr>
          <a:xfrm>
            <a:off x="3302000" y="4318000"/>
            <a:ext cx="2133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Teusaquillo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DB16CA85-962D-D2CF-BF1D-F1E458E0FB80}"/>
              </a:ext>
            </a:extLst>
          </p:cNvPr>
          <p:cNvSpPr/>
          <p:nvPr/>
        </p:nvSpPr>
        <p:spPr>
          <a:xfrm>
            <a:off x="5435600" y="4318000"/>
            <a:ext cx="1498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75FB8990-C438-FAFA-7D49-2391DD06E931}"/>
              </a:ext>
            </a:extLst>
          </p:cNvPr>
          <p:cNvSpPr/>
          <p:nvPr/>
        </p:nvSpPr>
        <p:spPr>
          <a:xfrm>
            <a:off x="6934200" y="4318000"/>
            <a:ext cx="1498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203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8010037C-36A3-8BC6-08EA-2FFD6F477907}"/>
              </a:ext>
            </a:extLst>
          </p:cNvPr>
          <p:cNvSpPr/>
          <p:nvPr/>
        </p:nvSpPr>
        <p:spPr>
          <a:xfrm>
            <a:off x="8432800" y="4318000"/>
            <a:ext cx="1625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mensual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9E728CEC-7894-1B12-FD7C-A262DBBB48AA}"/>
              </a:ext>
            </a:extLst>
          </p:cNvPr>
          <p:cNvSpPr/>
          <p:nvPr/>
        </p:nvSpPr>
        <p:spPr>
          <a:xfrm>
            <a:off x="1346200" y="4648200"/>
            <a:ext cx="5842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DE420E66-4A0F-8408-82C5-ECAA0CA60929}"/>
              </a:ext>
            </a:extLst>
          </p:cNvPr>
          <p:cNvSpPr/>
          <p:nvPr/>
        </p:nvSpPr>
        <p:spPr>
          <a:xfrm>
            <a:off x="1930400" y="4648200"/>
            <a:ext cx="1371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2025-03-04</a:t>
            </a: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97279DF1-1084-2A2D-4040-A9820D55F967}"/>
              </a:ext>
            </a:extLst>
          </p:cNvPr>
          <p:cNvSpPr/>
          <p:nvPr/>
        </p:nvSpPr>
        <p:spPr>
          <a:xfrm>
            <a:off x="3302000" y="4648200"/>
            <a:ext cx="2133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Usaquén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AB4ADB42-E9A9-889D-90C5-02D4FC1589E7}"/>
              </a:ext>
            </a:extLst>
          </p:cNvPr>
          <p:cNvSpPr/>
          <p:nvPr/>
        </p:nvSpPr>
        <p:spPr>
          <a:xfrm>
            <a:off x="5435600" y="4648200"/>
            <a:ext cx="1498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14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2CFB73B2-2CBA-1D53-163E-3BB68E91F80F}"/>
              </a:ext>
            </a:extLst>
          </p:cNvPr>
          <p:cNvSpPr/>
          <p:nvPr/>
        </p:nvSpPr>
        <p:spPr>
          <a:xfrm>
            <a:off x="6934200" y="4648200"/>
            <a:ext cx="1498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27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049DF07C-6F37-4D0D-DC91-FA532118F1C5}"/>
              </a:ext>
            </a:extLst>
          </p:cNvPr>
          <p:cNvSpPr/>
          <p:nvPr/>
        </p:nvSpPr>
        <p:spPr>
          <a:xfrm>
            <a:off x="8432800" y="4648200"/>
            <a:ext cx="1625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MENSUAL</a:t>
            </a: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37FE3C67-C00F-0DFF-F9C6-3B0589EF0CB3}"/>
              </a:ext>
            </a:extLst>
          </p:cNvPr>
          <p:cNvSpPr/>
          <p:nvPr/>
        </p:nvSpPr>
        <p:spPr>
          <a:xfrm>
            <a:off x="1346200" y="4978400"/>
            <a:ext cx="5842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10</a:t>
            </a:r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ABA26B30-2B80-3250-1C3C-7EC892614518}"/>
              </a:ext>
            </a:extLst>
          </p:cNvPr>
          <p:cNvSpPr/>
          <p:nvPr/>
        </p:nvSpPr>
        <p:spPr>
          <a:xfrm>
            <a:off x="1930400" y="4978400"/>
            <a:ext cx="1371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2025-03-05</a:t>
            </a:r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BFC60496-C5CA-EB3F-64C3-456615BA34CC}"/>
              </a:ext>
            </a:extLst>
          </p:cNvPr>
          <p:cNvSpPr/>
          <p:nvPr/>
        </p:nvSpPr>
        <p:spPr>
          <a:xfrm>
            <a:off x="3302000" y="4978400"/>
            <a:ext cx="2133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Chapinero</a:t>
            </a:r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5F5E33BF-CE4F-B54D-48FF-10067727E4D8}"/>
              </a:ext>
            </a:extLst>
          </p:cNvPr>
          <p:cNvSpPr/>
          <p:nvPr/>
        </p:nvSpPr>
        <p:spPr>
          <a:xfrm>
            <a:off x="5435600" y="4978400"/>
            <a:ext cx="1498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10</a:t>
            </a:r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B6C00FD7-2041-1471-2871-F40D072DF67F}"/>
              </a:ext>
            </a:extLst>
          </p:cNvPr>
          <p:cNvSpPr/>
          <p:nvPr/>
        </p:nvSpPr>
        <p:spPr>
          <a:xfrm>
            <a:off x="6934200" y="4978400"/>
            <a:ext cx="1498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33</a:t>
            </a:r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4DE6B4BC-1A61-F2B2-9CD2-E8C72EA9F580}"/>
              </a:ext>
            </a:extLst>
          </p:cNvPr>
          <p:cNvSpPr/>
          <p:nvPr/>
        </p:nvSpPr>
        <p:spPr>
          <a:xfrm>
            <a:off x="8432800" y="4978400"/>
            <a:ext cx="1625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ocasional</a:t>
            </a:r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8893F1D6-011B-FADA-7437-E8FF4BC07A89}"/>
              </a:ext>
            </a:extLst>
          </p:cNvPr>
          <p:cNvSpPr/>
          <p:nvPr/>
        </p:nvSpPr>
        <p:spPr>
          <a:xfrm>
            <a:off x="1346200" y="5308600"/>
            <a:ext cx="5842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10</a:t>
            </a:r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2CC68BFA-5AD8-3598-3587-6684BACEBD14}"/>
              </a:ext>
            </a:extLst>
          </p:cNvPr>
          <p:cNvSpPr/>
          <p:nvPr/>
        </p:nvSpPr>
        <p:spPr>
          <a:xfrm>
            <a:off x="1930400" y="5308600"/>
            <a:ext cx="1371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2025-03-05</a:t>
            </a: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D4D91EFF-94F3-46BC-AE45-09B69552DCB6}"/>
              </a:ext>
            </a:extLst>
          </p:cNvPr>
          <p:cNvSpPr/>
          <p:nvPr/>
        </p:nvSpPr>
        <p:spPr>
          <a:xfrm>
            <a:off x="3302000" y="5308600"/>
            <a:ext cx="2133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Chapinero</a:t>
            </a: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63D6009A-AC5F-0008-17C3-2528314F27FA}"/>
              </a:ext>
            </a:extLst>
          </p:cNvPr>
          <p:cNvSpPr/>
          <p:nvPr/>
        </p:nvSpPr>
        <p:spPr>
          <a:xfrm>
            <a:off x="5435600" y="5308600"/>
            <a:ext cx="1498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10</a:t>
            </a:r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A04DCECF-317B-4516-AB83-A53955E89BFA}"/>
              </a:ext>
            </a:extLst>
          </p:cNvPr>
          <p:cNvSpPr/>
          <p:nvPr/>
        </p:nvSpPr>
        <p:spPr>
          <a:xfrm>
            <a:off x="6934200" y="5308600"/>
            <a:ext cx="1498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33</a:t>
            </a:r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EACCC293-F983-597F-1433-555735BE9F0B}"/>
              </a:ext>
            </a:extLst>
          </p:cNvPr>
          <p:cNvSpPr/>
          <p:nvPr/>
        </p:nvSpPr>
        <p:spPr>
          <a:xfrm>
            <a:off x="8432800" y="5308600"/>
            <a:ext cx="1625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ocasional</a:t>
            </a:r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014D9411-F83C-9478-4B2E-98B6CC782C7C}"/>
              </a:ext>
            </a:extLst>
          </p:cNvPr>
          <p:cNvSpPr/>
          <p:nvPr/>
        </p:nvSpPr>
        <p:spPr>
          <a:xfrm>
            <a:off x="1346200" y="5638800"/>
            <a:ext cx="5842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12</a:t>
            </a:r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DF30367C-296D-17A9-3E17-A4EB6E528BC6}"/>
              </a:ext>
            </a:extLst>
          </p:cNvPr>
          <p:cNvSpPr/>
          <p:nvPr/>
        </p:nvSpPr>
        <p:spPr>
          <a:xfrm>
            <a:off x="1930400" y="5638800"/>
            <a:ext cx="1371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2025-03-06</a:t>
            </a:r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2C7BBC28-5DDB-69DD-BC7A-F8AD75650994}"/>
              </a:ext>
            </a:extLst>
          </p:cNvPr>
          <p:cNvSpPr/>
          <p:nvPr/>
        </p:nvSpPr>
        <p:spPr>
          <a:xfrm>
            <a:off x="3302000" y="5638800"/>
            <a:ext cx="2133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Suba</a:t>
            </a:r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CFED4F2F-8077-79F1-FC5E-93D39F09BB3E}"/>
              </a:ext>
            </a:extLst>
          </p:cNvPr>
          <p:cNvSpPr/>
          <p:nvPr/>
        </p:nvSpPr>
        <p:spPr>
          <a:xfrm>
            <a:off x="5435600" y="5638800"/>
            <a:ext cx="1498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18</a:t>
            </a:r>
          </a:p>
        </p:txBody>
      </p:sp>
      <p:sp>
        <p:nvSpPr>
          <p:cNvPr id="81" name="Rectángulo 80">
            <a:extLst>
              <a:ext uri="{FF2B5EF4-FFF2-40B4-BE49-F238E27FC236}">
                <a16:creationId xmlns:a16="http://schemas.microsoft.com/office/drawing/2014/main" id="{B4BADC15-143B-ECFE-81FE-61CF6A66E03F}"/>
              </a:ext>
            </a:extLst>
          </p:cNvPr>
          <p:cNvSpPr/>
          <p:nvPr/>
        </p:nvSpPr>
        <p:spPr>
          <a:xfrm>
            <a:off x="6934200" y="5638800"/>
            <a:ext cx="1498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82" name="Rectángulo 81">
            <a:extLst>
              <a:ext uri="{FF2B5EF4-FFF2-40B4-BE49-F238E27FC236}">
                <a16:creationId xmlns:a16="http://schemas.microsoft.com/office/drawing/2014/main" id="{AD28710C-FEE2-D7F5-72E0-1105F532DBA8}"/>
              </a:ext>
            </a:extLst>
          </p:cNvPr>
          <p:cNvSpPr/>
          <p:nvPr/>
        </p:nvSpPr>
        <p:spPr>
          <a:xfrm>
            <a:off x="8432800" y="5638800"/>
            <a:ext cx="1625600" cy="3302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mensual</a:t>
            </a: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5F3987A5-9CE3-2EC9-CEE9-50420D59296C}"/>
              </a:ext>
            </a:extLst>
          </p:cNvPr>
          <p:cNvSpPr txBox="1"/>
          <p:nvPr/>
        </p:nvSpPr>
        <p:spPr>
          <a:xfrm>
            <a:off x="1346200" y="6070600"/>
            <a:ext cx="876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00" i="1">
                <a:solidFill>
                  <a:srgbClr val="5C6C6E"/>
                </a:solidFill>
                <a:latin typeface="Calibri" panose="020F0502020204030204" pitchFamily="34" charset="0"/>
              </a:rPr>
              <a:t>12 registros · 6 columnas · publicado por la Secretaría de Movilidad</a:t>
            </a:r>
            <a:endParaRPr lang="es-CO" sz="1100" i="1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E935429E-DF88-AA9D-7316-3547281B06F7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1244156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F06634E-E102-07E6-6957-DC1CD066A7F7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28090"/>
                </a:solidFill>
                <a:latin typeface="Calibri" panose="020F0502020204030204" pitchFamily="34" charset="0"/>
              </a:rPr>
              <a:t>E N T R E G A   E N   C A N V A S</a:t>
            </a:r>
            <a:endParaRPr lang="es-CO" sz="1000" b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10B18E9-8084-0941-D6F8-D9BC030A6C41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100" b="1">
                <a:solidFill>
                  <a:srgbClr val="012E33"/>
                </a:solidFill>
                <a:latin typeface="Cambria" panose="02040503050406030204" pitchFamily="18" charset="0"/>
              </a:rPr>
              <a:t>El acta forense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0777285-EBF4-4026-59E7-C8409FD84A26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23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6449C19-4BF3-4CF5-86BC-A99ECCAB33A9}"/>
              </a:ext>
            </a:extLst>
          </p:cNvPr>
          <p:cNvSpPr txBox="1"/>
          <p:nvPr/>
        </p:nvSpPr>
        <p:spPr>
          <a:xfrm>
            <a:off x="850900" y="1625600"/>
            <a:ext cx="1049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400">
                <a:solidFill>
                  <a:srgbClr val="5C6C6E"/>
                </a:solidFill>
                <a:latin typeface="Calibri" panose="020F0502020204030204" pitchFamily="34" charset="0"/>
              </a:rPr>
              <a:t>Al terminar la socialización, cada equipo sube un documento de una página con esta tabla completa:</a:t>
            </a:r>
            <a:endParaRPr lang="es-CO" sz="14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8116B0D-784A-A5DF-C87B-DA20799A3B14}"/>
              </a:ext>
            </a:extLst>
          </p:cNvPr>
          <p:cNvSpPr/>
          <p:nvPr/>
        </p:nvSpPr>
        <p:spPr>
          <a:xfrm>
            <a:off x="850900" y="2184400"/>
            <a:ext cx="2540000" cy="457200"/>
          </a:xfrm>
          <a:prstGeom prst="rect">
            <a:avLst/>
          </a:prstGeom>
          <a:solidFill>
            <a:srgbClr val="012E33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100" b="1">
                <a:solidFill>
                  <a:srgbClr val="FFFFFF"/>
                </a:solidFill>
                <a:latin typeface="Consolas" panose="020B0609020204030204" pitchFamily="49" charset="0"/>
              </a:rPr>
              <a:t>Hallazgo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24EBE68-48D7-7165-6A22-AF9656E6EB5F}"/>
              </a:ext>
            </a:extLst>
          </p:cNvPr>
          <p:cNvSpPr/>
          <p:nvPr/>
        </p:nvSpPr>
        <p:spPr>
          <a:xfrm>
            <a:off x="3390900" y="2184400"/>
            <a:ext cx="2540000" cy="457200"/>
          </a:xfrm>
          <a:prstGeom prst="rect">
            <a:avLst/>
          </a:prstGeom>
          <a:solidFill>
            <a:srgbClr val="012E33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100" b="1">
                <a:solidFill>
                  <a:srgbClr val="FFFFFF"/>
                </a:solidFill>
                <a:latin typeface="Consolas" panose="020B0609020204030204" pitchFamily="49" charset="0"/>
              </a:rPr>
              <a:t>Evidencia (fila/columna)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9F12755-E155-235C-6015-6D26CE3C2B2E}"/>
              </a:ext>
            </a:extLst>
          </p:cNvPr>
          <p:cNvSpPr/>
          <p:nvPr/>
        </p:nvSpPr>
        <p:spPr>
          <a:xfrm>
            <a:off x="5930900" y="2184400"/>
            <a:ext cx="2616200" cy="457200"/>
          </a:xfrm>
          <a:prstGeom prst="rect">
            <a:avLst/>
          </a:prstGeom>
          <a:solidFill>
            <a:srgbClr val="012E33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100" b="1">
                <a:solidFill>
                  <a:srgbClr val="FFFFFF"/>
                </a:solidFill>
                <a:latin typeface="Consolas" panose="020B0609020204030204" pitchFamily="49" charset="0"/>
              </a:rPr>
              <a:t>Tipo de problema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B5E74EA-5BE6-D256-2762-B5F2AE6A0165}"/>
              </a:ext>
            </a:extLst>
          </p:cNvPr>
          <p:cNvSpPr/>
          <p:nvPr/>
        </p:nvSpPr>
        <p:spPr>
          <a:xfrm>
            <a:off x="8547100" y="2184400"/>
            <a:ext cx="2794000" cy="457200"/>
          </a:xfrm>
          <a:prstGeom prst="rect">
            <a:avLst/>
          </a:prstGeom>
          <a:solidFill>
            <a:srgbClr val="012E33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100" b="1">
                <a:solidFill>
                  <a:srgbClr val="FFFFFF"/>
                </a:solidFill>
                <a:latin typeface="Consolas" panose="020B0609020204030204" pitchFamily="49" charset="0"/>
              </a:rPr>
              <a:t>Tratamiento propuesto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0213BC0-1EF5-91C6-BDC9-D7830EF9C991}"/>
              </a:ext>
            </a:extLst>
          </p:cNvPr>
          <p:cNvSpPr/>
          <p:nvPr/>
        </p:nvSpPr>
        <p:spPr>
          <a:xfrm>
            <a:off x="850900" y="2641600"/>
            <a:ext cx="2540000" cy="4318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8736883-5F16-9DDD-D39D-0AF7A3AA3F91}"/>
              </a:ext>
            </a:extLst>
          </p:cNvPr>
          <p:cNvSpPr/>
          <p:nvPr/>
        </p:nvSpPr>
        <p:spPr>
          <a:xfrm>
            <a:off x="3390900" y="2641600"/>
            <a:ext cx="2540000" cy="4318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7B97DB0-33D7-7B43-FFFA-49A2B0AE9E3E}"/>
              </a:ext>
            </a:extLst>
          </p:cNvPr>
          <p:cNvSpPr/>
          <p:nvPr/>
        </p:nvSpPr>
        <p:spPr>
          <a:xfrm>
            <a:off x="5930900" y="2641600"/>
            <a:ext cx="2616200" cy="4318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26CE321-EBA4-B62E-C268-8CACEEEDC78C}"/>
              </a:ext>
            </a:extLst>
          </p:cNvPr>
          <p:cNvSpPr/>
          <p:nvPr/>
        </p:nvSpPr>
        <p:spPr>
          <a:xfrm>
            <a:off x="8547100" y="2641600"/>
            <a:ext cx="2794000" cy="4318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FB6E750-B791-A3C9-8C2A-CB2ACC1B8114}"/>
              </a:ext>
            </a:extLst>
          </p:cNvPr>
          <p:cNvSpPr/>
          <p:nvPr/>
        </p:nvSpPr>
        <p:spPr>
          <a:xfrm>
            <a:off x="850900" y="3073400"/>
            <a:ext cx="2540000" cy="4318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63C2D1D-7885-08D7-DFDC-432029DD2782}"/>
              </a:ext>
            </a:extLst>
          </p:cNvPr>
          <p:cNvSpPr/>
          <p:nvPr/>
        </p:nvSpPr>
        <p:spPr>
          <a:xfrm>
            <a:off x="3390900" y="3073400"/>
            <a:ext cx="2540000" cy="4318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D14D064-EAB8-6621-3675-A0B12C37AD16}"/>
              </a:ext>
            </a:extLst>
          </p:cNvPr>
          <p:cNvSpPr/>
          <p:nvPr/>
        </p:nvSpPr>
        <p:spPr>
          <a:xfrm>
            <a:off x="5930900" y="3073400"/>
            <a:ext cx="2616200" cy="4318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FD95CEB-66A1-7400-3199-62883C2BE41C}"/>
              </a:ext>
            </a:extLst>
          </p:cNvPr>
          <p:cNvSpPr/>
          <p:nvPr/>
        </p:nvSpPr>
        <p:spPr>
          <a:xfrm>
            <a:off x="8547100" y="3073400"/>
            <a:ext cx="2794000" cy="4318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101AE2E-27AB-B2AC-B8F0-C26B551FD26C}"/>
              </a:ext>
            </a:extLst>
          </p:cNvPr>
          <p:cNvSpPr/>
          <p:nvPr/>
        </p:nvSpPr>
        <p:spPr>
          <a:xfrm>
            <a:off x="850900" y="3505200"/>
            <a:ext cx="2540000" cy="4318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A3159B0-BEF2-3ACD-3918-7762270A3CDD}"/>
              </a:ext>
            </a:extLst>
          </p:cNvPr>
          <p:cNvSpPr/>
          <p:nvPr/>
        </p:nvSpPr>
        <p:spPr>
          <a:xfrm>
            <a:off x="3390900" y="3505200"/>
            <a:ext cx="2540000" cy="4318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764846E-6D80-4A11-D8F9-236FC51C4B01}"/>
              </a:ext>
            </a:extLst>
          </p:cNvPr>
          <p:cNvSpPr/>
          <p:nvPr/>
        </p:nvSpPr>
        <p:spPr>
          <a:xfrm>
            <a:off x="5930900" y="3505200"/>
            <a:ext cx="2616200" cy="4318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F53C96C-86B3-0B7A-A823-73B89B0BEA49}"/>
              </a:ext>
            </a:extLst>
          </p:cNvPr>
          <p:cNvSpPr/>
          <p:nvPr/>
        </p:nvSpPr>
        <p:spPr>
          <a:xfrm>
            <a:off x="8547100" y="3505200"/>
            <a:ext cx="2794000" cy="4318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211FC8B6-E093-FB8B-62B9-7FA274A8BBCE}"/>
              </a:ext>
            </a:extLst>
          </p:cNvPr>
          <p:cNvSpPr/>
          <p:nvPr/>
        </p:nvSpPr>
        <p:spPr>
          <a:xfrm>
            <a:off x="850900" y="3937000"/>
            <a:ext cx="2540000" cy="4318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F59A7F7D-86A0-7810-45D1-E2D0844DAC34}"/>
              </a:ext>
            </a:extLst>
          </p:cNvPr>
          <p:cNvSpPr/>
          <p:nvPr/>
        </p:nvSpPr>
        <p:spPr>
          <a:xfrm>
            <a:off x="3390900" y="3937000"/>
            <a:ext cx="2540000" cy="4318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C8B1B9AB-A614-57ED-A6F3-7C7AB57631BE}"/>
              </a:ext>
            </a:extLst>
          </p:cNvPr>
          <p:cNvSpPr/>
          <p:nvPr/>
        </p:nvSpPr>
        <p:spPr>
          <a:xfrm>
            <a:off x="5930900" y="3937000"/>
            <a:ext cx="2616200" cy="4318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CB21DEA9-A021-8A22-1E5B-D49E300CD193}"/>
              </a:ext>
            </a:extLst>
          </p:cNvPr>
          <p:cNvSpPr/>
          <p:nvPr/>
        </p:nvSpPr>
        <p:spPr>
          <a:xfrm>
            <a:off x="8547100" y="3937000"/>
            <a:ext cx="2794000" cy="4318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00">
                <a:solidFill>
                  <a:srgbClr val="5C6C6E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27352182-525F-132C-611B-F607D62572DE}"/>
              </a:ext>
            </a:extLst>
          </p:cNvPr>
          <p:cNvSpPr/>
          <p:nvPr/>
        </p:nvSpPr>
        <p:spPr>
          <a:xfrm>
            <a:off x="850900" y="4546600"/>
            <a:ext cx="10490200" cy="1041400"/>
          </a:xfrm>
          <a:prstGeom prst="rect">
            <a:avLst/>
          </a:prstGeom>
          <a:solidFill>
            <a:srgbClr val="012E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86356686-48EA-0EEF-DDDE-89F79D04E50E}"/>
              </a:ext>
            </a:extLst>
          </p:cNvPr>
          <p:cNvSpPr txBox="1"/>
          <p:nvPr/>
        </p:nvSpPr>
        <p:spPr>
          <a:xfrm>
            <a:off x="1168400" y="47244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300" b="1">
                <a:solidFill>
                  <a:srgbClr val="02C39A"/>
                </a:solidFill>
                <a:latin typeface="Cambria" panose="02040503050406030204" pitchFamily="18" charset="0"/>
              </a:rPr>
              <a:t>Y una última fila, la más importante:</a:t>
            </a:r>
            <a:endParaRPr lang="es-CO" sz="1300" b="1">
              <a:solidFill>
                <a:srgbClr val="02C39A"/>
              </a:solidFill>
              <a:latin typeface="Cambria" panose="02040503050406030204" pitchFamily="18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CBF00B67-BF5B-EA23-9400-8014D627F41E}"/>
              </a:ext>
            </a:extLst>
          </p:cNvPr>
          <p:cNvSpPr txBox="1"/>
          <p:nvPr/>
        </p:nvSpPr>
        <p:spPr>
          <a:xfrm>
            <a:off x="1168400" y="50292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300">
                <a:solidFill>
                  <a:srgbClr val="C3D6D8"/>
                </a:solidFill>
                <a:latin typeface="Calibri" panose="020F0502020204030204" pitchFamily="34" charset="0"/>
              </a:rPr>
              <a:t>¿Qué porcentaje de los 12 registros quedó afectado por sus decisiones de limpieza? Un analista siempre reporta cuánto perdió.</a:t>
            </a:r>
            <a:endParaRPr lang="es-CO" sz="130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C0A6A33-6022-3F6E-66CB-688A054C137E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028090"/>
                </a:solidFill>
                <a:latin typeface="Calibri" panose="020F0502020204030204" pitchFamily="34" charset="0"/>
              </a:rPr>
              <a:t>Plazo: hasta el final de la clase. Formato: PDF o Word, una página, con los nombres del equipo.</a:t>
            </a:r>
            <a:endParaRPr lang="es-CO" sz="115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0576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12B46C3-5134-E12B-4088-84EFF14BE073}"/>
              </a:ext>
            </a:extLst>
          </p:cNvPr>
          <p:cNvSpPr txBox="1"/>
          <p:nvPr/>
        </p:nvSpPr>
        <p:spPr>
          <a:xfrm>
            <a:off x="850900" y="7620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0A896"/>
                </a:solidFill>
                <a:latin typeface="Calibri" panose="020F0502020204030204" pitchFamily="34" charset="0"/>
              </a:rPr>
              <a:t>P A R A   L A   P R O X I M A   S E S I O N</a:t>
            </a:r>
            <a:endParaRPr lang="es-CO" sz="1000" b="1">
              <a:solidFill>
                <a:srgbClr val="00A896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9D32BD9-4BCF-E22B-410C-C93315A5A6CE}"/>
              </a:ext>
            </a:extLst>
          </p:cNvPr>
          <p:cNvSpPr txBox="1"/>
          <p:nvPr/>
        </p:nvSpPr>
        <p:spPr>
          <a:xfrm>
            <a:off x="850900" y="10668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300" b="1">
                <a:solidFill>
                  <a:srgbClr val="FFFFFF"/>
                </a:solidFill>
                <a:latin typeface="Cambria" panose="02040503050406030204" pitchFamily="18" charset="0"/>
              </a:rPr>
              <a:t>Trabajo autónomo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8FBFEC0-3338-7244-7702-41F2A2B7A19A}"/>
              </a:ext>
            </a:extLst>
          </p:cNvPr>
          <p:cNvSpPr/>
          <p:nvPr/>
        </p:nvSpPr>
        <p:spPr>
          <a:xfrm>
            <a:off x="850900" y="1854200"/>
            <a:ext cx="1016000" cy="50800"/>
          </a:xfrm>
          <a:prstGeom prst="rect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32CEFD2-B134-E619-39D5-1DE2D2A9F6F2}"/>
              </a:ext>
            </a:extLst>
          </p:cNvPr>
          <p:cNvSpPr/>
          <p:nvPr/>
        </p:nvSpPr>
        <p:spPr>
          <a:xfrm>
            <a:off x="850900" y="2286000"/>
            <a:ext cx="5156200" cy="25400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437F0DD-CF74-E69B-4775-5E6004033FAA}"/>
              </a:ext>
            </a:extLst>
          </p:cNvPr>
          <p:cNvSpPr txBox="1"/>
          <p:nvPr/>
        </p:nvSpPr>
        <p:spPr>
          <a:xfrm>
            <a:off x="1168400" y="25400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600" b="1">
                <a:solidFill>
                  <a:srgbClr val="02C39A"/>
                </a:solidFill>
                <a:latin typeface="Cambria" panose="02040503050406030204" pitchFamily="18" charset="0"/>
              </a:rPr>
              <a:t>Lectura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D26266B-474F-0EC9-040D-B367860621A3}"/>
              </a:ext>
            </a:extLst>
          </p:cNvPr>
          <p:cNvSpPr txBox="1"/>
          <p:nvPr/>
        </p:nvSpPr>
        <p:spPr>
          <a:xfrm>
            <a:off x="1168400" y="2946400"/>
            <a:ext cx="4521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250">
                <a:solidFill>
                  <a:srgbClr val="C3D6D8"/>
                </a:solidFill>
                <a:latin typeface="Calibri" panose="020F0502020204030204" pitchFamily="34" charset="0"/>
              </a:rPr>
              <a:t>Kusleika, D. (2021). Data Visualization with Excel Dashboards and Reports, cap. 4: 'The Fundamentals of Effective Visualization'.</a:t>
            </a:r>
          </a:p>
          <a:p>
            <a:pPr>
              <a:lnSpc>
                <a:spcPct val="115000"/>
              </a:lnSpc>
            </a:pPr>
            <a:endParaRPr lang="es-CO" sz="1250">
              <a:solidFill>
                <a:srgbClr val="C3D6D8"/>
              </a:solidFill>
              <a:latin typeface="Calibri" panose="020F0502020204030204" pitchFamily="34" charset="0"/>
            </a:endParaRPr>
          </a:p>
          <a:p>
            <a:pPr>
              <a:lnSpc>
                <a:spcPct val="115000"/>
              </a:lnSpc>
            </a:pPr>
            <a:r>
              <a:rPr lang="es-CO" sz="1250">
                <a:solidFill>
                  <a:srgbClr val="C3D6D8"/>
                </a:solidFill>
                <a:latin typeface="Calibri" panose="020F0502020204030204" pitchFamily="34" charset="0"/>
              </a:rPr>
              <a:t>Disponible en línea en la Biblioteca EAN.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8D867D1-1C94-84E2-83EC-07C0D2313C62}"/>
              </a:ext>
            </a:extLst>
          </p:cNvPr>
          <p:cNvSpPr/>
          <p:nvPr/>
        </p:nvSpPr>
        <p:spPr>
          <a:xfrm>
            <a:off x="6261100" y="2286000"/>
            <a:ext cx="5080000" cy="25400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28B457F-37F1-CC9B-5C6D-6AD57768F8C3}"/>
              </a:ext>
            </a:extLst>
          </p:cNvPr>
          <p:cNvSpPr txBox="1"/>
          <p:nvPr/>
        </p:nvSpPr>
        <p:spPr>
          <a:xfrm>
            <a:off x="6578600" y="25400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600" b="1">
                <a:solidFill>
                  <a:srgbClr val="02C39A"/>
                </a:solidFill>
                <a:latin typeface="Cambria" panose="02040503050406030204" pitchFamily="18" charset="0"/>
              </a:rPr>
              <a:t>Preparación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4FB6BD5-5CC7-74B5-EFE4-CF0E1A2B2E37}"/>
              </a:ext>
            </a:extLst>
          </p:cNvPr>
          <p:cNvSpPr txBox="1"/>
          <p:nvPr/>
        </p:nvSpPr>
        <p:spPr>
          <a:xfrm>
            <a:off x="6578600" y="2946400"/>
            <a:ext cx="444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50">
                <a:solidFill>
                  <a:srgbClr val="C3D6D8"/>
                </a:solidFill>
                <a:latin typeface="Calibri" panose="020F0502020204030204" pitchFamily="34" charset="0"/>
              </a:rPr>
              <a:t>Apliquen a SU dataset lo de hoy: abran el archivo, revísenlo columna por columna y traigan listada la suciedad que encuentren.</a:t>
            </a:r>
          </a:p>
          <a:p>
            <a:pPr>
              <a:lnSpc>
                <a:spcPct val="115000"/>
              </a:lnSpc>
            </a:pPr>
            <a:endParaRPr lang="es-MX" sz="1250">
              <a:solidFill>
                <a:srgbClr val="C3D6D8"/>
              </a:solidFill>
              <a:latin typeface="Calibri" panose="020F0502020204030204" pitchFamily="34" charset="0"/>
            </a:endParaRPr>
          </a:p>
          <a:p>
            <a:pPr>
              <a:lnSpc>
                <a:spcPct val="115000"/>
              </a:lnSpc>
            </a:pPr>
            <a:r>
              <a:rPr lang="es-MX" sz="1250">
                <a:solidFill>
                  <a:srgbClr val="C3D6D8"/>
                </a:solidFill>
                <a:latin typeface="Calibri" panose="020F0502020204030204" pitchFamily="34" charset="0"/>
              </a:rPr>
              <a:t>La próxima clase arrancamos desde ahí.</a:t>
            </a:r>
            <a:endParaRPr lang="es-CO" sz="12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556A369-B116-5EF1-ABB3-D2B1021F905E}"/>
              </a:ext>
            </a:extLst>
          </p:cNvPr>
          <p:cNvSpPr txBox="1"/>
          <p:nvPr/>
        </p:nvSpPr>
        <p:spPr>
          <a:xfrm>
            <a:off x="850900" y="5207000"/>
            <a:ext cx="10490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MX" sz="1600" b="1">
                <a:solidFill>
                  <a:srgbClr val="02C39A"/>
                </a:solidFill>
                <a:latin typeface="Cambria" panose="02040503050406030204" pitchFamily="18" charset="0"/>
              </a:rPr>
              <a:t>Próxima sesión: del análisis exploratorio a la decisión (etapas 4 a 8).</a:t>
            </a:r>
            <a:endParaRPr lang="es-CO" sz="1600" b="1">
              <a:solidFill>
                <a:srgbClr val="02C39A"/>
              </a:solidFill>
              <a:latin typeface="Cambria" panose="02040503050406030204" pitchFamily="18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30FAEB4-DB42-B267-B16F-4FCC549186FE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0B4249"/>
                </a:solidFill>
                <a:latin typeface="Cambria" panose="02040503050406030204" pitchFamily="18" charset="0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4821084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01AA73AB-E7D2-AD3E-82FE-2F630A39FC5E}"/>
              </a:ext>
            </a:extLst>
          </p:cNvPr>
          <p:cNvSpPr/>
          <p:nvPr/>
        </p:nvSpPr>
        <p:spPr>
          <a:xfrm>
            <a:off x="8890000" y="1905000"/>
            <a:ext cx="3048000" cy="3048000"/>
          </a:xfrm>
          <a:prstGeom prst="ellipse">
            <a:avLst/>
          </a:prstGeom>
          <a:solidFill>
            <a:srgbClr val="0635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FC685EAB-FE5B-CA73-729D-D7ACE0FC67E7}"/>
              </a:ext>
            </a:extLst>
          </p:cNvPr>
          <p:cNvSpPr/>
          <p:nvPr/>
        </p:nvSpPr>
        <p:spPr>
          <a:xfrm>
            <a:off x="9461500" y="2476500"/>
            <a:ext cx="1905000" cy="19050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05A732C-F70D-7CE6-A86B-E242E1C3F354}"/>
              </a:ext>
            </a:extLst>
          </p:cNvPr>
          <p:cNvSpPr txBox="1"/>
          <p:nvPr/>
        </p:nvSpPr>
        <p:spPr>
          <a:xfrm>
            <a:off x="9461500" y="27686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CO" sz="7400" b="1">
                <a:solidFill>
                  <a:srgbClr val="FFFFFF"/>
                </a:solidFill>
                <a:latin typeface="Cambria" panose="02040503050406030204" pitchFamily="18" charset="0"/>
              </a:rPr>
              <a:t>?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FCF41A1-D6A2-3076-5285-5DFE07CB96D2}"/>
              </a:ext>
            </a:extLst>
          </p:cNvPr>
          <p:cNvSpPr txBox="1"/>
          <p:nvPr/>
        </p:nvSpPr>
        <p:spPr>
          <a:xfrm>
            <a:off x="850900" y="26670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4400" b="1">
                <a:solidFill>
                  <a:srgbClr val="FFFFFF"/>
                </a:solidFill>
                <a:latin typeface="Cambria" panose="02040503050406030204" pitchFamily="18" charset="0"/>
              </a:rPr>
              <a:t>¿Preguntas?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4033AF7-03C1-308C-DEFC-B4A4F9BB6344}"/>
              </a:ext>
            </a:extLst>
          </p:cNvPr>
          <p:cNvSpPr/>
          <p:nvPr/>
        </p:nvSpPr>
        <p:spPr>
          <a:xfrm>
            <a:off x="850900" y="3759200"/>
            <a:ext cx="1016000" cy="50800"/>
          </a:xfrm>
          <a:prstGeom prst="rect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0B7C79D-F633-9067-B953-4A27F2DC0F83}"/>
              </a:ext>
            </a:extLst>
          </p:cNvPr>
          <p:cNvSpPr txBox="1"/>
          <p:nvPr/>
        </p:nvSpPr>
        <p:spPr>
          <a:xfrm>
            <a:off x="850900" y="40640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500">
                <a:solidFill>
                  <a:srgbClr val="C3D6D8"/>
                </a:solidFill>
                <a:latin typeface="Calibri" panose="020F0502020204030204" pitchFamily="34" charset="0"/>
              </a:rPr>
              <a:t>Estoy aquí para resolver cualquier duda.</a:t>
            </a:r>
            <a:endParaRPr lang="es-CO" sz="150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DE5B194-9561-5905-D331-BE815DF3EAB9}"/>
              </a:ext>
            </a:extLst>
          </p:cNvPr>
          <p:cNvSpPr txBox="1"/>
          <p:nvPr/>
        </p:nvSpPr>
        <p:spPr>
          <a:xfrm>
            <a:off x="850900" y="50800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BFEAE4"/>
                </a:solidFill>
                <a:latin typeface="Calibri" panose="020F0502020204030204" pitchFamily="34" charset="0"/>
              </a:rPr>
              <a:t>Contacto: chat de la unidad de estudio en Canvas</a:t>
            </a:r>
            <a:endParaRPr lang="es-CO" sz="1200">
              <a:solidFill>
                <a:srgbClr val="BFEAE4"/>
              </a:solidFill>
              <a:latin typeface="Calibri" panose="020F050202020403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76C98C8-7AA7-188B-D931-879024CE4C7F}"/>
              </a:ext>
            </a:extLst>
          </p:cNvPr>
          <p:cNvSpPr txBox="1"/>
          <p:nvPr/>
        </p:nvSpPr>
        <p:spPr>
          <a:xfrm>
            <a:off x="850900" y="63500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000">
                <a:solidFill>
                  <a:srgbClr val="0B4249"/>
                </a:solidFill>
                <a:latin typeface="Calibri" panose="020F0502020204030204" pitchFamily="34" charset="0"/>
              </a:rPr>
              <a:t>Visualización de Datos  ·  Universidad EAN  ·  Clase 3</a:t>
            </a:r>
            <a:endParaRPr lang="es-CO" sz="1000">
              <a:solidFill>
                <a:srgbClr val="0B424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41436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2953</Words>
  <Application>Microsoft Office PowerPoint</Application>
  <PresentationFormat>Personalizado</PresentationFormat>
  <Paragraphs>442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Cambria</vt:lpstr>
      <vt:lpstr>Consolas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CAMILA SILVA GOMEZ</dc:creator>
  <cp:lastModifiedBy>CAMILA SILVA GOMEZ</cp:lastModifiedBy>
  <cp:revision>1</cp:revision>
  <dcterms:created xsi:type="dcterms:W3CDTF">2026-07-28T17:00:10Z</dcterms:created>
  <dcterms:modified xsi:type="dcterms:W3CDTF">2026-07-28T17:00:10Z</dcterms:modified>
</cp:coreProperties>
</file>