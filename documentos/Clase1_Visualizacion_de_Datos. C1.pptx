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57" r:id="rId4"/>
    <p:sldId id="258" r:id="rId5"/>
    <p:sldId id="259" r:id="rId6"/>
    <p:sldId id="261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 SILVA GOMEZ" userId="744ea9ce-8dfe-4211-8140-fe1f94158012" providerId="ADAL" clId="{70480617-C512-40E1-B0BE-FD9A871EF9DA}"/>
    <pc:docChg chg="delSld modSld sldOrd">
      <pc:chgData name="CAMILA SILVA GOMEZ" userId="744ea9ce-8dfe-4211-8140-fe1f94158012" providerId="ADAL" clId="{70480617-C512-40E1-B0BE-FD9A871EF9DA}" dt="2026-07-24T00:11:06.005" v="6" actId="2696"/>
      <pc:docMkLst>
        <pc:docMk/>
      </pc:docMkLst>
      <pc:sldChg chg="del">
        <pc:chgData name="CAMILA SILVA GOMEZ" userId="744ea9ce-8dfe-4211-8140-fe1f94158012" providerId="ADAL" clId="{70480617-C512-40E1-B0BE-FD9A871EF9DA}" dt="2026-07-24T00:11:06.005" v="6" actId="2696"/>
        <pc:sldMkLst>
          <pc:docMk/>
          <pc:sldMk cId="0" sldId="260"/>
        </pc:sldMkLst>
      </pc:sldChg>
      <pc:sldChg chg="ord">
        <pc:chgData name="CAMILA SILVA GOMEZ" userId="744ea9ce-8dfe-4211-8140-fe1f94158012" providerId="ADAL" clId="{70480617-C512-40E1-B0BE-FD9A871EF9DA}" dt="2026-07-24T00:10:47.423" v="5"/>
        <pc:sldMkLst>
          <pc:docMk/>
          <pc:sldMk cId="0" sldId="261"/>
        </pc:sldMkLst>
      </pc:sldChg>
      <pc:sldChg chg="del">
        <pc:chgData name="CAMILA SILVA GOMEZ" userId="744ea9ce-8dfe-4211-8140-fe1f94158012" providerId="ADAL" clId="{70480617-C512-40E1-B0BE-FD9A871EF9DA}" dt="2026-07-24T00:11:06.005" v="6" actId="2696"/>
        <pc:sldMkLst>
          <pc:docMk/>
          <pc:sldMk cId="0" sldId="262"/>
        </pc:sldMkLst>
      </pc:sldChg>
      <pc:sldChg chg="del">
        <pc:chgData name="CAMILA SILVA GOMEZ" userId="744ea9ce-8dfe-4211-8140-fe1f94158012" providerId="ADAL" clId="{70480617-C512-40E1-B0BE-FD9A871EF9DA}" dt="2026-07-24T00:11:06.005" v="6" actId="2696"/>
        <pc:sldMkLst>
          <pc:docMk/>
          <pc:sldMk cId="0" sldId="263"/>
        </pc:sldMkLst>
      </pc:sldChg>
      <pc:sldChg chg="del">
        <pc:chgData name="CAMILA SILVA GOMEZ" userId="744ea9ce-8dfe-4211-8140-fe1f94158012" providerId="ADAL" clId="{70480617-C512-40E1-B0BE-FD9A871EF9DA}" dt="2026-07-24T00:11:06.005" v="6" actId="2696"/>
        <pc:sldMkLst>
          <pc:docMk/>
          <pc:sldMk cId="0" sldId="264"/>
        </pc:sldMkLst>
      </pc:sldChg>
      <pc:sldChg chg="ord">
        <pc:chgData name="CAMILA SILVA GOMEZ" userId="744ea9ce-8dfe-4211-8140-fe1f94158012" providerId="ADAL" clId="{70480617-C512-40E1-B0BE-FD9A871EF9DA}" dt="2026-07-24T00:10:34.593" v="3"/>
        <pc:sldMkLst>
          <pc:docMk/>
          <pc:sldMk cId="0" sldId="26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2E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345</c:v>
                </c:pt>
                <c:pt idx="1">
                  <c:v>289</c:v>
                </c:pt>
                <c:pt idx="2">
                  <c:v>123</c:v>
                </c:pt>
                <c:pt idx="3">
                  <c:v>567</c:v>
                </c:pt>
                <c:pt idx="4">
                  <c:v>678</c:v>
                </c:pt>
                <c:pt idx="5">
                  <c:v>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F1-49F1-8971-CD08D99431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E71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56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— Apertura (0 min)
Bienvenida breve. No empieces con el syllabus: dedica los primeros ~25 minutos a despertar curiosidad (rompehielos, ejercicios, casos reales) y deja solo 5–10 minutos al final para metodología, proyecto, evaluación y reglas.
Frase ancla para abrir: “Los datos cuentan historias. Nuestro trabajo es aprender a escucharlas y comunicarlas.”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0–3 — Rompehielos
Empieza con: “¿Quién aquí cree que sabe interpretar gráficos?” (levantan la mano). Luego: “¿Quién ha tomado una decisión gracias a un gráfico?” (casi todos). Cierra con la frase de la tarjeta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3–8
Muestra imágenes de: clima, Google Maps, Spotify Wrapped, panel de acciones, dashboard de Uber, reporte COVID, Apple Health. Pregunta qué tienen en común (responderán: gráficos, mapas, colores, indicadores). Cierra con: ninguna vende gráficos, venden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8–12
Escribe la lista de números y pregunta qué información obtienen ("casi ninguna"). Muestra el gráfico de barras con los mismos datos y pregunta qué cambió. Respuesta: no cambiaron los datos, cambió la representación.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18–23
Presenta los cinco casos: Netflix, Amazon, Fórmula 1, Hospital, NASA. Pregunta qué tienen en común (todos usan visualización para tomar decisiones).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
"Los datos son el nuevo petróleo" es una frase muy conocida; yo no estoy de acuerdo. El petróleo sin refinar no sirve, los datos tampoco. Lo valioso no son los datos: es la capacidad de transformarlos en conocimiento para que alguien tome mejores decisiones. Ese será nuestro trabajo este semestre.
Consejo docente: evita dedicar los primeros 30 minutos al syllabus. Usa 20–25 minutos para despertar curiosidad y deja solo 5–10 minutos para metodología, proyecto, evaluación y reglas.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CLASE  ·  BIENVENIDA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de Datos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números a las decisiones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6235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datos por sí solos no sirven; el valor está en convertirlos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BFEA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información que permita tomar decisiones.”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966960" y="2331720"/>
            <a:ext cx="1463040" cy="1463040"/>
          </a:xfrm>
          <a:prstGeom prst="ellipse">
            <a:avLst/>
          </a:prstGeom>
          <a:solidFill>
            <a:srgbClr val="01474F"/>
          </a:solidFill>
          <a:ln/>
        </p:spPr>
      </p:sp>
      <p:pic>
        <p:nvPicPr>
          <p:cNvPr id="8" name="Image 0" descr="/home/claude/deck/icon_visualiz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7155" y="2521915"/>
            <a:ext cx="1082650" cy="1082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El contenido generado por IA puede ser incorrecto.">
            <a:extLst>
              <a:ext uri="{FF2B5EF4-FFF2-40B4-BE49-F238E27FC236}">
                <a16:creationId xmlns:a16="http://schemas.microsoft.com/office/drawing/2014/main" id="{D0893636-6C2D-CBA4-9380-0EA83F70D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717"/>
            <a:ext cx="6374436" cy="5649283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11A92B4C-3EE8-D20E-3677-93598A10F524}"/>
              </a:ext>
            </a:extLst>
          </p:cNvPr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verdades </a:t>
            </a:r>
            <a:r>
              <a:rPr lang="en-US" sz="4000" b="1" dirty="0" err="1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</a:t>
            </a:r>
            <a:r>
              <a:rPr lang="en-US" sz="4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mentira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6909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ROMPEHIELOS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usamos visualización sin darnos cuenta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74920" cy="2468880"/>
          </a:xfrm>
          <a:prstGeom prst="roundRect">
            <a:avLst>
              <a:gd name="adj" fmla="val 4444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1C2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deck/icon_pregun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25" y="248442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37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aquí cree que sabe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interpretar gráficos?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074920" cy="2468880"/>
          </a:xfrm>
          <a:prstGeom prst="roundRect">
            <a:avLst>
              <a:gd name="adj" fmla="val 4444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1C2B2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deck/icon_pregun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385" y="248442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33756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ha tomado una decisión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a un gráfico?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39776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/>
        </p:spPr>
      </p:sp>
      <p:sp>
        <p:nvSpPr>
          <p:cNvPr id="15" name="Text 11"/>
          <p:cNvSpPr/>
          <p:nvPr/>
        </p:nvSpPr>
        <p:spPr>
          <a:xfrm>
            <a:off x="1005840" y="480060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“Todos usamos visualización de datos todos los días sin darnos cuenta.”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VISUALIZACIÓN DE DATOS?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ves todos los días, en todas partes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deck/icon_cl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43" y="2011223"/>
            <a:ext cx="778154" cy="778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clima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313432" y="187452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deck/icon_map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135" y="2011223"/>
            <a:ext cx="778154" cy="7781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84832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849624" y="18745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deck/icon_spotif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327" y="2011223"/>
            <a:ext cx="778154" cy="7781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1024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385816" y="187452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3" descr="/home/claude/deck/icon_bols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519" y="2011223"/>
            <a:ext cx="778154" cy="77815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57216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922008" y="18745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deck/icon_u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711" y="2011223"/>
            <a:ext cx="778154" cy="77815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93408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Uber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8458200" y="1874520"/>
            <a:ext cx="1051560" cy="10515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5" descr="/home/claude/deck/icon_cov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4903" y="2011223"/>
            <a:ext cx="778154" cy="77815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0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994392" y="18745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6" descr="/home/claude/deck/icon_heal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1095" y="2011223"/>
            <a:ext cx="778154" cy="77815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765792" y="3017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640080" y="3977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E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tienen todas estas aplicaciones en común?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640080" y="4526280"/>
            <a:ext cx="10698480" cy="1417320"/>
          </a:xfrm>
          <a:prstGeom prst="roundRect">
            <a:avLst>
              <a:gd name="adj" fmla="val 7742"/>
            </a:avLst>
          </a:prstGeom>
          <a:solidFill>
            <a:srgbClr val="012E33"/>
          </a:solidFill>
          <a:ln/>
        </p:spPr>
      </p:sp>
      <p:sp>
        <p:nvSpPr>
          <p:cNvPr id="27" name="Text 18"/>
          <p:cNvSpPr/>
          <p:nvPr/>
        </p:nvSpPr>
        <p:spPr>
          <a:xfrm>
            <a:off x="1005840" y="4526280"/>
            <a:ext cx="9966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D9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de estas aplicaciones vende gráficos.
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venden son decisiones.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EJERCICIO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mismos datos, dos formas de verlos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846320" cy="4114800"/>
          </a:xfrm>
          <a:prstGeom prst="roundRect">
            <a:avLst>
              <a:gd name="adj" fmla="val 2667"/>
            </a:avLst>
          </a:prstGeom>
          <a:solidFill>
            <a:srgbClr val="F2F8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LLEGAN LOS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345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289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567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678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1C2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806440" y="1920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LOS ENTENDEMOS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760720" y="2286000"/>
          <a:ext cx="58064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989320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98932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cambiaron los datos. Cambió la velocidad con la que el cerebro los entiende.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de esto ve tablas gigantes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deck/icon_netfl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81" y="23015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0040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657600"/>
            <a:ext cx="16642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recomendarte con dashboards, no con tablas.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9776" y="18745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EA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3364992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deck/icon_amaz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977" y="230154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9504" y="320040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44368" y="3657600"/>
            <a:ext cx="16642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compras analizadas y visualizadas para decidir.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19472" y="18745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5504688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deck/icon_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673" y="230154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29200" y="320040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84064" y="3657600"/>
            <a:ext cx="16642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datos por segundo. Los ingenieros ven dashboards.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59168" y="18745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EAF4F2"/>
          </a:solidFill>
          <a:ln/>
        </p:spPr>
      </p:sp>
      <p:sp>
        <p:nvSpPr>
          <p:cNvPr id="20" name="Shape 15"/>
          <p:cNvSpPr/>
          <p:nvPr/>
        </p:nvSpPr>
        <p:spPr>
          <a:xfrm>
            <a:off x="7644384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deck/icon_hospi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369" y="230154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68896" y="320040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23760" y="3657600"/>
            <a:ext cx="16642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pacientes: gráficas, no columnas de números.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198864" y="1874520"/>
            <a:ext cx="1993392" cy="3566160"/>
          </a:xfrm>
          <a:prstGeom prst="roundRect">
            <a:avLst>
              <a:gd name="adj" fmla="val 5505"/>
            </a:avLst>
          </a:prstGeom>
          <a:solidFill>
            <a:srgbClr val="F2F8F7"/>
          </a:solidFill>
          <a:ln/>
        </p:spPr>
      </p:sp>
      <p:sp>
        <p:nvSpPr>
          <p:cNvPr id="25" name="Shape 19"/>
          <p:cNvSpPr/>
          <p:nvPr/>
        </p:nvSpPr>
        <p:spPr>
          <a:xfrm>
            <a:off x="978408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deck/icon_nas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1065" y="2301545"/>
            <a:ext cx="608990" cy="6089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08592" y="320040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363456" y="3657600"/>
            <a:ext cx="16642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sensores; toda la información se visualiza.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0080" y="566928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012E33"/>
          </a:solidFill>
          <a:ln/>
        </p:spPr>
      </p:sp>
      <p:sp>
        <p:nvSpPr>
          <p:cNvPr id="30" name="Text 23"/>
          <p:cNvSpPr/>
          <p:nvPr/>
        </p:nvSpPr>
        <p:spPr>
          <a:xfrm>
            <a:off x="914400" y="56692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usan visualización para tomar decisiones.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8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“Los datos son el nuevo petróleo”</a:t>
            </a:r>
            <a:r>
              <a:rPr lang="en-US" sz="2600" dirty="0">
                <a:solidFill>
                  <a:srgbClr val="8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 una frase muy conocida.
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 no estoy de acuerdo.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20116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971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E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petróleo, sin refinar, no sirve. Los datos tampoco.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10332720" cy="1737360"/>
          </a:xfrm>
          <a:prstGeom prst="roundRect">
            <a:avLst>
              <a:gd name="adj" fmla="val 7368"/>
            </a:avLst>
          </a:prstGeom>
          <a:solidFill>
            <a:srgbClr val="01474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7947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realmente valioso no son los datos.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la capacidad de transformarlos en conocimiento</a:t>
            </a:r>
            <a:endParaRPr lang="en-US" sz="1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alguien pueda tomar mejores decisiones.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F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será nuestro trabajo durante este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A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668</Words>
  <Application>Microsoft Office PowerPoint</Application>
  <PresentationFormat>Panorámica</PresentationFormat>
  <Paragraphs>80</Paragraphs>
  <Slides>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CAMILA SILVA GOMEZ</cp:lastModifiedBy>
  <cp:revision>2</cp:revision>
  <dcterms:created xsi:type="dcterms:W3CDTF">2026-07-21T16:45:55Z</dcterms:created>
  <dcterms:modified xsi:type="dcterms:W3CDTF">2026-07-24T00:11:09Z</dcterms:modified>
</cp:coreProperties>
</file>