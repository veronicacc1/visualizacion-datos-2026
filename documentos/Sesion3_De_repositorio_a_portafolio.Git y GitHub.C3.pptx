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notesMaster" Target="notesMasters/notesMaster1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Abrir en vivo el perfil de alguien con buen portafolio de datos. Y uno vacío. La diferencia se entiende sola.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Entregar la carpeta proyecto_ejemplo como plantilla. Que la comparen con la de su proyecto.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Contar el caso típico: alguien sube una llave de AWS y a las horas tiene una factura. Es real y frecuente.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Reescribir en vivo el README de un grupo. 20 minutos bien invertidos.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Mostrar un diff de notebook sin nbstripout. Es un muro de base64. Con eso se convencen.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Esto conecta con la rúbrica del proyecto: 'corre desde una instalación limpia siguiendo solo el README'.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Que lo hagan en clase, no de tarea. 20 minutos alcanzan para README de perfil + 2 repos fijados.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Demo: desplegar el app.py de un grupo en Streamlit Cloud. Tarda 3 minutos si el requirements está bien.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Una sola diapositiva. Que sepan que existen y cómo se llaman, para buscarlos cuando los necesiten.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Revisar 3 perfiles en vivo, proyectados. Es la mejor retroalimentación posible.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147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o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548640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1" i="0">
                <a:solidFill>
                  <a:srgbClr val="02C39A"/>
                </a:solidFill>
                <a:latin typeface="Consolas"/>
              </a:rPr>
              <a:t>GIT Y GITHUB PARA CIENCIA DE DATOS  ·  SESIÓN 3 DE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585216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5600" b="1" i="0">
                <a:solidFill>
                  <a:srgbClr val="FFFFFF"/>
                </a:solidFill>
                <a:latin typeface="Cambria"/>
              </a:rPr>
              <a:t>De repositorio a portafolio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206240"/>
            <a:ext cx="56692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2100" b="0" i="1">
                <a:solidFill>
                  <a:srgbClr val="BFEAE4"/>
                </a:solidFill>
                <a:latin typeface="Calibri"/>
              </a:rPr>
              <a:t>Cómo se ve un proyecto de datos que alguien quiere abrir.</a:t>
            </a:r>
          </a:p>
        </p:txBody>
      </p:sp>
      <p:pic>
        <p:nvPicPr>
          <p:cNvPr id="7" name="Picture 6" descr="portfoli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1463040"/>
            <a:ext cx="5394960" cy="2586453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40080" y="5440680"/>
            <a:ext cx="10881360" cy="777240"/>
          </a:xfrm>
          <a:prstGeom prst="roundRect">
            <a:avLst>
              <a:gd name="adj" fmla="val 6000"/>
            </a:avLst>
          </a:prstGeom>
          <a:solidFill>
            <a:srgbClr val="012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596128"/>
            <a:ext cx="103327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La pregunta de hoy:  ¿qué ve un reclutador cuando abre mi GitHub?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775704"/>
            <a:ext cx="12191695" cy="82296"/>
          </a:xfrm>
          <a:prstGeom prst="rect">
            <a:avLst/>
          </a:prstGeom>
          <a:solidFill>
            <a:srgbClr val="0B3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775704"/>
            <a:ext cx="1015974" cy="82296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00A896"/>
                </a:solidFill>
                <a:latin typeface="Consolas"/>
              </a:rPr>
              <a:t>LAS PRÓXIMAS DOS HORAS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8813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4000" b="1" i="0">
                <a:solidFill>
                  <a:srgbClr val="1C2B2E"/>
                </a:solidFill>
                <a:latin typeface="Cambria"/>
              </a:rPr>
              <a:t>Agenda de la sesión</a:t>
            </a:r>
          </a:p>
        </p:txBody>
      </p:sp>
      <p:pic>
        <p:nvPicPr>
          <p:cNvPr id="5" name="Picture 4" descr="agenda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920240"/>
            <a:ext cx="11155680" cy="2453081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40080" y="4892040"/>
            <a:ext cx="10881360" cy="1051560"/>
          </a:xfrm>
          <a:prstGeom prst="roundRect">
            <a:avLst>
              <a:gd name="adj" fmla="val 6000"/>
            </a:avLst>
          </a:prstGeom>
          <a:solidFill>
            <a:srgbClr val="F2F8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5029200"/>
            <a:ext cx="103327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2000" b="1" i="0">
                <a:solidFill>
                  <a:srgbClr val="01474F"/>
                </a:solidFill>
                <a:latin typeface="Calibri"/>
              </a:rPr>
              <a:t>Al terminar, se llevan:  un perfil de GitHub con el proyecto del corte fijado y un README que lo vende.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775704"/>
            <a:ext cx="12191695" cy="82296"/>
          </a:xfrm>
          <a:prstGeom prst="rect">
            <a:avLst/>
          </a:prstGeom>
          <a:solidFill>
            <a:srgbClr val="DCE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6775704"/>
            <a:ext cx="2031949" cy="82296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6336792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0" i="0">
                <a:solidFill>
                  <a:srgbClr val="5B6E71"/>
                </a:solidFill>
                <a:latin typeface="Consolas"/>
              </a:rPr>
              <a:t>GIT Y GITHUB  ·  SESIÓN 3  ·  DE REPOSITORIO A PORTAFOLIO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80015" y="6263640"/>
            <a:ext cx="137160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fld id="{B6F15528-21DE-4FCA-9D36-3E3D6D6B9F44}" type="slidenum">
              <a:rPr lang="es-CO" sz="1600" b="1">
                <a:solidFill>
                  <a:srgbClr val="028090"/>
                </a:solidFill>
                <a:latin typeface="Consolas"/>
              </a:rPr>
              <a:t>2</a:t>
            </a:fld>
            <a:r>
              <a:rPr sz="1600">
                <a:solidFill>
                  <a:srgbClr val="5B6E71"/>
                </a:solidFill>
                <a:latin typeface="Consolas"/>
              </a:rPr>
              <a:t>  /  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00A896"/>
                </a:solidFill>
                <a:latin typeface="Consolas"/>
              </a:rPr>
              <a:t>LO QUE SE VE PRIMERO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8813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4000" b="1" i="0">
                <a:solidFill>
                  <a:srgbClr val="1C2B2E"/>
                </a:solidFill>
                <a:latin typeface="Cambria"/>
              </a:rPr>
              <a:t>Tienes 30 segundos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83080"/>
            <a:ext cx="6675120" cy="4251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1400"/>
              </a:spcAft>
            </a:pPr>
            <a:r>
              <a:rPr sz="1900" b="1">
                <a:solidFill>
                  <a:srgbClr val="028090"/>
                </a:solidFill>
                <a:latin typeface="Calibri"/>
              </a:rPr>
              <a:t>●  El perfil</a:t>
            </a:r>
            <a:r>
              <a:rPr sz="1900">
                <a:solidFill>
                  <a:srgbClr val="1C2B2E"/>
                </a:solidFill>
                <a:latin typeface="Calibri"/>
              </a:rPr>
              <a:t>  foto, nombre real, una línea sobre ti, ubicación</a:t>
            </a:r>
          </a:p>
          <a:p>
            <a:pPr>
              <a:lnSpc>
                <a:spcPct val="108000"/>
              </a:lnSpc>
              <a:spcAft>
                <a:spcPts val="1400"/>
              </a:spcAft>
            </a:pPr>
            <a:r>
              <a:rPr sz="1900" b="1">
                <a:solidFill>
                  <a:srgbClr val="028090"/>
                </a:solidFill>
                <a:latin typeface="Calibri"/>
              </a:rPr>
              <a:t>●  Los repos fijados</a:t>
            </a:r>
            <a:r>
              <a:rPr sz="1900">
                <a:solidFill>
                  <a:srgbClr val="1C2B2E"/>
                </a:solidFill>
                <a:latin typeface="Calibri"/>
              </a:rPr>
              <a:t>  hasta 6. Son tu vitrina: los eliges tú</a:t>
            </a:r>
          </a:p>
          <a:p>
            <a:pPr>
              <a:lnSpc>
                <a:spcPct val="108000"/>
              </a:lnSpc>
              <a:spcAft>
                <a:spcPts val="1400"/>
              </a:spcAft>
            </a:pPr>
            <a:r>
              <a:rPr sz="1900" b="1">
                <a:solidFill>
                  <a:srgbClr val="028090"/>
                </a:solidFill>
                <a:latin typeface="Calibri"/>
              </a:rPr>
              <a:t>●  El README de cada repo</a:t>
            </a:r>
            <a:r>
              <a:rPr sz="1900">
                <a:solidFill>
                  <a:srgbClr val="1C2B2E"/>
                </a:solidFill>
                <a:latin typeface="Calibri"/>
              </a:rPr>
              <a:t>  es lo único que van a leer. Nadie abre el código primero</a:t>
            </a:r>
          </a:p>
          <a:p>
            <a:pPr>
              <a:lnSpc>
                <a:spcPct val="108000"/>
              </a:lnSpc>
              <a:spcAft>
                <a:spcPts val="1400"/>
              </a:spcAft>
            </a:pPr>
            <a:r>
              <a:rPr sz="1900" b="1">
                <a:solidFill>
                  <a:srgbClr val="028090"/>
                </a:solidFill>
                <a:latin typeface="Calibri"/>
              </a:rPr>
              <a:t>●  La actividad</a:t>
            </a:r>
            <a:r>
              <a:rPr sz="1900">
                <a:solidFill>
                  <a:srgbClr val="1C2B2E"/>
                </a:solidFill>
                <a:latin typeface="Calibri"/>
              </a:rPr>
              <a:t>  commits recientes dicen que sigues haciendo cosas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680960" y="1783080"/>
            <a:ext cx="3886200" cy="4160520"/>
          </a:xfrm>
          <a:prstGeom prst="roundRect">
            <a:avLst>
              <a:gd name="adj" fmla="val 6000"/>
            </a:avLst>
          </a:prstGeom>
          <a:solidFill>
            <a:srgbClr val="0147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79" y="2057400"/>
            <a:ext cx="3383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900" b="1" i="0">
                <a:solidFill>
                  <a:srgbClr val="02C39A"/>
                </a:solidFill>
                <a:latin typeface="Cambria"/>
              </a:rPr>
              <a:t>Lo que NO se 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79" y="2651760"/>
            <a:ext cx="3383280" cy="3108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Calibri"/>
              </a:rPr>
              <a:t>Tu código.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Calibri"/>
              </a:rPr>
              <a:t>Se ve después, si el README convenció.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775704"/>
            <a:ext cx="12191695" cy="82296"/>
          </a:xfrm>
          <a:prstGeom prst="rect">
            <a:avLst/>
          </a:prstGeom>
          <a:solidFill>
            <a:srgbClr val="DCE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775704"/>
            <a:ext cx="3047923" cy="82296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6336792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0" i="0">
                <a:solidFill>
                  <a:srgbClr val="5B6E71"/>
                </a:solidFill>
                <a:latin typeface="Consolas"/>
              </a:rPr>
              <a:t>GIT Y GITHUB  ·  SESIÓN 3  ·  DE REPOSITORIO A PORTAFOLIO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180015" y="6263640"/>
            <a:ext cx="137160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fld id="{B6F15528-21DE-4FCA-9D36-3E3D6D6B9F44}" type="slidenum">
              <a:rPr lang="es-CO" sz="1600" b="1">
                <a:solidFill>
                  <a:srgbClr val="028090"/>
                </a:solidFill>
                <a:latin typeface="Consolas"/>
              </a:rPr>
              <a:t>3</a:t>
            </a:fld>
            <a:r>
              <a:rPr sz="1600">
                <a:solidFill>
                  <a:srgbClr val="5B6E71"/>
                </a:solidFill>
                <a:latin typeface="Consolas"/>
              </a:rPr>
              <a:t>  /  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00A896"/>
                </a:solidFill>
                <a:latin typeface="Consolas"/>
              </a:rPr>
              <a:t>ANATOMÍA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8813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3400" b="1" i="0">
                <a:solidFill>
                  <a:srgbClr val="1C2B2E"/>
                </a:solidFill>
                <a:latin typeface="Cambria"/>
              </a:rPr>
              <a:t>La estructura estándar de un proyecto de datos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83080"/>
            <a:ext cx="5394960" cy="4251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1700" b="1">
                <a:solidFill>
                  <a:srgbClr val="028090"/>
                </a:solidFill>
                <a:latin typeface="Calibri"/>
              </a:rPr>
              <a:t>●  data/</a:t>
            </a:r>
            <a:r>
              <a:rPr sz="1700">
                <a:solidFill>
                  <a:srgbClr val="1C2B2E"/>
                </a:solidFill>
                <a:latin typeface="Calibri"/>
              </a:rPr>
              <a:t>  raw nunca se sube; processed a veces; siempre con README que diga de dónde salen</a:t>
            </a:r>
          </a:p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1700" b="1">
                <a:solidFill>
                  <a:srgbClr val="028090"/>
                </a:solidFill>
                <a:latin typeface="Calibri"/>
              </a:rPr>
              <a:t>●  notebooks/</a:t>
            </a:r>
            <a:r>
              <a:rPr sz="1700">
                <a:solidFill>
                  <a:srgbClr val="1C2B2E"/>
                </a:solidFill>
                <a:latin typeface="Calibri"/>
              </a:rPr>
              <a:t>  exploración, numerados: 01_eda, 02_limpieza</a:t>
            </a:r>
          </a:p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1700" b="1">
                <a:solidFill>
                  <a:srgbClr val="028090"/>
                </a:solidFill>
                <a:latin typeface="Calibri"/>
              </a:rPr>
              <a:t>●  src/</a:t>
            </a:r>
            <a:r>
              <a:rPr sz="1700">
                <a:solidFill>
                  <a:srgbClr val="1C2B2E"/>
                </a:solidFill>
                <a:latin typeface="Calibri"/>
              </a:rPr>
              <a:t>  el código que se reutiliza: funciones, app.py</a:t>
            </a:r>
          </a:p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1700" b="1">
                <a:solidFill>
                  <a:srgbClr val="028090"/>
                </a:solidFill>
                <a:latin typeface="Calibri"/>
              </a:rPr>
              <a:t>●  Raíz</a:t>
            </a:r>
            <a:r>
              <a:rPr sz="1700">
                <a:solidFill>
                  <a:srgbClr val="1C2B2E"/>
                </a:solidFill>
                <a:latin typeface="Calibri"/>
              </a:rPr>
              <a:t>  README, requirements.txt, .gitignore, LICENSE</a:t>
            </a:r>
          </a:p>
        </p:txBody>
      </p:sp>
      <p:pic>
        <p:nvPicPr>
          <p:cNvPr id="6" name="Picture 5" descr="tre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874520"/>
            <a:ext cx="5120640" cy="3696237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775704"/>
            <a:ext cx="12191695" cy="82296"/>
          </a:xfrm>
          <a:prstGeom prst="rect">
            <a:avLst/>
          </a:prstGeom>
          <a:solidFill>
            <a:srgbClr val="DCE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775704"/>
            <a:ext cx="4063898" cy="82296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6336792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0" i="0">
                <a:solidFill>
                  <a:srgbClr val="5B6E71"/>
                </a:solidFill>
                <a:latin typeface="Consolas"/>
              </a:rPr>
              <a:t>GIT Y GITHUB  ·  SESIÓN 3  ·  DE REPOSITORIO A PORTAFOLIO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180015" y="6263640"/>
            <a:ext cx="137160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fld id="{B6F15528-21DE-4FCA-9D36-3E3D6D6B9F44}" type="slidenum">
              <a:rPr lang="es-CO" sz="1600" b="1">
                <a:solidFill>
                  <a:srgbClr val="028090"/>
                </a:solidFill>
                <a:latin typeface="Consolas"/>
              </a:rPr>
              <a:t>4</a:t>
            </a:fld>
            <a:r>
              <a:rPr sz="1600">
                <a:solidFill>
                  <a:srgbClr val="5B6E71"/>
                </a:solidFill>
                <a:latin typeface="Consolas"/>
              </a:rPr>
              <a:t>  /  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8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00A896"/>
                </a:solidFill>
                <a:latin typeface="Consolas"/>
              </a:rPr>
              <a:t>QUÉ VA Y QUÉ 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8813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4000" b="1" i="0">
                <a:solidFill>
                  <a:srgbClr val="1C2B2E"/>
                </a:solidFill>
                <a:latin typeface="Cambria"/>
              </a:rPr>
              <a:t>Tres cosas que nunca deben llegar a GitHub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783080"/>
            <a:ext cx="3474720" cy="4160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96112" y="2039112"/>
            <a:ext cx="640080" cy="640080"/>
          </a:xfrm>
          <a:prstGeom prst="ellipse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91640" y="2130552"/>
            <a:ext cx="2194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800" b="1" i="0">
                <a:solidFill>
                  <a:srgbClr val="01474F"/>
                </a:solidFill>
                <a:latin typeface="Cambria"/>
              </a:rPr>
              <a:t>Datos grandes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2880360"/>
            <a:ext cx="2962656" cy="2971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700" b="0" i="0">
                <a:solidFill>
                  <a:srgbClr val="1C2B2E"/>
                </a:solidFill>
                <a:latin typeface="Calibri"/>
              </a:rPr>
              <a:t>GitHub avisa a partir de 50 MB y bloquea a partir de 100 MB. Los datos crudos van en .gitignore; en el README se dice de dónde bajarlos. Para versionar datos existe Git LFS o DVC (siguiente nivel).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783080"/>
            <a:ext cx="3474720" cy="4160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599432" y="2039112"/>
            <a:ext cx="640080" cy="640080"/>
          </a:xfrm>
          <a:prstGeom prst="ellipse">
            <a:avLst/>
          </a:prstGeom>
          <a:solidFill>
            <a:srgbClr val="FFC1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🔑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94960" y="2130552"/>
            <a:ext cx="2194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800" b="1" i="0">
                <a:solidFill>
                  <a:srgbClr val="01474F"/>
                </a:solidFill>
                <a:latin typeface="Cambria"/>
              </a:rPr>
              <a:t>Secretos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99432" y="2880360"/>
            <a:ext cx="2962656" cy="2971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700" b="0" i="0">
                <a:solidFill>
                  <a:srgbClr val="1C2B2E"/>
                </a:solidFill>
                <a:latin typeface="Calibri"/>
              </a:rPr>
              <a:t>Tokens, contraseñas, llaves de API. Van en un archivo .env ignorado, y se leen desde el código. Un token subido a un repo público se considera comprometido en minutos.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783080"/>
            <a:ext cx="3474720" cy="4160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302752" y="2039112"/>
            <a:ext cx="640080" cy="640080"/>
          </a:xfrm>
          <a:prstGeom prst="ellipse">
            <a:avLst/>
          </a:prstGeom>
          <a:solidFill>
            <a:srgbClr val="5B6E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🗑️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98280" y="2130552"/>
            <a:ext cx="2194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800" b="1" i="0">
                <a:solidFill>
                  <a:srgbClr val="01474F"/>
                </a:solidFill>
                <a:latin typeface="Cambria"/>
              </a:rPr>
              <a:t>Salidas pesadas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02752" y="2880360"/>
            <a:ext cx="2962656" cy="2971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700" b="0" i="0">
                <a:solidFill>
                  <a:srgbClr val="1C2B2E"/>
                </a:solidFill>
                <a:latin typeface="Calibri"/>
              </a:rPr>
              <a:t>Modelos entrenados, figuras de 20 MB, caches. Si se pueden regenerar con el código, no se suben.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775704"/>
            <a:ext cx="12191695" cy="82296"/>
          </a:xfrm>
          <a:prstGeom prst="rect">
            <a:avLst/>
          </a:prstGeom>
          <a:solidFill>
            <a:srgbClr val="DCE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6775704"/>
            <a:ext cx="5079872" cy="82296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6336792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0" i="0">
                <a:solidFill>
                  <a:srgbClr val="5B6E71"/>
                </a:solidFill>
                <a:latin typeface="Consolas"/>
              </a:rPr>
              <a:t>GIT Y GITHUB  ·  SESIÓN 3  ·  DE REPOSITORIO A PORTAFOLIO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180015" y="6263640"/>
            <a:ext cx="137160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fld id="{B6F15528-21DE-4FCA-9D36-3E3D6D6B9F44}" type="slidenum">
              <a:rPr lang="es-CO" sz="1600" b="1">
                <a:solidFill>
                  <a:srgbClr val="028090"/>
                </a:solidFill>
                <a:latin typeface="Consolas"/>
              </a:rPr>
              <a:t>5</a:t>
            </a:fld>
            <a:r>
              <a:rPr sz="1600">
                <a:solidFill>
                  <a:srgbClr val="5B6E71"/>
                </a:solidFill>
                <a:latin typeface="Consolas"/>
              </a:rPr>
              <a:t>  /  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00A896"/>
                </a:solidFill>
                <a:latin typeface="Consolas"/>
              </a:rPr>
              <a:t>EL README QUE VENDE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8813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4000" b="1" i="0">
                <a:solidFill>
                  <a:srgbClr val="1C2B2E"/>
                </a:solidFill>
                <a:latin typeface="Cambria"/>
              </a:rPr>
              <a:t>Estructura que funciona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83080"/>
            <a:ext cx="5394960" cy="4251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1600" b="1">
                <a:solidFill>
                  <a:srgbClr val="028090"/>
                </a:solidFill>
                <a:latin typeface="Calibri"/>
              </a:rPr>
              <a:t>●  Título + una frase</a:t>
            </a:r>
            <a:r>
              <a:rPr sz="1600">
                <a:solidFill>
                  <a:srgbClr val="1C2B2E"/>
                </a:solidFill>
                <a:latin typeface="Calibri"/>
              </a:rPr>
              <a:t>  qué problema resuelve y para quién</a:t>
            </a:r>
          </a:p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1600" b="1">
                <a:solidFill>
                  <a:srgbClr val="028090"/>
                </a:solidFill>
                <a:latin typeface="Calibri"/>
              </a:rPr>
              <a:t>●  Una imagen</a:t>
            </a:r>
            <a:r>
              <a:rPr sz="1600">
                <a:solidFill>
                  <a:srgbClr val="1C2B2E"/>
                </a:solidFill>
                <a:latin typeface="Calibri"/>
              </a:rPr>
              <a:t>  captura del dashboard. Es lo primero que miran</a:t>
            </a:r>
          </a:p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1600" b="1">
                <a:solidFill>
                  <a:srgbClr val="028090"/>
                </a:solidFill>
                <a:latin typeface="Calibri"/>
              </a:rPr>
              <a:t>●  Datos</a:t>
            </a:r>
            <a:r>
              <a:rPr sz="1600">
                <a:solidFill>
                  <a:srgbClr val="1C2B2E"/>
                </a:solidFill>
                <a:latin typeface="Calibri"/>
              </a:rPr>
              <a:t>  fuente, periodo, cómo obtenerlos</a:t>
            </a:r>
          </a:p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1600" b="1">
                <a:solidFill>
                  <a:srgbClr val="028090"/>
                </a:solidFill>
                <a:latin typeface="Calibri"/>
              </a:rPr>
              <a:t>●  Cómo correrlo</a:t>
            </a:r>
            <a:r>
              <a:rPr sz="1600">
                <a:solidFill>
                  <a:srgbClr val="1C2B2E"/>
                </a:solidFill>
                <a:latin typeface="Calibri"/>
              </a:rPr>
              <a:t>  comandos exactos, que funcionen en un computador ajeno</a:t>
            </a:r>
          </a:p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1600" b="1">
                <a:solidFill>
                  <a:srgbClr val="028090"/>
                </a:solidFill>
                <a:latin typeface="Calibri"/>
              </a:rPr>
              <a:t>●  Resultado</a:t>
            </a:r>
            <a:r>
              <a:rPr sz="1600">
                <a:solidFill>
                  <a:srgbClr val="1C2B2E"/>
                </a:solidFill>
                <a:latin typeface="Calibri"/>
              </a:rPr>
              <a:t>  2-3 hallazgos concretos</a:t>
            </a:r>
          </a:p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1600" b="0">
                <a:solidFill>
                  <a:srgbClr val="1C2B2E"/>
                </a:solidFill>
                <a:latin typeface="Calibri"/>
              </a:rPr>
              <a:t>●  Autor y licencia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783080"/>
            <a:ext cx="5257800" cy="4251960"/>
          </a:xfrm>
          <a:prstGeom prst="roundRect">
            <a:avLst>
              <a:gd name="adj" fmla="val 5000"/>
            </a:avLst>
          </a:prstGeom>
          <a:solidFill>
            <a:srgbClr val="1C2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510528" y="1947672"/>
            <a:ext cx="128016" cy="128016"/>
          </a:xfrm>
          <a:prstGeom prst="ellipse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748272" y="1947672"/>
            <a:ext cx="128016" cy="128016"/>
          </a:xfrm>
          <a:prstGeom prst="ellipse">
            <a:avLst/>
          </a:prstGeom>
          <a:solidFill>
            <a:srgbClr val="FFC1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986016" y="1947672"/>
            <a:ext cx="128016" cy="128016"/>
          </a:xfrm>
          <a:prstGeom prst="ellipse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37960" y="2240280"/>
            <a:ext cx="480060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300">
                <a:solidFill>
                  <a:srgbClr val="8FE3D3"/>
                </a:solidFill>
                <a:latin typeface="Consolas"/>
              </a:rPr>
              <a:t># Aire Bogotá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E9F4F2"/>
                </a:solidFill>
                <a:latin typeface="Consolas"/>
              </a:rPr>
              <a:t>Dashboard para decidir si es seguro hacer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E9F4F2"/>
                </a:solidFill>
                <a:latin typeface="Consolas"/>
              </a:rPr>
              <a:t>actividad al aire libre, por localidad y hora.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E9F4F2"/>
                </a:solidFill>
                <a:latin typeface="Consolas"/>
              </a:rPr>
              <a:t/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E9F4F2"/>
                </a:solidFill>
                <a:latin typeface="Consolas"/>
              </a:rPr>
              <a:t>![dashboard](img/dashboard.png)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E9F4F2"/>
                </a:solidFill>
                <a:latin typeface="Consolas"/>
              </a:rPr>
              <a:t/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8FE3D3"/>
                </a:solidFill>
                <a:latin typeface="Consolas"/>
              </a:rPr>
              <a:t>## Datos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E9F4F2"/>
                </a:solidFill>
                <a:latin typeface="Consolas"/>
              </a:rPr>
              <a:t>RMCAB, Secretaría Distrital de Ambiente, 2025.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E9F4F2"/>
                </a:solidFill>
                <a:latin typeface="Consolas"/>
              </a:rPr>
              <a:t/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8FE3D3"/>
                </a:solidFill>
                <a:latin typeface="Consolas"/>
              </a:rPr>
              <a:t>## Cómo correrlo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E9F4F2"/>
                </a:solidFill>
                <a:latin typeface="Consolas"/>
              </a:rPr>
              <a:t>```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E9F4F2"/>
                </a:solidFill>
                <a:latin typeface="Consolas"/>
              </a:rPr>
              <a:t>pip install -r requirements.txt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E9F4F2"/>
                </a:solidFill>
                <a:latin typeface="Consolas"/>
              </a:rPr>
              <a:t>streamlit run src/app.py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E9F4F2"/>
                </a:solidFill>
                <a:latin typeface="Consolas"/>
              </a:rPr>
              <a:t>```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8FE3D3"/>
                </a:solidFill>
                <a:latin typeface="Consolas"/>
              </a:rPr>
              <a:t>## Hallazgos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E9F4F2"/>
                </a:solidFill>
                <a:latin typeface="Consolas"/>
              </a:rPr>
              <a:t>- Kennedy supera el umbral OMS el 42 % de las horas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75704"/>
            <a:ext cx="12191695" cy="82296"/>
          </a:xfrm>
          <a:prstGeom prst="rect">
            <a:avLst/>
          </a:prstGeom>
          <a:solidFill>
            <a:srgbClr val="DCE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6775704"/>
            <a:ext cx="6095847" cy="82296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6336792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0" i="0">
                <a:solidFill>
                  <a:srgbClr val="5B6E71"/>
                </a:solidFill>
                <a:latin typeface="Consolas"/>
              </a:rPr>
              <a:t>GIT Y GITHUB  ·  SESIÓN 3  ·  DE REPOSITORIO A PORTAFOLIO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180015" y="6263640"/>
            <a:ext cx="137160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fld id="{B6F15528-21DE-4FCA-9D36-3E3D6D6B9F44}" type="slidenum">
              <a:rPr lang="es-CO" sz="1600" b="1">
                <a:solidFill>
                  <a:srgbClr val="028090"/>
                </a:solidFill>
                <a:latin typeface="Consolas"/>
              </a:rPr>
              <a:t>6</a:t>
            </a:fld>
            <a:r>
              <a:rPr sz="1600">
                <a:solidFill>
                  <a:srgbClr val="5B6E71"/>
                </a:solidFill>
                <a:latin typeface="Consolas"/>
              </a:rPr>
              <a:t>  /  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00A896"/>
                </a:solidFill>
                <a:latin typeface="Consolas"/>
              </a:rPr>
              <a:t>NOTEBOOKS EN GIT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8813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4000" b="1" i="0">
                <a:solidFill>
                  <a:srgbClr val="1C2B2E"/>
                </a:solidFill>
                <a:latin typeface="Cambria"/>
              </a:rPr>
              <a:t>El problema de las salidas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83080"/>
            <a:ext cx="5394960" cy="4251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1700" b="1">
                <a:solidFill>
                  <a:srgbClr val="028090"/>
                </a:solidFill>
                <a:latin typeface="Calibri"/>
              </a:rPr>
              <a:t>●  Un notebook guarda sus outputs</a:t>
            </a:r>
            <a:r>
              <a:rPr sz="1700">
                <a:solidFill>
                  <a:srgbClr val="1C2B2E"/>
                </a:solidFill>
                <a:latin typeface="Calibri"/>
              </a:rPr>
              <a:t>  figuras en base64, tablas… el archivo pesa y el diff es ilegible</a:t>
            </a:r>
          </a:p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1700" b="1">
                <a:solidFill>
                  <a:srgbClr val="028090"/>
                </a:solidFill>
                <a:latin typeface="Calibri"/>
              </a:rPr>
              <a:t>●  nbstripout</a:t>
            </a:r>
            <a:r>
              <a:rPr sz="1700">
                <a:solidFill>
                  <a:srgbClr val="1C2B2E"/>
                </a:solidFill>
                <a:latin typeface="Calibri"/>
              </a:rPr>
              <a:t>  limpia las salidas automáticamente antes de cada commit</a:t>
            </a:r>
          </a:p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1700" b="1">
                <a:solidFill>
                  <a:srgbClr val="028090"/>
                </a:solidFill>
                <a:latin typeface="Calibri"/>
              </a:rPr>
              <a:t>●  Regla</a:t>
            </a:r>
            <a:r>
              <a:rPr sz="1700">
                <a:solidFill>
                  <a:srgbClr val="1C2B2E"/>
                </a:solidFill>
                <a:latin typeface="Calibri"/>
              </a:rPr>
              <a:t>  lo que se ejecuta muchas veces, pasa de notebook a un .py en src/</a:t>
            </a:r>
          </a:p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1700" b="1">
                <a:solidFill>
                  <a:srgbClr val="028090"/>
                </a:solidFill>
                <a:latin typeface="Calibri"/>
              </a:rPr>
              <a:t>●  Numerar</a:t>
            </a:r>
            <a:r>
              <a:rPr sz="1700">
                <a:solidFill>
                  <a:srgbClr val="1C2B2E"/>
                </a:solidFill>
                <a:latin typeface="Calibri"/>
              </a:rPr>
              <a:t>  01_eda.ipynb, 02_limpieza.ipynb: cuenta el orden del análisis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783080"/>
            <a:ext cx="5257800" cy="4251960"/>
          </a:xfrm>
          <a:prstGeom prst="roundRect">
            <a:avLst>
              <a:gd name="adj" fmla="val 5000"/>
            </a:avLst>
          </a:prstGeom>
          <a:solidFill>
            <a:srgbClr val="1C2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510528" y="1947672"/>
            <a:ext cx="128016" cy="128016"/>
          </a:xfrm>
          <a:prstGeom prst="ellipse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748272" y="1947672"/>
            <a:ext cx="128016" cy="128016"/>
          </a:xfrm>
          <a:prstGeom prst="ellipse">
            <a:avLst/>
          </a:prstGeom>
          <a:solidFill>
            <a:srgbClr val="FFC1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986016" y="1947672"/>
            <a:ext cx="128016" cy="128016"/>
          </a:xfrm>
          <a:prstGeom prst="ellipse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37960" y="2240280"/>
            <a:ext cx="480060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500">
                <a:solidFill>
                  <a:srgbClr val="E9F4F2"/>
                </a:solidFill>
                <a:latin typeface="Consolas"/>
              </a:rPr>
              <a:t>pip install nbstripout</a:t>
            </a:r>
          </a:p>
          <a:p>
            <a:pPr>
              <a:spcAft>
                <a:spcPts val="200"/>
              </a:spcAft>
            </a:pPr>
            <a:r>
              <a:rPr sz="1500">
                <a:solidFill>
                  <a:srgbClr val="E9F4F2"/>
                </a:solidFill>
                <a:latin typeface="Consolas"/>
              </a:rPr>
              <a:t/>
            </a:r>
          </a:p>
          <a:p>
            <a:pPr>
              <a:spcAft>
                <a:spcPts val="200"/>
              </a:spcAft>
            </a:pPr>
            <a:r>
              <a:rPr sz="1500">
                <a:solidFill>
                  <a:srgbClr val="8FE3D3"/>
                </a:solidFill>
                <a:latin typeface="Consolas"/>
              </a:rPr>
              <a:t># una vez por repositorio:</a:t>
            </a:r>
          </a:p>
          <a:p>
            <a:pPr>
              <a:spcAft>
                <a:spcPts val="200"/>
              </a:spcAft>
            </a:pPr>
            <a:r>
              <a:rPr sz="1500">
                <a:solidFill>
                  <a:srgbClr val="E9F4F2"/>
                </a:solidFill>
                <a:latin typeface="Consolas"/>
              </a:rPr>
              <a:t>nbstripout --install</a:t>
            </a:r>
          </a:p>
          <a:p>
            <a:pPr>
              <a:spcAft>
                <a:spcPts val="200"/>
              </a:spcAft>
            </a:pPr>
            <a:r>
              <a:rPr sz="1500">
                <a:solidFill>
                  <a:srgbClr val="E9F4F2"/>
                </a:solidFill>
                <a:latin typeface="Consolas"/>
              </a:rPr>
              <a:t/>
            </a:r>
          </a:p>
          <a:p>
            <a:pPr>
              <a:spcAft>
                <a:spcPts val="200"/>
              </a:spcAft>
            </a:pPr>
            <a:r>
              <a:rPr sz="1500">
                <a:solidFill>
                  <a:srgbClr val="8FE3D3"/>
                </a:solidFill>
                <a:latin typeface="Consolas"/>
              </a:rPr>
              <a:t># desde ahora, cada commit guarda el</a:t>
            </a:r>
          </a:p>
          <a:p>
            <a:pPr>
              <a:spcAft>
                <a:spcPts val="200"/>
              </a:spcAft>
            </a:pPr>
            <a:r>
              <a:rPr sz="1500">
                <a:solidFill>
                  <a:srgbClr val="8FE3D3"/>
                </a:solidFill>
                <a:latin typeface="Consolas"/>
              </a:rPr>
              <a:t># notebook sin outputs. Los outputs siguen</a:t>
            </a:r>
          </a:p>
          <a:p>
            <a:pPr>
              <a:spcAft>
                <a:spcPts val="200"/>
              </a:spcAft>
            </a:pPr>
            <a:r>
              <a:rPr sz="1500">
                <a:solidFill>
                  <a:srgbClr val="8FE3D3"/>
                </a:solidFill>
                <a:latin typeface="Consolas"/>
              </a:rPr>
              <a:t># en tu máquina; solo no viajan a GitHub.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75704"/>
            <a:ext cx="12191695" cy="82296"/>
          </a:xfrm>
          <a:prstGeom prst="rect">
            <a:avLst/>
          </a:prstGeom>
          <a:solidFill>
            <a:srgbClr val="DCE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6775704"/>
            <a:ext cx="7111822" cy="82296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6336792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0" i="0">
                <a:solidFill>
                  <a:srgbClr val="5B6E71"/>
                </a:solidFill>
                <a:latin typeface="Consolas"/>
              </a:rPr>
              <a:t>GIT Y GITHUB  ·  SESIÓN 3  ·  DE REPOSITORIO A PORTAFOLIO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180015" y="6263640"/>
            <a:ext cx="137160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fld id="{B6F15528-21DE-4FCA-9D36-3E3D6D6B9F44}" type="slidenum">
              <a:rPr lang="es-CO" sz="1600" b="1">
                <a:solidFill>
                  <a:srgbClr val="028090"/>
                </a:solidFill>
                <a:latin typeface="Consolas"/>
              </a:rPr>
              <a:t>7</a:t>
            </a:fld>
            <a:r>
              <a:rPr sz="1600">
                <a:solidFill>
                  <a:srgbClr val="5B6E71"/>
                </a:solidFill>
                <a:latin typeface="Consolas"/>
              </a:rPr>
              <a:t>  /  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00A896"/>
                </a:solidFill>
                <a:latin typeface="Consolas"/>
              </a:rPr>
              <a:t>REPRODUCIBLE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8813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4000" b="1" i="0">
                <a:solidFill>
                  <a:srgbClr val="1C2B2E"/>
                </a:solidFill>
                <a:latin typeface="Cambria"/>
              </a:rPr>
              <a:t>Que corra en otro computador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83080"/>
            <a:ext cx="5394960" cy="4251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1700" b="1">
                <a:solidFill>
                  <a:srgbClr val="028090"/>
                </a:solidFill>
                <a:latin typeface="Calibri"/>
              </a:rPr>
              <a:t>●  requirements.txt</a:t>
            </a:r>
            <a:r>
              <a:rPr sz="1700">
                <a:solidFill>
                  <a:srgbClr val="1C2B2E"/>
                </a:solidFill>
                <a:latin typeface="Calibri"/>
              </a:rPr>
              <a:t>  las librerías exactas. Sin esto, el README miente</a:t>
            </a:r>
          </a:p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1700" b="1">
                <a:solidFill>
                  <a:srgbClr val="028090"/>
                </a:solidFill>
                <a:latin typeface="Calibri"/>
              </a:rPr>
              <a:t>●  pip freeze</a:t>
            </a:r>
            <a:r>
              <a:rPr sz="1700">
                <a:solidFill>
                  <a:srgbClr val="1C2B2E"/>
                </a:solidFill>
                <a:latin typeface="Calibri"/>
              </a:rPr>
              <a:t>  lista lo que tienes instalado; mejor escribirlo a mano con solo lo que usas</a:t>
            </a:r>
          </a:p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1700" b="1">
                <a:solidFill>
                  <a:srgbClr val="028090"/>
                </a:solidFill>
                <a:latin typeface="Calibri"/>
              </a:rPr>
              <a:t>●  Versiones</a:t>
            </a:r>
            <a:r>
              <a:rPr sz="1700">
                <a:solidFill>
                  <a:srgbClr val="1C2B2E"/>
                </a:solidFill>
                <a:latin typeface="Calibri"/>
              </a:rPr>
              <a:t>  pandas&gt;=2.2 evita sorpresas</a:t>
            </a:r>
          </a:p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1700" b="1">
                <a:solidFill>
                  <a:srgbClr val="028090"/>
                </a:solidFill>
                <a:latin typeface="Calibri"/>
              </a:rPr>
              <a:t>●  La prueba</a:t>
            </a:r>
            <a:r>
              <a:rPr sz="1700">
                <a:solidFill>
                  <a:srgbClr val="1C2B2E"/>
                </a:solidFill>
                <a:latin typeface="Calibri"/>
              </a:rPr>
              <a:t>  clonar en otra máquina y correr los comandos del README. Si falla, no está listo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783080"/>
            <a:ext cx="5257800" cy="4251960"/>
          </a:xfrm>
          <a:prstGeom prst="roundRect">
            <a:avLst>
              <a:gd name="adj" fmla="val 5000"/>
            </a:avLst>
          </a:prstGeom>
          <a:solidFill>
            <a:srgbClr val="1C2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510528" y="1947672"/>
            <a:ext cx="128016" cy="128016"/>
          </a:xfrm>
          <a:prstGeom prst="ellipse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748272" y="1947672"/>
            <a:ext cx="128016" cy="128016"/>
          </a:xfrm>
          <a:prstGeom prst="ellipse">
            <a:avLst/>
          </a:prstGeom>
          <a:solidFill>
            <a:srgbClr val="FFC1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986016" y="1947672"/>
            <a:ext cx="128016" cy="128016"/>
          </a:xfrm>
          <a:prstGeom prst="ellipse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37960" y="2240280"/>
            <a:ext cx="480060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500">
                <a:solidFill>
                  <a:srgbClr val="8FE3D3"/>
                </a:solidFill>
                <a:latin typeface="Consolas"/>
              </a:rPr>
              <a:t># requirements.txt</a:t>
            </a:r>
          </a:p>
          <a:p>
            <a:pPr>
              <a:spcAft>
                <a:spcPts val="200"/>
              </a:spcAft>
            </a:pPr>
            <a:r>
              <a:rPr sz="1500">
                <a:solidFill>
                  <a:srgbClr val="E9F4F2"/>
                </a:solidFill>
                <a:latin typeface="Consolas"/>
              </a:rPr>
              <a:t>pandas&gt;=2.2</a:t>
            </a:r>
          </a:p>
          <a:p>
            <a:pPr>
              <a:spcAft>
                <a:spcPts val="200"/>
              </a:spcAft>
            </a:pPr>
            <a:r>
              <a:rPr sz="1500">
                <a:solidFill>
                  <a:srgbClr val="E9F4F2"/>
                </a:solidFill>
                <a:latin typeface="Consolas"/>
              </a:rPr>
              <a:t>plotly&gt;=5.22</a:t>
            </a:r>
          </a:p>
          <a:p>
            <a:pPr>
              <a:spcAft>
                <a:spcPts val="200"/>
              </a:spcAft>
            </a:pPr>
            <a:r>
              <a:rPr sz="1500">
                <a:solidFill>
                  <a:srgbClr val="E9F4F2"/>
                </a:solidFill>
                <a:latin typeface="Consolas"/>
              </a:rPr>
              <a:t>streamlit&gt;=1.36</a:t>
            </a:r>
          </a:p>
          <a:p>
            <a:pPr>
              <a:spcAft>
                <a:spcPts val="200"/>
              </a:spcAft>
            </a:pPr>
            <a:r>
              <a:rPr sz="1500">
                <a:solidFill>
                  <a:srgbClr val="E9F4F2"/>
                </a:solidFill>
                <a:latin typeface="Consolas"/>
              </a:rPr>
              <a:t/>
            </a:r>
          </a:p>
          <a:p>
            <a:pPr>
              <a:spcAft>
                <a:spcPts val="200"/>
              </a:spcAft>
            </a:pPr>
            <a:r>
              <a:rPr sz="1500">
                <a:solidFill>
                  <a:srgbClr val="8FE3D3"/>
                </a:solidFill>
                <a:latin typeface="Consolas"/>
              </a:rPr>
              <a:t># en la máquina nueva:</a:t>
            </a:r>
          </a:p>
          <a:p>
            <a:pPr>
              <a:spcAft>
                <a:spcPts val="200"/>
              </a:spcAft>
            </a:pPr>
            <a:r>
              <a:rPr sz="1500">
                <a:solidFill>
                  <a:srgbClr val="E9F4F2"/>
                </a:solidFill>
                <a:latin typeface="Consolas"/>
              </a:rPr>
              <a:t>git clone https://github.com/ana/aire-bogota.git</a:t>
            </a:r>
          </a:p>
          <a:p>
            <a:pPr>
              <a:spcAft>
                <a:spcPts val="200"/>
              </a:spcAft>
            </a:pPr>
            <a:r>
              <a:rPr sz="1500">
                <a:solidFill>
                  <a:srgbClr val="E9F4F2"/>
                </a:solidFill>
                <a:latin typeface="Consolas"/>
              </a:rPr>
              <a:t>cd aire-bogota</a:t>
            </a:r>
          </a:p>
          <a:p>
            <a:pPr>
              <a:spcAft>
                <a:spcPts val="200"/>
              </a:spcAft>
            </a:pPr>
            <a:r>
              <a:rPr sz="1500">
                <a:solidFill>
                  <a:srgbClr val="E9F4F2"/>
                </a:solidFill>
                <a:latin typeface="Consolas"/>
              </a:rPr>
              <a:t>pip install -r requirements.txt</a:t>
            </a:r>
          </a:p>
          <a:p>
            <a:pPr>
              <a:spcAft>
                <a:spcPts val="200"/>
              </a:spcAft>
            </a:pPr>
            <a:r>
              <a:rPr sz="1500">
                <a:solidFill>
                  <a:srgbClr val="E9F4F2"/>
                </a:solidFill>
                <a:latin typeface="Consolas"/>
              </a:rPr>
              <a:t>streamlit run src/app.py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75704"/>
            <a:ext cx="12191695" cy="82296"/>
          </a:xfrm>
          <a:prstGeom prst="rect">
            <a:avLst/>
          </a:prstGeom>
          <a:solidFill>
            <a:srgbClr val="DCE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6775704"/>
            <a:ext cx="8127796" cy="82296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6336792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0" i="0">
                <a:solidFill>
                  <a:srgbClr val="5B6E71"/>
                </a:solidFill>
                <a:latin typeface="Consolas"/>
              </a:rPr>
              <a:t>GIT Y GITHUB  ·  SESIÓN 3  ·  DE REPOSITORIO A PORTAFOLIO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180015" y="6263640"/>
            <a:ext cx="137160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fld id="{B6F15528-21DE-4FCA-9D36-3E3D6D6B9F44}" type="slidenum">
              <a:rPr lang="es-CO" sz="1600" b="1">
                <a:solidFill>
                  <a:srgbClr val="028090"/>
                </a:solidFill>
                <a:latin typeface="Consolas"/>
              </a:rPr>
              <a:t>8</a:t>
            </a:fld>
            <a:r>
              <a:rPr sz="1600">
                <a:solidFill>
                  <a:srgbClr val="5B6E71"/>
                </a:solidFill>
                <a:latin typeface="Consolas"/>
              </a:rPr>
              <a:t>  /  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00A896"/>
                </a:solidFill>
                <a:latin typeface="Consolas"/>
              </a:rPr>
              <a:t>EL PERFIL · 25 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8813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4000" b="1" i="0">
                <a:solidFill>
                  <a:srgbClr val="1C2B2E"/>
                </a:solidFill>
                <a:latin typeface="Cambria"/>
              </a:rPr>
              <a:t>Tu página en GitHub</a:t>
            </a:r>
          </a:p>
        </p:txBody>
      </p:sp>
      <p:sp>
        <p:nvSpPr>
          <p:cNvPr id="5" name="Oval 4"/>
          <p:cNvSpPr/>
          <p:nvPr/>
        </p:nvSpPr>
        <p:spPr>
          <a:xfrm>
            <a:off x="640080" y="1783080"/>
            <a:ext cx="502920" cy="502920"/>
          </a:xfrm>
          <a:prstGeom prst="ellipse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755648"/>
            <a:ext cx="44805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800" b="1" i="0">
                <a:solidFill>
                  <a:srgbClr val="01474F"/>
                </a:solidFill>
                <a:latin typeface="Cambria"/>
              </a:rPr>
              <a:t>README de perfil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2167128"/>
            <a:ext cx="4572000" cy="65151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400" b="0" i="0">
                <a:solidFill>
                  <a:srgbClr val="1C2B2E"/>
                </a:solidFill>
                <a:latin typeface="Calibri"/>
              </a:rPr>
              <a:t>Crea un repo público con tu mismo nombre de usuario y un README.md: GitHub lo muestra en tu perfil.</a:t>
            </a:r>
          </a:p>
        </p:txBody>
      </p:sp>
      <p:sp>
        <p:nvSpPr>
          <p:cNvPr id="8" name="Rectangle 7"/>
          <p:cNvSpPr/>
          <p:nvPr/>
        </p:nvSpPr>
        <p:spPr>
          <a:xfrm>
            <a:off x="877824" y="2286000"/>
            <a:ext cx="25400" cy="560070"/>
          </a:xfrm>
          <a:prstGeom prst="rect">
            <a:avLst/>
          </a:prstGeom>
          <a:solidFill>
            <a:srgbClr val="5B6E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40080" y="2846070"/>
            <a:ext cx="502920" cy="502920"/>
          </a:xfrm>
          <a:prstGeom prst="ellipse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2818638"/>
            <a:ext cx="44805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800" b="1" i="0">
                <a:solidFill>
                  <a:srgbClr val="01474F"/>
                </a:solidFill>
                <a:latin typeface="Cambria"/>
              </a:rPr>
              <a:t>Fijar repos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5880" y="3230118"/>
            <a:ext cx="4572000" cy="65151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400" b="0" i="0">
                <a:solidFill>
                  <a:srgbClr val="1C2B2E"/>
                </a:solidFill>
                <a:latin typeface="Calibri"/>
              </a:rPr>
              <a:t>Customize your pins → los 3-6 proyectos que quieres que vean primero.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77824" y="3348990"/>
            <a:ext cx="25400" cy="560070"/>
          </a:xfrm>
          <a:prstGeom prst="rect">
            <a:avLst/>
          </a:prstGeom>
          <a:solidFill>
            <a:srgbClr val="5B6E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0080" y="3909060"/>
            <a:ext cx="502920" cy="502920"/>
          </a:xfrm>
          <a:prstGeom prst="ellipse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3881628"/>
            <a:ext cx="44805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800" b="1" i="0">
                <a:solidFill>
                  <a:srgbClr val="01474F"/>
                </a:solidFill>
                <a:latin typeface="Cambria"/>
              </a:rPr>
              <a:t>Cada repo con cara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25880" y="4293108"/>
            <a:ext cx="4572000" cy="65151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400" b="0" i="0">
                <a:solidFill>
                  <a:srgbClr val="1C2B2E"/>
                </a:solidFill>
                <a:latin typeface="Calibri"/>
              </a:rPr>
              <a:t>Descripción de una línea, temas (python, streamlit, data-visualization), y una imagen en el README.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77824" y="4411980"/>
            <a:ext cx="25400" cy="560070"/>
          </a:xfrm>
          <a:prstGeom prst="rect">
            <a:avLst/>
          </a:prstGeom>
          <a:solidFill>
            <a:srgbClr val="5B6E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0080" y="4972050"/>
            <a:ext cx="502920" cy="502920"/>
          </a:xfrm>
          <a:prstGeom prst="ellipse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25880" y="4944618"/>
            <a:ext cx="44805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800" b="1" i="0">
                <a:solidFill>
                  <a:srgbClr val="01474F"/>
                </a:solidFill>
                <a:latin typeface="Cambria"/>
              </a:rPr>
              <a:t>Licencia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25880" y="5356098"/>
            <a:ext cx="4572000" cy="65151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400" b="0" i="0">
                <a:solidFill>
                  <a:srgbClr val="1C2B2E"/>
                </a:solidFill>
                <a:latin typeface="Calibri"/>
              </a:rPr>
              <a:t>MIT es la simple: 'úsalo, pero menciona al autor'. Add file → Create new file → LICENSE → plantilla.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09360" y="1783080"/>
            <a:ext cx="5257800" cy="4251960"/>
          </a:xfrm>
          <a:prstGeom prst="roundRect">
            <a:avLst>
              <a:gd name="adj" fmla="val 5000"/>
            </a:avLst>
          </a:prstGeom>
          <a:solidFill>
            <a:srgbClr val="1C2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510528" y="1947672"/>
            <a:ext cx="128016" cy="128016"/>
          </a:xfrm>
          <a:prstGeom prst="ellipse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748272" y="1947672"/>
            <a:ext cx="128016" cy="128016"/>
          </a:xfrm>
          <a:prstGeom prst="ellipse">
            <a:avLst/>
          </a:prstGeom>
          <a:solidFill>
            <a:srgbClr val="FFC1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986016" y="1947672"/>
            <a:ext cx="128016" cy="128016"/>
          </a:xfrm>
          <a:prstGeom prst="ellipse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37960" y="2240280"/>
            <a:ext cx="480060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400">
                <a:solidFill>
                  <a:srgbClr val="8FE3D3"/>
                </a:solidFill>
                <a:latin typeface="Consolas"/>
              </a:rPr>
              <a:t># README.md del repo &lt;tu-usuario&gt;/&lt;tu-usuario&gt;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E9F4F2"/>
                </a:solidFill>
                <a:latin typeface="Consolas"/>
              </a:rPr>
              <a:t/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8FE3D3"/>
                </a:solidFill>
                <a:latin typeface="Consolas"/>
              </a:rPr>
              <a:t>## Hola, soy Ana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E9F4F2"/>
                </a:solidFill>
                <a:latin typeface="Consolas"/>
              </a:rPr>
              <a:t>Estudiante de Ingeniería en Ciencia de Datos (EAN).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E9F4F2"/>
                </a:solidFill>
                <a:latin typeface="Consolas"/>
              </a:rPr>
              <a:t>Me interesa la visualización de datos ambientales.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E9F4F2"/>
                </a:solidFill>
                <a:latin typeface="Consolas"/>
              </a:rPr>
              <a:t/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8FE3D3"/>
                </a:solidFill>
                <a:latin typeface="Consolas"/>
              </a:rPr>
              <a:t>### Proyectos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E9F4F2"/>
                </a:solidFill>
                <a:latin typeface="Consolas"/>
              </a:rPr>
              <a:t>- [Aire Bogotá](https://github.com/ana/aire-bogota)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E9F4F2"/>
                </a:solidFill>
                <a:latin typeface="Consolas"/>
              </a:rPr>
              <a:t>  — dashboard de calidad del aire en Streamlit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775704"/>
            <a:ext cx="12191695" cy="82296"/>
          </a:xfrm>
          <a:prstGeom prst="rect">
            <a:avLst/>
          </a:prstGeom>
          <a:solidFill>
            <a:srgbClr val="DCE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0" y="6775704"/>
            <a:ext cx="9143771" cy="82296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6336792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0" i="0">
                <a:solidFill>
                  <a:srgbClr val="5B6E71"/>
                </a:solidFill>
                <a:latin typeface="Consolas"/>
              </a:rPr>
              <a:t>GIT Y GITHUB  ·  SESIÓN 3  ·  DE REPOSITORIO A PORTAFOLIO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180015" y="6263640"/>
            <a:ext cx="137160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fld id="{B6F15528-21DE-4FCA-9D36-3E3D6D6B9F44}" type="slidenum">
              <a:rPr lang="es-CO" sz="1600" b="1">
                <a:solidFill>
                  <a:srgbClr val="028090"/>
                </a:solidFill>
                <a:latin typeface="Consolas"/>
              </a:rPr>
              <a:t>9</a:t>
            </a:fld>
            <a:r>
              <a:rPr sz="1600">
                <a:solidFill>
                  <a:srgbClr val="5B6E71"/>
                </a:solidFill>
                <a:latin typeface="Consolas"/>
              </a:rPr>
              <a:t>  /  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00A896"/>
                </a:solidFill>
                <a:latin typeface="Consolas"/>
              </a:rPr>
              <a:t>PUBLICAR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8813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4000" b="1" i="0">
                <a:solidFill>
                  <a:srgbClr val="1C2B2E"/>
                </a:solidFill>
                <a:latin typeface="Cambria"/>
              </a:rPr>
              <a:t>Del repositorio a una URL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83080"/>
            <a:ext cx="6675120" cy="4251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1400"/>
              </a:spcAft>
            </a:pPr>
            <a:r>
              <a:rPr sz="1800" b="1">
                <a:solidFill>
                  <a:srgbClr val="028090"/>
                </a:solidFill>
                <a:latin typeface="Calibri"/>
              </a:rPr>
              <a:t>●  Streamlit Community Cloud</a:t>
            </a:r>
            <a:r>
              <a:rPr sz="1800">
                <a:solidFill>
                  <a:srgbClr val="1C2B2E"/>
                </a:solidFill>
                <a:latin typeface="Calibri"/>
              </a:rPr>
              <a:t>  share.streamlit.io → conectas tu GitHub → eliges el repo y el app.py → URL pública en minutos. Gratis. Necesita requirements.txt</a:t>
            </a:r>
          </a:p>
          <a:p>
            <a:pPr>
              <a:lnSpc>
                <a:spcPct val="108000"/>
              </a:lnSpc>
              <a:spcAft>
                <a:spcPts val="1400"/>
              </a:spcAft>
            </a:pPr>
            <a:r>
              <a:rPr sz="1800" b="1">
                <a:solidFill>
                  <a:srgbClr val="028090"/>
                </a:solidFill>
                <a:latin typeface="Calibri"/>
              </a:rPr>
              <a:t>●  GitHub Pages</a:t>
            </a:r>
            <a:r>
              <a:rPr sz="1800">
                <a:solidFill>
                  <a:srgbClr val="1C2B2E"/>
                </a:solidFill>
                <a:latin typeface="Calibri"/>
              </a:rPr>
              <a:t>  para páginas estáticas: un reporte HTML, un portafolio. No sirve para Streamlit (necesita servidor)</a:t>
            </a:r>
          </a:p>
          <a:p>
            <a:pPr>
              <a:lnSpc>
                <a:spcPct val="108000"/>
              </a:lnSpc>
              <a:spcAft>
                <a:spcPts val="1400"/>
              </a:spcAft>
            </a:pPr>
            <a:r>
              <a:rPr sz="1800" b="1">
                <a:solidFill>
                  <a:srgbClr val="028090"/>
                </a:solidFill>
                <a:latin typeface="Calibri"/>
              </a:rPr>
              <a:t>●  En el README</a:t>
            </a:r>
            <a:r>
              <a:rPr sz="1800">
                <a:solidFill>
                  <a:srgbClr val="1C2B2E"/>
                </a:solidFill>
                <a:latin typeface="Calibri"/>
              </a:rPr>
              <a:t>  el enlace a la app publicada, arriba, al lado de la imagen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680960" y="1783080"/>
            <a:ext cx="3886200" cy="4160520"/>
          </a:xfrm>
          <a:prstGeom prst="roundRect">
            <a:avLst>
              <a:gd name="adj" fmla="val 6000"/>
            </a:avLst>
          </a:prstGeom>
          <a:solidFill>
            <a:srgbClr val="0147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79" y="2057400"/>
            <a:ext cx="3383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900" b="1" i="0">
                <a:solidFill>
                  <a:srgbClr val="02C39A"/>
                </a:solidFill>
                <a:latin typeface="Cambria"/>
              </a:rPr>
              <a:t>Por qué importa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79" y="2651760"/>
            <a:ext cx="3383280" cy="3108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Calibri"/>
              </a:rPr>
              <a:t>Un enlace que abre el dashboard funcionando vale más que cualquier descripción.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Calibri"/>
              </a:rPr>
              <a:t>Y elimina el «en mi máquina sí corría».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775704"/>
            <a:ext cx="12191695" cy="82296"/>
          </a:xfrm>
          <a:prstGeom prst="rect">
            <a:avLst/>
          </a:prstGeom>
          <a:solidFill>
            <a:srgbClr val="DCE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775704"/>
            <a:ext cx="10159745" cy="82296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6336792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0" i="0">
                <a:solidFill>
                  <a:srgbClr val="5B6E71"/>
                </a:solidFill>
                <a:latin typeface="Consolas"/>
              </a:rPr>
              <a:t>GIT Y GITHUB  ·  SESIÓN 3  ·  DE REPOSITORIO A PORTAFOLIO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180015" y="6263640"/>
            <a:ext cx="137160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fld id="{B6F15528-21DE-4FCA-9D36-3E3D6D6B9F44}" type="slidenum">
              <a:rPr lang="es-CO" sz="1600" b="1">
                <a:solidFill>
                  <a:srgbClr val="028090"/>
                </a:solidFill>
                <a:latin typeface="Consolas"/>
              </a:rPr>
              <a:t>10</a:t>
            </a:fld>
            <a:r>
              <a:rPr sz="1600">
                <a:solidFill>
                  <a:srgbClr val="5B6E71"/>
                </a:solidFill>
                <a:latin typeface="Consolas"/>
              </a:rPr>
              <a:t>  /  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8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00A896"/>
                </a:solidFill>
                <a:latin typeface="Consolas"/>
              </a:rPr>
              <a:t>SIGUIENTE NIVEL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8813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4000" b="1" i="0">
                <a:solidFill>
                  <a:srgbClr val="1C2B2E"/>
                </a:solidFill>
                <a:latin typeface="Cambria"/>
              </a:rPr>
              <a:t>Lo que existe y todavía no necesitas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783080"/>
            <a:ext cx="3474720" cy="2011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96112" y="2039112"/>
            <a:ext cx="640080" cy="640080"/>
          </a:xfrm>
          <a:prstGeom prst="ellipse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91640" y="2130552"/>
            <a:ext cx="2194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800" b="1" i="0">
                <a:solidFill>
                  <a:srgbClr val="01474F"/>
                </a:solidFill>
                <a:latin typeface="Cambria"/>
              </a:rPr>
              <a:t>git stash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2880360"/>
            <a:ext cx="2962656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00" b="0" i="0">
                <a:solidFill>
                  <a:srgbClr val="1C2B2E"/>
                </a:solidFill>
                <a:latin typeface="Calibri"/>
              </a:rPr>
              <a:t>Guardar cambios a medias para cambiar de rama sin hacer commit.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783080"/>
            <a:ext cx="3474720" cy="2011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599432" y="2039112"/>
            <a:ext cx="640080" cy="640080"/>
          </a:xfrm>
          <a:prstGeom prst="ellipse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94960" y="2130552"/>
            <a:ext cx="2194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800" b="1" i="0">
                <a:solidFill>
                  <a:srgbClr val="01474F"/>
                </a:solidFill>
                <a:latin typeface="Cambria"/>
              </a:rPr>
              <a:t>git rebase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99432" y="2880360"/>
            <a:ext cx="2962656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00" b="0" i="0">
                <a:solidFill>
                  <a:srgbClr val="1C2B2E"/>
                </a:solidFill>
                <a:latin typeface="Calibri"/>
              </a:rPr>
              <a:t>Reescribir la historia para que quede lineal. Útil y peligroso: no antes de dominar merge.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783080"/>
            <a:ext cx="3474720" cy="2011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302752" y="2039112"/>
            <a:ext cx="640080" cy="640080"/>
          </a:xfrm>
          <a:prstGeom prst="ellipse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🤖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98280" y="2130552"/>
            <a:ext cx="2194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800" b="1" i="0">
                <a:solidFill>
                  <a:srgbClr val="01474F"/>
                </a:solidFill>
                <a:latin typeface="Cambria"/>
              </a:rPr>
              <a:t>GitHub Actions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02752" y="2880360"/>
            <a:ext cx="2962656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00" b="0" i="0">
                <a:solidFill>
                  <a:srgbClr val="1C2B2E"/>
                </a:solidFill>
                <a:latin typeface="Calibri"/>
              </a:rPr>
              <a:t>Que el repo corra pruebas o publique solo en cada push.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4023360"/>
            <a:ext cx="3474720" cy="2011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96112" y="4279392"/>
            <a:ext cx="640080" cy="640080"/>
          </a:xfrm>
          <a:prstGeom prst="ellipse">
            <a:avLst/>
          </a:prstGeom>
          <a:solidFill>
            <a:srgbClr val="FFC1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🗃️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91640" y="4370832"/>
            <a:ext cx="2194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800" b="1" i="0">
                <a:solidFill>
                  <a:srgbClr val="01474F"/>
                </a:solidFill>
                <a:latin typeface="Cambria"/>
              </a:rPr>
              <a:t>DVC / Git LFS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6112" y="5120640"/>
            <a:ext cx="2962656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00" b="0" i="0">
                <a:solidFill>
                  <a:srgbClr val="1C2B2E"/>
                </a:solidFill>
                <a:latin typeface="Calibri"/>
              </a:rPr>
              <a:t>Versionar datasets y modelos grandes junto al código.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43400" y="4023360"/>
            <a:ext cx="3474720" cy="2011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4599432" y="4279392"/>
            <a:ext cx="640080" cy="640080"/>
          </a:xfrm>
          <a:prstGeom prst="ellipse">
            <a:avLst/>
          </a:prstGeom>
          <a:solidFill>
            <a:srgbClr val="0147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🪝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94960" y="4370832"/>
            <a:ext cx="2194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800" b="1" i="0">
                <a:solidFill>
                  <a:srgbClr val="01474F"/>
                </a:solidFill>
                <a:latin typeface="Cambria"/>
              </a:rPr>
              <a:t>pre-commit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99432" y="5120640"/>
            <a:ext cx="2962656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00" b="0" i="0">
                <a:solidFill>
                  <a:srgbClr val="1C2B2E"/>
                </a:solidFill>
                <a:latin typeface="Calibri"/>
              </a:rPr>
              <a:t>Ganchos que revisan formato y limpian notebooks antes de cada commit.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46720" y="4023360"/>
            <a:ext cx="3474720" cy="2011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302752" y="4279392"/>
            <a:ext cx="640080" cy="640080"/>
          </a:xfrm>
          <a:prstGeom prst="ellipse">
            <a:avLst/>
          </a:prstGeom>
          <a:solidFill>
            <a:srgbClr val="5B6E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🔐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98280" y="4370832"/>
            <a:ext cx="2194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800" b="1" i="0">
                <a:solidFill>
                  <a:srgbClr val="01474F"/>
                </a:solidFill>
                <a:latin typeface="Cambria"/>
              </a:rPr>
              <a:t>SSH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02752" y="5120640"/>
            <a:ext cx="2962656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00" b="0" i="0">
                <a:solidFill>
                  <a:srgbClr val="1C2B2E"/>
                </a:solidFill>
                <a:latin typeface="Calibri"/>
              </a:rPr>
              <a:t>Autenticación con llaves en vez de token. Más cómodo cuando haces push todos los días.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6775704"/>
            <a:ext cx="12191695" cy="82296"/>
          </a:xfrm>
          <a:prstGeom prst="rect">
            <a:avLst/>
          </a:prstGeom>
          <a:solidFill>
            <a:srgbClr val="DCE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0" y="6775704"/>
            <a:ext cx="11175720" cy="82296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" y="6336792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0" i="0">
                <a:solidFill>
                  <a:srgbClr val="5B6E71"/>
                </a:solidFill>
                <a:latin typeface="Consolas"/>
              </a:rPr>
              <a:t>GIT Y GITHUB  ·  SESIÓN 3  ·  DE REPOSITORIO A PORTAFOLIO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180015" y="6263640"/>
            <a:ext cx="137160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fld id="{B6F15528-21DE-4FCA-9D36-3E3D6D6B9F44}" type="slidenum">
              <a:rPr lang="es-CO" sz="1600" b="1">
                <a:solidFill>
                  <a:srgbClr val="028090"/>
                </a:solidFill>
                <a:latin typeface="Consolas"/>
              </a:rPr>
              <a:t>11</a:t>
            </a:fld>
            <a:r>
              <a:rPr sz="1600">
                <a:solidFill>
                  <a:srgbClr val="5B6E71"/>
                </a:solidFill>
                <a:latin typeface="Consolas"/>
              </a:rPr>
              <a:t>  /  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147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o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02C39A"/>
                </a:solidFill>
                <a:latin typeface="Consolas"/>
              </a:rPr>
              <a:t>RETO DE CIERRE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14400"/>
            <a:ext cx="1088136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3200" b="1" i="0">
                <a:solidFill>
                  <a:srgbClr val="FFFFFF"/>
                </a:solidFill>
                <a:latin typeface="Cambria"/>
              </a:rPr>
              <a:t>Tu perfil de GitHub con el proyecto del corte fijado y un README que lo vende.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423160"/>
            <a:ext cx="10881360" cy="2606040"/>
          </a:xfrm>
          <a:prstGeom prst="roundRect">
            <a:avLst>
              <a:gd name="adj" fmla="val 6000"/>
            </a:avLst>
          </a:prstGeom>
          <a:solidFill>
            <a:srgbClr val="012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578608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800" b="1" i="0">
                <a:solidFill>
                  <a:srgbClr val="02C39A"/>
                </a:solidFill>
                <a:latin typeface="Cambria"/>
              </a:rPr>
              <a:t>Nadie sale sin: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063240"/>
            <a:ext cx="10241280" cy="1920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●  ☐  README de perfil (repo con tu nombre de usuario)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●  ☐  El repo del proyecto: estructura estándar, .gitignore, requirements.txt, LICENSE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●  ☐  README del proyecto con imagen, datos, cómo correrlo y hallazgos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●  ☐  Al menos 2 repos fijados con descripción y temas</a:t>
            </a:r>
          </a:p>
        </p:txBody>
      </p:sp>
      <p:pic>
        <p:nvPicPr>
          <p:cNvPr id="9" name="Picture 8" descr="calendar_d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5166360"/>
            <a:ext cx="6273511" cy="96012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0" y="6775704"/>
            <a:ext cx="12191695" cy="82296"/>
          </a:xfrm>
          <a:prstGeom prst="rect">
            <a:avLst/>
          </a:prstGeom>
          <a:solidFill>
            <a:srgbClr val="0B3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775704"/>
            <a:ext cx="12191695" cy="82296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6336792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0" i="0">
                <a:solidFill>
                  <a:srgbClr val="BFEAE4"/>
                </a:solidFill>
                <a:latin typeface="Consolas"/>
              </a:rPr>
              <a:t>GIT Y GITHUB  ·  SESIÓN 3  ·  DE REPOSITORIO A PORTAFOLIO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80015" y="6263640"/>
            <a:ext cx="137160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fld id="{B6F15528-21DE-4FCA-9D36-3E3D6D6B9F44}" type="slidenum">
              <a:rPr lang="es-CO" sz="1600" b="1">
                <a:solidFill>
                  <a:srgbClr val="02C39A"/>
                </a:solidFill>
                <a:latin typeface="Consolas"/>
              </a:rPr>
              <a:t>12</a:t>
            </a:fld>
            <a:r>
              <a:rPr sz="1600">
                <a:solidFill>
                  <a:srgbClr val="BFEAE4"/>
                </a:solidFill>
                <a:latin typeface="Consolas"/>
              </a:rPr>
              <a:t>  / 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