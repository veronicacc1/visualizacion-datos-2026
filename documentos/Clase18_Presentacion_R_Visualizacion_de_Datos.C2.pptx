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0" d="100"/>
          <a:sy n="70" d="100"/>
        </p:scale>
        <p:origin x="512"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AMILA SILVA GOMEZ" userId="744ea9ce-8dfe-4211-8140-fe1f94158012" providerId="ADAL" clId="{43A5078A-DED6-4816-B53B-05B151F4A527}"/>
    <pc:docChg chg="modSld">
      <pc:chgData name="CAMILA SILVA GOMEZ" userId="744ea9ce-8dfe-4211-8140-fe1f94158012" providerId="ADAL" clId="{43A5078A-DED6-4816-B53B-05B151F4A527}" dt="2026-09-08T17:15:04.861" v="10" actId="20577"/>
      <pc:docMkLst>
        <pc:docMk/>
      </pc:docMkLst>
      <pc:sldChg chg="modSp mod">
        <pc:chgData name="CAMILA SILVA GOMEZ" userId="744ea9ce-8dfe-4211-8140-fe1f94158012" providerId="ADAL" clId="{43A5078A-DED6-4816-B53B-05B151F4A527}" dt="2026-09-08T17:15:04.861" v="10" actId="20577"/>
        <pc:sldMkLst>
          <pc:docMk/>
          <pc:sldMk cId="0" sldId="256"/>
        </pc:sldMkLst>
        <pc:spChg chg="mod">
          <ac:chgData name="CAMILA SILVA GOMEZ" userId="744ea9ce-8dfe-4211-8140-fe1f94158012" providerId="ADAL" clId="{43A5078A-DED6-4816-B53B-05B151F4A527}" dt="2026-09-08T17:15:04.861" v="10" actId="20577"/>
          <ac:spMkLst>
            <pc:docMk/>
            <pc:sldMk cId="0" sldId="256"/>
            <ac:spMk id="6"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251204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Bienvenida. Encuadre: hoy cambiamos de lenguaje (de Python a R) pero no de criterio. La pregunta sigue siendo qué gráfico responde mejor a la pregunta. Mostrar el cuaderno de R que acompaña la clase.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Presentar la agenda y el material. Aclarar que no se necesita descargar datos: todos los ejemplos usan datasets incluidos en R.</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Capítulo 1: contexto. 10 minutos.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Datos del PDF de la clase. Enfatizar: R nació para estadística y gráficos; Python llegó a los datos después con librerías.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Recorrer la línea de tiempo rápido. Destacar 2007 (ggplot2) y 2016 (tidyverse) como los hitos que definen el R moderno.</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Conectar con el perfil del programa: ingeniería en ciencia de datos. Preguntar quién ha usado R antes.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Idea clave: base y lattice existen y los verán en código ajeno, pero el curso trabaja con ggplot2.</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Puente con las clases 16 y 17. Pedir a los estudiantes que ubiquen en la tabla la librería que usaron en su prototipo.</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Capítulo 2: el corazón de la clase. 35 minutos. Abrir el cuaderno de R en paralelo.</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Explicar el operador +: cada línea es una capa. Leer la pila de derecha de abajo (datos) hacia arriba (tema).</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Los cuatro paneles fueron generados con el mismo código del cuaderno (sección 'Un gráfico se construye por capas'). Ejecutar en vivo los cuatro chunks.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Mismos tres componentes del PDF, ahora con la línea de código que los representa. Insistir en 'dentro de aes() vs fuera'.</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Relacionar con la clase de 'buenas gráficas' (clase 12): el tipo de variable determina la geometría.</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Las escalas traducen datos a posición y color. Mostrar en el cuaderno la diferencia entre limits (elimina datos) y coord_cartesian (solo zoom). Mencionar daltonismo: viridis y Okabe-Ito.</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Facetas = una línea de código. Comparar con el esfuerzo que exigía en Matplotlib (subplots en bucle).</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El mismo dato, dos gráficos. El de la derecha tiene título que afirma, anotación, fuente y tema limpio: es la diferencia entre explorar y comunicar (clase 3).</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patchwork resuelve en una línea lo que en Matplotlib exige gridspec. Mostrar ggsave con dpi y tamaño en pulgadas.</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Mientras los gráficos base requieren comandos dispersos para cada ajuste, ggplot2 ofrece un marco unificado, reproducible y escalable. Los dos gráficos usan los mismos datos (mpg).</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Capítulo 3: 20 minutos. Mostrar en vivo ggplotly desde el cuaderno.</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Los tres del PDF (ggplotly, highcharter, leaflet) más plot_ly, DT y gganimate. En el cuaderno: plotly y DT corren sin instalar nada más; leaflet, highcharter y gganimate son opcionales.</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Demostrar en vivo desde el cuaderno (sección 'De ggplot2 a interactivo en una línea'). Mover el mouse, hacer zoom, clic en la leyenda.</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app completa está en el cuaderno (sección Shiny) lista para guardar como app.R y ejecutar con Run App. Comparar con Streamlit (clase 17): misma idea, distinto modelo (reactividad declarada vs re-ejecución del script).</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Criterio de decisión: reporte (R Markdown/Quarto), panel (flexdashboard) o app con lógica (Shiny). Enlazar con la clase 17: Streamlit cumple el papel de Shiny en Python.</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Capítulo 4: 15 minutos. Conectar con el ciclo de vida de los datos (clases 4 y 5).</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Mismas cinco fases del PDF con los paquetes concretos de cada una. La fase 3 está resaltada porque es el foco del curso.</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Leer la tubería en voz alta de arriba abajo. Es el mismo patrón que pandas + seaborn, pero en un solo flujo.</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Caso del PDF ampliado con los paquetes concretos. Sugerir como ejercicio de refuerzo para el proyecto.</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Repasar rápido: es la lista que se usará para coevaluar los gráficos del taller.</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40 minutos de taller. Circular por los equipos. Los ejercicios adicionales están al final del cuaderno ('Tu turno') con soluciones ocultas.</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Recursos del PDF más los de referencia del syllabus (R4DS). Recomendar empezar por R4DS capítulo 1 y la galería.</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Cierre. Recordar el entregable del taller y la próxima sesión (socialización de notas del corte 2 y Visual Analytics).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3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6446520"/>
            <a:ext cx="7315200" cy="274320"/>
          </a:xfrm>
          <a:prstGeom prst="rect">
            <a:avLst/>
          </a:prstGeom>
          <a:noFill/>
        </p:spPr>
        <p:txBody>
          <a:bodyPr wrap="square" lIns="0" tIns="0" rIns="0" bIns="0" anchor="t">
            <a:noAutofit/>
          </a:bodyPr>
          <a:lstStyle/>
          <a:p>
            <a:pPr algn="l">
              <a:lnSpc>
                <a:spcPct val="110000"/>
              </a:lnSpc>
              <a:spcAft>
                <a:spcPts val="0"/>
              </a:spcAft>
              <a:defRPr sz="900"/>
            </a:pPr>
            <a:r>
              <a:rPr sz="900" b="0" i="0">
                <a:solidFill>
                  <a:srgbClr val="9CC4B4"/>
                </a:solidFill>
                <a:latin typeface="Calibri"/>
              </a:rPr>
              <a:t>Visualización de Datos · Clase 18 · R y visualización de datos</a:t>
            </a:r>
          </a:p>
        </p:txBody>
      </p:sp>
      <p:sp>
        <p:nvSpPr>
          <p:cNvPr id="4" name="TextBox 3"/>
          <p:cNvSpPr txBox="1"/>
          <p:nvPr/>
        </p:nvSpPr>
        <p:spPr>
          <a:xfrm>
            <a:off x="10972800" y="6446520"/>
            <a:ext cx="667512" cy="274320"/>
          </a:xfrm>
          <a:prstGeom prst="rect">
            <a:avLst/>
          </a:prstGeom>
          <a:noFill/>
        </p:spPr>
        <p:txBody>
          <a:bodyPr wrap="square" lIns="0" tIns="0" rIns="0" bIns="0" anchor="t">
            <a:noAutofit/>
          </a:bodyPr>
          <a:lstStyle/>
          <a:p>
            <a:pPr algn="r">
              <a:lnSpc>
                <a:spcPct val="110000"/>
              </a:lnSpc>
              <a:spcAft>
                <a:spcPts val="0"/>
              </a:spcAft>
              <a:defRPr sz="900"/>
            </a:pPr>
            <a:r>
              <a:rPr sz="900" b="0" i="0">
                <a:solidFill>
                  <a:srgbClr val="9CC4B4"/>
                </a:solidFill>
                <a:latin typeface="Calibri"/>
              </a:rPr>
              <a:t>1</a:t>
            </a:r>
          </a:p>
        </p:txBody>
      </p:sp>
      <p:pic>
        <p:nvPicPr>
          <p:cNvPr id="5" name="Picture 4" descr="img-000.png"/>
          <p:cNvPicPr>
            <a:picLocks noChangeAspect="1"/>
          </p:cNvPicPr>
          <p:nvPr/>
        </p:nvPicPr>
        <p:blipFill>
          <a:blip r:embed="rId3"/>
          <a:srcRect t="7863" b="7863"/>
          <a:stretch>
            <a:fillRect/>
          </a:stretch>
        </p:blipFill>
        <p:spPr>
          <a:xfrm>
            <a:off x="6766560" y="0"/>
            <a:ext cx="5425135" cy="6858000"/>
          </a:xfrm>
          <a:prstGeom prst="rect">
            <a:avLst/>
          </a:prstGeom>
        </p:spPr>
      </p:pic>
      <p:sp>
        <p:nvSpPr>
          <p:cNvPr id="6" name="TextBox 5"/>
          <p:cNvSpPr txBox="1"/>
          <p:nvPr/>
        </p:nvSpPr>
        <p:spPr>
          <a:xfrm>
            <a:off x="640080" y="1417320"/>
            <a:ext cx="5760720" cy="365760"/>
          </a:xfrm>
          <a:prstGeom prst="rect">
            <a:avLst/>
          </a:prstGeom>
          <a:noFill/>
        </p:spPr>
        <p:txBody>
          <a:bodyPr wrap="square" lIns="0" tIns="0" rIns="0" bIns="0" anchor="t">
            <a:noAutofit/>
          </a:bodyPr>
          <a:lstStyle/>
          <a:p>
            <a:pPr algn="l">
              <a:lnSpc>
                <a:spcPct val="110000"/>
              </a:lnSpc>
              <a:spcAft>
                <a:spcPts val="0"/>
              </a:spcAft>
              <a:defRPr sz="1200"/>
            </a:pPr>
            <a:r>
              <a:rPr sz="1200" b="1" i="0" dirty="0">
                <a:solidFill>
                  <a:srgbClr val="F2A93B"/>
                </a:solidFill>
                <a:latin typeface="Calibri"/>
              </a:rPr>
              <a:t>VISUALIZACIÓN DE DATOS  </a:t>
            </a:r>
          </a:p>
        </p:txBody>
      </p:sp>
      <p:sp>
        <p:nvSpPr>
          <p:cNvPr id="7" name="TextBox 6"/>
          <p:cNvSpPr txBox="1"/>
          <p:nvPr/>
        </p:nvSpPr>
        <p:spPr>
          <a:xfrm>
            <a:off x="640080" y="1874519"/>
            <a:ext cx="5852160" cy="1828800"/>
          </a:xfrm>
          <a:prstGeom prst="rect">
            <a:avLst/>
          </a:prstGeom>
          <a:noFill/>
        </p:spPr>
        <p:txBody>
          <a:bodyPr wrap="square" lIns="0" tIns="0" rIns="0" bIns="0" anchor="t">
            <a:noAutofit/>
          </a:bodyPr>
          <a:lstStyle/>
          <a:p>
            <a:pPr algn="l">
              <a:lnSpc>
                <a:spcPct val="100000"/>
              </a:lnSpc>
              <a:spcAft>
                <a:spcPts val="0"/>
              </a:spcAft>
              <a:defRPr sz="4200"/>
            </a:pPr>
            <a:r>
              <a:rPr sz="4200" b="1" i="0" dirty="0">
                <a:solidFill>
                  <a:srgbClr val="FFFFFF"/>
                </a:solidFill>
                <a:latin typeface="Cambria"/>
              </a:rPr>
              <a:t>R y </a:t>
            </a:r>
            <a:r>
              <a:rPr sz="4200" b="1" i="0" dirty="0" err="1">
                <a:solidFill>
                  <a:srgbClr val="FFFFFF"/>
                </a:solidFill>
                <a:latin typeface="Cambria"/>
              </a:rPr>
              <a:t>Visualización</a:t>
            </a:r>
            <a:r>
              <a:rPr sz="4200" b="1" i="0" dirty="0">
                <a:solidFill>
                  <a:srgbClr val="FFFFFF"/>
                </a:solidFill>
                <a:latin typeface="Cambria"/>
              </a:rPr>
              <a:t> de Datos</a:t>
            </a:r>
          </a:p>
        </p:txBody>
      </p:sp>
      <p:sp>
        <p:nvSpPr>
          <p:cNvPr id="8" name="TextBox 7"/>
          <p:cNvSpPr txBox="1"/>
          <p:nvPr/>
        </p:nvSpPr>
        <p:spPr>
          <a:xfrm>
            <a:off x="640080" y="3246120"/>
            <a:ext cx="5760720" cy="914400"/>
          </a:xfrm>
          <a:prstGeom prst="rect">
            <a:avLst/>
          </a:prstGeom>
          <a:noFill/>
        </p:spPr>
        <p:txBody>
          <a:bodyPr wrap="square" lIns="0" tIns="0" rIns="0" bIns="0" anchor="t">
            <a:noAutofit/>
          </a:bodyPr>
          <a:lstStyle/>
          <a:p>
            <a:pPr algn="l">
              <a:lnSpc>
                <a:spcPct val="105000"/>
              </a:lnSpc>
              <a:spcAft>
                <a:spcPts val="0"/>
              </a:spcAft>
              <a:defRPr sz="2200"/>
            </a:pPr>
            <a:r>
              <a:rPr sz="2200" b="0" i="0">
                <a:solidFill>
                  <a:srgbClr val="D7E9E1"/>
                </a:solidFill>
                <a:latin typeface="Cambria"/>
              </a:rPr>
              <a:t>Potencia y creatividad en el análisis estadístico</a:t>
            </a:r>
          </a:p>
        </p:txBody>
      </p:sp>
      <p:sp>
        <p:nvSpPr>
          <p:cNvPr id="9" name="TextBox 8"/>
          <p:cNvSpPr txBox="1"/>
          <p:nvPr/>
        </p:nvSpPr>
        <p:spPr>
          <a:xfrm>
            <a:off x="640080" y="4297680"/>
            <a:ext cx="5577840" cy="1188720"/>
          </a:xfrm>
          <a:prstGeom prst="rect">
            <a:avLst/>
          </a:prstGeom>
          <a:noFill/>
        </p:spPr>
        <p:txBody>
          <a:bodyPr wrap="square" lIns="0" tIns="0" rIns="0" bIns="0" anchor="t">
            <a:noAutofit/>
          </a:bodyPr>
          <a:lstStyle/>
          <a:p>
            <a:pPr algn="l">
              <a:lnSpc>
                <a:spcPct val="120000"/>
              </a:lnSpc>
              <a:spcAft>
                <a:spcPts val="0"/>
              </a:spcAft>
              <a:defRPr sz="1350"/>
            </a:pPr>
            <a:r>
              <a:rPr sz="1350" b="0" i="0">
                <a:solidFill>
                  <a:srgbClr val="9CC4B4"/>
                </a:solidFill>
                <a:latin typeface="Calibri"/>
              </a:rPr>
              <a:t>Cómo R se convirtió en la herramienta de referencia para transformar datos complejos en visualizaciones que comunican historias y generan hallazgos: de la gramática de gráficos a los dashboards interactivos.</a:t>
            </a:r>
          </a:p>
        </p:txBody>
      </p:sp>
      <p:sp>
        <p:nvSpPr>
          <p:cNvPr id="10" name="TextBox 9"/>
          <p:cNvSpPr txBox="1"/>
          <p:nvPr/>
        </p:nvSpPr>
        <p:spPr>
          <a:xfrm>
            <a:off x="640080" y="5760720"/>
            <a:ext cx="5760720" cy="365760"/>
          </a:xfrm>
          <a:prstGeom prst="rect">
            <a:avLst/>
          </a:prstGeom>
          <a:noFill/>
        </p:spPr>
        <p:txBody>
          <a:bodyPr wrap="square" lIns="0" tIns="0" rIns="0" bIns="0" anchor="t">
            <a:noAutofit/>
          </a:bodyPr>
          <a:lstStyle/>
          <a:p>
            <a:pPr algn="l">
              <a:lnSpc>
                <a:spcPct val="110000"/>
              </a:lnSpc>
              <a:spcAft>
                <a:spcPts val="0"/>
              </a:spcAft>
              <a:defRPr sz="1150"/>
            </a:pPr>
            <a:r>
              <a:rPr sz="1150" b="0" i="0">
                <a:solidFill>
                  <a:srgbClr val="9CC4B4"/>
                </a:solidFill>
                <a:latin typeface="Calibri"/>
              </a:rPr>
              <a:t>Universidad EAN  ·  Ingeniería en Ciencia de Datos  ·  Corte 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6446520"/>
            <a:ext cx="7315200" cy="274320"/>
          </a:xfrm>
          <a:prstGeom prst="rect">
            <a:avLst/>
          </a:prstGeom>
          <a:noFill/>
        </p:spPr>
        <p:txBody>
          <a:bodyPr wrap="square" lIns="0" tIns="0" rIns="0" bIns="0" anchor="t">
            <a:noAutofit/>
          </a:bodyPr>
          <a:lstStyle/>
          <a:p>
            <a:pPr algn="l">
              <a:lnSpc>
                <a:spcPct val="110000"/>
              </a:lnSpc>
              <a:spcAft>
                <a:spcPts val="0"/>
              </a:spcAft>
              <a:defRPr sz="900"/>
            </a:pPr>
            <a:r>
              <a:rPr sz="900" b="0" i="0">
                <a:solidFill>
                  <a:srgbClr val="9AA7AB"/>
                </a:solidFill>
                <a:latin typeface="Calibri"/>
              </a:rPr>
              <a:t>Visualización de Datos · Clase 18 · R y visualización de datos</a:t>
            </a:r>
          </a:p>
        </p:txBody>
      </p:sp>
      <p:sp>
        <p:nvSpPr>
          <p:cNvPr id="4" name="TextBox 3"/>
          <p:cNvSpPr txBox="1"/>
          <p:nvPr/>
        </p:nvSpPr>
        <p:spPr>
          <a:xfrm>
            <a:off x="10972800" y="6446520"/>
            <a:ext cx="667512" cy="274320"/>
          </a:xfrm>
          <a:prstGeom prst="rect">
            <a:avLst/>
          </a:prstGeom>
          <a:noFill/>
        </p:spPr>
        <p:txBody>
          <a:bodyPr wrap="square" lIns="0" tIns="0" rIns="0" bIns="0" anchor="t">
            <a:noAutofit/>
          </a:bodyPr>
          <a:lstStyle/>
          <a:p>
            <a:pPr algn="r">
              <a:lnSpc>
                <a:spcPct val="110000"/>
              </a:lnSpc>
              <a:spcAft>
                <a:spcPts val="0"/>
              </a:spcAft>
              <a:defRPr sz="900"/>
            </a:pPr>
            <a:r>
              <a:rPr sz="900" b="0" i="0">
                <a:solidFill>
                  <a:srgbClr val="9AA7AB"/>
                </a:solidFill>
                <a:latin typeface="Calibri"/>
              </a:rPr>
              <a:t>2</a:t>
            </a:r>
          </a:p>
        </p:txBody>
      </p:sp>
      <p:sp>
        <p:nvSpPr>
          <p:cNvPr id="5" name="TextBox 4"/>
          <p:cNvSpPr txBox="1"/>
          <p:nvPr/>
        </p:nvSpPr>
        <p:spPr>
          <a:xfrm>
            <a:off x="548640" y="457200"/>
            <a:ext cx="11091672" cy="731520"/>
          </a:xfrm>
          <a:prstGeom prst="rect">
            <a:avLst/>
          </a:prstGeom>
          <a:noFill/>
        </p:spPr>
        <p:txBody>
          <a:bodyPr wrap="square" lIns="0" tIns="0" rIns="0" bIns="0" anchor="t">
            <a:noAutofit/>
          </a:bodyPr>
          <a:lstStyle/>
          <a:p>
            <a:pPr algn="l">
              <a:lnSpc>
                <a:spcPct val="110000"/>
              </a:lnSpc>
              <a:spcAft>
                <a:spcPts val="0"/>
              </a:spcAft>
              <a:defRPr sz="3000"/>
            </a:pPr>
            <a:r>
              <a:rPr sz="3000" b="1" i="0">
                <a:solidFill>
                  <a:srgbClr val="0B6E4F"/>
                </a:solidFill>
                <a:latin typeface="Cambria"/>
              </a:rPr>
              <a:t>Ruta de la sesión</a:t>
            </a:r>
          </a:p>
        </p:txBody>
      </p:sp>
      <p:sp>
        <p:nvSpPr>
          <p:cNvPr id="6" name="TextBox 5"/>
          <p:cNvSpPr txBox="1"/>
          <p:nvPr/>
        </p:nvSpPr>
        <p:spPr>
          <a:xfrm>
            <a:off x="548640" y="1115568"/>
            <a:ext cx="11091672" cy="411480"/>
          </a:xfrm>
          <a:prstGeom prst="rect">
            <a:avLst/>
          </a:prstGeom>
          <a:noFill/>
        </p:spPr>
        <p:txBody>
          <a:bodyPr wrap="square" lIns="0" tIns="0" rIns="0" bIns="0" anchor="t">
            <a:noAutofit/>
          </a:bodyPr>
          <a:lstStyle/>
          <a:p>
            <a:pPr algn="l">
              <a:lnSpc>
                <a:spcPct val="110000"/>
              </a:lnSpc>
              <a:spcAft>
                <a:spcPts val="0"/>
              </a:spcAft>
              <a:defRPr sz="1400"/>
            </a:pPr>
            <a:r>
              <a:rPr sz="1400" b="0" i="0">
                <a:solidFill>
                  <a:srgbClr val="5B6B6F"/>
                </a:solidFill>
                <a:latin typeface="Calibri"/>
              </a:rPr>
              <a:t>Cuatro capítulos, un cuaderno de R para trabajar y un taller para practicar</a:t>
            </a:r>
          </a:p>
        </p:txBody>
      </p:sp>
      <p:sp>
        <p:nvSpPr>
          <p:cNvPr id="7" name="Rounded Rectangle 6"/>
          <p:cNvSpPr/>
          <p:nvPr/>
        </p:nvSpPr>
        <p:spPr>
          <a:xfrm>
            <a:off x="548640" y="1600200"/>
            <a:ext cx="2651760" cy="2468880"/>
          </a:xfrm>
          <a:prstGeom prst="roundRect">
            <a:avLst>
              <a:gd name="adj" fmla="val 6000"/>
            </a:avLst>
          </a:prstGeom>
          <a:solidFill>
            <a:srgbClr val="EE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777240" y="1810512"/>
            <a:ext cx="502920" cy="502920"/>
          </a:xfrm>
          <a:prstGeom prst="ellipse">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i="0">
                <a:solidFill>
                  <a:srgbClr val="FFFFFF"/>
                </a:solidFill>
                <a:latin typeface="Cambria"/>
              </a:rPr>
              <a:t>1</a:t>
            </a:r>
          </a:p>
        </p:txBody>
      </p:sp>
      <p:sp>
        <p:nvSpPr>
          <p:cNvPr id="9" name="TextBox 8"/>
          <p:cNvSpPr txBox="1"/>
          <p:nvPr/>
        </p:nvSpPr>
        <p:spPr>
          <a:xfrm>
            <a:off x="777240" y="2423160"/>
            <a:ext cx="2240280" cy="731520"/>
          </a:xfrm>
          <a:prstGeom prst="rect">
            <a:avLst/>
          </a:prstGeom>
          <a:noFill/>
        </p:spPr>
        <p:txBody>
          <a:bodyPr wrap="square" lIns="0" tIns="0" rIns="0" bIns="0" anchor="t">
            <a:noAutofit/>
          </a:bodyPr>
          <a:lstStyle/>
          <a:p>
            <a:pPr algn="l">
              <a:lnSpc>
                <a:spcPct val="100000"/>
              </a:lnSpc>
              <a:spcAft>
                <a:spcPts val="0"/>
              </a:spcAft>
              <a:defRPr sz="1450"/>
            </a:pPr>
            <a:r>
              <a:rPr sz="1450" b="1" i="0">
                <a:solidFill>
                  <a:srgbClr val="0B6E4F"/>
                </a:solidFill>
                <a:latin typeface="Cambria"/>
              </a:rPr>
              <a:t>¿Qué es R?</a:t>
            </a:r>
          </a:p>
        </p:txBody>
      </p:sp>
      <p:sp>
        <p:nvSpPr>
          <p:cNvPr id="10" name="TextBox 9"/>
          <p:cNvSpPr txBox="1"/>
          <p:nvPr/>
        </p:nvSpPr>
        <p:spPr>
          <a:xfrm>
            <a:off x="777240" y="3127248"/>
            <a:ext cx="2240280" cy="868680"/>
          </a:xfrm>
          <a:prstGeom prst="rect">
            <a:avLst/>
          </a:prstGeom>
          <a:noFill/>
        </p:spPr>
        <p:txBody>
          <a:bodyPr wrap="square" lIns="0" tIns="0" rIns="0" bIns="0" anchor="t">
            <a:noAutofit/>
          </a:bodyPr>
          <a:lstStyle/>
          <a:p>
            <a:pPr algn="l">
              <a:lnSpc>
                <a:spcPct val="112000"/>
              </a:lnSpc>
              <a:spcAft>
                <a:spcPts val="0"/>
              </a:spcAft>
              <a:defRPr sz="1150"/>
            </a:pPr>
            <a:r>
              <a:rPr sz="1150" b="0" i="0">
                <a:solidFill>
                  <a:srgbClr val="1F2A2E"/>
                </a:solidFill>
                <a:latin typeface="Calibri"/>
              </a:rPr>
              <a:t>Origen, evolución y por qué sigue siendo la columna vertebral del análisis estadístico.</a:t>
            </a:r>
          </a:p>
        </p:txBody>
      </p:sp>
      <p:sp>
        <p:nvSpPr>
          <p:cNvPr id="11" name="Rounded Rectangle 10"/>
          <p:cNvSpPr/>
          <p:nvPr/>
        </p:nvSpPr>
        <p:spPr>
          <a:xfrm>
            <a:off x="3364992" y="1600200"/>
            <a:ext cx="2651760" cy="2468880"/>
          </a:xfrm>
          <a:prstGeom prst="roundRect">
            <a:avLst>
              <a:gd name="adj" fmla="val 6000"/>
            </a:avLst>
          </a:prstGeom>
          <a:solidFill>
            <a:srgbClr val="EE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3593592" y="1810512"/>
            <a:ext cx="502920" cy="502920"/>
          </a:xfrm>
          <a:prstGeom prst="ellipse">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i="0">
                <a:solidFill>
                  <a:srgbClr val="FFFFFF"/>
                </a:solidFill>
                <a:latin typeface="Cambria"/>
              </a:rPr>
              <a:t>2</a:t>
            </a:r>
          </a:p>
        </p:txBody>
      </p:sp>
      <p:sp>
        <p:nvSpPr>
          <p:cNvPr id="13" name="TextBox 12"/>
          <p:cNvSpPr txBox="1"/>
          <p:nvPr/>
        </p:nvSpPr>
        <p:spPr>
          <a:xfrm>
            <a:off x="3593592" y="2423160"/>
            <a:ext cx="2240280" cy="731520"/>
          </a:xfrm>
          <a:prstGeom prst="rect">
            <a:avLst/>
          </a:prstGeom>
          <a:noFill/>
        </p:spPr>
        <p:txBody>
          <a:bodyPr wrap="square" lIns="0" tIns="0" rIns="0" bIns="0" anchor="t">
            <a:noAutofit/>
          </a:bodyPr>
          <a:lstStyle/>
          <a:p>
            <a:pPr algn="l">
              <a:lnSpc>
                <a:spcPct val="100000"/>
              </a:lnSpc>
              <a:spcAft>
                <a:spcPts val="0"/>
              </a:spcAft>
              <a:defRPr sz="1450"/>
            </a:pPr>
            <a:r>
              <a:rPr sz="1450" b="1" i="0">
                <a:solidFill>
                  <a:srgbClr val="0B6E4F"/>
                </a:solidFill>
                <a:latin typeface="Cambria"/>
              </a:rPr>
              <a:t>Fundamentos con ggplot2</a:t>
            </a:r>
          </a:p>
        </p:txBody>
      </p:sp>
      <p:sp>
        <p:nvSpPr>
          <p:cNvPr id="14" name="TextBox 13"/>
          <p:cNvSpPr txBox="1"/>
          <p:nvPr/>
        </p:nvSpPr>
        <p:spPr>
          <a:xfrm>
            <a:off x="3593592" y="3127248"/>
            <a:ext cx="2240280" cy="868680"/>
          </a:xfrm>
          <a:prstGeom prst="rect">
            <a:avLst/>
          </a:prstGeom>
          <a:noFill/>
        </p:spPr>
        <p:txBody>
          <a:bodyPr wrap="square" lIns="0" tIns="0" rIns="0" bIns="0" anchor="t">
            <a:noAutofit/>
          </a:bodyPr>
          <a:lstStyle/>
          <a:p>
            <a:pPr algn="l">
              <a:lnSpc>
                <a:spcPct val="112000"/>
              </a:lnSpc>
              <a:spcAft>
                <a:spcPts val="0"/>
              </a:spcAft>
              <a:defRPr sz="1150"/>
            </a:pPr>
            <a:r>
              <a:rPr sz="1150" b="0" i="0">
                <a:solidFill>
                  <a:srgbClr val="1F2A2E"/>
                </a:solidFill>
                <a:latin typeface="Calibri"/>
              </a:rPr>
              <a:t>La gramática de gráficos: datos, estéticas, geometrías, escalas, facetas y temas.</a:t>
            </a:r>
          </a:p>
        </p:txBody>
      </p:sp>
      <p:sp>
        <p:nvSpPr>
          <p:cNvPr id="15" name="Rounded Rectangle 14"/>
          <p:cNvSpPr/>
          <p:nvPr/>
        </p:nvSpPr>
        <p:spPr>
          <a:xfrm>
            <a:off x="6181344" y="1600200"/>
            <a:ext cx="2651760" cy="2468880"/>
          </a:xfrm>
          <a:prstGeom prst="roundRect">
            <a:avLst>
              <a:gd name="adj" fmla="val 6000"/>
            </a:avLst>
          </a:prstGeom>
          <a:solidFill>
            <a:srgbClr val="EE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6409944" y="1810512"/>
            <a:ext cx="502920" cy="502920"/>
          </a:xfrm>
          <a:prstGeom prst="ellipse">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i="0">
                <a:solidFill>
                  <a:srgbClr val="FFFFFF"/>
                </a:solidFill>
                <a:latin typeface="Cambria"/>
              </a:rPr>
              <a:t>3</a:t>
            </a:r>
          </a:p>
        </p:txBody>
      </p:sp>
      <p:sp>
        <p:nvSpPr>
          <p:cNvPr id="17" name="TextBox 16"/>
          <p:cNvSpPr txBox="1"/>
          <p:nvPr/>
        </p:nvSpPr>
        <p:spPr>
          <a:xfrm>
            <a:off x="6409944" y="2423160"/>
            <a:ext cx="2240280" cy="731520"/>
          </a:xfrm>
          <a:prstGeom prst="rect">
            <a:avLst/>
          </a:prstGeom>
          <a:noFill/>
        </p:spPr>
        <p:txBody>
          <a:bodyPr wrap="square" lIns="0" tIns="0" rIns="0" bIns="0" anchor="t">
            <a:noAutofit/>
          </a:bodyPr>
          <a:lstStyle/>
          <a:p>
            <a:pPr algn="l">
              <a:lnSpc>
                <a:spcPct val="100000"/>
              </a:lnSpc>
              <a:spcAft>
                <a:spcPts val="0"/>
              </a:spcAft>
              <a:defRPr sz="1450"/>
            </a:pPr>
            <a:r>
              <a:rPr sz="1450" b="1" i="0">
                <a:solidFill>
                  <a:srgbClr val="0B6E4F"/>
                </a:solidFill>
                <a:latin typeface="Cambria"/>
              </a:rPr>
              <a:t>Interactividad y dashboards</a:t>
            </a:r>
          </a:p>
        </p:txBody>
      </p:sp>
      <p:sp>
        <p:nvSpPr>
          <p:cNvPr id="18" name="TextBox 17"/>
          <p:cNvSpPr txBox="1"/>
          <p:nvPr/>
        </p:nvSpPr>
        <p:spPr>
          <a:xfrm>
            <a:off x="6409944" y="3127248"/>
            <a:ext cx="2240280" cy="868680"/>
          </a:xfrm>
          <a:prstGeom prst="rect">
            <a:avLst/>
          </a:prstGeom>
          <a:noFill/>
        </p:spPr>
        <p:txBody>
          <a:bodyPr wrap="square" lIns="0" tIns="0" rIns="0" bIns="0" anchor="t">
            <a:noAutofit/>
          </a:bodyPr>
          <a:lstStyle/>
          <a:p>
            <a:pPr algn="l">
              <a:lnSpc>
                <a:spcPct val="112000"/>
              </a:lnSpc>
              <a:spcAft>
                <a:spcPts val="0"/>
              </a:spcAft>
              <a:defRPr sz="1150"/>
            </a:pPr>
            <a:r>
              <a:rPr sz="1150" b="0" i="0">
                <a:solidFill>
                  <a:srgbClr val="1F2A2E"/>
                </a:solidFill>
                <a:latin typeface="Calibri"/>
              </a:rPr>
              <a:t>plotly, leaflet, highcharter, Shiny y flexdashboard: de la imagen a la aplicación.</a:t>
            </a:r>
          </a:p>
        </p:txBody>
      </p:sp>
      <p:sp>
        <p:nvSpPr>
          <p:cNvPr id="19" name="Rounded Rectangle 18"/>
          <p:cNvSpPr/>
          <p:nvPr/>
        </p:nvSpPr>
        <p:spPr>
          <a:xfrm>
            <a:off x="8997696" y="1600200"/>
            <a:ext cx="2651760" cy="2468880"/>
          </a:xfrm>
          <a:prstGeom prst="roundRect">
            <a:avLst>
              <a:gd name="adj" fmla="val 6000"/>
            </a:avLst>
          </a:prstGeom>
          <a:solidFill>
            <a:srgbClr val="EE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9226296" y="1810512"/>
            <a:ext cx="502920" cy="502920"/>
          </a:xfrm>
          <a:prstGeom prst="ellipse">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i="0">
                <a:solidFill>
                  <a:srgbClr val="FFFFFF"/>
                </a:solidFill>
                <a:latin typeface="Cambria"/>
              </a:rPr>
              <a:t>4</a:t>
            </a:r>
          </a:p>
        </p:txBody>
      </p:sp>
      <p:sp>
        <p:nvSpPr>
          <p:cNvPr id="21" name="TextBox 20"/>
          <p:cNvSpPr txBox="1"/>
          <p:nvPr/>
        </p:nvSpPr>
        <p:spPr>
          <a:xfrm>
            <a:off x="9226296" y="2423160"/>
            <a:ext cx="2240280" cy="731520"/>
          </a:xfrm>
          <a:prstGeom prst="rect">
            <a:avLst/>
          </a:prstGeom>
          <a:noFill/>
        </p:spPr>
        <p:txBody>
          <a:bodyPr wrap="square" lIns="0" tIns="0" rIns="0" bIns="0" anchor="t">
            <a:noAutofit/>
          </a:bodyPr>
          <a:lstStyle/>
          <a:p>
            <a:pPr algn="l">
              <a:lnSpc>
                <a:spcPct val="100000"/>
              </a:lnSpc>
              <a:spcAft>
                <a:spcPts val="0"/>
              </a:spcAft>
              <a:defRPr sz="1450"/>
            </a:pPr>
            <a:r>
              <a:rPr sz="1450" b="1" i="0">
                <a:solidFill>
                  <a:srgbClr val="0B6E4F"/>
                </a:solidFill>
                <a:latin typeface="Cambria"/>
              </a:rPr>
              <a:t>Flujo completo de análisis</a:t>
            </a:r>
          </a:p>
        </p:txBody>
      </p:sp>
      <p:sp>
        <p:nvSpPr>
          <p:cNvPr id="22" name="TextBox 21"/>
          <p:cNvSpPr txBox="1"/>
          <p:nvPr/>
        </p:nvSpPr>
        <p:spPr>
          <a:xfrm>
            <a:off x="9226296" y="3127248"/>
            <a:ext cx="2240280" cy="868680"/>
          </a:xfrm>
          <a:prstGeom prst="rect">
            <a:avLst/>
          </a:prstGeom>
          <a:noFill/>
        </p:spPr>
        <p:txBody>
          <a:bodyPr wrap="square" lIns="0" tIns="0" rIns="0" bIns="0" anchor="t">
            <a:noAutofit/>
          </a:bodyPr>
          <a:lstStyle/>
          <a:p>
            <a:pPr algn="l">
              <a:lnSpc>
                <a:spcPct val="112000"/>
              </a:lnSpc>
              <a:spcAft>
                <a:spcPts val="0"/>
              </a:spcAft>
              <a:defRPr sz="1150"/>
            </a:pPr>
            <a:r>
              <a:rPr sz="1150" b="0" i="0">
                <a:solidFill>
                  <a:srgbClr val="1F2A2E"/>
                </a:solidFill>
                <a:latin typeface="Calibri"/>
              </a:rPr>
              <a:t>Las cinco fases del análisis exploratorio en R y un caso práctico de principio a fin.</a:t>
            </a:r>
          </a:p>
        </p:txBody>
      </p:sp>
      <p:sp>
        <p:nvSpPr>
          <p:cNvPr id="23" name="Rounded Rectangle 22"/>
          <p:cNvSpPr/>
          <p:nvPr/>
        </p:nvSpPr>
        <p:spPr>
          <a:xfrm>
            <a:off x="548640" y="4206240"/>
            <a:ext cx="11091672" cy="1965960"/>
          </a:xfrm>
          <a:prstGeom prst="roundRect">
            <a:avLst>
              <a:gd name="adj" fmla="val 6000"/>
            </a:avLst>
          </a:prstGeom>
          <a:solidFill>
            <a:srgbClr val="FFF3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22960" y="4389120"/>
            <a:ext cx="6766560" cy="365760"/>
          </a:xfrm>
          <a:prstGeom prst="rect">
            <a:avLst/>
          </a:prstGeom>
          <a:noFill/>
        </p:spPr>
        <p:txBody>
          <a:bodyPr wrap="square" lIns="0" tIns="0" rIns="0" bIns="0" anchor="t">
            <a:noAutofit/>
          </a:bodyPr>
          <a:lstStyle/>
          <a:p>
            <a:pPr algn="l">
              <a:lnSpc>
                <a:spcPct val="110000"/>
              </a:lnSpc>
              <a:spcAft>
                <a:spcPts val="0"/>
              </a:spcAft>
              <a:defRPr sz="1500"/>
            </a:pPr>
            <a:r>
              <a:rPr sz="1500" b="1" i="0">
                <a:solidFill>
                  <a:srgbClr val="B7791F"/>
                </a:solidFill>
                <a:latin typeface="Cambria"/>
              </a:rPr>
              <a:t>Al terminar la clase podrás</a:t>
            </a:r>
          </a:p>
        </p:txBody>
      </p:sp>
      <p:sp>
        <p:nvSpPr>
          <p:cNvPr id="25" name="TextBox 24"/>
          <p:cNvSpPr txBox="1"/>
          <p:nvPr/>
        </p:nvSpPr>
        <p:spPr>
          <a:xfrm>
            <a:off x="822960" y="4800600"/>
            <a:ext cx="6583680" cy="1325880"/>
          </a:xfrm>
          <a:prstGeom prst="rect">
            <a:avLst/>
          </a:prstGeom>
          <a:noFill/>
        </p:spPr>
        <p:txBody>
          <a:bodyPr wrap="square" lIns="0" tIns="0" rIns="0" bIns="0" anchor="t">
            <a:noAutofit/>
          </a:bodyPr>
          <a:lstStyle/>
          <a:p>
            <a:pPr marL="201168" indent="-201168">
              <a:lnSpc>
                <a:spcPct val="108000"/>
              </a:lnSpc>
              <a:spcAft>
                <a:spcPts val="400"/>
              </a:spcAft>
              <a:buClr>
                <a:srgbClr val="B7791F"/>
              </a:buClr>
              <a:buFont typeface="Arial"/>
              <a:buChar char="•"/>
              <a:defRPr sz="1250"/>
            </a:pPr>
            <a:r>
              <a:rPr sz="1250" b="0" i="0">
                <a:solidFill>
                  <a:srgbClr val="1F2A2E"/>
                </a:solidFill>
                <a:latin typeface="Calibri"/>
              </a:rPr>
              <a:t>Explicar la gramática de gráficos y construir un gráfico ggplot2 capa por capa.</a:t>
            </a:r>
          </a:p>
          <a:p>
            <a:pPr marL="201168" indent="-201168">
              <a:lnSpc>
                <a:spcPct val="108000"/>
              </a:lnSpc>
              <a:spcAft>
                <a:spcPts val="400"/>
              </a:spcAft>
              <a:buClr>
                <a:srgbClr val="B7791F"/>
              </a:buClr>
              <a:buFont typeface="Arial"/>
              <a:buChar char="•"/>
              <a:defRPr sz="1250"/>
            </a:pPr>
            <a:r>
              <a:rPr sz="1250" b="0" i="0">
                <a:solidFill>
                  <a:srgbClr val="1F2A2E"/>
                </a:solidFill>
                <a:latin typeface="Calibri"/>
              </a:rPr>
              <a:t>Elegir geometría, escala y color según el tipo de variable y la pregunta que quieres responder.</a:t>
            </a:r>
          </a:p>
          <a:p>
            <a:pPr marL="201168" indent="-201168">
              <a:lnSpc>
                <a:spcPct val="108000"/>
              </a:lnSpc>
              <a:spcAft>
                <a:spcPts val="400"/>
              </a:spcAft>
              <a:buClr>
                <a:srgbClr val="B7791F"/>
              </a:buClr>
              <a:buFont typeface="Arial"/>
              <a:buChar char="•"/>
              <a:defRPr sz="1250"/>
            </a:pPr>
            <a:r>
              <a:rPr sz="1250" b="0" i="0">
                <a:solidFill>
                  <a:srgbClr val="1F2A2E"/>
                </a:solidFill>
                <a:latin typeface="Calibri"/>
              </a:rPr>
              <a:t>Convertir un gráfico estático en interactivo y saber cuándo conviene un dashboard con Shiny.</a:t>
            </a:r>
          </a:p>
        </p:txBody>
      </p:sp>
      <p:sp>
        <p:nvSpPr>
          <p:cNvPr id="26" name="Rounded Rectangle 25"/>
          <p:cNvSpPr/>
          <p:nvPr/>
        </p:nvSpPr>
        <p:spPr>
          <a:xfrm>
            <a:off x="7772400" y="4434840"/>
            <a:ext cx="3611880" cy="15087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955279" y="4526280"/>
            <a:ext cx="3291840" cy="320040"/>
          </a:xfrm>
          <a:prstGeom prst="rect">
            <a:avLst/>
          </a:prstGeom>
          <a:noFill/>
        </p:spPr>
        <p:txBody>
          <a:bodyPr wrap="square" lIns="0" tIns="0" rIns="0" bIns="0" anchor="t">
            <a:noAutofit/>
          </a:bodyPr>
          <a:lstStyle/>
          <a:p>
            <a:pPr algn="l">
              <a:lnSpc>
                <a:spcPct val="110000"/>
              </a:lnSpc>
              <a:spcAft>
                <a:spcPts val="0"/>
              </a:spcAft>
              <a:defRPr sz="1250"/>
            </a:pPr>
            <a:r>
              <a:rPr sz="1250" b="1" i="0">
                <a:solidFill>
                  <a:srgbClr val="0B6E4F"/>
                </a:solidFill>
                <a:latin typeface="Calibri"/>
              </a:rPr>
              <a:t>Material de trabajo</a:t>
            </a:r>
          </a:p>
        </p:txBody>
      </p:sp>
      <p:sp>
        <p:nvSpPr>
          <p:cNvPr id="28" name="TextBox 27"/>
          <p:cNvSpPr txBox="1"/>
          <p:nvPr/>
        </p:nvSpPr>
        <p:spPr>
          <a:xfrm>
            <a:off x="7955279" y="4846320"/>
            <a:ext cx="3291840" cy="1097280"/>
          </a:xfrm>
          <a:prstGeom prst="rect">
            <a:avLst/>
          </a:prstGeom>
          <a:noFill/>
        </p:spPr>
        <p:txBody>
          <a:bodyPr wrap="square" lIns="0" tIns="0" rIns="0" bIns="0" anchor="t">
            <a:noAutofit/>
          </a:bodyPr>
          <a:lstStyle/>
          <a:p>
            <a:pPr algn="l">
              <a:lnSpc>
                <a:spcPct val="110000"/>
              </a:lnSpc>
              <a:spcAft>
                <a:spcPts val="300"/>
              </a:spcAft>
              <a:defRPr sz="1100"/>
            </a:pPr>
            <a:r>
              <a:rPr sz="1100" b="1" i="0">
                <a:solidFill>
                  <a:srgbClr val="1F2A2E"/>
                </a:solidFill>
                <a:latin typeface="Calibri"/>
              </a:rPr>
              <a:t>Cuaderno RStudio: </a:t>
            </a:r>
            <a:r>
              <a:rPr sz="1000" b="0" i="0">
                <a:solidFill>
                  <a:srgbClr val="0B6E4F"/>
                </a:solidFill>
                <a:latin typeface="Consolas"/>
              </a:rPr>
              <a:t>Clase18_Cuaderno_R_Visualizacion_de_Datos.Rmd</a:t>
            </a:r>
          </a:p>
          <a:p>
            <a:pPr algn="l">
              <a:lnSpc>
                <a:spcPct val="110000"/>
              </a:lnSpc>
              <a:spcAft>
                <a:spcPts val="300"/>
              </a:spcAft>
              <a:defRPr sz="1100"/>
            </a:pPr>
            <a:r>
              <a:rPr sz="1100" b="1" i="0">
                <a:solidFill>
                  <a:srgbClr val="1F2A2E"/>
                </a:solidFill>
                <a:latin typeface="Calibri"/>
              </a:rPr>
              <a:t>Versión Colab (entorno R): </a:t>
            </a:r>
            <a:r>
              <a:rPr sz="1100" b="0" i="0">
                <a:solidFill>
                  <a:srgbClr val="1F2A2E"/>
                </a:solidFill>
                <a:latin typeface="Calibri"/>
              </a:rPr>
              <a:t>el mismo cuaderno en .ipynb</a:t>
            </a:r>
          </a:p>
          <a:p>
            <a:pPr algn="l">
              <a:lnSpc>
                <a:spcPct val="110000"/>
              </a:lnSpc>
              <a:spcAft>
                <a:spcPts val="300"/>
              </a:spcAft>
              <a:defRPr sz="1100"/>
            </a:pPr>
            <a:r>
              <a:rPr sz="1100" b="1" i="0">
                <a:solidFill>
                  <a:srgbClr val="1F2A2E"/>
                </a:solidFill>
                <a:latin typeface="Calibri"/>
              </a:rPr>
              <a:t>Datasets incluidos en R: </a:t>
            </a:r>
            <a:r>
              <a:rPr sz="1000" b="0" i="0">
                <a:solidFill>
                  <a:srgbClr val="0B6E4F"/>
                </a:solidFill>
                <a:latin typeface="Consolas"/>
              </a:rPr>
              <a:t>mpg, diamonds, economics, txhousing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3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6446520"/>
            <a:ext cx="7315200" cy="274320"/>
          </a:xfrm>
          <a:prstGeom prst="rect">
            <a:avLst/>
          </a:prstGeom>
          <a:noFill/>
        </p:spPr>
        <p:txBody>
          <a:bodyPr wrap="square" lIns="0" tIns="0" rIns="0" bIns="0" anchor="t">
            <a:noAutofit/>
          </a:bodyPr>
          <a:lstStyle/>
          <a:p>
            <a:pPr algn="l">
              <a:lnSpc>
                <a:spcPct val="110000"/>
              </a:lnSpc>
              <a:spcAft>
                <a:spcPts val="0"/>
              </a:spcAft>
              <a:defRPr sz="900"/>
            </a:pPr>
            <a:r>
              <a:rPr sz="900" b="0" i="0">
                <a:solidFill>
                  <a:srgbClr val="9CC4B4"/>
                </a:solidFill>
                <a:latin typeface="Calibri"/>
              </a:rPr>
              <a:t>Visualización de Datos · Clase 18 · R y visualización de datos</a:t>
            </a:r>
          </a:p>
        </p:txBody>
      </p:sp>
      <p:sp>
        <p:nvSpPr>
          <p:cNvPr id="4" name="TextBox 3"/>
          <p:cNvSpPr txBox="1"/>
          <p:nvPr/>
        </p:nvSpPr>
        <p:spPr>
          <a:xfrm>
            <a:off x="10972800" y="6446520"/>
            <a:ext cx="667512" cy="274320"/>
          </a:xfrm>
          <a:prstGeom prst="rect">
            <a:avLst/>
          </a:prstGeom>
          <a:noFill/>
        </p:spPr>
        <p:txBody>
          <a:bodyPr wrap="square" lIns="0" tIns="0" rIns="0" bIns="0" anchor="t">
            <a:noAutofit/>
          </a:bodyPr>
          <a:lstStyle/>
          <a:p>
            <a:pPr algn="r">
              <a:lnSpc>
                <a:spcPct val="110000"/>
              </a:lnSpc>
              <a:spcAft>
                <a:spcPts val="0"/>
              </a:spcAft>
              <a:defRPr sz="900"/>
            </a:pPr>
            <a:r>
              <a:rPr sz="900" b="0" i="0">
                <a:solidFill>
                  <a:srgbClr val="9CC4B4"/>
                </a:solidFill>
                <a:latin typeface="Calibri"/>
              </a:rPr>
              <a:t>3</a:t>
            </a:r>
          </a:p>
        </p:txBody>
      </p:sp>
      <p:pic>
        <p:nvPicPr>
          <p:cNvPr id="5" name="Picture 4" descr="img-001.png"/>
          <p:cNvPicPr>
            <a:picLocks noChangeAspect="1"/>
          </p:cNvPicPr>
          <p:nvPr/>
        </p:nvPicPr>
        <p:blipFill>
          <a:blip r:embed="rId3"/>
          <a:srcRect t="5357" b="5357"/>
          <a:stretch>
            <a:fillRect/>
          </a:stretch>
        </p:blipFill>
        <p:spPr>
          <a:xfrm>
            <a:off x="0" y="0"/>
            <a:ext cx="5120640" cy="6858000"/>
          </a:xfrm>
          <a:prstGeom prst="rect">
            <a:avLst/>
          </a:prstGeom>
        </p:spPr>
      </p:pic>
      <p:sp>
        <p:nvSpPr>
          <p:cNvPr id="6" name="TextBox 5"/>
          <p:cNvSpPr txBox="1"/>
          <p:nvPr/>
        </p:nvSpPr>
        <p:spPr>
          <a:xfrm>
            <a:off x="5760720" y="1737360"/>
            <a:ext cx="5760720" cy="1097280"/>
          </a:xfrm>
          <a:prstGeom prst="rect">
            <a:avLst/>
          </a:prstGeom>
          <a:noFill/>
        </p:spPr>
        <p:txBody>
          <a:bodyPr wrap="square" lIns="0" tIns="0" rIns="0" bIns="0" anchor="t">
            <a:noAutofit/>
          </a:bodyPr>
          <a:lstStyle/>
          <a:p>
            <a:pPr algn="l">
              <a:lnSpc>
                <a:spcPct val="110000"/>
              </a:lnSpc>
              <a:spcAft>
                <a:spcPts val="0"/>
              </a:spcAft>
              <a:defRPr sz="5400"/>
            </a:pPr>
            <a:r>
              <a:rPr sz="5400" b="1" i="0">
                <a:solidFill>
                  <a:srgbClr val="FFFFFF"/>
                </a:solidFill>
                <a:latin typeface="Cambria"/>
              </a:rPr>
              <a:t>Capítulo 1</a:t>
            </a:r>
          </a:p>
        </p:txBody>
      </p:sp>
      <p:sp>
        <p:nvSpPr>
          <p:cNvPr id="7" name="TextBox 6"/>
          <p:cNvSpPr txBox="1"/>
          <p:nvPr/>
        </p:nvSpPr>
        <p:spPr>
          <a:xfrm>
            <a:off x="5760720" y="2926080"/>
            <a:ext cx="5943600" cy="1371600"/>
          </a:xfrm>
          <a:prstGeom prst="rect">
            <a:avLst/>
          </a:prstGeom>
          <a:noFill/>
        </p:spPr>
        <p:txBody>
          <a:bodyPr wrap="square" lIns="0" tIns="0" rIns="0" bIns="0" anchor="t">
            <a:noAutofit/>
          </a:bodyPr>
          <a:lstStyle/>
          <a:p>
            <a:pPr algn="l">
              <a:lnSpc>
                <a:spcPct val="105000"/>
              </a:lnSpc>
              <a:spcAft>
                <a:spcPts val="0"/>
              </a:spcAft>
              <a:defRPr sz="2500"/>
            </a:pPr>
            <a:r>
              <a:rPr sz="2500" b="1" i="0">
                <a:solidFill>
                  <a:srgbClr val="F2A93B"/>
                </a:solidFill>
                <a:latin typeface="Cambria"/>
              </a:rPr>
              <a:t>¿Qué es R y por qué es clave en la visualización de datos?</a:t>
            </a:r>
          </a:p>
        </p:txBody>
      </p:sp>
      <p:sp>
        <p:nvSpPr>
          <p:cNvPr id="8" name="TextBox 7"/>
          <p:cNvSpPr txBox="1"/>
          <p:nvPr/>
        </p:nvSpPr>
        <p:spPr>
          <a:xfrm>
            <a:off x="5760720" y="4343400"/>
            <a:ext cx="5760720" cy="1645920"/>
          </a:xfrm>
          <a:prstGeom prst="rect">
            <a:avLst/>
          </a:prstGeom>
          <a:noFill/>
        </p:spPr>
        <p:txBody>
          <a:bodyPr wrap="square" lIns="0" tIns="0" rIns="0" bIns="0" anchor="t">
            <a:noAutofit/>
          </a:bodyPr>
          <a:lstStyle/>
          <a:p>
            <a:pPr algn="l">
              <a:lnSpc>
                <a:spcPct val="115000"/>
              </a:lnSpc>
              <a:spcAft>
                <a:spcPts val="0"/>
              </a:spcAft>
              <a:defRPr sz="1400"/>
            </a:pPr>
            <a:r>
              <a:rPr sz="1400" b="0" i="0">
                <a:solidFill>
                  <a:srgbClr val="D7E9E1"/>
                </a:solidFill>
                <a:latin typeface="Calibri"/>
              </a:rPr>
              <a:t>R revolucionó la manera en que científicos, analistas y profesionales de datos abordan el análisis estadístico y la visualización. Exploraremos sus orígenes, su evolución y el papel que juega hoy en la ciencia de datos.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6446520"/>
            <a:ext cx="7315200" cy="274320"/>
          </a:xfrm>
          <a:prstGeom prst="rect">
            <a:avLst/>
          </a:prstGeom>
          <a:noFill/>
        </p:spPr>
        <p:txBody>
          <a:bodyPr wrap="square" lIns="0" tIns="0" rIns="0" bIns="0" anchor="t">
            <a:noAutofit/>
          </a:bodyPr>
          <a:lstStyle/>
          <a:p>
            <a:pPr algn="l">
              <a:lnSpc>
                <a:spcPct val="110000"/>
              </a:lnSpc>
              <a:spcAft>
                <a:spcPts val="0"/>
              </a:spcAft>
              <a:defRPr sz="900"/>
            </a:pPr>
            <a:r>
              <a:rPr sz="900" b="0" i="0">
                <a:solidFill>
                  <a:srgbClr val="9AA7AB"/>
                </a:solidFill>
                <a:latin typeface="Calibri"/>
              </a:rPr>
              <a:t>Visualización de Datos · Clase 18 · R y visualización de datos</a:t>
            </a:r>
          </a:p>
        </p:txBody>
      </p:sp>
      <p:sp>
        <p:nvSpPr>
          <p:cNvPr id="4" name="TextBox 3"/>
          <p:cNvSpPr txBox="1"/>
          <p:nvPr/>
        </p:nvSpPr>
        <p:spPr>
          <a:xfrm>
            <a:off x="10972800" y="6446520"/>
            <a:ext cx="667512" cy="274320"/>
          </a:xfrm>
          <a:prstGeom prst="rect">
            <a:avLst/>
          </a:prstGeom>
          <a:noFill/>
        </p:spPr>
        <p:txBody>
          <a:bodyPr wrap="square" lIns="0" tIns="0" rIns="0" bIns="0" anchor="t">
            <a:noAutofit/>
          </a:bodyPr>
          <a:lstStyle/>
          <a:p>
            <a:pPr algn="r">
              <a:lnSpc>
                <a:spcPct val="110000"/>
              </a:lnSpc>
              <a:spcAft>
                <a:spcPts val="0"/>
              </a:spcAft>
              <a:defRPr sz="900"/>
            </a:pPr>
            <a:r>
              <a:rPr sz="900" b="0" i="0">
                <a:solidFill>
                  <a:srgbClr val="9AA7AB"/>
                </a:solidFill>
                <a:latin typeface="Calibri"/>
              </a:rPr>
              <a:t>4</a:t>
            </a:r>
          </a:p>
        </p:txBody>
      </p:sp>
      <p:sp>
        <p:nvSpPr>
          <p:cNvPr id="5" name="TextBox 4"/>
          <p:cNvSpPr txBox="1"/>
          <p:nvPr/>
        </p:nvSpPr>
        <p:spPr>
          <a:xfrm>
            <a:off x="548640" y="457200"/>
            <a:ext cx="11091672" cy="731520"/>
          </a:xfrm>
          <a:prstGeom prst="rect">
            <a:avLst/>
          </a:prstGeom>
          <a:noFill/>
        </p:spPr>
        <p:txBody>
          <a:bodyPr wrap="square" lIns="0" tIns="0" rIns="0" bIns="0" anchor="t">
            <a:noAutofit/>
          </a:bodyPr>
          <a:lstStyle/>
          <a:p>
            <a:pPr algn="l">
              <a:lnSpc>
                <a:spcPct val="110000"/>
              </a:lnSpc>
              <a:spcAft>
                <a:spcPts val="0"/>
              </a:spcAft>
              <a:defRPr sz="3000"/>
            </a:pPr>
            <a:r>
              <a:rPr sz="3000" b="1" i="0">
                <a:solidFill>
                  <a:srgbClr val="0B6E4F"/>
                </a:solidFill>
                <a:latin typeface="Cambria"/>
              </a:rPr>
              <a:t>R: un lenguaje nacido para la estadística</a:t>
            </a:r>
          </a:p>
        </p:txBody>
      </p:sp>
      <p:sp>
        <p:nvSpPr>
          <p:cNvPr id="6" name="TextBox 5"/>
          <p:cNvSpPr txBox="1"/>
          <p:nvPr/>
        </p:nvSpPr>
        <p:spPr>
          <a:xfrm>
            <a:off x="548640" y="1417320"/>
            <a:ext cx="6858000" cy="4754880"/>
          </a:xfrm>
          <a:prstGeom prst="rect">
            <a:avLst/>
          </a:prstGeom>
          <a:noFill/>
        </p:spPr>
        <p:txBody>
          <a:bodyPr wrap="square" lIns="0" tIns="0" rIns="0" bIns="0" anchor="t">
            <a:noAutofit/>
          </a:bodyPr>
          <a:lstStyle/>
          <a:p>
            <a:pPr algn="l">
              <a:lnSpc>
                <a:spcPct val="118000"/>
              </a:lnSpc>
              <a:spcAft>
                <a:spcPts val="1200"/>
              </a:spcAft>
              <a:defRPr sz="1350"/>
            </a:pPr>
            <a:r>
              <a:rPr sz="1350" b="0" i="0">
                <a:solidFill>
                  <a:srgbClr val="1F2A2E"/>
                </a:solidFill>
                <a:latin typeface="Calibri"/>
              </a:rPr>
              <a:t>R fue creado en 1993 por </a:t>
            </a:r>
            <a:r>
              <a:rPr sz="1350" b="1" i="0">
                <a:solidFill>
                  <a:srgbClr val="1F2A2E"/>
                </a:solidFill>
                <a:latin typeface="Calibri"/>
              </a:rPr>
              <a:t>Ross Ihaka y Robert Gentleman</a:t>
            </a:r>
            <a:r>
              <a:rPr sz="1350" b="0" i="0">
                <a:solidFill>
                  <a:srgbClr val="1F2A2E"/>
                </a:solidFill>
                <a:latin typeface="Calibri"/>
              </a:rPr>
              <a:t> en la Universidad de Auckland (Nueva Zelanda) como una implementación de código abierto del lenguaje S, desarrollado en los Laboratorios Bell por John Chambers. Desde su concepción fue diseñado para el análisis estadístico y la creación de gráficos de alta calidad.</a:t>
            </a:r>
          </a:p>
          <a:p>
            <a:pPr algn="l">
              <a:lnSpc>
                <a:spcPct val="118000"/>
              </a:lnSpc>
              <a:spcAft>
                <a:spcPts val="1200"/>
              </a:spcAft>
              <a:defRPr sz="1350"/>
            </a:pPr>
            <a:r>
              <a:rPr sz="1350" b="0" i="0">
                <a:solidFill>
                  <a:srgbClr val="1F2A2E"/>
                </a:solidFill>
                <a:latin typeface="Calibri"/>
              </a:rPr>
              <a:t>Tres décadas después sigue entre los 20 lenguajes más usados según el índice TIOBE 2025. Su longevidad se explica por tres rasgos: es </a:t>
            </a:r>
            <a:r>
              <a:rPr sz="1350" b="1" i="0">
                <a:solidFill>
                  <a:srgbClr val="1F2A2E"/>
                </a:solidFill>
                <a:latin typeface="Calibri"/>
              </a:rPr>
              <a:t>libre y abierto</a:t>
            </a:r>
            <a:r>
              <a:rPr sz="1350" b="0" i="0">
                <a:solidFill>
                  <a:srgbClr val="1F2A2E"/>
                </a:solidFill>
                <a:latin typeface="Calibri"/>
              </a:rPr>
              <a:t> (licencia GPL), es </a:t>
            </a:r>
            <a:r>
              <a:rPr sz="1350" b="1" i="0">
                <a:solidFill>
                  <a:srgbClr val="1F2A2E"/>
                </a:solidFill>
                <a:latin typeface="Calibri"/>
              </a:rPr>
              <a:t>extensible</a:t>
            </a:r>
            <a:r>
              <a:rPr sz="1350" b="0" i="0">
                <a:solidFill>
                  <a:srgbClr val="1F2A2E"/>
                </a:solidFill>
                <a:latin typeface="Calibri"/>
              </a:rPr>
              <a:t> mediante paquetes y tiene una </a:t>
            </a:r>
            <a:r>
              <a:rPr sz="1350" b="1" i="0">
                <a:solidFill>
                  <a:srgbClr val="1F2A2E"/>
                </a:solidFill>
                <a:latin typeface="Calibri"/>
              </a:rPr>
              <a:t>comunidad</a:t>
            </a:r>
            <a:r>
              <a:rPr sz="1350" b="0" i="0">
                <a:solidFill>
                  <a:srgbClr val="1F2A2E"/>
                </a:solidFill>
                <a:latin typeface="Calibri"/>
              </a:rPr>
              <a:t> que publica los métodos estadísticos nuevos primero en R.</a:t>
            </a:r>
          </a:p>
          <a:p>
            <a:pPr algn="l">
              <a:lnSpc>
                <a:spcPct val="118000"/>
              </a:lnSpc>
              <a:spcAft>
                <a:spcPts val="1200"/>
              </a:spcAft>
              <a:defRPr sz="1350"/>
            </a:pPr>
            <a:r>
              <a:rPr sz="1350" b="0" i="0">
                <a:solidFill>
                  <a:srgbClr val="1F2A2E"/>
                </a:solidFill>
                <a:latin typeface="Calibri"/>
              </a:rPr>
              <a:t>El modelo mental es distinto al de Python: en R todo gira alrededor del </a:t>
            </a:r>
            <a:r>
              <a:rPr sz="1350" b="1" i="0">
                <a:solidFill>
                  <a:srgbClr val="1F2A2E"/>
                </a:solidFill>
                <a:latin typeface="Calibri"/>
              </a:rPr>
              <a:t>data frame</a:t>
            </a:r>
            <a:r>
              <a:rPr sz="1350" b="0" i="0">
                <a:solidFill>
                  <a:srgbClr val="1F2A2E"/>
                </a:solidFill>
                <a:latin typeface="Calibri"/>
              </a:rPr>
              <a:t> y de la estadística. Los gráficos no son un añadido, sino parte del lenguaje desde el primer día.</a:t>
            </a:r>
          </a:p>
        </p:txBody>
      </p:sp>
      <p:sp>
        <p:nvSpPr>
          <p:cNvPr id="7" name="Rounded Rectangle 6"/>
          <p:cNvSpPr/>
          <p:nvPr/>
        </p:nvSpPr>
        <p:spPr>
          <a:xfrm>
            <a:off x="7863840" y="1417320"/>
            <a:ext cx="3776472" cy="1417320"/>
          </a:xfrm>
          <a:prstGeom prst="roundRect">
            <a:avLst>
              <a:gd name="adj" fmla="val 6000"/>
            </a:avLst>
          </a:prstGeom>
          <a:solidFill>
            <a:srgbClr val="EE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863840" y="1600200"/>
            <a:ext cx="3776472" cy="731520"/>
          </a:xfrm>
          <a:prstGeom prst="rect">
            <a:avLst/>
          </a:prstGeom>
          <a:noFill/>
        </p:spPr>
        <p:txBody>
          <a:bodyPr wrap="square" lIns="0" tIns="0" rIns="0" bIns="0" anchor="t">
            <a:noAutofit/>
          </a:bodyPr>
          <a:lstStyle/>
          <a:p>
            <a:pPr algn="ctr">
              <a:lnSpc>
                <a:spcPct val="110000"/>
              </a:lnSpc>
              <a:spcAft>
                <a:spcPts val="0"/>
              </a:spcAft>
              <a:defRPr sz="3800"/>
            </a:pPr>
            <a:r>
              <a:rPr sz="3800" b="1" i="0">
                <a:solidFill>
                  <a:srgbClr val="0B6E4F"/>
                </a:solidFill>
                <a:latin typeface="Cambria"/>
              </a:rPr>
              <a:t>1993</a:t>
            </a:r>
          </a:p>
        </p:txBody>
      </p:sp>
      <p:sp>
        <p:nvSpPr>
          <p:cNvPr id="9" name="TextBox 8"/>
          <p:cNvSpPr txBox="1"/>
          <p:nvPr/>
        </p:nvSpPr>
        <p:spPr>
          <a:xfrm>
            <a:off x="7863840" y="2331720"/>
            <a:ext cx="3776472" cy="365760"/>
          </a:xfrm>
          <a:prstGeom prst="rect">
            <a:avLst/>
          </a:prstGeom>
          <a:noFill/>
        </p:spPr>
        <p:txBody>
          <a:bodyPr wrap="square" lIns="0" tIns="0" rIns="0" bIns="0" anchor="t">
            <a:noAutofit/>
          </a:bodyPr>
          <a:lstStyle/>
          <a:p>
            <a:pPr algn="ctr">
              <a:lnSpc>
                <a:spcPct val="110000"/>
              </a:lnSpc>
              <a:spcAft>
                <a:spcPts val="0"/>
              </a:spcAft>
              <a:defRPr sz="1200"/>
            </a:pPr>
            <a:r>
              <a:rPr sz="1200" b="0" i="0">
                <a:solidFill>
                  <a:srgbClr val="5B6B6F"/>
                </a:solidFill>
                <a:latin typeface="Calibri"/>
              </a:rPr>
              <a:t>Año de creación</a:t>
            </a:r>
          </a:p>
        </p:txBody>
      </p:sp>
      <p:sp>
        <p:nvSpPr>
          <p:cNvPr id="10" name="Rounded Rectangle 9"/>
          <p:cNvSpPr/>
          <p:nvPr/>
        </p:nvSpPr>
        <p:spPr>
          <a:xfrm>
            <a:off x="7863840" y="3017520"/>
            <a:ext cx="3776472" cy="1417320"/>
          </a:xfrm>
          <a:prstGeom prst="roundRect">
            <a:avLst>
              <a:gd name="adj" fmla="val 6000"/>
            </a:avLst>
          </a:prstGeom>
          <a:solidFill>
            <a:srgbClr val="EE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863840" y="3200400"/>
            <a:ext cx="3776472" cy="731520"/>
          </a:xfrm>
          <a:prstGeom prst="rect">
            <a:avLst/>
          </a:prstGeom>
          <a:noFill/>
        </p:spPr>
        <p:txBody>
          <a:bodyPr wrap="square" lIns="0" tIns="0" rIns="0" bIns="0" anchor="t">
            <a:noAutofit/>
          </a:bodyPr>
          <a:lstStyle/>
          <a:p>
            <a:pPr algn="ctr">
              <a:lnSpc>
                <a:spcPct val="110000"/>
              </a:lnSpc>
              <a:spcAft>
                <a:spcPts val="0"/>
              </a:spcAft>
              <a:defRPr sz="3800"/>
            </a:pPr>
            <a:r>
              <a:rPr sz="3800" b="1" i="0">
                <a:solidFill>
                  <a:srgbClr val="0B6E4F"/>
                </a:solidFill>
                <a:latin typeface="Cambria"/>
              </a:rPr>
              <a:t>Top 20</a:t>
            </a:r>
          </a:p>
        </p:txBody>
      </p:sp>
      <p:sp>
        <p:nvSpPr>
          <p:cNvPr id="12" name="TextBox 11"/>
          <p:cNvSpPr txBox="1"/>
          <p:nvPr/>
        </p:nvSpPr>
        <p:spPr>
          <a:xfrm>
            <a:off x="7863840" y="3931920"/>
            <a:ext cx="3776472" cy="365760"/>
          </a:xfrm>
          <a:prstGeom prst="rect">
            <a:avLst/>
          </a:prstGeom>
          <a:noFill/>
        </p:spPr>
        <p:txBody>
          <a:bodyPr wrap="square" lIns="0" tIns="0" rIns="0" bIns="0" anchor="t">
            <a:noAutofit/>
          </a:bodyPr>
          <a:lstStyle/>
          <a:p>
            <a:pPr algn="ctr">
              <a:lnSpc>
                <a:spcPct val="110000"/>
              </a:lnSpc>
              <a:spcAft>
                <a:spcPts val="0"/>
              </a:spcAft>
              <a:defRPr sz="1200"/>
            </a:pPr>
            <a:r>
              <a:rPr sz="1200" b="0" i="0">
                <a:solidFill>
                  <a:srgbClr val="5B6B6F"/>
                </a:solidFill>
                <a:latin typeface="Calibri"/>
              </a:rPr>
              <a:t>Índice TIOBE 2025</a:t>
            </a:r>
          </a:p>
        </p:txBody>
      </p:sp>
      <p:sp>
        <p:nvSpPr>
          <p:cNvPr id="13" name="Rounded Rectangle 12"/>
          <p:cNvSpPr/>
          <p:nvPr/>
        </p:nvSpPr>
        <p:spPr>
          <a:xfrm>
            <a:off x="7863840" y="4617720"/>
            <a:ext cx="3776472" cy="1417320"/>
          </a:xfrm>
          <a:prstGeom prst="roundRect">
            <a:avLst>
              <a:gd name="adj" fmla="val 6000"/>
            </a:avLst>
          </a:prstGeom>
          <a:solidFill>
            <a:srgbClr val="EE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863840" y="4800600"/>
            <a:ext cx="3776472" cy="731520"/>
          </a:xfrm>
          <a:prstGeom prst="rect">
            <a:avLst/>
          </a:prstGeom>
          <a:noFill/>
        </p:spPr>
        <p:txBody>
          <a:bodyPr wrap="square" lIns="0" tIns="0" rIns="0" bIns="0" anchor="t">
            <a:noAutofit/>
          </a:bodyPr>
          <a:lstStyle/>
          <a:p>
            <a:pPr algn="ctr">
              <a:lnSpc>
                <a:spcPct val="110000"/>
              </a:lnSpc>
              <a:spcAft>
                <a:spcPts val="0"/>
              </a:spcAft>
              <a:defRPr sz="3800"/>
            </a:pPr>
            <a:r>
              <a:rPr sz="3800" b="1" i="0">
                <a:solidFill>
                  <a:srgbClr val="0B6E4F"/>
                </a:solidFill>
                <a:latin typeface="Cambria"/>
              </a:rPr>
              <a:t>19 000+</a:t>
            </a:r>
          </a:p>
        </p:txBody>
      </p:sp>
      <p:sp>
        <p:nvSpPr>
          <p:cNvPr id="15" name="TextBox 14"/>
          <p:cNvSpPr txBox="1"/>
          <p:nvPr/>
        </p:nvSpPr>
        <p:spPr>
          <a:xfrm>
            <a:off x="7863840" y="5532120"/>
            <a:ext cx="3776472" cy="365760"/>
          </a:xfrm>
          <a:prstGeom prst="rect">
            <a:avLst/>
          </a:prstGeom>
          <a:noFill/>
        </p:spPr>
        <p:txBody>
          <a:bodyPr wrap="square" lIns="0" tIns="0" rIns="0" bIns="0" anchor="t">
            <a:noAutofit/>
          </a:bodyPr>
          <a:lstStyle/>
          <a:p>
            <a:pPr algn="ctr">
              <a:lnSpc>
                <a:spcPct val="110000"/>
              </a:lnSpc>
              <a:spcAft>
                <a:spcPts val="0"/>
              </a:spcAft>
              <a:defRPr sz="1200"/>
            </a:pPr>
            <a:r>
              <a:rPr sz="1200" b="0" i="0">
                <a:solidFill>
                  <a:srgbClr val="5B6B6F"/>
                </a:solidFill>
                <a:latin typeface="Calibri"/>
              </a:rPr>
              <a:t>Paquetes en CRAN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6446520"/>
            <a:ext cx="7315200" cy="274320"/>
          </a:xfrm>
          <a:prstGeom prst="rect">
            <a:avLst/>
          </a:prstGeom>
          <a:noFill/>
        </p:spPr>
        <p:txBody>
          <a:bodyPr wrap="square" lIns="0" tIns="0" rIns="0" bIns="0" anchor="t">
            <a:noAutofit/>
          </a:bodyPr>
          <a:lstStyle/>
          <a:p>
            <a:pPr algn="l">
              <a:lnSpc>
                <a:spcPct val="110000"/>
              </a:lnSpc>
              <a:spcAft>
                <a:spcPts val="0"/>
              </a:spcAft>
              <a:defRPr sz="900"/>
            </a:pPr>
            <a:r>
              <a:rPr sz="900" b="0" i="0">
                <a:solidFill>
                  <a:srgbClr val="9AA7AB"/>
                </a:solidFill>
                <a:latin typeface="Calibri"/>
              </a:rPr>
              <a:t>Visualización de Datos · Clase 18 · R y visualización de datos</a:t>
            </a:r>
          </a:p>
        </p:txBody>
      </p:sp>
      <p:sp>
        <p:nvSpPr>
          <p:cNvPr id="4" name="TextBox 3"/>
          <p:cNvSpPr txBox="1"/>
          <p:nvPr/>
        </p:nvSpPr>
        <p:spPr>
          <a:xfrm>
            <a:off x="10972800" y="6446520"/>
            <a:ext cx="667512" cy="274320"/>
          </a:xfrm>
          <a:prstGeom prst="rect">
            <a:avLst/>
          </a:prstGeom>
          <a:noFill/>
        </p:spPr>
        <p:txBody>
          <a:bodyPr wrap="square" lIns="0" tIns="0" rIns="0" bIns="0" anchor="t">
            <a:noAutofit/>
          </a:bodyPr>
          <a:lstStyle/>
          <a:p>
            <a:pPr algn="r">
              <a:lnSpc>
                <a:spcPct val="110000"/>
              </a:lnSpc>
              <a:spcAft>
                <a:spcPts val="0"/>
              </a:spcAft>
              <a:defRPr sz="900"/>
            </a:pPr>
            <a:r>
              <a:rPr sz="900" b="0" i="0">
                <a:solidFill>
                  <a:srgbClr val="9AA7AB"/>
                </a:solidFill>
                <a:latin typeface="Calibri"/>
              </a:rPr>
              <a:t>5</a:t>
            </a:r>
          </a:p>
        </p:txBody>
      </p:sp>
      <p:sp>
        <p:nvSpPr>
          <p:cNvPr id="5" name="TextBox 4"/>
          <p:cNvSpPr txBox="1"/>
          <p:nvPr/>
        </p:nvSpPr>
        <p:spPr>
          <a:xfrm>
            <a:off x="548640" y="457200"/>
            <a:ext cx="11091672" cy="731520"/>
          </a:xfrm>
          <a:prstGeom prst="rect">
            <a:avLst/>
          </a:prstGeom>
          <a:noFill/>
        </p:spPr>
        <p:txBody>
          <a:bodyPr wrap="square" lIns="0" tIns="0" rIns="0" bIns="0" anchor="t">
            <a:noAutofit/>
          </a:bodyPr>
          <a:lstStyle/>
          <a:p>
            <a:pPr algn="l">
              <a:lnSpc>
                <a:spcPct val="110000"/>
              </a:lnSpc>
              <a:spcAft>
                <a:spcPts val="0"/>
              </a:spcAft>
              <a:defRPr sz="3000"/>
            </a:pPr>
            <a:r>
              <a:rPr sz="3000" b="1" i="0">
                <a:solidFill>
                  <a:srgbClr val="0B6E4F"/>
                </a:solidFill>
                <a:latin typeface="Cambria"/>
              </a:rPr>
              <a:t>Cuatro décadas de evolución</a:t>
            </a:r>
          </a:p>
        </p:txBody>
      </p:sp>
      <p:sp>
        <p:nvSpPr>
          <p:cNvPr id="6" name="TextBox 5"/>
          <p:cNvSpPr txBox="1"/>
          <p:nvPr/>
        </p:nvSpPr>
        <p:spPr>
          <a:xfrm>
            <a:off x="548640" y="1115568"/>
            <a:ext cx="11091672" cy="411480"/>
          </a:xfrm>
          <a:prstGeom prst="rect">
            <a:avLst/>
          </a:prstGeom>
          <a:noFill/>
        </p:spPr>
        <p:txBody>
          <a:bodyPr wrap="square" lIns="0" tIns="0" rIns="0" bIns="0" anchor="t">
            <a:noAutofit/>
          </a:bodyPr>
          <a:lstStyle/>
          <a:p>
            <a:pPr algn="l">
              <a:lnSpc>
                <a:spcPct val="110000"/>
              </a:lnSpc>
              <a:spcAft>
                <a:spcPts val="0"/>
              </a:spcAft>
              <a:defRPr sz="1400"/>
            </a:pPr>
            <a:r>
              <a:rPr sz="1400" b="0" i="0">
                <a:solidFill>
                  <a:srgbClr val="5B6B6F"/>
                </a:solidFill>
                <a:latin typeface="Calibri"/>
              </a:rPr>
              <a:t>Los hitos que explican por qué R sigue vigente y por qué ggplot2 cambió la visualización</a:t>
            </a:r>
          </a:p>
        </p:txBody>
      </p:sp>
      <p:sp>
        <p:nvSpPr>
          <p:cNvPr id="7" name="Rectangle 6"/>
          <p:cNvSpPr/>
          <p:nvPr/>
        </p:nvSpPr>
        <p:spPr>
          <a:xfrm>
            <a:off x="822960" y="3730752"/>
            <a:ext cx="10561320" cy="36576"/>
          </a:xfrm>
          <a:prstGeom prst="rect">
            <a:avLst/>
          </a:prstGeom>
          <a:solidFill>
            <a:srgbClr val="CFE8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694944" y="3621024"/>
            <a:ext cx="256032" cy="256032"/>
          </a:xfrm>
          <a:prstGeom prst="ellipse">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9" name="TextBox 8"/>
          <p:cNvSpPr txBox="1"/>
          <p:nvPr/>
        </p:nvSpPr>
        <p:spPr>
          <a:xfrm>
            <a:off x="45720" y="2011680"/>
            <a:ext cx="1554480" cy="1051560"/>
          </a:xfrm>
          <a:prstGeom prst="rect">
            <a:avLst/>
          </a:prstGeom>
          <a:noFill/>
        </p:spPr>
        <p:txBody>
          <a:bodyPr wrap="square" lIns="0" tIns="0" rIns="0" bIns="0" anchor="b">
            <a:noAutofit/>
          </a:bodyPr>
          <a:lstStyle/>
          <a:p>
            <a:pPr algn="ctr">
              <a:lnSpc>
                <a:spcPct val="110000"/>
              </a:lnSpc>
              <a:spcAft>
                <a:spcPts val="0"/>
              </a:spcAft>
              <a:defRPr sz="1100"/>
            </a:pPr>
            <a:r>
              <a:rPr sz="1100" b="0" i="0">
                <a:solidFill>
                  <a:srgbClr val="1F2A2E"/>
                </a:solidFill>
                <a:latin typeface="Calibri"/>
              </a:rPr>
              <a:t>Lenguaje S en los Laboratorios Bell (John Chambers)</a:t>
            </a:r>
          </a:p>
        </p:txBody>
      </p:sp>
      <p:sp>
        <p:nvSpPr>
          <p:cNvPr id="10" name="TextBox 9"/>
          <p:cNvSpPr txBox="1"/>
          <p:nvPr/>
        </p:nvSpPr>
        <p:spPr>
          <a:xfrm>
            <a:off x="45720" y="3090672"/>
            <a:ext cx="1554480" cy="457200"/>
          </a:xfrm>
          <a:prstGeom prst="rect">
            <a:avLst/>
          </a:prstGeom>
          <a:noFill/>
        </p:spPr>
        <p:txBody>
          <a:bodyPr wrap="square" lIns="0" tIns="0" rIns="0" bIns="0" anchor="t">
            <a:noAutofit/>
          </a:bodyPr>
          <a:lstStyle/>
          <a:p>
            <a:pPr algn="ctr">
              <a:lnSpc>
                <a:spcPct val="110000"/>
              </a:lnSpc>
              <a:spcAft>
                <a:spcPts val="0"/>
              </a:spcAft>
              <a:defRPr sz="1800"/>
            </a:pPr>
            <a:r>
              <a:rPr sz="1800" b="1" i="0">
                <a:solidFill>
                  <a:srgbClr val="0B6E4F"/>
                </a:solidFill>
                <a:latin typeface="Cambria"/>
              </a:rPr>
              <a:t>1976</a:t>
            </a:r>
          </a:p>
        </p:txBody>
      </p:sp>
      <p:sp>
        <p:nvSpPr>
          <p:cNvPr id="11" name="Oval 10"/>
          <p:cNvSpPr/>
          <p:nvPr/>
        </p:nvSpPr>
        <p:spPr>
          <a:xfrm>
            <a:off x="2203704" y="3621024"/>
            <a:ext cx="256032" cy="256032"/>
          </a:xfrm>
          <a:prstGeom prst="ellipse">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2" name="TextBox 11"/>
          <p:cNvSpPr txBox="1"/>
          <p:nvPr/>
        </p:nvSpPr>
        <p:spPr>
          <a:xfrm>
            <a:off x="1554480" y="4023360"/>
            <a:ext cx="1554480" cy="457200"/>
          </a:xfrm>
          <a:prstGeom prst="rect">
            <a:avLst/>
          </a:prstGeom>
          <a:noFill/>
        </p:spPr>
        <p:txBody>
          <a:bodyPr wrap="square" lIns="0" tIns="0" rIns="0" bIns="0" anchor="t">
            <a:noAutofit/>
          </a:bodyPr>
          <a:lstStyle/>
          <a:p>
            <a:pPr algn="ctr">
              <a:lnSpc>
                <a:spcPct val="110000"/>
              </a:lnSpc>
              <a:spcAft>
                <a:spcPts val="0"/>
              </a:spcAft>
              <a:defRPr sz="1800"/>
            </a:pPr>
            <a:r>
              <a:rPr sz="1800" b="1" i="0">
                <a:solidFill>
                  <a:srgbClr val="0B6E4F"/>
                </a:solidFill>
                <a:latin typeface="Cambria"/>
              </a:rPr>
              <a:t>1993</a:t>
            </a:r>
          </a:p>
        </p:txBody>
      </p:sp>
      <p:sp>
        <p:nvSpPr>
          <p:cNvPr id="13" name="TextBox 12"/>
          <p:cNvSpPr txBox="1"/>
          <p:nvPr/>
        </p:nvSpPr>
        <p:spPr>
          <a:xfrm>
            <a:off x="1554480" y="4434840"/>
            <a:ext cx="1554480" cy="1188720"/>
          </a:xfrm>
          <a:prstGeom prst="rect">
            <a:avLst/>
          </a:prstGeom>
          <a:noFill/>
        </p:spPr>
        <p:txBody>
          <a:bodyPr wrap="square" lIns="0" tIns="0" rIns="0" bIns="0" anchor="t">
            <a:noAutofit/>
          </a:bodyPr>
          <a:lstStyle/>
          <a:p>
            <a:pPr algn="ctr">
              <a:lnSpc>
                <a:spcPct val="110000"/>
              </a:lnSpc>
              <a:spcAft>
                <a:spcPts val="0"/>
              </a:spcAft>
              <a:defRPr sz="1100"/>
            </a:pPr>
            <a:r>
              <a:rPr sz="1100" b="0" i="0">
                <a:solidFill>
                  <a:srgbClr val="1F2A2E"/>
                </a:solidFill>
                <a:latin typeface="Calibri"/>
              </a:rPr>
              <a:t>Nace R: Ihaka y Gentleman, Universidad de Auckland</a:t>
            </a:r>
          </a:p>
        </p:txBody>
      </p:sp>
      <p:sp>
        <p:nvSpPr>
          <p:cNvPr id="14" name="Oval 13"/>
          <p:cNvSpPr/>
          <p:nvPr/>
        </p:nvSpPr>
        <p:spPr>
          <a:xfrm>
            <a:off x="3712464" y="3621024"/>
            <a:ext cx="256032" cy="256032"/>
          </a:xfrm>
          <a:prstGeom prst="ellipse">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5" name="TextBox 14"/>
          <p:cNvSpPr txBox="1"/>
          <p:nvPr/>
        </p:nvSpPr>
        <p:spPr>
          <a:xfrm>
            <a:off x="3063240" y="2011680"/>
            <a:ext cx="1554480" cy="1051560"/>
          </a:xfrm>
          <a:prstGeom prst="rect">
            <a:avLst/>
          </a:prstGeom>
          <a:noFill/>
        </p:spPr>
        <p:txBody>
          <a:bodyPr wrap="square" lIns="0" tIns="0" rIns="0" bIns="0" anchor="b">
            <a:noAutofit/>
          </a:bodyPr>
          <a:lstStyle/>
          <a:p>
            <a:pPr algn="ctr">
              <a:lnSpc>
                <a:spcPct val="110000"/>
              </a:lnSpc>
              <a:spcAft>
                <a:spcPts val="0"/>
              </a:spcAft>
              <a:defRPr sz="1100"/>
            </a:pPr>
            <a:r>
              <a:rPr sz="1100" b="0" i="0">
                <a:solidFill>
                  <a:srgbClr val="1F2A2E"/>
                </a:solidFill>
                <a:latin typeface="Calibri"/>
              </a:rPr>
              <a:t>R 1.0 y despegue del repositorio CRAN</a:t>
            </a:r>
          </a:p>
        </p:txBody>
      </p:sp>
      <p:sp>
        <p:nvSpPr>
          <p:cNvPr id="16" name="TextBox 15"/>
          <p:cNvSpPr txBox="1"/>
          <p:nvPr/>
        </p:nvSpPr>
        <p:spPr>
          <a:xfrm>
            <a:off x="3063240" y="3090672"/>
            <a:ext cx="1554480" cy="457200"/>
          </a:xfrm>
          <a:prstGeom prst="rect">
            <a:avLst/>
          </a:prstGeom>
          <a:noFill/>
        </p:spPr>
        <p:txBody>
          <a:bodyPr wrap="square" lIns="0" tIns="0" rIns="0" bIns="0" anchor="t">
            <a:noAutofit/>
          </a:bodyPr>
          <a:lstStyle/>
          <a:p>
            <a:pPr algn="ctr">
              <a:lnSpc>
                <a:spcPct val="110000"/>
              </a:lnSpc>
              <a:spcAft>
                <a:spcPts val="0"/>
              </a:spcAft>
              <a:defRPr sz="1800"/>
            </a:pPr>
            <a:r>
              <a:rPr sz="1800" b="1" i="0">
                <a:solidFill>
                  <a:srgbClr val="0B6E4F"/>
                </a:solidFill>
                <a:latin typeface="Cambria"/>
              </a:rPr>
              <a:t>2000</a:t>
            </a:r>
          </a:p>
        </p:txBody>
      </p:sp>
      <p:sp>
        <p:nvSpPr>
          <p:cNvPr id="17" name="Oval 16"/>
          <p:cNvSpPr/>
          <p:nvPr/>
        </p:nvSpPr>
        <p:spPr>
          <a:xfrm>
            <a:off x="5221224" y="3621024"/>
            <a:ext cx="256032" cy="256032"/>
          </a:xfrm>
          <a:prstGeom prst="ellipse">
            <a:avLst/>
          </a:prstGeom>
          <a:solidFill>
            <a:srgbClr val="F2A93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8" name="TextBox 17"/>
          <p:cNvSpPr txBox="1"/>
          <p:nvPr/>
        </p:nvSpPr>
        <p:spPr>
          <a:xfrm>
            <a:off x="4572000" y="4023360"/>
            <a:ext cx="1554480" cy="457200"/>
          </a:xfrm>
          <a:prstGeom prst="rect">
            <a:avLst/>
          </a:prstGeom>
          <a:noFill/>
        </p:spPr>
        <p:txBody>
          <a:bodyPr wrap="square" lIns="0" tIns="0" rIns="0" bIns="0" anchor="t">
            <a:noAutofit/>
          </a:bodyPr>
          <a:lstStyle/>
          <a:p>
            <a:pPr algn="ctr">
              <a:lnSpc>
                <a:spcPct val="110000"/>
              </a:lnSpc>
              <a:spcAft>
                <a:spcPts val="0"/>
              </a:spcAft>
              <a:defRPr sz="1800"/>
            </a:pPr>
            <a:r>
              <a:rPr sz="1800" b="1" i="0">
                <a:solidFill>
                  <a:srgbClr val="0B6E4F"/>
                </a:solidFill>
                <a:latin typeface="Cambria"/>
              </a:rPr>
              <a:t>2007</a:t>
            </a:r>
          </a:p>
        </p:txBody>
      </p:sp>
      <p:sp>
        <p:nvSpPr>
          <p:cNvPr id="19" name="TextBox 18"/>
          <p:cNvSpPr txBox="1"/>
          <p:nvPr/>
        </p:nvSpPr>
        <p:spPr>
          <a:xfrm>
            <a:off x="4572000" y="4434840"/>
            <a:ext cx="1554480" cy="1188720"/>
          </a:xfrm>
          <a:prstGeom prst="rect">
            <a:avLst/>
          </a:prstGeom>
          <a:noFill/>
        </p:spPr>
        <p:txBody>
          <a:bodyPr wrap="square" lIns="0" tIns="0" rIns="0" bIns="0" anchor="t">
            <a:noAutofit/>
          </a:bodyPr>
          <a:lstStyle/>
          <a:p>
            <a:pPr algn="ctr">
              <a:lnSpc>
                <a:spcPct val="110000"/>
              </a:lnSpc>
              <a:spcAft>
                <a:spcPts val="0"/>
              </a:spcAft>
              <a:defRPr sz="1100"/>
            </a:pPr>
            <a:r>
              <a:rPr sz="1100" b="0" i="0">
                <a:solidFill>
                  <a:srgbClr val="1F2A2E"/>
                </a:solidFill>
                <a:latin typeface="Calibri"/>
              </a:rPr>
              <a:t>ggplot2 (Hadley Wickham): la gramática de gráficos llega a R</a:t>
            </a:r>
          </a:p>
        </p:txBody>
      </p:sp>
      <p:sp>
        <p:nvSpPr>
          <p:cNvPr id="20" name="Oval 19"/>
          <p:cNvSpPr/>
          <p:nvPr/>
        </p:nvSpPr>
        <p:spPr>
          <a:xfrm>
            <a:off x="6729984" y="3621024"/>
            <a:ext cx="256032" cy="256032"/>
          </a:xfrm>
          <a:prstGeom prst="ellipse">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1" name="TextBox 20"/>
          <p:cNvSpPr txBox="1"/>
          <p:nvPr/>
        </p:nvSpPr>
        <p:spPr>
          <a:xfrm>
            <a:off x="6080760" y="2011680"/>
            <a:ext cx="1554480" cy="1051560"/>
          </a:xfrm>
          <a:prstGeom prst="rect">
            <a:avLst/>
          </a:prstGeom>
          <a:noFill/>
        </p:spPr>
        <p:txBody>
          <a:bodyPr wrap="square" lIns="0" tIns="0" rIns="0" bIns="0" anchor="b">
            <a:noAutofit/>
          </a:bodyPr>
          <a:lstStyle/>
          <a:p>
            <a:pPr algn="ctr">
              <a:lnSpc>
                <a:spcPct val="110000"/>
              </a:lnSpc>
              <a:spcAft>
                <a:spcPts val="0"/>
              </a:spcAft>
              <a:defRPr sz="1100"/>
            </a:pPr>
            <a:r>
              <a:rPr sz="1100" b="0" i="0">
                <a:solidFill>
                  <a:srgbClr val="1F2A2E"/>
                </a:solidFill>
                <a:latin typeface="Calibri"/>
              </a:rPr>
              <a:t>RStudio: el IDE que popularizó R</a:t>
            </a:r>
          </a:p>
        </p:txBody>
      </p:sp>
      <p:sp>
        <p:nvSpPr>
          <p:cNvPr id="22" name="TextBox 21"/>
          <p:cNvSpPr txBox="1"/>
          <p:nvPr/>
        </p:nvSpPr>
        <p:spPr>
          <a:xfrm>
            <a:off x="6080760" y="3090672"/>
            <a:ext cx="1554480" cy="457200"/>
          </a:xfrm>
          <a:prstGeom prst="rect">
            <a:avLst/>
          </a:prstGeom>
          <a:noFill/>
        </p:spPr>
        <p:txBody>
          <a:bodyPr wrap="square" lIns="0" tIns="0" rIns="0" bIns="0" anchor="t">
            <a:noAutofit/>
          </a:bodyPr>
          <a:lstStyle/>
          <a:p>
            <a:pPr algn="ctr">
              <a:lnSpc>
                <a:spcPct val="110000"/>
              </a:lnSpc>
              <a:spcAft>
                <a:spcPts val="0"/>
              </a:spcAft>
              <a:defRPr sz="1800"/>
            </a:pPr>
            <a:r>
              <a:rPr sz="1800" b="1" i="0">
                <a:solidFill>
                  <a:srgbClr val="0B6E4F"/>
                </a:solidFill>
                <a:latin typeface="Cambria"/>
              </a:rPr>
              <a:t>2011</a:t>
            </a:r>
          </a:p>
        </p:txBody>
      </p:sp>
      <p:sp>
        <p:nvSpPr>
          <p:cNvPr id="23" name="Oval 22"/>
          <p:cNvSpPr/>
          <p:nvPr/>
        </p:nvSpPr>
        <p:spPr>
          <a:xfrm>
            <a:off x="8238744" y="3621024"/>
            <a:ext cx="256032" cy="256032"/>
          </a:xfrm>
          <a:prstGeom prst="ellipse">
            <a:avLst/>
          </a:prstGeom>
          <a:solidFill>
            <a:srgbClr val="F2A93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4" name="TextBox 23"/>
          <p:cNvSpPr txBox="1"/>
          <p:nvPr/>
        </p:nvSpPr>
        <p:spPr>
          <a:xfrm>
            <a:off x="7589520" y="4023360"/>
            <a:ext cx="1554480" cy="457200"/>
          </a:xfrm>
          <a:prstGeom prst="rect">
            <a:avLst/>
          </a:prstGeom>
          <a:noFill/>
        </p:spPr>
        <p:txBody>
          <a:bodyPr wrap="square" lIns="0" tIns="0" rIns="0" bIns="0" anchor="t">
            <a:noAutofit/>
          </a:bodyPr>
          <a:lstStyle/>
          <a:p>
            <a:pPr algn="ctr">
              <a:lnSpc>
                <a:spcPct val="110000"/>
              </a:lnSpc>
              <a:spcAft>
                <a:spcPts val="0"/>
              </a:spcAft>
              <a:defRPr sz="1800"/>
            </a:pPr>
            <a:r>
              <a:rPr sz="1800" b="1" i="0">
                <a:solidFill>
                  <a:srgbClr val="0B6E4F"/>
                </a:solidFill>
                <a:latin typeface="Cambria"/>
              </a:rPr>
              <a:t>2016</a:t>
            </a:r>
          </a:p>
        </p:txBody>
      </p:sp>
      <p:sp>
        <p:nvSpPr>
          <p:cNvPr id="25" name="TextBox 24"/>
          <p:cNvSpPr txBox="1"/>
          <p:nvPr/>
        </p:nvSpPr>
        <p:spPr>
          <a:xfrm>
            <a:off x="7589520" y="4434840"/>
            <a:ext cx="1554480" cy="1188720"/>
          </a:xfrm>
          <a:prstGeom prst="rect">
            <a:avLst/>
          </a:prstGeom>
          <a:noFill/>
        </p:spPr>
        <p:txBody>
          <a:bodyPr wrap="square" lIns="0" tIns="0" rIns="0" bIns="0" anchor="t">
            <a:noAutofit/>
          </a:bodyPr>
          <a:lstStyle/>
          <a:p>
            <a:pPr algn="ctr">
              <a:lnSpc>
                <a:spcPct val="110000"/>
              </a:lnSpc>
              <a:spcAft>
                <a:spcPts val="0"/>
              </a:spcAft>
              <a:defRPr sz="1100"/>
            </a:pPr>
            <a:r>
              <a:rPr sz="1100" b="0" i="0">
                <a:solidFill>
                  <a:srgbClr val="1F2A2E"/>
                </a:solidFill>
                <a:latin typeface="Calibri"/>
              </a:rPr>
              <a:t>tidyverse: dplyr, tidyr y ggplot2 bajo una misma filosofía</a:t>
            </a:r>
          </a:p>
        </p:txBody>
      </p:sp>
      <p:sp>
        <p:nvSpPr>
          <p:cNvPr id="26" name="Oval 25"/>
          <p:cNvSpPr/>
          <p:nvPr/>
        </p:nvSpPr>
        <p:spPr>
          <a:xfrm>
            <a:off x="9747504" y="3621024"/>
            <a:ext cx="256032" cy="256032"/>
          </a:xfrm>
          <a:prstGeom prst="ellipse">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7" name="TextBox 26"/>
          <p:cNvSpPr txBox="1"/>
          <p:nvPr/>
        </p:nvSpPr>
        <p:spPr>
          <a:xfrm>
            <a:off x="9098280" y="2011680"/>
            <a:ext cx="1554480" cy="1051560"/>
          </a:xfrm>
          <a:prstGeom prst="rect">
            <a:avLst/>
          </a:prstGeom>
          <a:noFill/>
        </p:spPr>
        <p:txBody>
          <a:bodyPr wrap="square" lIns="0" tIns="0" rIns="0" bIns="0" anchor="b">
            <a:noAutofit/>
          </a:bodyPr>
          <a:lstStyle/>
          <a:p>
            <a:pPr algn="ctr">
              <a:lnSpc>
                <a:spcPct val="110000"/>
              </a:lnSpc>
              <a:spcAft>
                <a:spcPts val="0"/>
              </a:spcAft>
              <a:defRPr sz="1100"/>
            </a:pPr>
            <a:r>
              <a:rPr sz="1100" b="0" i="0">
                <a:solidFill>
                  <a:srgbClr val="1F2A2E"/>
                </a:solidFill>
                <a:latin typeface="Calibri"/>
              </a:rPr>
              <a:t>RStudio se convierte en Posit; nace Quarto</a:t>
            </a:r>
          </a:p>
        </p:txBody>
      </p:sp>
      <p:sp>
        <p:nvSpPr>
          <p:cNvPr id="28" name="TextBox 27"/>
          <p:cNvSpPr txBox="1"/>
          <p:nvPr/>
        </p:nvSpPr>
        <p:spPr>
          <a:xfrm>
            <a:off x="9098280" y="3090672"/>
            <a:ext cx="1554480" cy="457200"/>
          </a:xfrm>
          <a:prstGeom prst="rect">
            <a:avLst/>
          </a:prstGeom>
          <a:noFill/>
        </p:spPr>
        <p:txBody>
          <a:bodyPr wrap="square" lIns="0" tIns="0" rIns="0" bIns="0" anchor="t">
            <a:noAutofit/>
          </a:bodyPr>
          <a:lstStyle/>
          <a:p>
            <a:pPr algn="ctr">
              <a:lnSpc>
                <a:spcPct val="110000"/>
              </a:lnSpc>
              <a:spcAft>
                <a:spcPts val="0"/>
              </a:spcAft>
              <a:defRPr sz="1800"/>
            </a:pPr>
            <a:r>
              <a:rPr sz="1800" b="1" i="0">
                <a:solidFill>
                  <a:srgbClr val="0B6E4F"/>
                </a:solidFill>
                <a:latin typeface="Cambria"/>
              </a:rPr>
              <a:t>2022</a:t>
            </a:r>
          </a:p>
        </p:txBody>
      </p:sp>
      <p:sp>
        <p:nvSpPr>
          <p:cNvPr id="29" name="Oval 28"/>
          <p:cNvSpPr/>
          <p:nvPr/>
        </p:nvSpPr>
        <p:spPr>
          <a:xfrm>
            <a:off x="11256264" y="3621024"/>
            <a:ext cx="256032" cy="256032"/>
          </a:xfrm>
          <a:prstGeom prst="ellipse">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0" name="TextBox 29"/>
          <p:cNvSpPr txBox="1"/>
          <p:nvPr/>
        </p:nvSpPr>
        <p:spPr>
          <a:xfrm>
            <a:off x="10607040" y="4023360"/>
            <a:ext cx="1554480" cy="457200"/>
          </a:xfrm>
          <a:prstGeom prst="rect">
            <a:avLst/>
          </a:prstGeom>
          <a:noFill/>
        </p:spPr>
        <p:txBody>
          <a:bodyPr wrap="square" lIns="0" tIns="0" rIns="0" bIns="0" anchor="t">
            <a:noAutofit/>
          </a:bodyPr>
          <a:lstStyle/>
          <a:p>
            <a:pPr algn="ctr">
              <a:lnSpc>
                <a:spcPct val="110000"/>
              </a:lnSpc>
              <a:spcAft>
                <a:spcPts val="0"/>
              </a:spcAft>
              <a:defRPr sz="1800"/>
            </a:pPr>
            <a:r>
              <a:rPr sz="1800" b="1" i="0">
                <a:solidFill>
                  <a:srgbClr val="0B6E4F"/>
                </a:solidFill>
                <a:latin typeface="Cambria"/>
              </a:rPr>
              <a:t>2025</a:t>
            </a:r>
          </a:p>
        </p:txBody>
      </p:sp>
      <p:sp>
        <p:nvSpPr>
          <p:cNvPr id="31" name="TextBox 30"/>
          <p:cNvSpPr txBox="1"/>
          <p:nvPr/>
        </p:nvSpPr>
        <p:spPr>
          <a:xfrm>
            <a:off x="10607040" y="4434840"/>
            <a:ext cx="1554480" cy="1188720"/>
          </a:xfrm>
          <a:prstGeom prst="rect">
            <a:avLst/>
          </a:prstGeom>
          <a:noFill/>
        </p:spPr>
        <p:txBody>
          <a:bodyPr wrap="square" lIns="0" tIns="0" rIns="0" bIns="0" anchor="t">
            <a:noAutofit/>
          </a:bodyPr>
          <a:lstStyle/>
          <a:p>
            <a:pPr algn="ctr">
              <a:lnSpc>
                <a:spcPct val="110000"/>
              </a:lnSpc>
              <a:spcAft>
                <a:spcPts val="0"/>
              </a:spcAft>
              <a:defRPr sz="1100"/>
            </a:pPr>
            <a:r>
              <a:rPr sz="1100" b="0" i="0">
                <a:solidFill>
                  <a:srgbClr val="1F2A2E"/>
                </a:solidFill>
                <a:latin typeface="Calibri"/>
              </a:rPr>
              <a:t>R 4.5 y más de 19 000 paquetes en CRAN</a:t>
            </a:r>
          </a:p>
        </p:txBody>
      </p:sp>
      <p:sp>
        <p:nvSpPr>
          <p:cNvPr id="32" name="Rounded Rectangle 31"/>
          <p:cNvSpPr/>
          <p:nvPr/>
        </p:nvSpPr>
        <p:spPr>
          <a:xfrm>
            <a:off x="548640" y="5669280"/>
            <a:ext cx="11091672" cy="640080"/>
          </a:xfrm>
          <a:prstGeom prst="roundRect">
            <a:avLst>
              <a:gd name="adj" fmla="val 6000"/>
            </a:avLst>
          </a:prstGeom>
          <a:solidFill>
            <a:srgbClr val="FFF3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77240" y="5760720"/>
            <a:ext cx="10698480" cy="502920"/>
          </a:xfrm>
          <a:prstGeom prst="rect">
            <a:avLst/>
          </a:prstGeom>
          <a:noFill/>
        </p:spPr>
        <p:txBody>
          <a:bodyPr wrap="square" lIns="0" tIns="0" rIns="0" bIns="0" anchor="ctr">
            <a:noAutofit/>
          </a:bodyPr>
          <a:lstStyle/>
          <a:p>
            <a:pPr algn="l">
              <a:lnSpc>
                <a:spcPct val="110000"/>
              </a:lnSpc>
              <a:spcAft>
                <a:spcPts val="600"/>
              </a:spcAft>
              <a:defRPr sz="1200"/>
            </a:pPr>
            <a:r>
              <a:rPr sz="1200" b="1" i="0">
                <a:solidFill>
                  <a:srgbClr val="B7791F"/>
                </a:solidFill>
                <a:latin typeface="Calibri"/>
              </a:rPr>
              <a:t>Hito para la visualización: </a:t>
            </a:r>
            <a:r>
              <a:rPr sz="1200" b="0" i="0">
                <a:solidFill>
                  <a:srgbClr val="1F2A2E"/>
                </a:solidFill>
                <a:latin typeface="Calibri"/>
              </a:rPr>
              <a:t>ggplot2 cambió la forma de pensar los gráficos en R y después inspiró a plotnine (Python) y a Vega-Lite / Altair, que ya conoces de las clases anteriores.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6446520"/>
            <a:ext cx="7315200" cy="274320"/>
          </a:xfrm>
          <a:prstGeom prst="rect">
            <a:avLst/>
          </a:prstGeom>
          <a:noFill/>
        </p:spPr>
        <p:txBody>
          <a:bodyPr wrap="square" lIns="0" tIns="0" rIns="0" bIns="0" anchor="t">
            <a:noAutofit/>
          </a:bodyPr>
          <a:lstStyle/>
          <a:p>
            <a:pPr algn="l">
              <a:lnSpc>
                <a:spcPct val="110000"/>
              </a:lnSpc>
              <a:spcAft>
                <a:spcPts val="0"/>
              </a:spcAft>
              <a:defRPr sz="900"/>
            </a:pPr>
            <a:r>
              <a:rPr sz="900" b="0" i="0">
                <a:solidFill>
                  <a:srgbClr val="9AA7AB"/>
                </a:solidFill>
                <a:latin typeface="Calibri"/>
              </a:rPr>
              <a:t>Visualización de Datos · Clase 18 · R y visualización de datos</a:t>
            </a:r>
          </a:p>
        </p:txBody>
      </p:sp>
      <p:sp>
        <p:nvSpPr>
          <p:cNvPr id="4" name="TextBox 3"/>
          <p:cNvSpPr txBox="1"/>
          <p:nvPr/>
        </p:nvSpPr>
        <p:spPr>
          <a:xfrm>
            <a:off x="10972800" y="6446520"/>
            <a:ext cx="667512" cy="274320"/>
          </a:xfrm>
          <a:prstGeom prst="rect">
            <a:avLst/>
          </a:prstGeom>
          <a:noFill/>
        </p:spPr>
        <p:txBody>
          <a:bodyPr wrap="square" lIns="0" tIns="0" rIns="0" bIns="0" anchor="t">
            <a:noAutofit/>
          </a:bodyPr>
          <a:lstStyle/>
          <a:p>
            <a:pPr algn="r">
              <a:lnSpc>
                <a:spcPct val="110000"/>
              </a:lnSpc>
              <a:spcAft>
                <a:spcPts val="0"/>
              </a:spcAft>
              <a:defRPr sz="900"/>
            </a:pPr>
            <a:r>
              <a:rPr sz="900" b="0" i="0">
                <a:solidFill>
                  <a:srgbClr val="9AA7AB"/>
                </a:solidFill>
                <a:latin typeface="Calibri"/>
              </a:rPr>
              <a:t>6</a:t>
            </a:r>
          </a:p>
        </p:txBody>
      </p:sp>
      <p:pic>
        <p:nvPicPr>
          <p:cNvPr id="5" name="Picture 4" descr="img-002.png"/>
          <p:cNvPicPr>
            <a:picLocks noChangeAspect="1"/>
          </p:cNvPicPr>
          <p:nvPr/>
        </p:nvPicPr>
        <p:blipFill>
          <a:blip r:embed="rId3"/>
          <a:srcRect l="2406" r="2406"/>
          <a:stretch>
            <a:fillRect/>
          </a:stretch>
        </p:blipFill>
        <p:spPr>
          <a:xfrm>
            <a:off x="0" y="0"/>
            <a:ext cx="4023360" cy="6858000"/>
          </a:xfrm>
          <a:prstGeom prst="rect">
            <a:avLst/>
          </a:prstGeom>
        </p:spPr>
      </p:pic>
      <p:sp>
        <p:nvSpPr>
          <p:cNvPr id="6" name="TextBox 5"/>
          <p:cNvSpPr txBox="1"/>
          <p:nvPr/>
        </p:nvSpPr>
        <p:spPr>
          <a:xfrm>
            <a:off x="4480560" y="457200"/>
            <a:ext cx="7132320" cy="731520"/>
          </a:xfrm>
          <a:prstGeom prst="rect">
            <a:avLst/>
          </a:prstGeom>
          <a:noFill/>
        </p:spPr>
        <p:txBody>
          <a:bodyPr wrap="square" lIns="0" tIns="0" rIns="0" bIns="0" anchor="t">
            <a:noAutofit/>
          </a:bodyPr>
          <a:lstStyle/>
          <a:p>
            <a:pPr algn="l">
              <a:lnSpc>
                <a:spcPct val="110000"/>
              </a:lnSpc>
              <a:spcAft>
                <a:spcPts val="0"/>
              </a:spcAft>
              <a:defRPr sz="3000"/>
            </a:pPr>
            <a:r>
              <a:rPr sz="3000" b="1" i="0">
                <a:solidFill>
                  <a:srgbClr val="0B6E4F"/>
                </a:solidFill>
                <a:latin typeface="Cambria"/>
              </a:rPr>
              <a:t>R en la ciencia de datos actual</a:t>
            </a:r>
          </a:p>
        </p:txBody>
      </p:sp>
      <p:sp>
        <p:nvSpPr>
          <p:cNvPr id="7" name="Rounded Rectangle 6"/>
          <p:cNvSpPr/>
          <p:nvPr/>
        </p:nvSpPr>
        <p:spPr>
          <a:xfrm>
            <a:off x="4480560" y="1371600"/>
            <a:ext cx="3520440" cy="1554480"/>
          </a:xfrm>
          <a:prstGeom prst="roundRect">
            <a:avLst>
              <a:gd name="adj" fmla="val 6000"/>
            </a:avLst>
          </a:prstGeom>
          <a:solidFill>
            <a:srgbClr val="EE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4663440" y="1554480"/>
            <a:ext cx="384048" cy="384048"/>
          </a:xfrm>
          <a:prstGeom prst="ellipse">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a:solidFill>
                  <a:srgbClr val="FFFFFF"/>
                </a:solidFill>
                <a:latin typeface="Calibri"/>
              </a:rPr>
              <a:t>01</a:t>
            </a:r>
          </a:p>
        </p:txBody>
      </p:sp>
      <p:sp>
        <p:nvSpPr>
          <p:cNvPr id="9" name="TextBox 8"/>
          <p:cNvSpPr txBox="1"/>
          <p:nvPr/>
        </p:nvSpPr>
        <p:spPr>
          <a:xfrm>
            <a:off x="5166360" y="1572768"/>
            <a:ext cx="2743200" cy="365760"/>
          </a:xfrm>
          <a:prstGeom prst="rect">
            <a:avLst/>
          </a:prstGeom>
          <a:noFill/>
        </p:spPr>
        <p:txBody>
          <a:bodyPr wrap="square" lIns="0" tIns="0" rIns="0" bIns="0" anchor="t">
            <a:noAutofit/>
          </a:bodyPr>
          <a:lstStyle/>
          <a:p>
            <a:pPr algn="l">
              <a:lnSpc>
                <a:spcPct val="110000"/>
              </a:lnSpc>
              <a:spcAft>
                <a:spcPts val="0"/>
              </a:spcAft>
              <a:defRPr sz="1400"/>
            </a:pPr>
            <a:r>
              <a:rPr sz="1400" b="1" i="0">
                <a:solidFill>
                  <a:srgbClr val="0B6E4F"/>
                </a:solidFill>
                <a:latin typeface="Cambria"/>
              </a:rPr>
              <a:t>Investigación académica</a:t>
            </a:r>
          </a:p>
        </p:txBody>
      </p:sp>
      <p:sp>
        <p:nvSpPr>
          <p:cNvPr id="10" name="TextBox 9"/>
          <p:cNvSpPr txBox="1"/>
          <p:nvPr/>
        </p:nvSpPr>
        <p:spPr>
          <a:xfrm>
            <a:off x="4663440" y="1993392"/>
            <a:ext cx="3200400" cy="914400"/>
          </a:xfrm>
          <a:prstGeom prst="rect">
            <a:avLst/>
          </a:prstGeom>
          <a:noFill/>
        </p:spPr>
        <p:txBody>
          <a:bodyPr wrap="square" lIns="0" tIns="0" rIns="0" bIns="0" anchor="t">
            <a:noAutofit/>
          </a:bodyPr>
          <a:lstStyle/>
          <a:p>
            <a:pPr algn="l">
              <a:lnSpc>
                <a:spcPct val="110000"/>
              </a:lnSpc>
              <a:spcAft>
                <a:spcPts val="0"/>
              </a:spcAft>
              <a:defRPr sz="1100"/>
            </a:pPr>
            <a:r>
              <a:rPr sz="1100" b="0" i="0">
                <a:solidFill>
                  <a:srgbClr val="1F2A2E"/>
                </a:solidFill>
                <a:latin typeface="Calibri"/>
              </a:rPr>
              <a:t>Biología, medicina, ciencias sociales y física publican análisis reproducibles en R; muchos métodos nuevos aparecen primero como paquete de CRAN.</a:t>
            </a:r>
          </a:p>
        </p:txBody>
      </p:sp>
      <p:sp>
        <p:nvSpPr>
          <p:cNvPr id="11" name="Rounded Rectangle 10"/>
          <p:cNvSpPr/>
          <p:nvPr/>
        </p:nvSpPr>
        <p:spPr>
          <a:xfrm>
            <a:off x="8183879" y="1371600"/>
            <a:ext cx="3520440" cy="1554480"/>
          </a:xfrm>
          <a:prstGeom prst="roundRect">
            <a:avLst>
              <a:gd name="adj" fmla="val 6000"/>
            </a:avLst>
          </a:prstGeom>
          <a:solidFill>
            <a:srgbClr val="EE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8366759" y="1554480"/>
            <a:ext cx="384048" cy="384048"/>
          </a:xfrm>
          <a:prstGeom prst="ellipse">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a:solidFill>
                  <a:srgbClr val="FFFFFF"/>
                </a:solidFill>
                <a:latin typeface="Calibri"/>
              </a:rPr>
              <a:t>02</a:t>
            </a:r>
          </a:p>
        </p:txBody>
      </p:sp>
      <p:sp>
        <p:nvSpPr>
          <p:cNvPr id="13" name="TextBox 12"/>
          <p:cNvSpPr txBox="1"/>
          <p:nvPr/>
        </p:nvSpPr>
        <p:spPr>
          <a:xfrm>
            <a:off x="8869680" y="1572768"/>
            <a:ext cx="2743200" cy="365760"/>
          </a:xfrm>
          <a:prstGeom prst="rect">
            <a:avLst/>
          </a:prstGeom>
          <a:noFill/>
        </p:spPr>
        <p:txBody>
          <a:bodyPr wrap="square" lIns="0" tIns="0" rIns="0" bIns="0" anchor="t">
            <a:noAutofit/>
          </a:bodyPr>
          <a:lstStyle/>
          <a:p>
            <a:pPr algn="l">
              <a:lnSpc>
                <a:spcPct val="110000"/>
              </a:lnSpc>
              <a:spcAft>
                <a:spcPts val="0"/>
              </a:spcAft>
              <a:defRPr sz="1400"/>
            </a:pPr>
            <a:r>
              <a:rPr sz="1400" b="1" i="0">
                <a:solidFill>
                  <a:srgbClr val="0B6E4F"/>
                </a:solidFill>
                <a:latin typeface="Cambria"/>
              </a:rPr>
              <a:t>Análisis financiero</a:t>
            </a:r>
          </a:p>
        </p:txBody>
      </p:sp>
      <p:sp>
        <p:nvSpPr>
          <p:cNvPr id="14" name="TextBox 13"/>
          <p:cNvSpPr txBox="1"/>
          <p:nvPr/>
        </p:nvSpPr>
        <p:spPr>
          <a:xfrm>
            <a:off x="8366759" y="1993392"/>
            <a:ext cx="3200400" cy="914400"/>
          </a:xfrm>
          <a:prstGeom prst="rect">
            <a:avLst/>
          </a:prstGeom>
          <a:noFill/>
        </p:spPr>
        <p:txBody>
          <a:bodyPr wrap="square" lIns="0" tIns="0" rIns="0" bIns="0" anchor="t">
            <a:noAutofit/>
          </a:bodyPr>
          <a:lstStyle/>
          <a:p>
            <a:pPr algn="l">
              <a:lnSpc>
                <a:spcPct val="110000"/>
              </a:lnSpc>
              <a:spcAft>
                <a:spcPts val="0"/>
              </a:spcAft>
              <a:defRPr sz="1100"/>
            </a:pPr>
            <a:r>
              <a:rPr sz="1100" b="0" i="0">
                <a:solidFill>
                  <a:srgbClr val="1F2A2E"/>
                </a:solidFill>
                <a:latin typeface="Calibri"/>
              </a:rPr>
              <a:t>Modelado de riesgo, series de tiempo y análisis cuantitativo en banca y aseguradoras (quantmod, tidyquant).</a:t>
            </a:r>
          </a:p>
        </p:txBody>
      </p:sp>
      <p:sp>
        <p:nvSpPr>
          <p:cNvPr id="15" name="Rounded Rectangle 14"/>
          <p:cNvSpPr/>
          <p:nvPr/>
        </p:nvSpPr>
        <p:spPr>
          <a:xfrm>
            <a:off x="4480560" y="3063240"/>
            <a:ext cx="3520440" cy="1554480"/>
          </a:xfrm>
          <a:prstGeom prst="roundRect">
            <a:avLst>
              <a:gd name="adj" fmla="val 6000"/>
            </a:avLst>
          </a:prstGeom>
          <a:solidFill>
            <a:srgbClr val="EE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4663440" y="3246120"/>
            <a:ext cx="384048" cy="384048"/>
          </a:xfrm>
          <a:prstGeom prst="ellipse">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a:solidFill>
                  <a:srgbClr val="FFFFFF"/>
                </a:solidFill>
                <a:latin typeface="Calibri"/>
              </a:rPr>
              <a:t>03</a:t>
            </a:r>
          </a:p>
        </p:txBody>
      </p:sp>
      <p:sp>
        <p:nvSpPr>
          <p:cNvPr id="17" name="TextBox 16"/>
          <p:cNvSpPr txBox="1"/>
          <p:nvPr/>
        </p:nvSpPr>
        <p:spPr>
          <a:xfrm>
            <a:off x="5166360" y="3264408"/>
            <a:ext cx="2743200" cy="365760"/>
          </a:xfrm>
          <a:prstGeom prst="rect">
            <a:avLst/>
          </a:prstGeom>
          <a:noFill/>
        </p:spPr>
        <p:txBody>
          <a:bodyPr wrap="square" lIns="0" tIns="0" rIns="0" bIns="0" anchor="t">
            <a:noAutofit/>
          </a:bodyPr>
          <a:lstStyle/>
          <a:p>
            <a:pPr algn="l">
              <a:lnSpc>
                <a:spcPct val="110000"/>
              </a:lnSpc>
              <a:spcAft>
                <a:spcPts val="0"/>
              </a:spcAft>
              <a:defRPr sz="1400"/>
            </a:pPr>
            <a:r>
              <a:rPr sz="1400" b="1" i="0">
                <a:solidFill>
                  <a:srgbClr val="0B6E4F"/>
                </a:solidFill>
                <a:latin typeface="Cambria"/>
              </a:rPr>
              <a:t>Machine learning e IA</a:t>
            </a:r>
          </a:p>
        </p:txBody>
      </p:sp>
      <p:sp>
        <p:nvSpPr>
          <p:cNvPr id="18" name="TextBox 17"/>
          <p:cNvSpPr txBox="1"/>
          <p:nvPr/>
        </p:nvSpPr>
        <p:spPr>
          <a:xfrm>
            <a:off x="4663440" y="3685032"/>
            <a:ext cx="3200400" cy="914400"/>
          </a:xfrm>
          <a:prstGeom prst="rect">
            <a:avLst/>
          </a:prstGeom>
          <a:noFill/>
        </p:spPr>
        <p:txBody>
          <a:bodyPr wrap="square" lIns="0" tIns="0" rIns="0" bIns="0" anchor="t">
            <a:noAutofit/>
          </a:bodyPr>
          <a:lstStyle/>
          <a:p>
            <a:pPr algn="l">
              <a:lnSpc>
                <a:spcPct val="110000"/>
              </a:lnSpc>
              <a:spcAft>
                <a:spcPts val="0"/>
              </a:spcAft>
              <a:defRPr sz="1100"/>
            </a:pPr>
            <a:r>
              <a:rPr sz="1100" b="0" i="0">
                <a:solidFill>
                  <a:srgbClr val="1F2A2E"/>
                </a:solidFill>
                <a:latin typeface="Calibri"/>
              </a:rPr>
              <a:t>tidymodels, caret y la integración con TensorFlow y Torch permiten entrenar modelos sin salir de R.</a:t>
            </a:r>
          </a:p>
        </p:txBody>
      </p:sp>
      <p:sp>
        <p:nvSpPr>
          <p:cNvPr id="19" name="Rounded Rectangle 18"/>
          <p:cNvSpPr/>
          <p:nvPr/>
        </p:nvSpPr>
        <p:spPr>
          <a:xfrm>
            <a:off x="8183879" y="3063240"/>
            <a:ext cx="3520440" cy="1554480"/>
          </a:xfrm>
          <a:prstGeom prst="roundRect">
            <a:avLst>
              <a:gd name="adj" fmla="val 6000"/>
            </a:avLst>
          </a:prstGeom>
          <a:solidFill>
            <a:srgbClr val="EE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8366759" y="3246120"/>
            <a:ext cx="384048" cy="384048"/>
          </a:xfrm>
          <a:prstGeom prst="ellipse">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a:solidFill>
                  <a:srgbClr val="FFFFFF"/>
                </a:solidFill>
                <a:latin typeface="Calibri"/>
              </a:rPr>
              <a:t>04</a:t>
            </a:r>
          </a:p>
        </p:txBody>
      </p:sp>
      <p:sp>
        <p:nvSpPr>
          <p:cNvPr id="21" name="TextBox 20"/>
          <p:cNvSpPr txBox="1"/>
          <p:nvPr/>
        </p:nvSpPr>
        <p:spPr>
          <a:xfrm>
            <a:off x="8869680" y="3264408"/>
            <a:ext cx="2743200" cy="365760"/>
          </a:xfrm>
          <a:prstGeom prst="rect">
            <a:avLst/>
          </a:prstGeom>
          <a:noFill/>
        </p:spPr>
        <p:txBody>
          <a:bodyPr wrap="square" lIns="0" tIns="0" rIns="0" bIns="0" anchor="t">
            <a:noAutofit/>
          </a:bodyPr>
          <a:lstStyle/>
          <a:p>
            <a:pPr algn="l">
              <a:lnSpc>
                <a:spcPct val="110000"/>
              </a:lnSpc>
              <a:spcAft>
                <a:spcPts val="0"/>
              </a:spcAft>
              <a:defRPr sz="1400"/>
            </a:pPr>
            <a:r>
              <a:rPr sz="1400" b="1" i="0">
                <a:solidFill>
                  <a:srgbClr val="0B6E4F"/>
                </a:solidFill>
                <a:latin typeface="Cambria"/>
              </a:rPr>
              <a:t>Salud pública y epidemiología</a:t>
            </a:r>
          </a:p>
        </p:txBody>
      </p:sp>
      <p:sp>
        <p:nvSpPr>
          <p:cNvPr id="22" name="TextBox 21"/>
          <p:cNvSpPr txBox="1"/>
          <p:nvPr/>
        </p:nvSpPr>
        <p:spPr>
          <a:xfrm>
            <a:off x="8366759" y="3685032"/>
            <a:ext cx="3200400" cy="914400"/>
          </a:xfrm>
          <a:prstGeom prst="rect">
            <a:avLst/>
          </a:prstGeom>
          <a:noFill/>
        </p:spPr>
        <p:txBody>
          <a:bodyPr wrap="square" lIns="0" tIns="0" rIns="0" bIns="0" anchor="t">
            <a:noAutofit/>
          </a:bodyPr>
          <a:lstStyle/>
          <a:p>
            <a:pPr algn="l">
              <a:lnSpc>
                <a:spcPct val="110000"/>
              </a:lnSpc>
              <a:spcAft>
                <a:spcPts val="0"/>
              </a:spcAft>
              <a:defRPr sz="1100"/>
            </a:pPr>
            <a:r>
              <a:rPr sz="1100" b="0" i="0">
                <a:solidFill>
                  <a:srgbClr val="1F2A2E"/>
                </a:solidFill>
                <a:latin typeface="Calibri"/>
              </a:rPr>
              <a:t>Durante la COVID-19 los tableros de casos, las curvas de contagio y los modelos de propagación se construyeron masivamente con R.</a:t>
            </a:r>
          </a:p>
        </p:txBody>
      </p:sp>
      <p:sp>
        <p:nvSpPr>
          <p:cNvPr id="23" name="TextBox 22"/>
          <p:cNvSpPr txBox="1"/>
          <p:nvPr/>
        </p:nvSpPr>
        <p:spPr>
          <a:xfrm>
            <a:off x="4480560" y="4892040"/>
            <a:ext cx="7132320" cy="1371600"/>
          </a:xfrm>
          <a:prstGeom prst="rect">
            <a:avLst/>
          </a:prstGeom>
          <a:noFill/>
        </p:spPr>
        <p:txBody>
          <a:bodyPr wrap="square" lIns="0" tIns="0" rIns="0" bIns="0" anchor="t">
            <a:noAutofit/>
          </a:bodyPr>
          <a:lstStyle/>
          <a:p>
            <a:pPr algn="l">
              <a:lnSpc>
                <a:spcPct val="118000"/>
              </a:lnSpc>
              <a:spcAft>
                <a:spcPts val="0"/>
              </a:spcAft>
              <a:defRPr sz="1250"/>
            </a:pPr>
            <a:r>
              <a:rPr sz="1250" b="0" i="0">
                <a:solidFill>
                  <a:srgbClr val="1F2A2E"/>
                </a:solidFill>
                <a:latin typeface="Calibri"/>
              </a:rPr>
              <a:t>La comunidad global de R es excepcionalmente activa: cada semana aparecen paquetes nuevos para visualización, análisis y modelado, y comunidades como R-Ladies, TidyTuesday y los grupos de usuarios locales comparten código abiertamente. Esa generosidad es la razón por la que casi cualquier gráfico que imagines ya tiene un ejemplo publicado.</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6446520"/>
            <a:ext cx="7315200" cy="274320"/>
          </a:xfrm>
          <a:prstGeom prst="rect">
            <a:avLst/>
          </a:prstGeom>
          <a:noFill/>
        </p:spPr>
        <p:txBody>
          <a:bodyPr wrap="square" lIns="0" tIns="0" rIns="0" bIns="0" anchor="t">
            <a:noAutofit/>
          </a:bodyPr>
          <a:lstStyle/>
          <a:p>
            <a:pPr algn="l">
              <a:lnSpc>
                <a:spcPct val="110000"/>
              </a:lnSpc>
              <a:spcAft>
                <a:spcPts val="0"/>
              </a:spcAft>
              <a:defRPr sz="900"/>
            </a:pPr>
            <a:r>
              <a:rPr sz="900" b="0" i="0">
                <a:solidFill>
                  <a:srgbClr val="9AA7AB"/>
                </a:solidFill>
                <a:latin typeface="Calibri"/>
              </a:rPr>
              <a:t>Visualización de Datos · Clase 18 · R y visualización de datos</a:t>
            </a:r>
          </a:p>
        </p:txBody>
      </p:sp>
      <p:sp>
        <p:nvSpPr>
          <p:cNvPr id="4" name="TextBox 3"/>
          <p:cNvSpPr txBox="1"/>
          <p:nvPr/>
        </p:nvSpPr>
        <p:spPr>
          <a:xfrm>
            <a:off x="10972800" y="6446520"/>
            <a:ext cx="667512" cy="274320"/>
          </a:xfrm>
          <a:prstGeom prst="rect">
            <a:avLst/>
          </a:prstGeom>
          <a:noFill/>
        </p:spPr>
        <p:txBody>
          <a:bodyPr wrap="square" lIns="0" tIns="0" rIns="0" bIns="0" anchor="t">
            <a:noAutofit/>
          </a:bodyPr>
          <a:lstStyle/>
          <a:p>
            <a:pPr algn="r">
              <a:lnSpc>
                <a:spcPct val="110000"/>
              </a:lnSpc>
              <a:spcAft>
                <a:spcPts val="0"/>
              </a:spcAft>
              <a:defRPr sz="900"/>
            </a:pPr>
            <a:r>
              <a:rPr sz="900" b="0" i="0">
                <a:solidFill>
                  <a:srgbClr val="9AA7AB"/>
                </a:solidFill>
                <a:latin typeface="Calibri"/>
              </a:rPr>
              <a:t>7</a:t>
            </a:r>
          </a:p>
        </p:txBody>
      </p:sp>
      <p:sp>
        <p:nvSpPr>
          <p:cNvPr id="5" name="TextBox 4"/>
          <p:cNvSpPr txBox="1"/>
          <p:nvPr/>
        </p:nvSpPr>
        <p:spPr>
          <a:xfrm>
            <a:off x="548640" y="457200"/>
            <a:ext cx="11091672" cy="731520"/>
          </a:xfrm>
          <a:prstGeom prst="rect">
            <a:avLst/>
          </a:prstGeom>
          <a:noFill/>
        </p:spPr>
        <p:txBody>
          <a:bodyPr wrap="square" lIns="0" tIns="0" rIns="0" bIns="0" anchor="t">
            <a:noAutofit/>
          </a:bodyPr>
          <a:lstStyle/>
          <a:p>
            <a:pPr algn="l">
              <a:lnSpc>
                <a:spcPct val="110000"/>
              </a:lnSpc>
              <a:spcAft>
                <a:spcPts val="0"/>
              </a:spcAft>
              <a:defRPr sz="3000"/>
            </a:pPr>
            <a:r>
              <a:rPr sz="3000" b="1" i="0">
                <a:solidFill>
                  <a:srgbClr val="0B6E4F"/>
                </a:solidFill>
                <a:latin typeface="Cambria"/>
              </a:rPr>
              <a:t>Tres sistemas gráficos conviven en R</a:t>
            </a:r>
          </a:p>
        </p:txBody>
      </p:sp>
      <p:sp>
        <p:nvSpPr>
          <p:cNvPr id="6" name="TextBox 5"/>
          <p:cNvSpPr txBox="1"/>
          <p:nvPr/>
        </p:nvSpPr>
        <p:spPr>
          <a:xfrm>
            <a:off x="548640" y="1115568"/>
            <a:ext cx="11091672" cy="411480"/>
          </a:xfrm>
          <a:prstGeom prst="rect">
            <a:avLst/>
          </a:prstGeom>
          <a:noFill/>
        </p:spPr>
        <p:txBody>
          <a:bodyPr wrap="square" lIns="0" tIns="0" rIns="0" bIns="0" anchor="t">
            <a:noAutofit/>
          </a:bodyPr>
          <a:lstStyle/>
          <a:p>
            <a:pPr algn="l">
              <a:lnSpc>
                <a:spcPct val="110000"/>
              </a:lnSpc>
              <a:spcAft>
                <a:spcPts val="0"/>
              </a:spcAft>
              <a:defRPr sz="1400"/>
            </a:pPr>
            <a:r>
              <a:rPr sz="1400" b="0" i="0">
                <a:solidFill>
                  <a:srgbClr val="5B6B6F"/>
                </a:solidFill>
                <a:latin typeface="Calibri"/>
              </a:rPr>
              <a:t>Conocerlos ayuda a leer código ajeno y a elegir bien</a:t>
            </a:r>
          </a:p>
        </p:txBody>
      </p:sp>
      <p:sp>
        <p:nvSpPr>
          <p:cNvPr id="7" name="Rounded Rectangle 6"/>
          <p:cNvSpPr/>
          <p:nvPr/>
        </p:nvSpPr>
        <p:spPr>
          <a:xfrm>
            <a:off x="548640" y="1508760"/>
            <a:ext cx="3593592" cy="4709160"/>
          </a:xfrm>
          <a:prstGeom prst="roundRect">
            <a:avLst>
              <a:gd name="adj" fmla="val 6000"/>
            </a:avLst>
          </a:prstGeom>
          <a:solidFill>
            <a:srgbClr val="EE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1691640"/>
            <a:ext cx="3200400" cy="411480"/>
          </a:xfrm>
          <a:prstGeom prst="rect">
            <a:avLst/>
          </a:prstGeom>
          <a:noFill/>
        </p:spPr>
        <p:txBody>
          <a:bodyPr wrap="square" lIns="0" tIns="0" rIns="0" bIns="0" anchor="t">
            <a:noAutofit/>
          </a:bodyPr>
          <a:lstStyle/>
          <a:p>
            <a:pPr algn="l">
              <a:lnSpc>
                <a:spcPct val="110000"/>
              </a:lnSpc>
              <a:spcAft>
                <a:spcPts val="0"/>
              </a:spcAft>
              <a:defRPr sz="1800"/>
            </a:pPr>
            <a:r>
              <a:rPr sz="1800" b="1" i="0">
                <a:solidFill>
                  <a:srgbClr val="0B6E4F"/>
                </a:solidFill>
                <a:latin typeface="Cambria"/>
              </a:rPr>
              <a:t>Gráficos base</a:t>
            </a:r>
          </a:p>
        </p:txBody>
      </p:sp>
      <p:sp>
        <p:nvSpPr>
          <p:cNvPr id="9" name="TextBox 8"/>
          <p:cNvSpPr txBox="1"/>
          <p:nvPr/>
        </p:nvSpPr>
        <p:spPr>
          <a:xfrm>
            <a:off x="777240" y="2103120"/>
            <a:ext cx="3200400" cy="320040"/>
          </a:xfrm>
          <a:prstGeom prst="rect">
            <a:avLst/>
          </a:prstGeom>
          <a:noFill/>
        </p:spPr>
        <p:txBody>
          <a:bodyPr wrap="square" lIns="0" tIns="0" rIns="0" bIns="0" anchor="t">
            <a:noAutofit/>
          </a:bodyPr>
          <a:lstStyle/>
          <a:p>
            <a:pPr algn="l">
              <a:lnSpc>
                <a:spcPct val="110000"/>
              </a:lnSpc>
              <a:spcAft>
                <a:spcPts val="0"/>
              </a:spcAft>
              <a:defRPr sz="1100"/>
            </a:pPr>
            <a:r>
              <a:rPr sz="1100" b="0" i="1">
                <a:solidFill>
                  <a:srgbClr val="5B6B6F"/>
                </a:solidFill>
                <a:latin typeface="Calibri"/>
              </a:rPr>
              <a:t>Incluidos en R desde 1993</a:t>
            </a:r>
          </a:p>
        </p:txBody>
      </p:sp>
      <p:sp>
        <p:nvSpPr>
          <p:cNvPr id="10" name="Rounded Rectangle 9"/>
          <p:cNvSpPr/>
          <p:nvPr/>
        </p:nvSpPr>
        <p:spPr>
          <a:xfrm>
            <a:off x="777240" y="2514600"/>
            <a:ext cx="3136392" cy="1234440"/>
          </a:xfrm>
          <a:prstGeom prst="roundRect">
            <a:avLst>
              <a:gd name="adj" fmla="val 4000"/>
            </a:avLst>
          </a:prstGeom>
          <a:solidFill>
            <a:srgbClr val="0F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41832" y="2642616"/>
            <a:ext cx="2807208" cy="978408"/>
          </a:xfrm>
          <a:prstGeom prst="rect">
            <a:avLst/>
          </a:prstGeom>
          <a:noFill/>
        </p:spPr>
        <p:txBody>
          <a:bodyPr wrap="square" lIns="0" tIns="0" rIns="0" bIns="0" anchor="t">
            <a:noAutofit/>
          </a:bodyPr>
          <a:lstStyle/>
          <a:p>
            <a:pPr>
              <a:lnSpc>
                <a:spcPct val="105000"/>
              </a:lnSpc>
              <a:spcAft>
                <a:spcPts val="100"/>
              </a:spcAft>
              <a:defRPr sz="1050"/>
            </a:pPr>
            <a:r>
              <a:rPr sz="1050" b="0" i="0">
                <a:solidFill>
                  <a:srgbClr val="E8F1EC"/>
                </a:solidFill>
                <a:latin typeface="Consolas"/>
              </a:rPr>
              <a:t>plot(mpg$displ, mpg$hwy)</a:t>
            </a:r>
          </a:p>
          <a:p>
            <a:pPr>
              <a:lnSpc>
                <a:spcPct val="105000"/>
              </a:lnSpc>
              <a:spcAft>
                <a:spcPts val="100"/>
              </a:spcAft>
              <a:defRPr sz="1050"/>
            </a:pPr>
            <a:r>
              <a:rPr sz="1050" b="0" i="0">
                <a:solidFill>
                  <a:srgbClr val="E8F1EC"/>
                </a:solidFill>
                <a:latin typeface="Consolas"/>
              </a:rPr>
              <a:t>hist(mpg$hwy)</a:t>
            </a:r>
          </a:p>
          <a:p>
            <a:pPr>
              <a:lnSpc>
                <a:spcPct val="105000"/>
              </a:lnSpc>
              <a:spcAft>
                <a:spcPts val="100"/>
              </a:spcAft>
              <a:defRPr sz="1050"/>
            </a:pPr>
            <a:r>
              <a:rPr sz="1050" b="0" i="0">
                <a:solidFill>
                  <a:srgbClr val="E8F1EC"/>
                </a:solidFill>
                <a:latin typeface="Consolas"/>
              </a:rPr>
              <a:t>abline(lm(hwy ~ displ, mpg))</a:t>
            </a:r>
          </a:p>
        </p:txBody>
      </p:sp>
      <p:sp>
        <p:nvSpPr>
          <p:cNvPr id="12" name="TextBox 11"/>
          <p:cNvSpPr txBox="1"/>
          <p:nvPr/>
        </p:nvSpPr>
        <p:spPr>
          <a:xfrm>
            <a:off x="777240" y="3886200"/>
            <a:ext cx="3108960" cy="320040"/>
          </a:xfrm>
          <a:prstGeom prst="rect">
            <a:avLst/>
          </a:prstGeom>
          <a:noFill/>
        </p:spPr>
        <p:txBody>
          <a:bodyPr wrap="square" lIns="0" tIns="0" rIns="0" bIns="0" anchor="t">
            <a:noAutofit/>
          </a:bodyPr>
          <a:lstStyle/>
          <a:p>
            <a:pPr algn="l">
              <a:lnSpc>
                <a:spcPct val="110000"/>
              </a:lnSpc>
              <a:spcAft>
                <a:spcPts val="0"/>
              </a:spcAft>
              <a:defRPr sz="1200"/>
            </a:pPr>
            <a:r>
              <a:rPr sz="1200" b="1" i="0">
                <a:solidFill>
                  <a:srgbClr val="0B6E4F"/>
                </a:solidFill>
                <a:latin typeface="Calibri"/>
              </a:rPr>
              <a:t>Úsalo para</a:t>
            </a:r>
          </a:p>
        </p:txBody>
      </p:sp>
      <p:sp>
        <p:nvSpPr>
          <p:cNvPr id="13" name="TextBox 12"/>
          <p:cNvSpPr txBox="1"/>
          <p:nvPr/>
        </p:nvSpPr>
        <p:spPr>
          <a:xfrm>
            <a:off x="777240" y="4206240"/>
            <a:ext cx="3154680" cy="1920240"/>
          </a:xfrm>
          <a:prstGeom prst="rect">
            <a:avLst/>
          </a:prstGeom>
          <a:noFill/>
        </p:spPr>
        <p:txBody>
          <a:bodyPr wrap="square" lIns="0" tIns="0" rIns="0" bIns="0" anchor="t">
            <a:noAutofit/>
          </a:bodyPr>
          <a:lstStyle/>
          <a:p>
            <a:pPr marL="201168" indent="-201168">
              <a:lnSpc>
                <a:spcPct val="108000"/>
              </a:lnSpc>
              <a:spcAft>
                <a:spcPts val="400"/>
              </a:spcAft>
              <a:buClr>
                <a:srgbClr val="0B6E4F"/>
              </a:buClr>
              <a:buFont typeface="Arial"/>
              <a:buChar char="•"/>
              <a:defRPr sz="1150"/>
            </a:pPr>
            <a:r>
              <a:rPr sz="1150" b="0" i="0">
                <a:solidFill>
                  <a:srgbClr val="1F2A2E"/>
                </a:solidFill>
                <a:latin typeface="Calibri"/>
              </a:rPr>
              <a:t>Mirar datos rápido en la consola</a:t>
            </a:r>
          </a:p>
          <a:p>
            <a:pPr marL="201168" indent="-201168">
              <a:lnSpc>
                <a:spcPct val="108000"/>
              </a:lnSpc>
              <a:spcAft>
                <a:spcPts val="400"/>
              </a:spcAft>
              <a:buClr>
                <a:srgbClr val="0B6E4F"/>
              </a:buClr>
              <a:buFont typeface="Arial"/>
              <a:buChar char="•"/>
              <a:defRPr sz="1150"/>
            </a:pPr>
            <a:r>
              <a:rPr sz="1150" b="0" i="0">
                <a:solidFill>
                  <a:srgbClr val="1F2A2E"/>
                </a:solidFill>
                <a:latin typeface="Calibri"/>
              </a:rPr>
              <a:t>Diagnósticos de modelos: plot(modelo)</a:t>
            </a:r>
          </a:p>
          <a:p>
            <a:pPr marL="201168" indent="-201168">
              <a:lnSpc>
                <a:spcPct val="108000"/>
              </a:lnSpc>
              <a:spcAft>
                <a:spcPts val="400"/>
              </a:spcAft>
              <a:buClr>
                <a:srgbClr val="0B6E4F"/>
              </a:buClr>
              <a:buFont typeface="Arial"/>
              <a:buChar char="•"/>
              <a:defRPr sz="1150"/>
            </a:pPr>
            <a:r>
              <a:rPr sz="1150" b="0" i="0">
                <a:solidFill>
                  <a:srgbClr val="1F2A2E"/>
                </a:solidFill>
                <a:latin typeface="Calibri"/>
              </a:rPr>
              <a:t>Paquetes antiguos que solo dibujan así</a:t>
            </a:r>
          </a:p>
        </p:txBody>
      </p:sp>
      <p:sp>
        <p:nvSpPr>
          <p:cNvPr id="14" name="Rounded Rectangle 13"/>
          <p:cNvSpPr/>
          <p:nvPr/>
        </p:nvSpPr>
        <p:spPr>
          <a:xfrm>
            <a:off x="4297679" y="1508760"/>
            <a:ext cx="3593592" cy="4709160"/>
          </a:xfrm>
          <a:prstGeom prst="roundRect">
            <a:avLst>
              <a:gd name="adj" fmla="val 6000"/>
            </a:avLst>
          </a:prstGeom>
          <a:solidFill>
            <a:srgbClr val="EE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26279" y="1691640"/>
            <a:ext cx="3200400" cy="411480"/>
          </a:xfrm>
          <a:prstGeom prst="rect">
            <a:avLst/>
          </a:prstGeom>
          <a:noFill/>
        </p:spPr>
        <p:txBody>
          <a:bodyPr wrap="square" lIns="0" tIns="0" rIns="0" bIns="0" anchor="t">
            <a:noAutofit/>
          </a:bodyPr>
          <a:lstStyle/>
          <a:p>
            <a:pPr algn="l">
              <a:lnSpc>
                <a:spcPct val="110000"/>
              </a:lnSpc>
              <a:spcAft>
                <a:spcPts val="0"/>
              </a:spcAft>
              <a:defRPr sz="1800"/>
            </a:pPr>
            <a:r>
              <a:rPr sz="1800" b="1" i="0">
                <a:solidFill>
                  <a:srgbClr val="0B6E4F"/>
                </a:solidFill>
                <a:latin typeface="Cambria"/>
              </a:rPr>
              <a:t>lattice</a:t>
            </a:r>
          </a:p>
        </p:txBody>
      </p:sp>
      <p:sp>
        <p:nvSpPr>
          <p:cNvPr id="16" name="TextBox 15"/>
          <p:cNvSpPr txBox="1"/>
          <p:nvPr/>
        </p:nvSpPr>
        <p:spPr>
          <a:xfrm>
            <a:off x="4526279" y="2103120"/>
            <a:ext cx="3200400" cy="320040"/>
          </a:xfrm>
          <a:prstGeom prst="rect">
            <a:avLst/>
          </a:prstGeom>
          <a:noFill/>
        </p:spPr>
        <p:txBody>
          <a:bodyPr wrap="square" lIns="0" tIns="0" rIns="0" bIns="0" anchor="t">
            <a:noAutofit/>
          </a:bodyPr>
          <a:lstStyle/>
          <a:p>
            <a:pPr algn="l">
              <a:lnSpc>
                <a:spcPct val="110000"/>
              </a:lnSpc>
              <a:spcAft>
                <a:spcPts val="0"/>
              </a:spcAft>
              <a:defRPr sz="1100"/>
            </a:pPr>
            <a:r>
              <a:rPr sz="1100" b="0" i="1">
                <a:solidFill>
                  <a:srgbClr val="5B6B6F"/>
                </a:solidFill>
                <a:latin typeface="Calibri"/>
              </a:rPr>
              <a:t>Deepayan Sarkar, 2001</a:t>
            </a:r>
          </a:p>
        </p:txBody>
      </p:sp>
      <p:sp>
        <p:nvSpPr>
          <p:cNvPr id="17" name="Rounded Rectangle 16"/>
          <p:cNvSpPr/>
          <p:nvPr/>
        </p:nvSpPr>
        <p:spPr>
          <a:xfrm>
            <a:off x="4526279" y="2514600"/>
            <a:ext cx="3136392" cy="1234440"/>
          </a:xfrm>
          <a:prstGeom prst="roundRect">
            <a:avLst>
              <a:gd name="adj" fmla="val 4000"/>
            </a:avLst>
          </a:prstGeom>
          <a:solidFill>
            <a:srgbClr val="0F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690871" y="2642616"/>
            <a:ext cx="2807208" cy="978408"/>
          </a:xfrm>
          <a:prstGeom prst="rect">
            <a:avLst/>
          </a:prstGeom>
          <a:noFill/>
        </p:spPr>
        <p:txBody>
          <a:bodyPr wrap="square" lIns="0" tIns="0" rIns="0" bIns="0" anchor="t">
            <a:noAutofit/>
          </a:bodyPr>
          <a:lstStyle/>
          <a:p>
            <a:pPr>
              <a:lnSpc>
                <a:spcPct val="105000"/>
              </a:lnSpc>
              <a:spcAft>
                <a:spcPts val="100"/>
              </a:spcAft>
              <a:defRPr sz="1050"/>
            </a:pPr>
            <a:r>
              <a:rPr sz="1050" b="0" i="0">
                <a:solidFill>
                  <a:srgbClr val="E8F1EC"/>
                </a:solidFill>
                <a:latin typeface="Consolas"/>
              </a:rPr>
              <a:t>library(lattice)</a:t>
            </a:r>
          </a:p>
          <a:p>
            <a:pPr>
              <a:lnSpc>
                <a:spcPct val="105000"/>
              </a:lnSpc>
              <a:spcAft>
                <a:spcPts val="100"/>
              </a:spcAft>
              <a:defRPr sz="1050"/>
            </a:pPr>
            <a:r>
              <a:rPr sz="1050" b="0" i="0">
                <a:solidFill>
                  <a:srgbClr val="E8F1EC"/>
                </a:solidFill>
                <a:latin typeface="Consolas"/>
              </a:rPr>
              <a:t>xyplot(hwy ~ displ | drv,</a:t>
            </a:r>
          </a:p>
          <a:p>
            <a:pPr>
              <a:lnSpc>
                <a:spcPct val="105000"/>
              </a:lnSpc>
              <a:spcAft>
                <a:spcPts val="100"/>
              </a:spcAft>
              <a:defRPr sz="1050"/>
            </a:pPr>
            <a:r>
              <a:rPr sz="1050" b="0" i="0">
                <a:solidFill>
                  <a:srgbClr val="E8F1EC"/>
                </a:solidFill>
                <a:latin typeface="Consolas"/>
              </a:rPr>
              <a:t>       data = mpg)</a:t>
            </a:r>
          </a:p>
        </p:txBody>
      </p:sp>
      <p:sp>
        <p:nvSpPr>
          <p:cNvPr id="19" name="TextBox 18"/>
          <p:cNvSpPr txBox="1"/>
          <p:nvPr/>
        </p:nvSpPr>
        <p:spPr>
          <a:xfrm>
            <a:off x="4526279" y="3886200"/>
            <a:ext cx="3108960" cy="320040"/>
          </a:xfrm>
          <a:prstGeom prst="rect">
            <a:avLst/>
          </a:prstGeom>
          <a:noFill/>
        </p:spPr>
        <p:txBody>
          <a:bodyPr wrap="square" lIns="0" tIns="0" rIns="0" bIns="0" anchor="t">
            <a:noAutofit/>
          </a:bodyPr>
          <a:lstStyle/>
          <a:p>
            <a:pPr algn="l">
              <a:lnSpc>
                <a:spcPct val="110000"/>
              </a:lnSpc>
              <a:spcAft>
                <a:spcPts val="0"/>
              </a:spcAft>
              <a:defRPr sz="1200"/>
            </a:pPr>
            <a:r>
              <a:rPr sz="1200" b="1" i="0">
                <a:solidFill>
                  <a:srgbClr val="0B6E4F"/>
                </a:solidFill>
                <a:latin typeface="Calibri"/>
              </a:rPr>
              <a:t>Úsalo para</a:t>
            </a:r>
          </a:p>
        </p:txBody>
      </p:sp>
      <p:sp>
        <p:nvSpPr>
          <p:cNvPr id="20" name="TextBox 19"/>
          <p:cNvSpPr txBox="1"/>
          <p:nvPr/>
        </p:nvSpPr>
        <p:spPr>
          <a:xfrm>
            <a:off x="4526279" y="4206240"/>
            <a:ext cx="3154680" cy="1920240"/>
          </a:xfrm>
          <a:prstGeom prst="rect">
            <a:avLst/>
          </a:prstGeom>
          <a:noFill/>
        </p:spPr>
        <p:txBody>
          <a:bodyPr wrap="square" lIns="0" tIns="0" rIns="0" bIns="0" anchor="t">
            <a:noAutofit/>
          </a:bodyPr>
          <a:lstStyle/>
          <a:p>
            <a:pPr marL="201168" indent="-201168">
              <a:lnSpc>
                <a:spcPct val="108000"/>
              </a:lnSpc>
              <a:spcAft>
                <a:spcPts val="400"/>
              </a:spcAft>
              <a:buClr>
                <a:srgbClr val="0B6E4F"/>
              </a:buClr>
              <a:buFont typeface="Arial"/>
              <a:buChar char="•"/>
              <a:defRPr sz="1150"/>
            </a:pPr>
            <a:r>
              <a:rPr sz="1150" b="0" i="0">
                <a:solidFill>
                  <a:srgbClr val="1F2A2E"/>
                </a:solidFill>
                <a:latin typeface="Calibri"/>
              </a:rPr>
              <a:t>Paneles condicionados por una fórmula</a:t>
            </a:r>
          </a:p>
          <a:p>
            <a:pPr marL="201168" indent="-201168">
              <a:lnSpc>
                <a:spcPct val="108000"/>
              </a:lnSpc>
              <a:spcAft>
                <a:spcPts val="400"/>
              </a:spcAft>
              <a:buClr>
                <a:srgbClr val="0B6E4F"/>
              </a:buClr>
              <a:buFont typeface="Arial"/>
              <a:buChar char="•"/>
              <a:defRPr sz="1150"/>
            </a:pPr>
            <a:r>
              <a:rPr sz="1150" b="0" i="0">
                <a:solidFill>
                  <a:srgbClr val="1F2A2E"/>
                </a:solidFill>
                <a:latin typeface="Calibri"/>
              </a:rPr>
              <a:t>Estadística clásica y diseños experimentales</a:t>
            </a:r>
          </a:p>
          <a:p>
            <a:pPr marL="201168" indent="-201168">
              <a:lnSpc>
                <a:spcPct val="108000"/>
              </a:lnSpc>
              <a:spcAft>
                <a:spcPts val="400"/>
              </a:spcAft>
              <a:buClr>
                <a:srgbClr val="0B6E4F"/>
              </a:buClr>
              <a:buFont typeface="Arial"/>
              <a:buChar char="•"/>
              <a:defRPr sz="1150"/>
            </a:pPr>
            <a:r>
              <a:rPr sz="1150" b="0" i="0">
                <a:solidFill>
                  <a:srgbClr val="1F2A2E"/>
                </a:solidFill>
                <a:latin typeface="Calibri"/>
              </a:rPr>
              <a:t>Leer código de libros y artículos anteriores a 2010</a:t>
            </a:r>
          </a:p>
        </p:txBody>
      </p:sp>
      <p:sp>
        <p:nvSpPr>
          <p:cNvPr id="21" name="Rounded Rectangle 20"/>
          <p:cNvSpPr/>
          <p:nvPr/>
        </p:nvSpPr>
        <p:spPr>
          <a:xfrm>
            <a:off x="8046719" y="1508760"/>
            <a:ext cx="3593592" cy="4709160"/>
          </a:xfrm>
          <a:prstGeom prst="roundRect">
            <a:avLst>
              <a:gd name="adj" fmla="val 6000"/>
            </a:avLst>
          </a:prstGeom>
          <a:solidFill>
            <a:srgbClr val="FFF3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275319" y="1691640"/>
            <a:ext cx="3200400" cy="411480"/>
          </a:xfrm>
          <a:prstGeom prst="rect">
            <a:avLst/>
          </a:prstGeom>
          <a:noFill/>
        </p:spPr>
        <p:txBody>
          <a:bodyPr wrap="square" lIns="0" tIns="0" rIns="0" bIns="0" anchor="t">
            <a:noAutofit/>
          </a:bodyPr>
          <a:lstStyle/>
          <a:p>
            <a:pPr algn="l">
              <a:lnSpc>
                <a:spcPct val="110000"/>
              </a:lnSpc>
              <a:spcAft>
                <a:spcPts val="0"/>
              </a:spcAft>
              <a:defRPr sz="1800"/>
            </a:pPr>
            <a:r>
              <a:rPr sz="1800" b="1" i="0">
                <a:solidFill>
                  <a:srgbClr val="0B6E4F"/>
                </a:solidFill>
                <a:latin typeface="Cambria"/>
              </a:rPr>
              <a:t>ggplot2</a:t>
            </a:r>
          </a:p>
        </p:txBody>
      </p:sp>
      <p:sp>
        <p:nvSpPr>
          <p:cNvPr id="23" name="TextBox 22"/>
          <p:cNvSpPr txBox="1"/>
          <p:nvPr/>
        </p:nvSpPr>
        <p:spPr>
          <a:xfrm>
            <a:off x="8275319" y="2103120"/>
            <a:ext cx="3200400" cy="320040"/>
          </a:xfrm>
          <a:prstGeom prst="rect">
            <a:avLst/>
          </a:prstGeom>
          <a:noFill/>
        </p:spPr>
        <p:txBody>
          <a:bodyPr wrap="square" lIns="0" tIns="0" rIns="0" bIns="0" anchor="t">
            <a:noAutofit/>
          </a:bodyPr>
          <a:lstStyle/>
          <a:p>
            <a:pPr algn="l">
              <a:lnSpc>
                <a:spcPct val="110000"/>
              </a:lnSpc>
              <a:spcAft>
                <a:spcPts val="0"/>
              </a:spcAft>
              <a:defRPr sz="1100"/>
            </a:pPr>
            <a:r>
              <a:rPr sz="1100" b="0" i="1">
                <a:solidFill>
                  <a:srgbClr val="5B6B6F"/>
                </a:solidFill>
                <a:latin typeface="Calibri"/>
              </a:rPr>
              <a:t>Hadley Wickham, 2007</a:t>
            </a:r>
          </a:p>
        </p:txBody>
      </p:sp>
      <p:sp>
        <p:nvSpPr>
          <p:cNvPr id="24" name="Rounded Rectangle 23"/>
          <p:cNvSpPr/>
          <p:nvPr/>
        </p:nvSpPr>
        <p:spPr>
          <a:xfrm>
            <a:off x="8275319" y="2514600"/>
            <a:ext cx="3136392" cy="1234440"/>
          </a:xfrm>
          <a:prstGeom prst="roundRect">
            <a:avLst>
              <a:gd name="adj" fmla="val 4000"/>
            </a:avLst>
          </a:prstGeom>
          <a:solidFill>
            <a:srgbClr val="0F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439911" y="2642616"/>
            <a:ext cx="2807208" cy="978408"/>
          </a:xfrm>
          <a:prstGeom prst="rect">
            <a:avLst/>
          </a:prstGeom>
          <a:noFill/>
        </p:spPr>
        <p:txBody>
          <a:bodyPr wrap="square" lIns="0" tIns="0" rIns="0" bIns="0" anchor="t">
            <a:noAutofit/>
          </a:bodyPr>
          <a:lstStyle/>
          <a:p>
            <a:pPr>
              <a:lnSpc>
                <a:spcPct val="105000"/>
              </a:lnSpc>
              <a:spcAft>
                <a:spcPts val="100"/>
              </a:spcAft>
              <a:defRPr sz="1050"/>
            </a:pPr>
            <a:r>
              <a:rPr sz="1050" b="0" i="0">
                <a:solidFill>
                  <a:srgbClr val="E8F1EC"/>
                </a:solidFill>
                <a:latin typeface="Consolas"/>
              </a:rPr>
              <a:t>ggplot(mpg, aes(displ, hwy)) +</a:t>
            </a:r>
          </a:p>
          <a:p>
            <a:pPr>
              <a:lnSpc>
                <a:spcPct val="105000"/>
              </a:lnSpc>
              <a:spcAft>
                <a:spcPts val="100"/>
              </a:spcAft>
              <a:defRPr sz="1050"/>
            </a:pPr>
            <a:r>
              <a:rPr sz="1050" b="0" i="0">
                <a:solidFill>
                  <a:srgbClr val="E8F1EC"/>
                </a:solidFill>
                <a:latin typeface="Consolas"/>
              </a:rPr>
              <a:t>  geom_point() +</a:t>
            </a:r>
          </a:p>
          <a:p>
            <a:pPr>
              <a:lnSpc>
                <a:spcPct val="105000"/>
              </a:lnSpc>
              <a:spcAft>
                <a:spcPts val="100"/>
              </a:spcAft>
              <a:defRPr sz="1050"/>
            </a:pPr>
            <a:r>
              <a:rPr sz="1050" b="0" i="0">
                <a:solidFill>
                  <a:srgbClr val="E8F1EC"/>
                </a:solidFill>
                <a:latin typeface="Consolas"/>
              </a:rPr>
              <a:t>  facet_wrap(~ drv)</a:t>
            </a:r>
          </a:p>
        </p:txBody>
      </p:sp>
      <p:sp>
        <p:nvSpPr>
          <p:cNvPr id="26" name="TextBox 25"/>
          <p:cNvSpPr txBox="1"/>
          <p:nvPr/>
        </p:nvSpPr>
        <p:spPr>
          <a:xfrm>
            <a:off x="8275319" y="3886200"/>
            <a:ext cx="3108960" cy="320040"/>
          </a:xfrm>
          <a:prstGeom prst="rect">
            <a:avLst/>
          </a:prstGeom>
          <a:noFill/>
        </p:spPr>
        <p:txBody>
          <a:bodyPr wrap="square" lIns="0" tIns="0" rIns="0" bIns="0" anchor="t">
            <a:noAutofit/>
          </a:bodyPr>
          <a:lstStyle/>
          <a:p>
            <a:pPr algn="l">
              <a:lnSpc>
                <a:spcPct val="110000"/>
              </a:lnSpc>
              <a:spcAft>
                <a:spcPts val="0"/>
              </a:spcAft>
              <a:defRPr sz="1200"/>
            </a:pPr>
            <a:r>
              <a:rPr sz="1200" b="1" i="0">
                <a:solidFill>
                  <a:srgbClr val="B7791F"/>
                </a:solidFill>
                <a:latin typeface="Calibri"/>
              </a:rPr>
              <a:t>Úsalo para</a:t>
            </a:r>
          </a:p>
        </p:txBody>
      </p:sp>
      <p:sp>
        <p:nvSpPr>
          <p:cNvPr id="27" name="TextBox 26"/>
          <p:cNvSpPr txBox="1"/>
          <p:nvPr/>
        </p:nvSpPr>
        <p:spPr>
          <a:xfrm>
            <a:off x="8275319" y="4206240"/>
            <a:ext cx="3154680" cy="1920240"/>
          </a:xfrm>
          <a:prstGeom prst="rect">
            <a:avLst/>
          </a:prstGeom>
          <a:noFill/>
        </p:spPr>
        <p:txBody>
          <a:bodyPr wrap="square" lIns="0" tIns="0" rIns="0" bIns="0" anchor="t">
            <a:noAutofit/>
          </a:bodyPr>
          <a:lstStyle/>
          <a:p>
            <a:pPr marL="201168" indent="-201168">
              <a:lnSpc>
                <a:spcPct val="108000"/>
              </a:lnSpc>
              <a:spcAft>
                <a:spcPts val="400"/>
              </a:spcAft>
              <a:buClr>
                <a:srgbClr val="B7791F"/>
              </a:buClr>
              <a:buFont typeface="Arial"/>
              <a:buChar char="•"/>
              <a:defRPr sz="1150"/>
            </a:pPr>
            <a:r>
              <a:rPr sz="1150" b="0" i="0">
                <a:solidFill>
                  <a:srgbClr val="1F2A2E"/>
                </a:solidFill>
                <a:latin typeface="Calibri"/>
              </a:rPr>
              <a:t>Cualquier gráfico para comunicar</a:t>
            </a:r>
          </a:p>
          <a:p>
            <a:pPr marL="201168" indent="-201168">
              <a:lnSpc>
                <a:spcPct val="108000"/>
              </a:lnSpc>
              <a:spcAft>
                <a:spcPts val="400"/>
              </a:spcAft>
              <a:buClr>
                <a:srgbClr val="B7791F"/>
              </a:buClr>
              <a:buFont typeface="Arial"/>
              <a:buChar char="•"/>
              <a:defRPr sz="1150"/>
            </a:pPr>
            <a:r>
              <a:rPr sz="1150" b="0" i="0">
                <a:solidFill>
                  <a:srgbClr val="1F2A2E"/>
                </a:solidFill>
                <a:latin typeface="Calibri"/>
              </a:rPr>
              <a:t>Personalización total mediante capas</a:t>
            </a:r>
          </a:p>
          <a:p>
            <a:pPr marL="201168" indent="-201168">
              <a:lnSpc>
                <a:spcPct val="108000"/>
              </a:lnSpc>
              <a:spcAft>
                <a:spcPts val="400"/>
              </a:spcAft>
              <a:buClr>
                <a:srgbClr val="B7791F"/>
              </a:buClr>
              <a:buFont typeface="Arial"/>
              <a:buChar char="•"/>
              <a:defRPr sz="1150"/>
            </a:pPr>
            <a:r>
              <a:rPr sz="1150" b="0" i="0">
                <a:solidFill>
                  <a:srgbClr val="1F2A2E"/>
                </a:solidFill>
                <a:latin typeface="Calibri"/>
              </a:rPr>
              <a:t>El estándar de la comunidad y de este curso</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6446520"/>
            <a:ext cx="7315200" cy="274320"/>
          </a:xfrm>
          <a:prstGeom prst="rect">
            <a:avLst/>
          </a:prstGeom>
          <a:noFill/>
        </p:spPr>
        <p:txBody>
          <a:bodyPr wrap="square" lIns="0" tIns="0" rIns="0" bIns="0" anchor="t">
            <a:noAutofit/>
          </a:bodyPr>
          <a:lstStyle/>
          <a:p>
            <a:pPr algn="l">
              <a:lnSpc>
                <a:spcPct val="110000"/>
              </a:lnSpc>
              <a:spcAft>
                <a:spcPts val="0"/>
              </a:spcAft>
              <a:defRPr sz="900"/>
            </a:pPr>
            <a:r>
              <a:rPr sz="900" b="0" i="0">
                <a:solidFill>
                  <a:srgbClr val="9AA7AB"/>
                </a:solidFill>
                <a:latin typeface="Calibri"/>
              </a:rPr>
              <a:t>Visualización de Datos · Clase 18 · R y visualización de datos</a:t>
            </a:r>
          </a:p>
        </p:txBody>
      </p:sp>
      <p:sp>
        <p:nvSpPr>
          <p:cNvPr id="4" name="TextBox 3"/>
          <p:cNvSpPr txBox="1"/>
          <p:nvPr/>
        </p:nvSpPr>
        <p:spPr>
          <a:xfrm>
            <a:off x="10972800" y="6446520"/>
            <a:ext cx="667512" cy="274320"/>
          </a:xfrm>
          <a:prstGeom prst="rect">
            <a:avLst/>
          </a:prstGeom>
          <a:noFill/>
        </p:spPr>
        <p:txBody>
          <a:bodyPr wrap="square" lIns="0" tIns="0" rIns="0" bIns="0" anchor="t">
            <a:noAutofit/>
          </a:bodyPr>
          <a:lstStyle/>
          <a:p>
            <a:pPr algn="r">
              <a:lnSpc>
                <a:spcPct val="110000"/>
              </a:lnSpc>
              <a:spcAft>
                <a:spcPts val="0"/>
              </a:spcAft>
              <a:defRPr sz="900"/>
            </a:pPr>
            <a:r>
              <a:rPr sz="900" b="0" i="0">
                <a:solidFill>
                  <a:srgbClr val="9AA7AB"/>
                </a:solidFill>
                <a:latin typeface="Calibri"/>
              </a:rPr>
              <a:t>8</a:t>
            </a:r>
          </a:p>
        </p:txBody>
      </p:sp>
      <p:sp>
        <p:nvSpPr>
          <p:cNvPr id="5" name="TextBox 4"/>
          <p:cNvSpPr txBox="1"/>
          <p:nvPr/>
        </p:nvSpPr>
        <p:spPr>
          <a:xfrm>
            <a:off x="548640" y="457200"/>
            <a:ext cx="11091672" cy="731520"/>
          </a:xfrm>
          <a:prstGeom prst="rect">
            <a:avLst/>
          </a:prstGeom>
          <a:noFill/>
        </p:spPr>
        <p:txBody>
          <a:bodyPr wrap="square" lIns="0" tIns="0" rIns="0" bIns="0" anchor="t">
            <a:noAutofit/>
          </a:bodyPr>
          <a:lstStyle/>
          <a:p>
            <a:pPr algn="l">
              <a:lnSpc>
                <a:spcPct val="110000"/>
              </a:lnSpc>
              <a:spcAft>
                <a:spcPts val="0"/>
              </a:spcAft>
              <a:defRPr sz="3000"/>
            </a:pPr>
            <a:r>
              <a:rPr sz="3000" b="1" i="0">
                <a:solidFill>
                  <a:srgbClr val="0B6E4F"/>
                </a:solidFill>
                <a:latin typeface="Cambria"/>
              </a:rPr>
              <a:t>Del ecosistema Python (clases 16 y 17) al ecosistema R</a:t>
            </a:r>
          </a:p>
        </p:txBody>
      </p:sp>
      <p:sp>
        <p:nvSpPr>
          <p:cNvPr id="6" name="TextBox 5"/>
          <p:cNvSpPr txBox="1"/>
          <p:nvPr/>
        </p:nvSpPr>
        <p:spPr>
          <a:xfrm>
            <a:off x="548640" y="1115568"/>
            <a:ext cx="11091672" cy="411480"/>
          </a:xfrm>
          <a:prstGeom prst="rect">
            <a:avLst/>
          </a:prstGeom>
          <a:noFill/>
        </p:spPr>
        <p:txBody>
          <a:bodyPr wrap="square" lIns="0" tIns="0" rIns="0" bIns="0" anchor="t">
            <a:noAutofit/>
          </a:bodyPr>
          <a:lstStyle/>
          <a:p>
            <a:pPr algn="l">
              <a:lnSpc>
                <a:spcPct val="110000"/>
              </a:lnSpc>
              <a:spcAft>
                <a:spcPts val="0"/>
              </a:spcAft>
              <a:defRPr sz="1400"/>
            </a:pPr>
            <a:r>
              <a:rPr sz="1400" b="0" i="0">
                <a:solidFill>
                  <a:srgbClr val="5B6B6F"/>
                </a:solidFill>
                <a:latin typeface="Calibri"/>
              </a:rPr>
              <a:t>Ya conoces el ciclo: cambia la herramienta, no el criterio</a:t>
            </a:r>
          </a:p>
        </p:txBody>
      </p:sp>
      <p:graphicFrame>
        <p:nvGraphicFramePr>
          <p:cNvPr id="7" name="Table 6"/>
          <p:cNvGraphicFramePr>
            <a:graphicFrameLocks noGrp="1"/>
          </p:cNvGraphicFramePr>
          <p:nvPr/>
        </p:nvGraphicFramePr>
        <p:xfrm>
          <a:off x="548640" y="1508760"/>
          <a:ext cx="7772400" cy="448056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2468880">
                  <a:extLst>
                    <a:ext uri="{9D8B030D-6E8A-4147-A177-3AD203B41FA5}">
                      <a16:colId xmlns:a16="http://schemas.microsoft.com/office/drawing/2014/main" val="20001"/>
                    </a:ext>
                  </a:extLst>
                </a:gridCol>
                <a:gridCol w="3017520">
                  <a:extLst>
                    <a:ext uri="{9D8B030D-6E8A-4147-A177-3AD203B41FA5}">
                      <a16:colId xmlns:a16="http://schemas.microsoft.com/office/drawing/2014/main" val="20002"/>
                    </a:ext>
                  </a:extLst>
                </a:gridCol>
              </a:tblGrid>
              <a:tr h="497840">
                <a:tc>
                  <a:txBody>
                    <a:bodyPr/>
                    <a:lstStyle/>
                    <a:p>
                      <a:r>
                        <a:rPr sz="1300" b="1" i="0">
                          <a:solidFill>
                            <a:srgbClr val="FFFFFF"/>
                          </a:solidFill>
                          <a:latin typeface="Calibri"/>
                        </a:rPr>
                        <a:t>Tarea</a:t>
                      </a:r>
                    </a:p>
                  </a:txBody>
                  <a:tcPr marL="109728" marR="109728" marT="36576" marB="36576" anchor="ctr">
                    <a:solidFill>
                      <a:srgbClr val="0B6E4F"/>
                    </a:solidFill>
                  </a:tcPr>
                </a:tc>
                <a:tc>
                  <a:txBody>
                    <a:bodyPr/>
                    <a:lstStyle/>
                    <a:p>
                      <a:r>
                        <a:rPr sz="1300" b="1" i="0">
                          <a:solidFill>
                            <a:srgbClr val="FFFFFF"/>
                          </a:solidFill>
                          <a:latin typeface="Calibri"/>
                        </a:rPr>
                        <a:t>En Python</a:t>
                      </a:r>
                    </a:p>
                  </a:txBody>
                  <a:tcPr marL="109728" marR="109728" marT="36576" marB="36576" anchor="ctr">
                    <a:solidFill>
                      <a:srgbClr val="0B6E4F"/>
                    </a:solidFill>
                  </a:tcPr>
                </a:tc>
                <a:tc>
                  <a:txBody>
                    <a:bodyPr/>
                    <a:lstStyle/>
                    <a:p>
                      <a:r>
                        <a:rPr sz="1300" b="1" i="0">
                          <a:solidFill>
                            <a:srgbClr val="FFFFFF"/>
                          </a:solidFill>
                          <a:latin typeface="Calibri"/>
                        </a:rPr>
                        <a:t>En R</a:t>
                      </a:r>
                    </a:p>
                  </a:txBody>
                  <a:tcPr marL="109728" marR="109728" marT="36576" marB="36576" anchor="ctr">
                    <a:solidFill>
                      <a:srgbClr val="0B6E4F"/>
                    </a:solidFill>
                  </a:tcPr>
                </a:tc>
                <a:extLst>
                  <a:ext uri="{0D108BD9-81ED-4DB2-BD59-A6C34878D82A}">
                    <a16:rowId xmlns:a16="http://schemas.microsoft.com/office/drawing/2014/main" val="10000"/>
                  </a:ext>
                </a:extLst>
              </a:tr>
              <a:tr h="497840">
                <a:tc>
                  <a:txBody>
                    <a:bodyPr/>
                    <a:lstStyle/>
                    <a:p>
                      <a:r>
                        <a:rPr sz="1250" b="1" i="0">
                          <a:solidFill>
                            <a:srgbClr val="1F2A2E"/>
                          </a:solidFill>
                          <a:latin typeface="Calibri"/>
                        </a:rPr>
                        <a:t>Manipular datos</a:t>
                      </a:r>
                    </a:p>
                  </a:txBody>
                  <a:tcPr marL="109728" marR="109728" marT="36576" marB="36576" anchor="ctr">
                    <a:solidFill>
                      <a:srgbClr val="EEF6F2"/>
                    </a:solidFill>
                  </a:tcPr>
                </a:tc>
                <a:tc>
                  <a:txBody>
                    <a:bodyPr/>
                    <a:lstStyle/>
                    <a:p>
                      <a:r>
                        <a:rPr sz="1250" b="0" i="0">
                          <a:solidFill>
                            <a:srgbClr val="1F2A2E"/>
                          </a:solidFill>
                          <a:latin typeface="Consolas"/>
                        </a:rPr>
                        <a:t>pandas</a:t>
                      </a:r>
                    </a:p>
                  </a:txBody>
                  <a:tcPr marL="109728" marR="109728" marT="36576" marB="36576" anchor="ctr">
                    <a:solidFill>
                      <a:srgbClr val="EEF6F2"/>
                    </a:solidFill>
                  </a:tcPr>
                </a:tc>
                <a:tc>
                  <a:txBody>
                    <a:bodyPr/>
                    <a:lstStyle/>
                    <a:p>
                      <a:r>
                        <a:rPr sz="1250" b="0" i="0">
                          <a:solidFill>
                            <a:srgbClr val="0B6E4F"/>
                          </a:solidFill>
                          <a:latin typeface="Consolas"/>
                        </a:rPr>
                        <a:t>dplyr, tidyr (tidyverse)</a:t>
                      </a:r>
                    </a:p>
                  </a:txBody>
                  <a:tcPr marL="109728" marR="109728" marT="36576" marB="36576" anchor="ctr">
                    <a:solidFill>
                      <a:srgbClr val="EEF6F2"/>
                    </a:solidFill>
                  </a:tcPr>
                </a:tc>
                <a:extLst>
                  <a:ext uri="{0D108BD9-81ED-4DB2-BD59-A6C34878D82A}">
                    <a16:rowId xmlns:a16="http://schemas.microsoft.com/office/drawing/2014/main" val="10001"/>
                  </a:ext>
                </a:extLst>
              </a:tr>
              <a:tr h="497840">
                <a:tc>
                  <a:txBody>
                    <a:bodyPr/>
                    <a:lstStyle/>
                    <a:p>
                      <a:r>
                        <a:rPr sz="1250" b="1" i="0">
                          <a:solidFill>
                            <a:srgbClr val="1F2A2E"/>
                          </a:solidFill>
                          <a:latin typeface="Calibri"/>
                        </a:rPr>
                        <a:t>Gráfico estático</a:t>
                      </a:r>
                    </a:p>
                  </a:txBody>
                  <a:tcPr marL="109728" marR="109728" marT="36576" marB="36576" anchor="ctr">
                    <a:solidFill>
                      <a:srgbClr val="FFFFFF"/>
                    </a:solidFill>
                  </a:tcPr>
                </a:tc>
                <a:tc>
                  <a:txBody>
                    <a:bodyPr/>
                    <a:lstStyle/>
                    <a:p>
                      <a:r>
                        <a:rPr sz="1250" b="0" i="0">
                          <a:solidFill>
                            <a:srgbClr val="1F2A2E"/>
                          </a:solidFill>
                          <a:latin typeface="Consolas"/>
                        </a:rPr>
                        <a:t>Matplotlib</a:t>
                      </a:r>
                    </a:p>
                  </a:txBody>
                  <a:tcPr marL="109728" marR="109728" marT="36576" marB="36576" anchor="ctr">
                    <a:solidFill>
                      <a:srgbClr val="FFFFFF"/>
                    </a:solidFill>
                  </a:tcPr>
                </a:tc>
                <a:tc>
                  <a:txBody>
                    <a:bodyPr/>
                    <a:lstStyle/>
                    <a:p>
                      <a:r>
                        <a:rPr sz="1250" b="0" i="0">
                          <a:solidFill>
                            <a:srgbClr val="0B6E4F"/>
                          </a:solidFill>
                          <a:latin typeface="Consolas"/>
                        </a:rPr>
                        <a:t>gráficos base, ggplot2</a:t>
                      </a:r>
                    </a:p>
                  </a:txBody>
                  <a:tcPr marL="109728" marR="109728" marT="36576" marB="36576" anchor="ctr">
                    <a:solidFill>
                      <a:srgbClr val="FFFFFF"/>
                    </a:solidFill>
                  </a:tcPr>
                </a:tc>
                <a:extLst>
                  <a:ext uri="{0D108BD9-81ED-4DB2-BD59-A6C34878D82A}">
                    <a16:rowId xmlns:a16="http://schemas.microsoft.com/office/drawing/2014/main" val="10002"/>
                  </a:ext>
                </a:extLst>
              </a:tr>
              <a:tr h="497840">
                <a:tc>
                  <a:txBody>
                    <a:bodyPr/>
                    <a:lstStyle/>
                    <a:p>
                      <a:r>
                        <a:rPr sz="1250" b="1" i="0">
                          <a:solidFill>
                            <a:srgbClr val="1F2A2E"/>
                          </a:solidFill>
                          <a:latin typeface="Calibri"/>
                        </a:rPr>
                        <a:t>Gráfico estadístico</a:t>
                      </a:r>
                    </a:p>
                  </a:txBody>
                  <a:tcPr marL="109728" marR="109728" marT="36576" marB="36576" anchor="ctr">
                    <a:solidFill>
                      <a:srgbClr val="EEF6F2"/>
                    </a:solidFill>
                  </a:tcPr>
                </a:tc>
                <a:tc>
                  <a:txBody>
                    <a:bodyPr/>
                    <a:lstStyle/>
                    <a:p>
                      <a:r>
                        <a:rPr sz="1250" b="0" i="0">
                          <a:solidFill>
                            <a:srgbClr val="1F2A2E"/>
                          </a:solidFill>
                          <a:latin typeface="Consolas"/>
                        </a:rPr>
                        <a:t>Seaborn</a:t>
                      </a:r>
                    </a:p>
                  </a:txBody>
                  <a:tcPr marL="109728" marR="109728" marT="36576" marB="36576" anchor="ctr">
                    <a:solidFill>
                      <a:srgbClr val="EEF6F2"/>
                    </a:solidFill>
                  </a:tcPr>
                </a:tc>
                <a:tc>
                  <a:txBody>
                    <a:bodyPr/>
                    <a:lstStyle/>
                    <a:p>
                      <a:r>
                        <a:rPr sz="1250" b="0" i="0">
                          <a:solidFill>
                            <a:srgbClr val="0B6E4F"/>
                          </a:solidFill>
                          <a:latin typeface="Consolas"/>
                        </a:rPr>
                        <a:t>ggplot2 (+ ggpubr, ggstatsplot)</a:t>
                      </a:r>
                    </a:p>
                  </a:txBody>
                  <a:tcPr marL="109728" marR="109728" marT="36576" marB="36576" anchor="ctr">
                    <a:solidFill>
                      <a:srgbClr val="EEF6F2"/>
                    </a:solidFill>
                  </a:tcPr>
                </a:tc>
                <a:extLst>
                  <a:ext uri="{0D108BD9-81ED-4DB2-BD59-A6C34878D82A}">
                    <a16:rowId xmlns:a16="http://schemas.microsoft.com/office/drawing/2014/main" val="10003"/>
                  </a:ext>
                </a:extLst>
              </a:tr>
              <a:tr h="497840">
                <a:tc>
                  <a:txBody>
                    <a:bodyPr/>
                    <a:lstStyle/>
                    <a:p>
                      <a:r>
                        <a:rPr sz="1250" b="1" i="0">
                          <a:solidFill>
                            <a:srgbClr val="1F2A2E"/>
                          </a:solidFill>
                          <a:latin typeface="Calibri"/>
                        </a:rPr>
                        <a:t>Gramática declarativa</a:t>
                      </a:r>
                    </a:p>
                  </a:txBody>
                  <a:tcPr marL="109728" marR="109728" marT="36576" marB="36576" anchor="ctr">
                    <a:solidFill>
                      <a:srgbClr val="FFFFFF"/>
                    </a:solidFill>
                  </a:tcPr>
                </a:tc>
                <a:tc>
                  <a:txBody>
                    <a:bodyPr/>
                    <a:lstStyle/>
                    <a:p>
                      <a:r>
                        <a:rPr sz="1250" b="0" i="0">
                          <a:solidFill>
                            <a:srgbClr val="1F2A2E"/>
                          </a:solidFill>
                          <a:latin typeface="Consolas"/>
                        </a:rPr>
                        <a:t>Altair (Vega-Lite)</a:t>
                      </a:r>
                    </a:p>
                  </a:txBody>
                  <a:tcPr marL="109728" marR="109728" marT="36576" marB="36576" anchor="ctr">
                    <a:solidFill>
                      <a:srgbClr val="FFFFFF"/>
                    </a:solidFill>
                  </a:tcPr>
                </a:tc>
                <a:tc>
                  <a:txBody>
                    <a:bodyPr/>
                    <a:lstStyle/>
                    <a:p>
                      <a:r>
                        <a:rPr sz="1250" b="0" i="0">
                          <a:solidFill>
                            <a:srgbClr val="0B6E4F"/>
                          </a:solidFill>
                          <a:latin typeface="Consolas"/>
                        </a:rPr>
                        <a:t>ggplot2</a:t>
                      </a:r>
                    </a:p>
                  </a:txBody>
                  <a:tcPr marL="109728" marR="109728" marT="36576" marB="36576" anchor="ctr">
                    <a:solidFill>
                      <a:srgbClr val="FFFFFF"/>
                    </a:solidFill>
                  </a:tcPr>
                </a:tc>
                <a:extLst>
                  <a:ext uri="{0D108BD9-81ED-4DB2-BD59-A6C34878D82A}">
                    <a16:rowId xmlns:a16="http://schemas.microsoft.com/office/drawing/2014/main" val="10004"/>
                  </a:ext>
                </a:extLst>
              </a:tr>
              <a:tr h="497840">
                <a:tc>
                  <a:txBody>
                    <a:bodyPr/>
                    <a:lstStyle/>
                    <a:p>
                      <a:r>
                        <a:rPr sz="1250" b="1" i="0">
                          <a:solidFill>
                            <a:srgbClr val="1F2A2E"/>
                          </a:solidFill>
                          <a:latin typeface="Calibri"/>
                        </a:rPr>
                        <a:t>Interactivo</a:t>
                      </a:r>
                    </a:p>
                  </a:txBody>
                  <a:tcPr marL="109728" marR="109728" marT="36576" marB="36576" anchor="ctr">
                    <a:solidFill>
                      <a:srgbClr val="EEF6F2"/>
                    </a:solidFill>
                  </a:tcPr>
                </a:tc>
                <a:tc>
                  <a:txBody>
                    <a:bodyPr/>
                    <a:lstStyle/>
                    <a:p>
                      <a:r>
                        <a:rPr sz="1250" b="0" i="0">
                          <a:solidFill>
                            <a:srgbClr val="1F2A2E"/>
                          </a:solidFill>
                          <a:latin typeface="Consolas"/>
                        </a:rPr>
                        <a:t>Plotly</a:t>
                      </a:r>
                    </a:p>
                  </a:txBody>
                  <a:tcPr marL="109728" marR="109728" marT="36576" marB="36576" anchor="ctr">
                    <a:solidFill>
                      <a:srgbClr val="EEF6F2"/>
                    </a:solidFill>
                  </a:tcPr>
                </a:tc>
                <a:tc>
                  <a:txBody>
                    <a:bodyPr/>
                    <a:lstStyle/>
                    <a:p>
                      <a:r>
                        <a:rPr sz="1250" b="0" i="0">
                          <a:solidFill>
                            <a:srgbClr val="0B6E4F"/>
                          </a:solidFill>
                          <a:latin typeface="Consolas"/>
                        </a:rPr>
                        <a:t>plotly (ggplotly), highcharter</a:t>
                      </a:r>
                    </a:p>
                  </a:txBody>
                  <a:tcPr marL="109728" marR="109728" marT="36576" marB="36576" anchor="ctr">
                    <a:solidFill>
                      <a:srgbClr val="EEF6F2"/>
                    </a:solidFill>
                  </a:tcPr>
                </a:tc>
                <a:extLst>
                  <a:ext uri="{0D108BD9-81ED-4DB2-BD59-A6C34878D82A}">
                    <a16:rowId xmlns:a16="http://schemas.microsoft.com/office/drawing/2014/main" val="10005"/>
                  </a:ext>
                </a:extLst>
              </a:tr>
              <a:tr h="497840">
                <a:tc>
                  <a:txBody>
                    <a:bodyPr/>
                    <a:lstStyle/>
                    <a:p>
                      <a:r>
                        <a:rPr sz="1250" b="1" i="0">
                          <a:solidFill>
                            <a:srgbClr val="1F2A2E"/>
                          </a:solidFill>
                          <a:latin typeface="Calibri"/>
                        </a:rPr>
                        <a:t>Mapas</a:t>
                      </a:r>
                    </a:p>
                  </a:txBody>
                  <a:tcPr marL="109728" marR="109728" marT="36576" marB="36576" anchor="ctr">
                    <a:solidFill>
                      <a:srgbClr val="FFFFFF"/>
                    </a:solidFill>
                  </a:tcPr>
                </a:tc>
                <a:tc>
                  <a:txBody>
                    <a:bodyPr/>
                    <a:lstStyle/>
                    <a:p>
                      <a:r>
                        <a:rPr sz="1250" b="0" i="0">
                          <a:solidFill>
                            <a:srgbClr val="1F2A2E"/>
                          </a:solidFill>
                          <a:latin typeface="Consolas"/>
                        </a:rPr>
                        <a:t>Folium</a:t>
                      </a:r>
                    </a:p>
                  </a:txBody>
                  <a:tcPr marL="109728" marR="109728" marT="36576" marB="36576" anchor="ctr">
                    <a:solidFill>
                      <a:srgbClr val="FFFFFF"/>
                    </a:solidFill>
                  </a:tcPr>
                </a:tc>
                <a:tc>
                  <a:txBody>
                    <a:bodyPr/>
                    <a:lstStyle/>
                    <a:p>
                      <a:r>
                        <a:rPr sz="1250" b="0" i="0">
                          <a:solidFill>
                            <a:srgbClr val="0B6E4F"/>
                          </a:solidFill>
                          <a:latin typeface="Consolas"/>
                        </a:rPr>
                        <a:t>leaflet, sf, tmap</a:t>
                      </a:r>
                    </a:p>
                  </a:txBody>
                  <a:tcPr marL="109728" marR="109728" marT="36576" marB="36576" anchor="ctr">
                    <a:solidFill>
                      <a:srgbClr val="FFFFFF"/>
                    </a:solidFill>
                  </a:tcPr>
                </a:tc>
                <a:extLst>
                  <a:ext uri="{0D108BD9-81ED-4DB2-BD59-A6C34878D82A}">
                    <a16:rowId xmlns:a16="http://schemas.microsoft.com/office/drawing/2014/main" val="10006"/>
                  </a:ext>
                </a:extLst>
              </a:tr>
              <a:tr h="497840">
                <a:tc>
                  <a:txBody>
                    <a:bodyPr/>
                    <a:lstStyle/>
                    <a:p>
                      <a:r>
                        <a:rPr sz="1250" b="1" i="0">
                          <a:solidFill>
                            <a:srgbClr val="1F2A2E"/>
                          </a:solidFill>
                          <a:latin typeface="Calibri"/>
                        </a:rPr>
                        <a:t>Dashboard / app</a:t>
                      </a:r>
                    </a:p>
                  </a:txBody>
                  <a:tcPr marL="109728" marR="109728" marT="36576" marB="36576" anchor="ctr">
                    <a:solidFill>
                      <a:srgbClr val="EEF6F2"/>
                    </a:solidFill>
                  </a:tcPr>
                </a:tc>
                <a:tc>
                  <a:txBody>
                    <a:bodyPr/>
                    <a:lstStyle/>
                    <a:p>
                      <a:r>
                        <a:rPr sz="1250" b="0" i="0">
                          <a:solidFill>
                            <a:srgbClr val="1F2A2E"/>
                          </a:solidFill>
                          <a:latin typeface="Consolas"/>
                        </a:rPr>
                        <a:t>Streamlit, Dash</a:t>
                      </a:r>
                    </a:p>
                  </a:txBody>
                  <a:tcPr marL="109728" marR="109728" marT="36576" marB="36576" anchor="ctr">
                    <a:solidFill>
                      <a:srgbClr val="EEF6F2"/>
                    </a:solidFill>
                  </a:tcPr>
                </a:tc>
                <a:tc>
                  <a:txBody>
                    <a:bodyPr/>
                    <a:lstStyle/>
                    <a:p>
                      <a:r>
                        <a:rPr sz="1250" b="0" i="0">
                          <a:solidFill>
                            <a:srgbClr val="0B6E4F"/>
                          </a:solidFill>
                          <a:latin typeface="Consolas"/>
                        </a:rPr>
                        <a:t>Shiny, flexdashboard</a:t>
                      </a:r>
                    </a:p>
                  </a:txBody>
                  <a:tcPr marL="109728" marR="109728" marT="36576" marB="36576" anchor="ctr">
                    <a:solidFill>
                      <a:srgbClr val="EEF6F2"/>
                    </a:solidFill>
                  </a:tcPr>
                </a:tc>
                <a:extLst>
                  <a:ext uri="{0D108BD9-81ED-4DB2-BD59-A6C34878D82A}">
                    <a16:rowId xmlns:a16="http://schemas.microsoft.com/office/drawing/2014/main" val="10007"/>
                  </a:ext>
                </a:extLst>
              </a:tr>
              <a:tr h="497840">
                <a:tc>
                  <a:txBody>
                    <a:bodyPr/>
                    <a:lstStyle/>
                    <a:p>
                      <a:r>
                        <a:rPr sz="1250" b="1" i="0">
                          <a:solidFill>
                            <a:srgbClr val="1F2A2E"/>
                          </a:solidFill>
                          <a:latin typeface="Calibri"/>
                        </a:rPr>
                        <a:t>Notebook y reporte</a:t>
                      </a:r>
                    </a:p>
                  </a:txBody>
                  <a:tcPr marL="109728" marR="109728" marT="36576" marB="36576" anchor="ctr">
                    <a:solidFill>
                      <a:srgbClr val="FFFFFF"/>
                    </a:solidFill>
                  </a:tcPr>
                </a:tc>
                <a:tc>
                  <a:txBody>
                    <a:bodyPr/>
                    <a:lstStyle/>
                    <a:p>
                      <a:r>
                        <a:rPr sz="1250" b="0" i="0">
                          <a:solidFill>
                            <a:srgbClr val="1F2A2E"/>
                          </a:solidFill>
                          <a:latin typeface="Consolas"/>
                        </a:rPr>
                        <a:t>Jupyter</a:t>
                      </a:r>
                    </a:p>
                  </a:txBody>
                  <a:tcPr marL="109728" marR="109728" marT="36576" marB="36576" anchor="ctr">
                    <a:solidFill>
                      <a:srgbClr val="FFFFFF"/>
                    </a:solidFill>
                  </a:tcPr>
                </a:tc>
                <a:tc>
                  <a:txBody>
                    <a:bodyPr/>
                    <a:lstStyle/>
                    <a:p>
                      <a:r>
                        <a:rPr sz="1250" b="0" i="0">
                          <a:solidFill>
                            <a:srgbClr val="0B6E4F"/>
                          </a:solidFill>
                          <a:latin typeface="Consolas"/>
                        </a:rPr>
                        <a:t>R Markdown, Quarto</a:t>
                      </a:r>
                    </a:p>
                  </a:txBody>
                  <a:tcPr marL="109728" marR="109728" marT="36576" marB="36576" anchor="ctr">
                    <a:solidFill>
                      <a:srgbClr val="FFFFFF"/>
                    </a:solidFill>
                  </a:tcPr>
                </a:tc>
                <a:extLst>
                  <a:ext uri="{0D108BD9-81ED-4DB2-BD59-A6C34878D82A}">
                    <a16:rowId xmlns:a16="http://schemas.microsoft.com/office/drawing/2014/main" val="10008"/>
                  </a:ext>
                </a:extLst>
              </a:tr>
            </a:tbl>
          </a:graphicData>
        </a:graphic>
      </p:graphicFrame>
      <p:sp>
        <p:nvSpPr>
          <p:cNvPr id="8" name="Rounded Rectangle 7"/>
          <p:cNvSpPr/>
          <p:nvPr/>
        </p:nvSpPr>
        <p:spPr>
          <a:xfrm>
            <a:off x="8595360" y="1508760"/>
            <a:ext cx="3044952" cy="4480560"/>
          </a:xfrm>
          <a:prstGeom prst="roundRect">
            <a:avLst>
              <a:gd name="adj" fmla="val 6000"/>
            </a:avLst>
          </a:prstGeom>
          <a:solidFill>
            <a:srgbClr val="FFF3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823960" y="1691640"/>
            <a:ext cx="2651760" cy="731520"/>
          </a:xfrm>
          <a:prstGeom prst="rect">
            <a:avLst/>
          </a:prstGeom>
          <a:noFill/>
        </p:spPr>
        <p:txBody>
          <a:bodyPr wrap="square" lIns="0" tIns="0" rIns="0" bIns="0" anchor="t">
            <a:noAutofit/>
          </a:bodyPr>
          <a:lstStyle/>
          <a:p>
            <a:pPr algn="l">
              <a:lnSpc>
                <a:spcPct val="110000"/>
              </a:lnSpc>
              <a:spcAft>
                <a:spcPts val="0"/>
              </a:spcAft>
              <a:defRPr sz="1600"/>
            </a:pPr>
            <a:r>
              <a:rPr sz="1600" b="1" i="0">
                <a:solidFill>
                  <a:srgbClr val="B7791F"/>
                </a:solidFill>
                <a:latin typeface="Cambria"/>
              </a:rPr>
              <a:t>La misma lógica, otra sintaxis</a:t>
            </a:r>
          </a:p>
        </p:txBody>
      </p:sp>
      <p:sp>
        <p:nvSpPr>
          <p:cNvPr id="10" name="TextBox 9"/>
          <p:cNvSpPr txBox="1"/>
          <p:nvPr/>
        </p:nvSpPr>
        <p:spPr>
          <a:xfrm>
            <a:off x="8823960" y="2468880"/>
            <a:ext cx="2651760" cy="3383280"/>
          </a:xfrm>
          <a:prstGeom prst="rect">
            <a:avLst/>
          </a:prstGeom>
          <a:noFill/>
        </p:spPr>
        <p:txBody>
          <a:bodyPr wrap="square" lIns="0" tIns="0" rIns="0" bIns="0" anchor="t">
            <a:noAutofit/>
          </a:bodyPr>
          <a:lstStyle/>
          <a:p>
            <a:pPr marL="201168" indent="-201168">
              <a:lnSpc>
                <a:spcPct val="108000"/>
              </a:lnSpc>
              <a:spcAft>
                <a:spcPts val="800"/>
              </a:spcAft>
              <a:buClr>
                <a:srgbClr val="B7791F"/>
              </a:buClr>
              <a:buFont typeface="Arial"/>
              <a:buChar char="•"/>
              <a:defRPr sz="1200"/>
            </a:pPr>
            <a:r>
              <a:rPr sz="1200" b="0" i="0">
                <a:solidFill>
                  <a:srgbClr val="1F2A2E"/>
                </a:solidFill>
                <a:latin typeface="Calibri"/>
              </a:rPr>
              <a:t>Ya conoces el ciclo: cargar, limpiar, explorar, comunicar. Cambia la herramienta, no el criterio.</a:t>
            </a:r>
          </a:p>
          <a:p>
            <a:pPr marL="201168" indent="-201168">
              <a:lnSpc>
                <a:spcPct val="108000"/>
              </a:lnSpc>
              <a:spcAft>
                <a:spcPts val="800"/>
              </a:spcAft>
              <a:buClr>
                <a:srgbClr val="B7791F"/>
              </a:buClr>
              <a:buFont typeface="Arial"/>
              <a:buChar char="•"/>
              <a:defRPr sz="1200"/>
            </a:pPr>
            <a:r>
              <a:rPr sz="1200" b="0" i="0">
                <a:solidFill>
                  <a:srgbClr val="1F2A2E"/>
                </a:solidFill>
                <a:latin typeface="Calibri"/>
              </a:rPr>
              <a:t>Seaborn y Altair tomaron ideas de ggplot2; plotnine es ggplot2 para Python.</a:t>
            </a:r>
          </a:p>
          <a:p>
            <a:pPr marL="201168" indent="-201168">
              <a:lnSpc>
                <a:spcPct val="108000"/>
              </a:lnSpc>
              <a:spcAft>
                <a:spcPts val="800"/>
              </a:spcAft>
              <a:buClr>
                <a:srgbClr val="B7791F"/>
              </a:buClr>
              <a:buFont typeface="Arial"/>
              <a:buChar char="•"/>
              <a:defRPr sz="1200"/>
            </a:pPr>
            <a:r>
              <a:rPr sz="1200" b="0" i="0">
                <a:solidFill>
                  <a:srgbClr val="1F2A2E"/>
                </a:solidFill>
                <a:latin typeface="Calibri"/>
              </a:rPr>
              <a:t>Elegir R o Python es una decisión de equipo y de ecosistema, no de cuál es mejor.</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3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6446520"/>
            <a:ext cx="7315200" cy="274320"/>
          </a:xfrm>
          <a:prstGeom prst="rect">
            <a:avLst/>
          </a:prstGeom>
          <a:noFill/>
        </p:spPr>
        <p:txBody>
          <a:bodyPr wrap="square" lIns="0" tIns="0" rIns="0" bIns="0" anchor="t">
            <a:noAutofit/>
          </a:bodyPr>
          <a:lstStyle/>
          <a:p>
            <a:pPr algn="l">
              <a:lnSpc>
                <a:spcPct val="110000"/>
              </a:lnSpc>
              <a:spcAft>
                <a:spcPts val="0"/>
              </a:spcAft>
              <a:defRPr sz="900"/>
            </a:pPr>
            <a:r>
              <a:rPr sz="900" b="0" i="0">
                <a:solidFill>
                  <a:srgbClr val="9CC4B4"/>
                </a:solidFill>
                <a:latin typeface="Calibri"/>
              </a:rPr>
              <a:t>Visualización de Datos · Clase 18 · R y visualización de datos</a:t>
            </a:r>
          </a:p>
        </p:txBody>
      </p:sp>
      <p:sp>
        <p:nvSpPr>
          <p:cNvPr id="4" name="TextBox 3"/>
          <p:cNvSpPr txBox="1"/>
          <p:nvPr/>
        </p:nvSpPr>
        <p:spPr>
          <a:xfrm>
            <a:off x="10972800" y="6446520"/>
            <a:ext cx="667512" cy="274320"/>
          </a:xfrm>
          <a:prstGeom prst="rect">
            <a:avLst/>
          </a:prstGeom>
          <a:noFill/>
        </p:spPr>
        <p:txBody>
          <a:bodyPr wrap="square" lIns="0" tIns="0" rIns="0" bIns="0" anchor="t">
            <a:noAutofit/>
          </a:bodyPr>
          <a:lstStyle/>
          <a:p>
            <a:pPr algn="r">
              <a:lnSpc>
                <a:spcPct val="110000"/>
              </a:lnSpc>
              <a:spcAft>
                <a:spcPts val="0"/>
              </a:spcAft>
              <a:defRPr sz="900"/>
            </a:pPr>
            <a:r>
              <a:rPr sz="900" b="0" i="0">
                <a:solidFill>
                  <a:srgbClr val="9CC4B4"/>
                </a:solidFill>
                <a:latin typeface="Calibri"/>
              </a:rPr>
              <a:t>9</a:t>
            </a:r>
          </a:p>
        </p:txBody>
      </p:sp>
      <p:pic>
        <p:nvPicPr>
          <p:cNvPr id="5" name="Picture 4" descr="img-004.png"/>
          <p:cNvPicPr>
            <a:picLocks noChangeAspect="1"/>
          </p:cNvPicPr>
          <p:nvPr/>
        </p:nvPicPr>
        <p:blipFill>
          <a:blip r:embed="rId3"/>
          <a:srcRect t="5357" b="5357"/>
          <a:stretch>
            <a:fillRect/>
          </a:stretch>
        </p:blipFill>
        <p:spPr>
          <a:xfrm>
            <a:off x="7071055" y="0"/>
            <a:ext cx="5120640" cy="6858000"/>
          </a:xfrm>
          <a:prstGeom prst="rect">
            <a:avLst/>
          </a:prstGeom>
        </p:spPr>
      </p:pic>
      <p:sp>
        <p:nvSpPr>
          <p:cNvPr id="6" name="TextBox 5"/>
          <p:cNvSpPr txBox="1"/>
          <p:nvPr/>
        </p:nvSpPr>
        <p:spPr>
          <a:xfrm>
            <a:off x="640080" y="1737360"/>
            <a:ext cx="5760720" cy="1097280"/>
          </a:xfrm>
          <a:prstGeom prst="rect">
            <a:avLst/>
          </a:prstGeom>
          <a:noFill/>
        </p:spPr>
        <p:txBody>
          <a:bodyPr wrap="square" lIns="0" tIns="0" rIns="0" bIns="0" anchor="t">
            <a:noAutofit/>
          </a:bodyPr>
          <a:lstStyle/>
          <a:p>
            <a:pPr algn="l">
              <a:lnSpc>
                <a:spcPct val="110000"/>
              </a:lnSpc>
              <a:spcAft>
                <a:spcPts val="0"/>
              </a:spcAft>
              <a:defRPr sz="5400"/>
            </a:pPr>
            <a:r>
              <a:rPr sz="5400" b="1" i="0">
                <a:solidFill>
                  <a:srgbClr val="FFFFFF"/>
                </a:solidFill>
                <a:latin typeface="Cambria"/>
              </a:rPr>
              <a:t>Capítulo 2</a:t>
            </a:r>
          </a:p>
        </p:txBody>
      </p:sp>
      <p:sp>
        <p:nvSpPr>
          <p:cNvPr id="7" name="TextBox 6"/>
          <p:cNvSpPr txBox="1"/>
          <p:nvPr/>
        </p:nvSpPr>
        <p:spPr>
          <a:xfrm>
            <a:off x="640080" y="2926080"/>
            <a:ext cx="5943600" cy="1371600"/>
          </a:xfrm>
          <a:prstGeom prst="rect">
            <a:avLst/>
          </a:prstGeom>
          <a:noFill/>
        </p:spPr>
        <p:txBody>
          <a:bodyPr wrap="square" lIns="0" tIns="0" rIns="0" bIns="0" anchor="t">
            <a:noAutofit/>
          </a:bodyPr>
          <a:lstStyle/>
          <a:p>
            <a:pPr algn="l">
              <a:lnSpc>
                <a:spcPct val="105000"/>
              </a:lnSpc>
              <a:spcAft>
                <a:spcPts val="0"/>
              </a:spcAft>
              <a:defRPr sz="2500"/>
            </a:pPr>
            <a:r>
              <a:rPr sz="2500" b="1" i="0">
                <a:solidFill>
                  <a:srgbClr val="F2A93B"/>
                </a:solidFill>
                <a:latin typeface="Cambria"/>
              </a:rPr>
              <a:t>Fundamentos para visualizar datos en R</a:t>
            </a:r>
          </a:p>
        </p:txBody>
      </p:sp>
      <p:sp>
        <p:nvSpPr>
          <p:cNvPr id="8" name="TextBox 7"/>
          <p:cNvSpPr txBox="1"/>
          <p:nvPr/>
        </p:nvSpPr>
        <p:spPr>
          <a:xfrm>
            <a:off x="640080" y="4343400"/>
            <a:ext cx="5760720" cy="1645920"/>
          </a:xfrm>
          <a:prstGeom prst="rect">
            <a:avLst/>
          </a:prstGeom>
          <a:noFill/>
        </p:spPr>
        <p:txBody>
          <a:bodyPr wrap="square" lIns="0" tIns="0" rIns="0" bIns="0" anchor="t">
            <a:noAutofit/>
          </a:bodyPr>
          <a:lstStyle/>
          <a:p>
            <a:pPr algn="l">
              <a:lnSpc>
                <a:spcPct val="115000"/>
              </a:lnSpc>
              <a:spcAft>
                <a:spcPts val="0"/>
              </a:spcAft>
              <a:defRPr sz="1400"/>
            </a:pPr>
            <a:r>
              <a:rPr sz="1400" b="0" i="0">
                <a:solidFill>
                  <a:srgbClr val="D7E9E1"/>
                </a:solidFill>
                <a:latin typeface="Calibri"/>
              </a:rPr>
              <a:t>Un gráfico efectivo no solo es atractivo: es informativo y preciso. La gramática de gráficos de ggplot2 da un método para construirlo pieza por pieza y para razonar sobre cada decisión visual.</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6446520"/>
            <a:ext cx="7315200" cy="274320"/>
          </a:xfrm>
          <a:prstGeom prst="rect">
            <a:avLst/>
          </a:prstGeom>
          <a:noFill/>
        </p:spPr>
        <p:txBody>
          <a:bodyPr wrap="square" lIns="0" tIns="0" rIns="0" bIns="0" anchor="t">
            <a:noAutofit/>
          </a:bodyPr>
          <a:lstStyle/>
          <a:p>
            <a:pPr algn="l">
              <a:lnSpc>
                <a:spcPct val="110000"/>
              </a:lnSpc>
              <a:spcAft>
                <a:spcPts val="0"/>
              </a:spcAft>
              <a:defRPr sz="900"/>
            </a:pPr>
            <a:r>
              <a:rPr sz="900" b="0" i="0">
                <a:solidFill>
                  <a:srgbClr val="9AA7AB"/>
                </a:solidFill>
                <a:latin typeface="Calibri"/>
              </a:rPr>
              <a:t>Visualización de Datos · Clase 18 · R y visualización de datos</a:t>
            </a:r>
          </a:p>
        </p:txBody>
      </p:sp>
      <p:sp>
        <p:nvSpPr>
          <p:cNvPr id="4" name="TextBox 3"/>
          <p:cNvSpPr txBox="1"/>
          <p:nvPr/>
        </p:nvSpPr>
        <p:spPr>
          <a:xfrm>
            <a:off x="10972800" y="6446520"/>
            <a:ext cx="667512" cy="274320"/>
          </a:xfrm>
          <a:prstGeom prst="rect">
            <a:avLst/>
          </a:prstGeom>
          <a:noFill/>
        </p:spPr>
        <p:txBody>
          <a:bodyPr wrap="square" lIns="0" tIns="0" rIns="0" bIns="0" anchor="t">
            <a:noAutofit/>
          </a:bodyPr>
          <a:lstStyle/>
          <a:p>
            <a:pPr algn="r">
              <a:lnSpc>
                <a:spcPct val="110000"/>
              </a:lnSpc>
              <a:spcAft>
                <a:spcPts val="0"/>
              </a:spcAft>
              <a:defRPr sz="900"/>
            </a:pPr>
            <a:r>
              <a:rPr sz="900" b="0" i="0">
                <a:solidFill>
                  <a:srgbClr val="9AA7AB"/>
                </a:solidFill>
                <a:latin typeface="Calibri"/>
              </a:rPr>
              <a:t>10</a:t>
            </a:r>
          </a:p>
        </p:txBody>
      </p:sp>
      <p:sp>
        <p:nvSpPr>
          <p:cNvPr id="5" name="TextBox 4"/>
          <p:cNvSpPr txBox="1"/>
          <p:nvPr/>
        </p:nvSpPr>
        <p:spPr>
          <a:xfrm>
            <a:off x="548640" y="457200"/>
            <a:ext cx="11091672" cy="731520"/>
          </a:xfrm>
          <a:prstGeom prst="rect">
            <a:avLst/>
          </a:prstGeom>
          <a:noFill/>
        </p:spPr>
        <p:txBody>
          <a:bodyPr wrap="square" lIns="0" tIns="0" rIns="0" bIns="0" anchor="t">
            <a:noAutofit/>
          </a:bodyPr>
          <a:lstStyle/>
          <a:p>
            <a:pPr algn="l">
              <a:lnSpc>
                <a:spcPct val="110000"/>
              </a:lnSpc>
              <a:spcAft>
                <a:spcPts val="0"/>
              </a:spcAft>
              <a:defRPr sz="3000"/>
            </a:pPr>
            <a:r>
              <a:rPr sz="3000" b="1" i="0">
                <a:solidFill>
                  <a:srgbClr val="0B6E4F"/>
                </a:solidFill>
                <a:latin typeface="Cambria"/>
              </a:rPr>
              <a:t>La gramática de gráficos con ggplot2</a:t>
            </a:r>
          </a:p>
        </p:txBody>
      </p:sp>
      <p:sp>
        <p:nvSpPr>
          <p:cNvPr id="6" name="TextBox 5"/>
          <p:cNvSpPr txBox="1"/>
          <p:nvPr/>
        </p:nvSpPr>
        <p:spPr>
          <a:xfrm>
            <a:off x="548640" y="1371600"/>
            <a:ext cx="5212080" cy="2194560"/>
          </a:xfrm>
          <a:prstGeom prst="rect">
            <a:avLst/>
          </a:prstGeom>
          <a:noFill/>
        </p:spPr>
        <p:txBody>
          <a:bodyPr wrap="square" lIns="0" tIns="0" rIns="0" bIns="0" anchor="t">
            <a:noAutofit/>
          </a:bodyPr>
          <a:lstStyle/>
          <a:p>
            <a:pPr algn="l">
              <a:lnSpc>
                <a:spcPct val="116000"/>
              </a:lnSpc>
              <a:spcAft>
                <a:spcPts val="800"/>
              </a:spcAft>
              <a:defRPr sz="1300"/>
            </a:pPr>
            <a:r>
              <a:rPr sz="1300" b="1" i="0">
                <a:solidFill>
                  <a:srgbClr val="1F2A2E"/>
                </a:solidFill>
                <a:latin typeface="Calibri"/>
              </a:rPr>
              <a:t>ggplot2</a:t>
            </a:r>
            <a:r>
              <a:rPr sz="1300" b="0" i="0">
                <a:solidFill>
                  <a:srgbClr val="1F2A2E"/>
                </a:solidFill>
                <a:latin typeface="Calibri"/>
              </a:rPr>
              <a:t> es el paquete de visualización más popular de R. Lo creó Hadley Wickham a partir de la </a:t>
            </a:r>
            <a:r>
              <a:rPr sz="1300" b="1" i="0">
                <a:solidFill>
                  <a:srgbClr val="1F2A2E"/>
                </a:solidFill>
                <a:latin typeface="Calibri"/>
              </a:rPr>
              <a:t>gramática de gráficos</a:t>
            </a:r>
            <a:r>
              <a:rPr sz="1300" b="0" i="0">
                <a:solidFill>
                  <a:srgbClr val="1F2A2E"/>
                </a:solidFill>
                <a:latin typeface="Calibri"/>
              </a:rPr>
              <a:t> de Leland Wilkinson (2005): un gráfico no es un tipo fijo (barras, líneas, pastel) sino una </a:t>
            </a:r>
            <a:r>
              <a:rPr sz="1300" b="1" i="0">
                <a:solidFill>
                  <a:srgbClr val="1F2A2E"/>
                </a:solidFill>
                <a:latin typeface="Calibri"/>
              </a:rPr>
              <a:t>composición de capas independientes</a:t>
            </a:r>
            <a:r>
              <a:rPr sz="1300" b="0" i="0">
                <a:solidFill>
                  <a:srgbClr val="1F2A2E"/>
                </a:solidFill>
                <a:latin typeface="Calibri"/>
              </a:rPr>
              <a:t>.</a:t>
            </a:r>
          </a:p>
          <a:p>
            <a:pPr algn="l">
              <a:lnSpc>
                <a:spcPct val="116000"/>
              </a:lnSpc>
              <a:spcAft>
                <a:spcPts val="800"/>
              </a:spcAft>
              <a:defRPr sz="1300"/>
            </a:pPr>
            <a:r>
              <a:rPr sz="1300" b="0" i="0">
                <a:solidFill>
                  <a:srgbClr val="1F2A2E"/>
                </a:solidFill>
                <a:latin typeface="Calibri"/>
              </a:rPr>
              <a:t>Cada capa responde una pregunta distinta y se añade con el operador </a:t>
            </a:r>
            <a:r>
              <a:rPr sz="1300" b="1" i="0">
                <a:solidFill>
                  <a:srgbClr val="0B6E4F"/>
                </a:solidFill>
                <a:latin typeface="Consolas"/>
              </a:rPr>
              <a:t>+</a:t>
            </a:r>
            <a:r>
              <a:rPr sz="1300" b="0" i="0">
                <a:solidFill>
                  <a:srgbClr val="1F2A2E"/>
                </a:solidFill>
                <a:latin typeface="Calibri"/>
              </a:rPr>
              <a:t>. Combinando pocas piezas se obtiene cualquier gráfico, incluso los que todavía no tienen nombre.</a:t>
            </a:r>
          </a:p>
        </p:txBody>
      </p:sp>
      <p:sp>
        <p:nvSpPr>
          <p:cNvPr id="7" name="Rounded Rectangle 6"/>
          <p:cNvSpPr/>
          <p:nvPr/>
        </p:nvSpPr>
        <p:spPr>
          <a:xfrm>
            <a:off x="548640" y="3611880"/>
            <a:ext cx="5212080" cy="1874519"/>
          </a:xfrm>
          <a:prstGeom prst="roundRect">
            <a:avLst>
              <a:gd name="adj" fmla="val 4000"/>
            </a:avLst>
          </a:prstGeom>
          <a:solidFill>
            <a:srgbClr val="0F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13232" y="3739896"/>
            <a:ext cx="4882896" cy="1618487"/>
          </a:xfrm>
          <a:prstGeom prst="rect">
            <a:avLst/>
          </a:prstGeom>
          <a:noFill/>
        </p:spPr>
        <p:txBody>
          <a:bodyPr wrap="square" lIns="0" tIns="0" rIns="0" bIns="0" anchor="t">
            <a:noAutofit/>
          </a:bodyPr>
          <a:lstStyle/>
          <a:p>
            <a:pPr>
              <a:lnSpc>
                <a:spcPct val="105000"/>
              </a:lnSpc>
              <a:spcAft>
                <a:spcPts val="100"/>
              </a:spcAft>
              <a:defRPr sz="1150"/>
            </a:pPr>
            <a:r>
              <a:rPr sz="1150" b="0" i="0">
                <a:solidFill>
                  <a:srgbClr val="E8F1EC"/>
                </a:solidFill>
                <a:latin typeface="Consolas"/>
              </a:rPr>
              <a:t>ggplot(datos, aes(x, y)) +   </a:t>
            </a:r>
            <a:r>
              <a:rPr sz="1150" b="0" i="0">
                <a:solidFill>
                  <a:srgbClr val="8FB5A4"/>
                </a:solidFill>
                <a:latin typeface="Consolas"/>
              </a:rPr>
              <a:t># datos + estética</a:t>
            </a:r>
          </a:p>
          <a:p>
            <a:pPr>
              <a:lnSpc>
                <a:spcPct val="105000"/>
              </a:lnSpc>
              <a:spcAft>
                <a:spcPts val="100"/>
              </a:spcAft>
              <a:defRPr sz="1150"/>
            </a:pPr>
            <a:r>
              <a:rPr sz="1150" b="0" i="0">
                <a:solidFill>
                  <a:srgbClr val="E8F1EC"/>
                </a:solidFill>
                <a:latin typeface="Consolas"/>
              </a:rPr>
              <a:t>  geom_point() +             </a:t>
            </a:r>
            <a:r>
              <a:rPr sz="1150" b="0" i="0">
                <a:solidFill>
                  <a:srgbClr val="8FB5A4"/>
                </a:solidFill>
                <a:latin typeface="Consolas"/>
              </a:rPr>
              <a:t># geometría</a:t>
            </a:r>
          </a:p>
          <a:p>
            <a:pPr>
              <a:lnSpc>
                <a:spcPct val="105000"/>
              </a:lnSpc>
              <a:spcAft>
                <a:spcPts val="100"/>
              </a:spcAft>
              <a:defRPr sz="1150"/>
            </a:pPr>
            <a:r>
              <a:rPr sz="1150" b="0" i="0">
                <a:solidFill>
                  <a:srgbClr val="E8F1EC"/>
                </a:solidFill>
                <a:latin typeface="Consolas"/>
              </a:rPr>
              <a:t>  scale_y_log10() +          </a:t>
            </a:r>
            <a:r>
              <a:rPr sz="1150" b="0" i="0">
                <a:solidFill>
                  <a:srgbClr val="8FB5A4"/>
                </a:solidFill>
                <a:latin typeface="Consolas"/>
              </a:rPr>
              <a:t># escala</a:t>
            </a:r>
          </a:p>
          <a:p>
            <a:pPr>
              <a:lnSpc>
                <a:spcPct val="105000"/>
              </a:lnSpc>
              <a:spcAft>
                <a:spcPts val="100"/>
              </a:spcAft>
              <a:defRPr sz="1150"/>
            </a:pPr>
            <a:r>
              <a:rPr sz="1150" b="0" i="0">
                <a:solidFill>
                  <a:srgbClr val="E8F1EC"/>
                </a:solidFill>
                <a:latin typeface="Consolas"/>
              </a:rPr>
              <a:t>  facet_wrap(~ grupo) +      </a:t>
            </a:r>
            <a:r>
              <a:rPr sz="1150" b="0" i="0">
                <a:solidFill>
                  <a:srgbClr val="8FB5A4"/>
                </a:solidFill>
                <a:latin typeface="Consolas"/>
              </a:rPr>
              <a:t># facetas</a:t>
            </a:r>
          </a:p>
          <a:p>
            <a:pPr>
              <a:lnSpc>
                <a:spcPct val="105000"/>
              </a:lnSpc>
              <a:spcAft>
                <a:spcPts val="100"/>
              </a:spcAft>
              <a:defRPr sz="1150"/>
            </a:pPr>
            <a:r>
              <a:rPr sz="1150" b="0" i="0">
                <a:solidFill>
                  <a:srgbClr val="E8F1EC"/>
                </a:solidFill>
                <a:latin typeface="Consolas"/>
              </a:rPr>
              <a:t>  theme_minimal()            </a:t>
            </a:r>
            <a:r>
              <a:rPr sz="1150" b="0" i="0">
                <a:solidFill>
                  <a:srgbClr val="8FB5A4"/>
                </a:solidFill>
                <a:latin typeface="Consolas"/>
              </a:rPr>
              <a:t># tema</a:t>
            </a:r>
          </a:p>
        </p:txBody>
      </p:sp>
      <p:sp>
        <p:nvSpPr>
          <p:cNvPr id="9" name="TextBox 8"/>
          <p:cNvSpPr txBox="1"/>
          <p:nvPr/>
        </p:nvSpPr>
        <p:spPr>
          <a:xfrm>
            <a:off x="548640" y="5623560"/>
            <a:ext cx="5212080" cy="640080"/>
          </a:xfrm>
          <a:prstGeom prst="rect">
            <a:avLst/>
          </a:prstGeom>
          <a:noFill/>
        </p:spPr>
        <p:txBody>
          <a:bodyPr wrap="square" lIns="0" tIns="0" rIns="0" bIns="0" anchor="t">
            <a:noAutofit/>
          </a:bodyPr>
          <a:lstStyle/>
          <a:p>
            <a:pPr algn="l">
              <a:lnSpc>
                <a:spcPct val="110000"/>
              </a:lnSpc>
              <a:spcAft>
                <a:spcPts val="0"/>
              </a:spcAft>
              <a:defRPr sz="1150"/>
            </a:pPr>
            <a:r>
              <a:rPr sz="1150" b="0" i="1">
                <a:solidFill>
                  <a:srgbClr val="5B6B6F"/>
                </a:solidFill>
                <a:latin typeface="Calibri"/>
              </a:rPr>
              <a:t>La naturaleza modular de ggplot2 lo convierte en la herramienta indispensable para comunicar hallazgos complejos de forma clara.</a:t>
            </a:r>
          </a:p>
        </p:txBody>
      </p:sp>
      <p:sp>
        <p:nvSpPr>
          <p:cNvPr id="10" name="Rounded Rectangle 9"/>
          <p:cNvSpPr/>
          <p:nvPr/>
        </p:nvSpPr>
        <p:spPr>
          <a:xfrm>
            <a:off x="6172200" y="1371600"/>
            <a:ext cx="5468112" cy="530352"/>
          </a:xfrm>
          <a:prstGeom prst="roundRect">
            <a:avLst>
              <a:gd name="adj" fmla="val 18000"/>
            </a:avLst>
          </a:prstGeom>
          <a:solidFill>
            <a:srgbClr val="EE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355080" y="1371600"/>
            <a:ext cx="1325880" cy="530352"/>
          </a:xfrm>
          <a:prstGeom prst="rect">
            <a:avLst/>
          </a:prstGeom>
          <a:noFill/>
        </p:spPr>
        <p:txBody>
          <a:bodyPr wrap="square" lIns="0" tIns="0" rIns="0" bIns="0" anchor="ctr">
            <a:noAutofit/>
          </a:bodyPr>
          <a:lstStyle/>
          <a:p>
            <a:pPr algn="l">
              <a:lnSpc>
                <a:spcPct val="110000"/>
              </a:lnSpc>
              <a:spcAft>
                <a:spcPts val="0"/>
              </a:spcAft>
              <a:defRPr sz="1300"/>
            </a:pPr>
            <a:r>
              <a:rPr sz="1300" b="1" i="0">
                <a:solidFill>
                  <a:srgbClr val="0A3D2E"/>
                </a:solidFill>
                <a:latin typeface="Cambria"/>
              </a:rPr>
              <a:t>Tema</a:t>
            </a:r>
          </a:p>
        </p:txBody>
      </p:sp>
      <p:sp>
        <p:nvSpPr>
          <p:cNvPr id="12" name="TextBox 11"/>
          <p:cNvSpPr txBox="1"/>
          <p:nvPr/>
        </p:nvSpPr>
        <p:spPr>
          <a:xfrm>
            <a:off x="7680960" y="1371600"/>
            <a:ext cx="1874519" cy="530352"/>
          </a:xfrm>
          <a:prstGeom prst="rect">
            <a:avLst/>
          </a:prstGeom>
          <a:noFill/>
        </p:spPr>
        <p:txBody>
          <a:bodyPr wrap="square" lIns="0" tIns="0" rIns="0" bIns="0" anchor="ctr">
            <a:noAutofit/>
          </a:bodyPr>
          <a:lstStyle/>
          <a:p>
            <a:pPr algn="l">
              <a:lnSpc>
                <a:spcPct val="110000"/>
              </a:lnSpc>
              <a:spcAft>
                <a:spcPts val="0"/>
              </a:spcAft>
              <a:defRPr sz="1000"/>
            </a:pPr>
            <a:r>
              <a:rPr sz="1000" b="0" i="0">
                <a:solidFill>
                  <a:srgbClr val="5B6B6F"/>
                </a:solidFill>
                <a:latin typeface="Calibri"/>
              </a:rPr>
              <a:t>lo que no son datos</a:t>
            </a:r>
          </a:p>
        </p:txBody>
      </p:sp>
      <p:sp>
        <p:nvSpPr>
          <p:cNvPr id="13" name="TextBox 12"/>
          <p:cNvSpPr txBox="1"/>
          <p:nvPr/>
        </p:nvSpPr>
        <p:spPr>
          <a:xfrm>
            <a:off x="9555480" y="1371600"/>
            <a:ext cx="2057400" cy="530352"/>
          </a:xfrm>
          <a:prstGeom prst="rect">
            <a:avLst/>
          </a:prstGeom>
          <a:noFill/>
        </p:spPr>
        <p:txBody>
          <a:bodyPr wrap="square" lIns="0" tIns="0" rIns="0" bIns="0" anchor="ctr">
            <a:noAutofit/>
          </a:bodyPr>
          <a:lstStyle/>
          <a:p>
            <a:pPr algn="l">
              <a:lnSpc>
                <a:spcPct val="110000"/>
              </a:lnSpc>
              <a:spcAft>
                <a:spcPts val="0"/>
              </a:spcAft>
              <a:defRPr sz="1000"/>
            </a:pPr>
            <a:r>
              <a:rPr sz="1000" b="0" i="0">
                <a:solidFill>
                  <a:srgbClr val="0B6E4F"/>
                </a:solidFill>
                <a:latin typeface="Consolas"/>
              </a:rPr>
              <a:t>theme_minimal()</a:t>
            </a:r>
          </a:p>
        </p:txBody>
      </p:sp>
      <p:sp>
        <p:nvSpPr>
          <p:cNvPr id="14" name="Rounded Rectangle 13"/>
          <p:cNvSpPr/>
          <p:nvPr/>
        </p:nvSpPr>
        <p:spPr>
          <a:xfrm>
            <a:off x="6172200" y="1975104"/>
            <a:ext cx="5468112" cy="530352"/>
          </a:xfrm>
          <a:prstGeom prst="roundRect">
            <a:avLst>
              <a:gd name="adj" fmla="val 18000"/>
            </a:avLst>
          </a:prstGeom>
          <a:solidFill>
            <a:srgbClr val="DCE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355080" y="1975104"/>
            <a:ext cx="1325880" cy="530352"/>
          </a:xfrm>
          <a:prstGeom prst="rect">
            <a:avLst/>
          </a:prstGeom>
          <a:noFill/>
        </p:spPr>
        <p:txBody>
          <a:bodyPr wrap="square" lIns="0" tIns="0" rIns="0" bIns="0" anchor="ctr">
            <a:noAutofit/>
          </a:bodyPr>
          <a:lstStyle/>
          <a:p>
            <a:pPr algn="l">
              <a:lnSpc>
                <a:spcPct val="110000"/>
              </a:lnSpc>
              <a:spcAft>
                <a:spcPts val="0"/>
              </a:spcAft>
              <a:defRPr sz="1300"/>
            </a:pPr>
            <a:r>
              <a:rPr sz="1300" b="1" i="0">
                <a:solidFill>
                  <a:srgbClr val="0A3D2E"/>
                </a:solidFill>
                <a:latin typeface="Cambria"/>
              </a:rPr>
              <a:t>Facetas</a:t>
            </a:r>
          </a:p>
        </p:txBody>
      </p:sp>
      <p:sp>
        <p:nvSpPr>
          <p:cNvPr id="16" name="TextBox 15"/>
          <p:cNvSpPr txBox="1"/>
          <p:nvPr/>
        </p:nvSpPr>
        <p:spPr>
          <a:xfrm>
            <a:off x="7680960" y="1975104"/>
            <a:ext cx="1874519" cy="530352"/>
          </a:xfrm>
          <a:prstGeom prst="rect">
            <a:avLst/>
          </a:prstGeom>
          <a:noFill/>
        </p:spPr>
        <p:txBody>
          <a:bodyPr wrap="square" lIns="0" tIns="0" rIns="0" bIns="0" anchor="ctr">
            <a:noAutofit/>
          </a:bodyPr>
          <a:lstStyle/>
          <a:p>
            <a:pPr algn="l">
              <a:lnSpc>
                <a:spcPct val="110000"/>
              </a:lnSpc>
              <a:spcAft>
                <a:spcPts val="0"/>
              </a:spcAft>
              <a:defRPr sz="1000"/>
            </a:pPr>
            <a:r>
              <a:rPr sz="1000" b="0" i="0">
                <a:solidFill>
                  <a:srgbClr val="5B6B6F"/>
                </a:solidFill>
                <a:latin typeface="Calibri"/>
              </a:rPr>
              <a:t>un panel por grupo</a:t>
            </a:r>
          </a:p>
        </p:txBody>
      </p:sp>
      <p:sp>
        <p:nvSpPr>
          <p:cNvPr id="17" name="TextBox 16"/>
          <p:cNvSpPr txBox="1"/>
          <p:nvPr/>
        </p:nvSpPr>
        <p:spPr>
          <a:xfrm>
            <a:off x="9555480" y="1975104"/>
            <a:ext cx="2057400" cy="530352"/>
          </a:xfrm>
          <a:prstGeom prst="rect">
            <a:avLst/>
          </a:prstGeom>
          <a:noFill/>
        </p:spPr>
        <p:txBody>
          <a:bodyPr wrap="square" lIns="0" tIns="0" rIns="0" bIns="0" anchor="ctr">
            <a:noAutofit/>
          </a:bodyPr>
          <a:lstStyle/>
          <a:p>
            <a:pPr algn="l">
              <a:lnSpc>
                <a:spcPct val="110000"/>
              </a:lnSpc>
              <a:spcAft>
                <a:spcPts val="0"/>
              </a:spcAft>
              <a:defRPr sz="1000"/>
            </a:pPr>
            <a:r>
              <a:rPr sz="1000" b="0" i="0">
                <a:solidFill>
                  <a:srgbClr val="0B6E4F"/>
                </a:solidFill>
                <a:latin typeface="Consolas"/>
              </a:rPr>
              <a:t>facet_wrap()</a:t>
            </a:r>
          </a:p>
        </p:txBody>
      </p:sp>
      <p:sp>
        <p:nvSpPr>
          <p:cNvPr id="18" name="Rounded Rectangle 17"/>
          <p:cNvSpPr/>
          <p:nvPr/>
        </p:nvSpPr>
        <p:spPr>
          <a:xfrm>
            <a:off x="6172200" y="2578608"/>
            <a:ext cx="5468112" cy="530352"/>
          </a:xfrm>
          <a:prstGeom prst="roundRect">
            <a:avLst>
              <a:gd name="adj" fmla="val 18000"/>
            </a:avLst>
          </a:prstGeom>
          <a:solidFill>
            <a:srgbClr val="C4E0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355080" y="2578608"/>
            <a:ext cx="1325880" cy="530352"/>
          </a:xfrm>
          <a:prstGeom prst="rect">
            <a:avLst/>
          </a:prstGeom>
          <a:noFill/>
        </p:spPr>
        <p:txBody>
          <a:bodyPr wrap="square" lIns="0" tIns="0" rIns="0" bIns="0" anchor="ctr">
            <a:noAutofit/>
          </a:bodyPr>
          <a:lstStyle/>
          <a:p>
            <a:pPr algn="l">
              <a:lnSpc>
                <a:spcPct val="110000"/>
              </a:lnSpc>
              <a:spcAft>
                <a:spcPts val="0"/>
              </a:spcAft>
              <a:defRPr sz="1300"/>
            </a:pPr>
            <a:r>
              <a:rPr sz="1300" b="1" i="0">
                <a:solidFill>
                  <a:srgbClr val="0A3D2E"/>
                </a:solidFill>
                <a:latin typeface="Cambria"/>
              </a:rPr>
              <a:t>Coordenadas</a:t>
            </a:r>
          </a:p>
        </p:txBody>
      </p:sp>
      <p:sp>
        <p:nvSpPr>
          <p:cNvPr id="20" name="TextBox 19"/>
          <p:cNvSpPr txBox="1"/>
          <p:nvPr/>
        </p:nvSpPr>
        <p:spPr>
          <a:xfrm>
            <a:off x="7680960" y="2578608"/>
            <a:ext cx="1874519" cy="530352"/>
          </a:xfrm>
          <a:prstGeom prst="rect">
            <a:avLst/>
          </a:prstGeom>
          <a:noFill/>
        </p:spPr>
        <p:txBody>
          <a:bodyPr wrap="square" lIns="0" tIns="0" rIns="0" bIns="0" anchor="ctr">
            <a:noAutofit/>
          </a:bodyPr>
          <a:lstStyle/>
          <a:p>
            <a:pPr algn="l">
              <a:lnSpc>
                <a:spcPct val="110000"/>
              </a:lnSpc>
              <a:spcAft>
                <a:spcPts val="0"/>
              </a:spcAft>
              <a:defRPr sz="1000"/>
            </a:pPr>
            <a:r>
              <a:rPr sz="1000" b="0" i="0">
                <a:solidFill>
                  <a:srgbClr val="5B6B6F"/>
                </a:solidFill>
                <a:latin typeface="Calibri"/>
              </a:rPr>
              <a:t>cartesianas, polares, mapas</a:t>
            </a:r>
          </a:p>
        </p:txBody>
      </p:sp>
      <p:sp>
        <p:nvSpPr>
          <p:cNvPr id="21" name="TextBox 20"/>
          <p:cNvSpPr txBox="1"/>
          <p:nvPr/>
        </p:nvSpPr>
        <p:spPr>
          <a:xfrm>
            <a:off x="9555480" y="2578608"/>
            <a:ext cx="2057400" cy="530352"/>
          </a:xfrm>
          <a:prstGeom prst="rect">
            <a:avLst/>
          </a:prstGeom>
          <a:noFill/>
        </p:spPr>
        <p:txBody>
          <a:bodyPr wrap="square" lIns="0" tIns="0" rIns="0" bIns="0" anchor="ctr">
            <a:noAutofit/>
          </a:bodyPr>
          <a:lstStyle/>
          <a:p>
            <a:pPr algn="l">
              <a:lnSpc>
                <a:spcPct val="110000"/>
              </a:lnSpc>
              <a:spcAft>
                <a:spcPts val="0"/>
              </a:spcAft>
              <a:defRPr sz="1000"/>
            </a:pPr>
            <a:r>
              <a:rPr sz="1000" b="0" i="0">
                <a:solidFill>
                  <a:srgbClr val="0B6E4F"/>
                </a:solidFill>
                <a:latin typeface="Consolas"/>
              </a:rPr>
              <a:t>coord_flip()</a:t>
            </a:r>
          </a:p>
        </p:txBody>
      </p:sp>
      <p:sp>
        <p:nvSpPr>
          <p:cNvPr id="22" name="Rounded Rectangle 21"/>
          <p:cNvSpPr/>
          <p:nvPr/>
        </p:nvSpPr>
        <p:spPr>
          <a:xfrm>
            <a:off x="6172200" y="3182112"/>
            <a:ext cx="5468112" cy="530352"/>
          </a:xfrm>
          <a:prstGeom prst="roundRect">
            <a:avLst>
              <a:gd name="adj" fmla="val 18000"/>
            </a:avLst>
          </a:prstGeom>
          <a:solidFill>
            <a:srgbClr val="A8D1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355080" y="3182112"/>
            <a:ext cx="1325880" cy="530352"/>
          </a:xfrm>
          <a:prstGeom prst="rect">
            <a:avLst/>
          </a:prstGeom>
          <a:noFill/>
        </p:spPr>
        <p:txBody>
          <a:bodyPr wrap="square" lIns="0" tIns="0" rIns="0" bIns="0" anchor="ctr">
            <a:noAutofit/>
          </a:bodyPr>
          <a:lstStyle/>
          <a:p>
            <a:pPr algn="l">
              <a:lnSpc>
                <a:spcPct val="110000"/>
              </a:lnSpc>
              <a:spcAft>
                <a:spcPts val="0"/>
              </a:spcAft>
              <a:defRPr sz="1300"/>
            </a:pPr>
            <a:r>
              <a:rPr sz="1300" b="1" i="0">
                <a:solidFill>
                  <a:srgbClr val="0A3D2E"/>
                </a:solidFill>
                <a:latin typeface="Cambria"/>
              </a:rPr>
              <a:t>Escalas</a:t>
            </a:r>
          </a:p>
        </p:txBody>
      </p:sp>
      <p:sp>
        <p:nvSpPr>
          <p:cNvPr id="24" name="TextBox 23"/>
          <p:cNvSpPr txBox="1"/>
          <p:nvPr/>
        </p:nvSpPr>
        <p:spPr>
          <a:xfrm>
            <a:off x="7680960" y="3182112"/>
            <a:ext cx="1874519" cy="530352"/>
          </a:xfrm>
          <a:prstGeom prst="rect">
            <a:avLst/>
          </a:prstGeom>
          <a:noFill/>
        </p:spPr>
        <p:txBody>
          <a:bodyPr wrap="square" lIns="0" tIns="0" rIns="0" bIns="0" anchor="ctr">
            <a:noAutofit/>
          </a:bodyPr>
          <a:lstStyle/>
          <a:p>
            <a:pPr algn="l">
              <a:lnSpc>
                <a:spcPct val="110000"/>
              </a:lnSpc>
              <a:spcAft>
                <a:spcPts val="0"/>
              </a:spcAft>
              <a:defRPr sz="1000"/>
            </a:pPr>
            <a:r>
              <a:rPr sz="1000" b="0" i="0">
                <a:solidFill>
                  <a:srgbClr val="5B6B6F"/>
                </a:solidFill>
                <a:latin typeface="Calibri"/>
              </a:rPr>
              <a:t>del dato a posición o color</a:t>
            </a:r>
          </a:p>
        </p:txBody>
      </p:sp>
      <p:sp>
        <p:nvSpPr>
          <p:cNvPr id="25" name="TextBox 24"/>
          <p:cNvSpPr txBox="1"/>
          <p:nvPr/>
        </p:nvSpPr>
        <p:spPr>
          <a:xfrm>
            <a:off x="9555480" y="3182112"/>
            <a:ext cx="2057400" cy="530352"/>
          </a:xfrm>
          <a:prstGeom prst="rect">
            <a:avLst/>
          </a:prstGeom>
          <a:noFill/>
        </p:spPr>
        <p:txBody>
          <a:bodyPr wrap="square" lIns="0" tIns="0" rIns="0" bIns="0" anchor="ctr">
            <a:noAutofit/>
          </a:bodyPr>
          <a:lstStyle/>
          <a:p>
            <a:pPr algn="l">
              <a:lnSpc>
                <a:spcPct val="110000"/>
              </a:lnSpc>
              <a:spcAft>
                <a:spcPts val="0"/>
              </a:spcAft>
              <a:defRPr sz="1000"/>
            </a:pPr>
            <a:r>
              <a:rPr sz="1000" b="0" i="0">
                <a:solidFill>
                  <a:srgbClr val="0B6E4F"/>
                </a:solidFill>
                <a:latin typeface="Consolas"/>
              </a:rPr>
              <a:t>scale_colour_viridis_c()</a:t>
            </a:r>
          </a:p>
        </p:txBody>
      </p:sp>
      <p:sp>
        <p:nvSpPr>
          <p:cNvPr id="26" name="Rounded Rectangle 25"/>
          <p:cNvSpPr/>
          <p:nvPr/>
        </p:nvSpPr>
        <p:spPr>
          <a:xfrm>
            <a:off x="6172200" y="3785616"/>
            <a:ext cx="5468112" cy="530352"/>
          </a:xfrm>
          <a:prstGeom prst="roundRect">
            <a:avLst>
              <a:gd name="adj" fmla="val 18000"/>
            </a:avLst>
          </a:prstGeom>
          <a:solidFill>
            <a:srgbClr val="7FBD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355080" y="3785616"/>
            <a:ext cx="1325880" cy="530352"/>
          </a:xfrm>
          <a:prstGeom prst="rect">
            <a:avLst/>
          </a:prstGeom>
          <a:noFill/>
        </p:spPr>
        <p:txBody>
          <a:bodyPr wrap="square" lIns="0" tIns="0" rIns="0" bIns="0" anchor="ctr">
            <a:noAutofit/>
          </a:bodyPr>
          <a:lstStyle/>
          <a:p>
            <a:pPr algn="l">
              <a:lnSpc>
                <a:spcPct val="110000"/>
              </a:lnSpc>
              <a:spcAft>
                <a:spcPts val="0"/>
              </a:spcAft>
              <a:defRPr sz="1300"/>
            </a:pPr>
            <a:r>
              <a:rPr sz="1300" b="1" i="0">
                <a:solidFill>
                  <a:srgbClr val="0A3D2E"/>
                </a:solidFill>
                <a:latin typeface="Cambria"/>
              </a:rPr>
              <a:t>Estadísticas</a:t>
            </a:r>
          </a:p>
        </p:txBody>
      </p:sp>
      <p:sp>
        <p:nvSpPr>
          <p:cNvPr id="28" name="TextBox 27"/>
          <p:cNvSpPr txBox="1"/>
          <p:nvPr/>
        </p:nvSpPr>
        <p:spPr>
          <a:xfrm>
            <a:off x="7680960" y="3785616"/>
            <a:ext cx="1874519" cy="530352"/>
          </a:xfrm>
          <a:prstGeom prst="rect">
            <a:avLst/>
          </a:prstGeom>
          <a:noFill/>
        </p:spPr>
        <p:txBody>
          <a:bodyPr wrap="square" lIns="0" tIns="0" rIns="0" bIns="0" anchor="ctr">
            <a:noAutofit/>
          </a:bodyPr>
          <a:lstStyle/>
          <a:p>
            <a:pPr algn="l">
              <a:lnSpc>
                <a:spcPct val="110000"/>
              </a:lnSpc>
              <a:spcAft>
                <a:spcPts val="0"/>
              </a:spcAft>
              <a:defRPr sz="1000"/>
            </a:pPr>
            <a:r>
              <a:rPr sz="1000" b="0" i="0">
                <a:solidFill>
                  <a:srgbClr val="5B6B6F"/>
                </a:solidFill>
                <a:latin typeface="Calibri"/>
              </a:rPr>
              <a:t>transforman antes de dibujar</a:t>
            </a:r>
          </a:p>
        </p:txBody>
      </p:sp>
      <p:sp>
        <p:nvSpPr>
          <p:cNvPr id="29" name="TextBox 28"/>
          <p:cNvSpPr txBox="1"/>
          <p:nvPr/>
        </p:nvSpPr>
        <p:spPr>
          <a:xfrm>
            <a:off x="9555480" y="3785616"/>
            <a:ext cx="2057400" cy="530352"/>
          </a:xfrm>
          <a:prstGeom prst="rect">
            <a:avLst/>
          </a:prstGeom>
          <a:noFill/>
        </p:spPr>
        <p:txBody>
          <a:bodyPr wrap="square" lIns="0" tIns="0" rIns="0" bIns="0" anchor="ctr">
            <a:noAutofit/>
          </a:bodyPr>
          <a:lstStyle/>
          <a:p>
            <a:pPr algn="l">
              <a:lnSpc>
                <a:spcPct val="110000"/>
              </a:lnSpc>
              <a:spcAft>
                <a:spcPts val="0"/>
              </a:spcAft>
              <a:defRPr sz="1000"/>
            </a:pPr>
            <a:r>
              <a:rPr sz="1000" b="0" i="0">
                <a:solidFill>
                  <a:srgbClr val="0B6E4F"/>
                </a:solidFill>
                <a:latin typeface="Consolas"/>
              </a:rPr>
              <a:t>stat_summary()</a:t>
            </a:r>
          </a:p>
        </p:txBody>
      </p:sp>
      <p:sp>
        <p:nvSpPr>
          <p:cNvPr id="30" name="Rounded Rectangle 29"/>
          <p:cNvSpPr/>
          <p:nvPr/>
        </p:nvSpPr>
        <p:spPr>
          <a:xfrm>
            <a:off x="6172200" y="4389120"/>
            <a:ext cx="5468112" cy="530352"/>
          </a:xfrm>
          <a:prstGeom prst="roundRect">
            <a:avLst>
              <a:gd name="adj" fmla="val 18000"/>
            </a:avLst>
          </a:prstGeom>
          <a:solidFill>
            <a:srgbClr val="4E9E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355080" y="4389120"/>
            <a:ext cx="1325880" cy="530352"/>
          </a:xfrm>
          <a:prstGeom prst="rect">
            <a:avLst/>
          </a:prstGeom>
          <a:noFill/>
        </p:spPr>
        <p:txBody>
          <a:bodyPr wrap="square" lIns="0" tIns="0" rIns="0" bIns="0" anchor="ctr">
            <a:noAutofit/>
          </a:bodyPr>
          <a:lstStyle/>
          <a:p>
            <a:pPr algn="l">
              <a:lnSpc>
                <a:spcPct val="110000"/>
              </a:lnSpc>
              <a:spcAft>
                <a:spcPts val="0"/>
              </a:spcAft>
              <a:defRPr sz="1300"/>
            </a:pPr>
            <a:r>
              <a:rPr sz="1300" b="1" i="0">
                <a:solidFill>
                  <a:srgbClr val="FFFFFF"/>
                </a:solidFill>
                <a:latin typeface="Cambria"/>
              </a:rPr>
              <a:t>Geometrías</a:t>
            </a:r>
          </a:p>
        </p:txBody>
      </p:sp>
      <p:sp>
        <p:nvSpPr>
          <p:cNvPr id="32" name="TextBox 31"/>
          <p:cNvSpPr txBox="1"/>
          <p:nvPr/>
        </p:nvSpPr>
        <p:spPr>
          <a:xfrm>
            <a:off x="7680960" y="4389120"/>
            <a:ext cx="1874519" cy="530352"/>
          </a:xfrm>
          <a:prstGeom prst="rect">
            <a:avLst/>
          </a:prstGeom>
          <a:noFill/>
        </p:spPr>
        <p:txBody>
          <a:bodyPr wrap="square" lIns="0" tIns="0" rIns="0" bIns="0" anchor="ctr">
            <a:noAutofit/>
          </a:bodyPr>
          <a:lstStyle/>
          <a:p>
            <a:pPr algn="l">
              <a:lnSpc>
                <a:spcPct val="110000"/>
              </a:lnSpc>
              <a:spcAft>
                <a:spcPts val="0"/>
              </a:spcAft>
              <a:defRPr sz="1000"/>
            </a:pPr>
            <a:r>
              <a:rPr sz="1000" b="0" i="0">
                <a:solidFill>
                  <a:srgbClr val="D7E9E1"/>
                </a:solidFill>
                <a:latin typeface="Calibri"/>
              </a:rPr>
              <a:t>puntos, líneas, barras, áreas</a:t>
            </a:r>
          </a:p>
        </p:txBody>
      </p:sp>
      <p:sp>
        <p:nvSpPr>
          <p:cNvPr id="33" name="TextBox 32"/>
          <p:cNvSpPr txBox="1"/>
          <p:nvPr/>
        </p:nvSpPr>
        <p:spPr>
          <a:xfrm>
            <a:off x="9555480" y="4389120"/>
            <a:ext cx="2057400" cy="530352"/>
          </a:xfrm>
          <a:prstGeom prst="rect">
            <a:avLst/>
          </a:prstGeom>
          <a:noFill/>
        </p:spPr>
        <p:txBody>
          <a:bodyPr wrap="square" lIns="0" tIns="0" rIns="0" bIns="0" anchor="ctr">
            <a:noAutofit/>
          </a:bodyPr>
          <a:lstStyle/>
          <a:p>
            <a:pPr algn="l">
              <a:lnSpc>
                <a:spcPct val="110000"/>
              </a:lnSpc>
              <a:spcAft>
                <a:spcPts val="0"/>
              </a:spcAft>
              <a:defRPr sz="1000"/>
            </a:pPr>
            <a:r>
              <a:rPr sz="1000" b="0" i="0">
                <a:solidFill>
                  <a:srgbClr val="F2A93B"/>
                </a:solidFill>
                <a:latin typeface="Consolas"/>
              </a:rPr>
              <a:t>geom_point()</a:t>
            </a:r>
          </a:p>
        </p:txBody>
      </p:sp>
      <p:sp>
        <p:nvSpPr>
          <p:cNvPr id="34" name="Rounded Rectangle 33"/>
          <p:cNvSpPr/>
          <p:nvPr/>
        </p:nvSpPr>
        <p:spPr>
          <a:xfrm>
            <a:off x="6172200" y="4992624"/>
            <a:ext cx="5468112" cy="530352"/>
          </a:xfrm>
          <a:prstGeom prst="roundRect">
            <a:avLst>
              <a:gd name="adj" fmla="val 18000"/>
            </a:avLst>
          </a:prstGeom>
          <a:solidFill>
            <a:srgbClr val="2E8B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355080" y="4992624"/>
            <a:ext cx="1325880" cy="530352"/>
          </a:xfrm>
          <a:prstGeom prst="rect">
            <a:avLst/>
          </a:prstGeom>
          <a:noFill/>
        </p:spPr>
        <p:txBody>
          <a:bodyPr wrap="square" lIns="0" tIns="0" rIns="0" bIns="0" anchor="ctr">
            <a:noAutofit/>
          </a:bodyPr>
          <a:lstStyle/>
          <a:p>
            <a:pPr algn="l">
              <a:lnSpc>
                <a:spcPct val="110000"/>
              </a:lnSpc>
              <a:spcAft>
                <a:spcPts val="0"/>
              </a:spcAft>
              <a:defRPr sz="1300"/>
            </a:pPr>
            <a:r>
              <a:rPr sz="1300" b="1" i="0">
                <a:solidFill>
                  <a:srgbClr val="FFFFFF"/>
                </a:solidFill>
                <a:latin typeface="Cambria"/>
              </a:rPr>
              <a:t>Estéticas</a:t>
            </a:r>
          </a:p>
        </p:txBody>
      </p:sp>
      <p:sp>
        <p:nvSpPr>
          <p:cNvPr id="36" name="TextBox 35"/>
          <p:cNvSpPr txBox="1"/>
          <p:nvPr/>
        </p:nvSpPr>
        <p:spPr>
          <a:xfrm>
            <a:off x="7680960" y="4992624"/>
            <a:ext cx="1874519" cy="530352"/>
          </a:xfrm>
          <a:prstGeom prst="rect">
            <a:avLst/>
          </a:prstGeom>
          <a:noFill/>
        </p:spPr>
        <p:txBody>
          <a:bodyPr wrap="square" lIns="0" tIns="0" rIns="0" bIns="0" anchor="ctr">
            <a:noAutofit/>
          </a:bodyPr>
          <a:lstStyle/>
          <a:p>
            <a:pPr algn="l">
              <a:lnSpc>
                <a:spcPct val="110000"/>
              </a:lnSpc>
              <a:spcAft>
                <a:spcPts val="0"/>
              </a:spcAft>
              <a:defRPr sz="1000"/>
            </a:pPr>
            <a:r>
              <a:rPr sz="1000" b="0" i="0">
                <a:solidFill>
                  <a:srgbClr val="D7E9E1"/>
                </a:solidFill>
                <a:latin typeface="Calibri"/>
              </a:rPr>
              <a:t>qué variable a qué propiedad</a:t>
            </a:r>
          </a:p>
        </p:txBody>
      </p:sp>
      <p:sp>
        <p:nvSpPr>
          <p:cNvPr id="37" name="TextBox 36"/>
          <p:cNvSpPr txBox="1"/>
          <p:nvPr/>
        </p:nvSpPr>
        <p:spPr>
          <a:xfrm>
            <a:off x="9555480" y="4992624"/>
            <a:ext cx="2057400" cy="530352"/>
          </a:xfrm>
          <a:prstGeom prst="rect">
            <a:avLst/>
          </a:prstGeom>
          <a:noFill/>
        </p:spPr>
        <p:txBody>
          <a:bodyPr wrap="square" lIns="0" tIns="0" rIns="0" bIns="0" anchor="ctr">
            <a:noAutofit/>
          </a:bodyPr>
          <a:lstStyle/>
          <a:p>
            <a:pPr algn="l">
              <a:lnSpc>
                <a:spcPct val="110000"/>
              </a:lnSpc>
              <a:spcAft>
                <a:spcPts val="0"/>
              </a:spcAft>
              <a:defRPr sz="1000"/>
            </a:pPr>
            <a:r>
              <a:rPr sz="1000" b="0" i="0">
                <a:solidFill>
                  <a:srgbClr val="F2A93B"/>
                </a:solidFill>
                <a:latin typeface="Consolas"/>
              </a:rPr>
              <a:t>aes(x, y, colour)</a:t>
            </a:r>
          </a:p>
        </p:txBody>
      </p:sp>
      <p:sp>
        <p:nvSpPr>
          <p:cNvPr id="38" name="Rounded Rectangle 37"/>
          <p:cNvSpPr/>
          <p:nvPr/>
        </p:nvSpPr>
        <p:spPr>
          <a:xfrm>
            <a:off x="6172200" y="5596128"/>
            <a:ext cx="5468112" cy="530352"/>
          </a:xfrm>
          <a:prstGeom prst="roundRect">
            <a:avLst>
              <a:gd name="adj" fmla="val 18000"/>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355080" y="5596128"/>
            <a:ext cx="1325880" cy="530352"/>
          </a:xfrm>
          <a:prstGeom prst="rect">
            <a:avLst/>
          </a:prstGeom>
          <a:noFill/>
        </p:spPr>
        <p:txBody>
          <a:bodyPr wrap="square" lIns="0" tIns="0" rIns="0" bIns="0" anchor="ctr">
            <a:noAutofit/>
          </a:bodyPr>
          <a:lstStyle/>
          <a:p>
            <a:pPr algn="l">
              <a:lnSpc>
                <a:spcPct val="110000"/>
              </a:lnSpc>
              <a:spcAft>
                <a:spcPts val="0"/>
              </a:spcAft>
              <a:defRPr sz="1300"/>
            </a:pPr>
            <a:r>
              <a:rPr sz="1300" b="1" i="0">
                <a:solidFill>
                  <a:srgbClr val="FFFFFF"/>
                </a:solidFill>
                <a:latin typeface="Cambria"/>
              </a:rPr>
              <a:t>Datos</a:t>
            </a:r>
          </a:p>
        </p:txBody>
      </p:sp>
      <p:sp>
        <p:nvSpPr>
          <p:cNvPr id="40" name="TextBox 39"/>
          <p:cNvSpPr txBox="1"/>
          <p:nvPr/>
        </p:nvSpPr>
        <p:spPr>
          <a:xfrm>
            <a:off x="7680960" y="5596128"/>
            <a:ext cx="1874519" cy="530352"/>
          </a:xfrm>
          <a:prstGeom prst="rect">
            <a:avLst/>
          </a:prstGeom>
          <a:noFill/>
        </p:spPr>
        <p:txBody>
          <a:bodyPr wrap="square" lIns="0" tIns="0" rIns="0" bIns="0" anchor="ctr">
            <a:noAutofit/>
          </a:bodyPr>
          <a:lstStyle/>
          <a:p>
            <a:pPr algn="l">
              <a:lnSpc>
                <a:spcPct val="110000"/>
              </a:lnSpc>
              <a:spcAft>
                <a:spcPts val="0"/>
              </a:spcAft>
              <a:defRPr sz="1000"/>
            </a:pPr>
            <a:r>
              <a:rPr sz="1000" b="0" i="0">
                <a:solidFill>
                  <a:srgbClr val="D7E9E1"/>
                </a:solidFill>
                <a:latin typeface="Calibri"/>
              </a:rPr>
              <a:t>un data frame en formato tidy</a:t>
            </a:r>
          </a:p>
        </p:txBody>
      </p:sp>
      <p:sp>
        <p:nvSpPr>
          <p:cNvPr id="41" name="TextBox 40"/>
          <p:cNvSpPr txBox="1"/>
          <p:nvPr/>
        </p:nvSpPr>
        <p:spPr>
          <a:xfrm>
            <a:off x="9555480" y="5596128"/>
            <a:ext cx="2057400" cy="530352"/>
          </a:xfrm>
          <a:prstGeom prst="rect">
            <a:avLst/>
          </a:prstGeom>
          <a:noFill/>
        </p:spPr>
        <p:txBody>
          <a:bodyPr wrap="square" lIns="0" tIns="0" rIns="0" bIns="0" anchor="ctr">
            <a:noAutofit/>
          </a:bodyPr>
          <a:lstStyle/>
          <a:p>
            <a:pPr algn="l">
              <a:lnSpc>
                <a:spcPct val="110000"/>
              </a:lnSpc>
              <a:spcAft>
                <a:spcPts val="0"/>
              </a:spcAft>
              <a:defRPr sz="1000"/>
            </a:pPr>
            <a:r>
              <a:rPr sz="1000" b="0" i="0">
                <a:solidFill>
                  <a:srgbClr val="F2A93B"/>
                </a:solidFill>
                <a:latin typeface="Consolas"/>
              </a:rPr>
              <a:t>ggplot(data)</a:t>
            </a:r>
          </a:p>
        </p:txBody>
      </p:sp>
      <p:sp>
        <p:nvSpPr>
          <p:cNvPr id="42" name="TextBox 41"/>
          <p:cNvSpPr txBox="1"/>
          <p:nvPr/>
        </p:nvSpPr>
        <p:spPr>
          <a:xfrm>
            <a:off x="6172200" y="6263640"/>
            <a:ext cx="5468112" cy="228600"/>
          </a:xfrm>
          <a:prstGeom prst="rect">
            <a:avLst/>
          </a:prstGeom>
          <a:noFill/>
        </p:spPr>
        <p:txBody>
          <a:bodyPr wrap="square" lIns="0" tIns="0" rIns="0" bIns="0" anchor="t">
            <a:noAutofit/>
          </a:bodyPr>
          <a:lstStyle/>
          <a:p>
            <a:pPr algn="ctr">
              <a:lnSpc>
                <a:spcPct val="110000"/>
              </a:lnSpc>
              <a:spcAft>
                <a:spcPts val="0"/>
              </a:spcAft>
              <a:defRPr sz="1000"/>
            </a:pPr>
            <a:r>
              <a:rPr sz="1000" b="0" i="1">
                <a:solidFill>
                  <a:srgbClr val="5B6B6F"/>
                </a:solidFill>
                <a:latin typeface="Calibri"/>
              </a:rPr>
              <a:t>Se lee de abajo hacia arriba: cada capa se apoya en la anterior</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6446520"/>
            <a:ext cx="7315200" cy="274320"/>
          </a:xfrm>
          <a:prstGeom prst="rect">
            <a:avLst/>
          </a:prstGeom>
          <a:noFill/>
        </p:spPr>
        <p:txBody>
          <a:bodyPr wrap="square" lIns="0" tIns="0" rIns="0" bIns="0" anchor="t">
            <a:noAutofit/>
          </a:bodyPr>
          <a:lstStyle/>
          <a:p>
            <a:pPr algn="l">
              <a:lnSpc>
                <a:spcPct val="110000"/>
              </a:lnSpc>
              <a:spcAft>
                <a:spcPts val="0"/>
              </a:spcAft>
              <a:defRPr sz="900"/>
            </a:pPr>
            <a:r>
              <a:rPr sz="900" b="0" i="0">
                <a:solidFill>
                  <a:srgbClr val="9AA7AB"/>
                </a:solidFill>
                <a:latin typeface="Calibri"/>
              </a:rPr>
              <a:t>Visualización de Datos · Clase 18 · R y visualización de datos</a:t>
            </a:r>
          </a:p>
        </p:txBody>
      </p:sp>
      <p:sp>
        <p:nvSpPr>
          <p:cNvPr id="4" name="TextBox 3"/>
          <p:cNvSpPr txBox="1"/>
          <p:nvPr/>
        </p:nvSpPr>
        <p:spPr>
          <a:xfrm>
            <a:off x="10972800" y="6446520"/>
            <a:ext cx="667512" cy="274320"/>
          </a:xfrm>
          <a:prstGeom prst="rect">
            <a:avLst/>
          </a:prstGeom>
          <a:noFill/>
        </p:spPr>
        <p:txBody>
          <a:bodyPr wrap="square" lIns="0" tIns="0" rIns="0" bIns="0" anchor="t">
            <a:noAutofit/>
          </a:bodyPr>
          <a:lstStyle/>
          <a:p>
            <a:pPr algn="r">
              <a:lnSpc>
                <a:spcPct val="110000"/>
              </a:lnSpc>
              <a:spcAft>
                <a:spcPts val="0"/>
              </a:spcAft>
              <a:defRPr sz="900"/>
            </a:pPr>
            <a:r>
              <a:rPr sz="900" b="0" i="0">
                <a:solidFill>
                  <a:srgbClr val="9AA7AB"/>
                </a:solidFill>
                <a:latin typeface="Calibri"/>
              </a:rPr>
              <a:t>11</a:t>
            </a:r>
          </a:p>
        </p:txBody>
      </p:sp>
      <p:sp>
        <p:nvSpPr>
          <p:cNvPr id="5" name="TextBox 4"/>
          <p:cNvSpPr txBox="1"/>
          <p:nvPr/>
        </p:nvSpPr>
        <p:spPr>
          <a:xfrm>
            <a:off x="548640" y="457200"/>
            <a:ext cx="11091672" cy="731520"/>
          </a:xfrm>
          <a:prstGeom prst="rect">
            <a:avLst/>
          </a:prstGeom>
          <a:noFill/>
        </p:spPr>
        <p:txBody>
          <a:bodyPr wrap="square" lIns="0" tIns="0" rIns="0" bIns="0" anchor="t">
            <a:noAutofit/>
          </a:bodyPr>
          <a:lstStyle/>
          <a:p>
            <a:pPr algn="l">
              <a:lnSpc>
                <a:spcPct val="110000"/>
              </a:lnSpc>
              <a:spcAft>
                <a:spcPts val="0"/>
              </a:spcAft>
              <a:defRPr sz="3000"/>
            </a:pPr>
            <a:r>
              <a:rPr sz="3000" b="1" i="0">
                <a:solidFill>
                  <a:srgbClr val="0B6E4F"/>
                </a:solidFill>
                <a:latin typeface="Cambria"/>
              </a:rPr>
              <a:t>Anatomía de un gráfico ggplot2, capa por capa</a:t>
            </a:r>
          </a:p>
        </p:txBody>
      </p:sp>
      <p:sp>
        <p:nvSpPr>
          <p:cNvPr id="6" name="Rounded Rectangle 5"/>
          <p:cNvSpPr/>
          <p:nvPr/>
        </p:nvSpPr>
        <p:spPr>
          <a:xfrm>
            <a:off x="500205" y="1271016"/>
            <a:ext cx="7732109" cy="4544568"/>
          </a:xfrm>
          <a:prstGeom prst="roundRect">
            <a:avLst>
              <a:gd name="adj" fmla="val 2000"/>
            </a:avLst>
          </a:prstGeom>
          <a:solidFill>
            <a:srgbClr val="FFFFFF"/>
          </a:solidFill>
          <a:ln w="9525">
            <a:solidFill>
              <a:srgbClr val="CFE8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anatomia_capas.png"/>
          <p:cNvPicPr>
            <a:picLocks noChangeAspect="1"/>
          </p:cNvPicPr>
          <p:nvPr/>
        </p:nvPicPr>
        <p:blipFill>
          <a:blip r:embed="rId3"/>
          <a:stretch>
            <a:fillRect/>
          </a:stretch>
        </p:blipFill>
        <p:spPr>
          <a:xfrm>
            <a:off x="555069" y="1325880"/>
            <a:ext cx="7622381" cy="4434840"/>
          </a:xfrm>
          <a:prstGeom prst="rect">
            <a:avLst/>
          </a:prstGeom>
        </p:spPr>
      </p:pic>
      <p:sp>
        <p:nvSpPr>
          <p:cNvPr id="8" name="Rounded Rectangle 7"/>
          <p:cNvSpPr/>
          <p:nvPr/>
        </p:nvSpPr>
        <p:spPr>
          <a:xfrm>
            <a:off x="8412480" y="1325880"/>
            <a:ext cx="3227832" cy="4434840"/>
          </a:xfrm>
          <a:prstGeom prst="roundRect">
            <a:avLst>
              <a:gd name="adj" fmla="val 4000"/>
            </a:avLst>
          </a:prstGeom>
          <a:solidFill>
            <a:srgbClr val="0F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577072" y="1453895"/>
            <a:ext cx="2898648" cy="4178807"/>
          </a:xfrm>
          <a:prstGeom prst="rect">
            <a:avLst/>
          </a:prstGeom>
          <a:noFill/>
        </p:spPr>
        <p:txBody>
          <a:bodyPr wrap="square" lIns="0" tIns="0" rIns="0" bIns="0" anchor="t">
            <a:noAutofit/>
          </a:bodyPr>
          <a:lstStyle/>
          <a:p>
            <a:pPr>
              <a:lnSpc>
                <a:spcPct val="105000"/>
              </a:lnSpc>
              <a:spcAft>
                <a:spcPts val="100"/>
              </a:spcAft>
              <a:defRPr sz="1050"/>
            </a:pPr>
            <a:r>
              <a:rPr sz="1050" b="0" i="0">
                <a:solidFill>
                  <a:srgbClr val="8FB5A4"/>
                </a:solidFill>
                <a:latin typeface="Consolas"/>
              </a:rPr>
              <a:t># 1. Datos + estética</a:t>
            </a:r>
          </a:p>
          <a:p>
            <a:pPr>
              <a:lnSpc>
                <a:spcPct val="105000"/>
              </a:lnSpc>
              <a:spcAft>
                <a:spcPts val="100"/>
              </a:spcAft>
              <a:defRPr sz="1050"/>
            </a:pPr>
            <a:r>
              <a:rPr sz="1050" b="0" i="0">
                <a:solidFill>
                  <a:srgbClr val="E8F1EC"/>
                </a:solidFill>
                <a:latin typeface="Consolas"/>
              </a:rPr>
              <a:t>p &lt;- ggplot(mpg,</a:t>
            </a:r>
          </a:p>
          <a:p>
            <a:pPr>
              <a:lnSpc>
                <a:spcPct val="105000"/>
              </a:lnSpc>
              <a:spcAft>
                <a:spcPts val="100"/>
              </a:spcAft>
              <a:defRPr sz="1050"/>
            </a:pPr>
            <a:r>
              <a:rPr sz="1050" b="0" i="0">
                <a:solidFill>
                  <a:srgbClr val="E8F1EC"/>
                </a:solidFill>
                <a:latin typeface="Consolas"/>
              </a:rPr>
              <a:t>        aes(displ, hwy))</a:t>
            </a:r>
          </a:p>
          <a:p>
            <a:pPr>
              <a:lnSpc>
                <a:spcPct val="105000"/>
              </a:lnSpc>
              <a:spcAft>
                <a:spcPts val="100"/>
              </a:spcAft>
              <a:defRPr sz="1050"/>
            </a:pPr>
            <a:endParaRPr sz="1050" b="0" i="0">
              <a:solidFill>
                <a:srgbClr val="E8F1EC"/>
              </a:solidFill>
              <a:latin typeface="Consolas"/>
            </a:endParaRPr>
          </a:p>
          <a:p>
            <a:pPr>
              <a:lnSpc>
                <a:spcPct val="105000"/>
              </a:lnSpc>
              <a:spcAft>
                <a:spcPts val="100"/>
              </a:spcAft>
              <a:defRPr sz="1050"/>
            </a:pPr>
            <a:r>
              <a:rPr sz="1050" b="0" i="0">
                <a:solidFill>
                  <a:srgbClr val="8FB5A4"/>
                </a:solidFill>
                <a:latin typeface="Consolas"/>
              </a:rPr>
              <a:t># 2. Geometría</a:t>
            </a:r>
          </a:p>
          <a:p>
            <a:pPr>
              <a:lnSpc>
                <a:spcPct val="105000"/>
              </a:lnSpc>
              <a:spcAft>
                <a:spcPts val="100"/>
              </a:spcAft>
              <a:defRPr sz="1050"/>
            </a:pPr>
            <a:r>
              <a:rPr sz="1050" b="0" i="0">
                <a:solidFill>
                  <a:srgbClr val="E8F1EC"/>
                </a:solidFill>
                <a:latin typeface="Consolas"/>
              </a:rPr>
              <a:t>p &lt;- p + geom_point()</a:t>
            </a:r>
          </a:p>
          <a:p>
            <a:pPr>
              <a:lnSpc>
                <a:spcPct val="105000"/>
              </a:lnSpc>
              <a:spcAft>
                <a:spcPts val="100"/>
              </a:spcAft>
              <a:defRPr sz="1050"/>
            </a:pPr>
            <a:endParaRPr sz="1050" b="0" i="0">
              <a:solidFill>
                <a:srgbClr val="E8F1EC"/>
              </a:solidFill>
              <a:latin typeface="Consolas"/>
            </a:endParaRPr>
          </a:p>
          <a:p>
            <a:pPr>
              <a:lnSpc>
                <a:spcPct val="105000"/>
              </a:lnSpc>
              <a:spcAft>
                <a:spcPts val="100"/>
              </a:spcAft>
              <a:defRPr sz="1050"/>
            </a:pPr>
            <a:r>
              <a:rPr sz="1050" b="0" i="0">
                <a:solidFill>
                  <a:srgbClr val="8FB5A4"/>
                </a:solidFill>
                <a:latin typeface="Consolas"/>
              </a:rPr>
              <a:t># 3. Estadística</a:t>
            </a:r>
          </a:p>
          <a:p>
            <a:pPr>
              <a:lnSpc>
                <a:spcPct val="105000"/>
              </a:lnSpc>
              <a:spcAft>
                <a:spcPts val="100"/>
              </a:spcAft>
              <a:defRPr sz="1050"/>
            </a:pPr>
            <a:r>
              <a:rPr sz="1050" b="0" i="0">
                <a:solidFill>
                  <a:srgbClr val="E8F1EC"/>
                </a:solidFill>
                <a:latin typeface="Consolas"/>
              </a:rPr>
              <a:t>p &lt;- p + geom_smooth()</a:t>
            </a:r>
          </a:p>
          <a:p>
            <a:pPr>
              <a:lnSpc>
                <a:spcPct val="105000"/>
              </a:lnSpc>
              <a:spcAft>
                <a:spcPts val="100"/>
              </a:spcAft>
              <a:defRPr sz="1050"/>
            </a:pPr>
            <a:endParaRPr sz="1050" b="0" i="0">
              <a:solidFill>
                <a:srgbClr val="E8F1EC"/>
              </a:solidFill>
              <a:latin typeface="Consolas"/>
            </a:endParaRPr>
          </a:p>
          <a:p>
            <a:pPr>
              <a:lnSpc>
                <a:spcPct val="105000"/>
              </a:lnSpc>
              <a:spcAft>
                <a:spcPts val="100"/>
              </a:spcAft>
              <a:defRPr sz="1050"/>
            </a:pPr>
            <a:r>
              <a:rPr sz="1050" b="0" i="0">
                <a:solidFill>
                  <a:srgbClr val="8FB5A4"/>
                </a:solidFill>
                <a:latin typeface="Consolas"/>
              </a:rPr>
              <a:t># 4. Escala, etiquetas, tema</a:t>
            </a:r>
          </a:p>
          <a:p>
            <a:pPr>
              <a:lnSpc>
                <a:spcPct val="105000"/>
              </a:lnSpc>
              <a:spcAft>
                <a:spcPts val="100"/>
              </a:spcAft>
              <a:defRPr sz="1050"/>
            </a:pPr>
            <a:r>
              <a:rPr sz="1050" b="0" i="0">
                <a:solidFill>
                  <a:srgbClr val="E8F1EC"/>
                </a:solidFill>
                <a:latin typeface="Consolas"/>
              </a:rPr>
              <a:t>p + aes(colour = drv) +</a:t>
            </a:r>
          </a:p>
          <a:p>
            <a:pPr>
              <a:lnSpc>
                <a:spcPct val="105000"/>
              </a:lnSpc>
              <a:spcAft>
                <a:spcPts val="100"/>
              </a:spcAft>
              <a:defRPr sz="1050"/>
            </a:pPr>
            <a:r>
              <a:rPr sz="1050" b="0" i="0">
                <a:solidFill>
                  <a:srgbClr val="E8F1EC"/>
                </a:solidFill>
                <a:latin typeface="Consolas"/>
              </a:rPr>
              <a:t>  scale_colour_manual(</a:t>
            </a:r>
          </a:p>
          <a:p>
            <a:pPr>
              <a:lnSpc>
                <a:spcPct val="105000"/>
              </a:lnSpc>
              <a:spcAft>
                <a:spcPts val="100"/>
              </a:spcAft>
              <a:defRPr sz="1050"/>
            </a:pPr>
            <a:r>
              <a:rPr sz="1050" b="0" i="0">
                <a:solidFill>
                  <a:srgbClr val="E8F1EC"/>
                </a:solidFill>
                <a:latin typeface="Consolas"/>
              </a:rPr>
              <a:t>    values = paleta) +</a:t>
            </a:r>
          </a:p>
          <a:p>
            <a:pPr>
              <a:lnSpc>
                <a:spcPct val="105000"/>
              </a:lnSpc>
              <a:spcAft>
                <a:spcPts val="100"/>
              </a:spcAft>
              <a:defRPr sz="1050"/>
            </a:pPr>
            <a:r>
              <a:rPr sz="1050" b="0" i="0">
                <a:solidFill>
                  <a:srgbClr val="E8F1EC"/>
                </a:solidFill>
                <a:latin typeface="Consolas"/>
              </a:rPr>
              <a:t>  labs(title = </a:t>
            </a:r>
            <a:r>
              <a:rPr sz="1050" b="0" i="0">
                <a:solidFill>
                  <a:srgbClr val="F5C56B"/>
                </a:solidFill>
                <a:latin typeface="Consolas"/>
              </a:rPr>
              <a:t>"..."</a:t>
            </a:r>
            <a:r>
              <a:rPr sz="1050" b="0" i="0">
                <a:solidFill>
                  <a:srgbClr val="E8F1EC"/>
                </a:solidFill>
                <a:latin typeface="Consolas"/>
              </a:rPr>
              <a:t>,</a:t>
            </a:r>
          </a:p>
          <a:p>
            <a:pPr>
              <a:lnSpc>
                <a:spcPct val="105000"/>
              </a:lnSpc>
              <a:spcAft>
                <a:spcPts val="100"/>
              </a:spcAft>
              <a:defRPr sz="1050"/>
            </a:pPr>
            <a:r>
              <a:rPr sz="1050" b="0" i="0">
                <a:solidFill>
                  <a:srgbClr val="E8F1EC"/>
                </a:solidFill>
                <a:latin typeface="Consolas"/>
              </a:rPr>
              <a:t>       x = </a:t>
            </a:r>
            <a:r>
              <a:rPr sz="1050" b="0" i="0">
                <a:solidFill>
                  <a:srgbClr val="F5C56B"/>
                </a:solidFill>
                <a:latin typeface="Consolas"/>
              </a:rPr>
              <a:t>"Cilindrada (L)"</a:t>
            </a:r>
            <a:r>
              <a:rPr sz="1050" b="0" i="0">
                <a:solidFill>
                  <a:srgbClr val="E8F1EC"/>
                </a:solidFill>
                <a:latin typeface="Consolas"/>
              </a:rPr>
              <a:t>,</a:t>
            </a:r>
          </a:p>
          <a:p>
            <a:pPr>
              <a:lnSpc>
                <a:spcPct val="105000"/>
              </a:lnSpc>
              <a:spcAft>
                <a:spcPts val="100"/>
              </a:spcAft>
              <a:defRPr sz="1050"/>
            </a:pPr>
            <a:r>
              <a:rPr sz="1050" b="0" i="0">
                <a:solidFill>
                  <a:srgbClr val="E8F1EC"/>
                </a:solidFill>
                <a:latin typeface="Consolas"/>
              </a:rPr>
              <a:t>       y = </a:t>
            </a:r>
            <a:r>
              <a:rPr sz="1050" b="0" i="0">
                <a:solidFill>
                  <a:srgbClr val="F5C56B"/>
                </a:solidFill>
                <a:latin typeface="Consolas"/>
              </a:rPr>
              <a:t>"mpg carretera"</a:t>
            </a:r>
            <a:r>
              <a:rPr sz="1050" b="0" i="0">
                <a:solidFill>
                  <a:srgbClr val="E8F1EC"/>
                </a:solidFill>
                <a:latin typeface="Consolas"/>
              </a:rPr>
              <a:t>) +</a:t>
            </a:r>
          </a:p>
          <a:p>
            <a:pPr>
              <a:lnSpc>
                <a:spcPct val="105000"/>
              </a:lnSpc>
              <a:spcAft>
                <a:spcPts val="100"/>
              </a:spcAft>
              <a:defRPr sz="1050"/>
            </a:pPr>
            <a:r>
              <a:rPr sz="1050" b="0" i="0">
                <a:solidFill>
                  <a:srgbClr val="E8F1EC"/>
                </a:solidFill>
                <a:latin typeface="Consolas"/>
              </a:rPr>
              <a:t>  theme_minimal()</a:t>
            </a:r>
          </a:p>
        </p:txBody>
      </p:sp>
      <p:sp>
        <p:nvSpPr>
          <p:cNvPr id="10" name="Rounded Rectangle 9"/>
          <p:cNvSpPr/>
          <p:nvPr/>
        </p:nvSpPr>
        <p:spPr>
          <a:xfrm>
            <a:off x="548640" y="5815584"/>
            <a:ext cx="11091672" cy="585216"/>
          </a:xfrm>
          <a:prstGeom prst="roundRect">
            <a:avLst>
              <a:gd name="adj" fmla="val 6000"/>
            </a:avLst>
          </a:prstGeom>
          <a:solidFill>
            <a:srgbClr val="FFF3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77240" y="5815584"/>
            <a:ext cx="10698480" cy="585216"/>
          </a:xfrm>
          <a:prstGeom prst="rect">
            <a:avLst/>
          </a:prstGeom>
          <a:noFill/>
        </p:spPr>
        <p:txBody>
          <a:bodyPr wrap="square" lIns="0" tIns="0" rIns="0" bIns="0" anchor="ctr">
            <a:noAutofit/>
          </a:bodyPr>
          <a:lstStyle/>
          <a:p>
            <a:pPr algn="l">
              <a:lnSpc>
                <a:spcPct val="110000"/>
              </a:lnSpc>
              <a:spcAft>
                <a:spcPts val="600"/>
              </a:spcAft>
              <a:defRPr sz="1200"/>
            </a:pPr>
            <a:r>
              <a:rPr sz="1200" b="1" i="0">
                <a:solidFill>
                  <a:srgbClr val="B7791F"/>
                </a:solidFill>
                <a:latin typeface="Calibri"/>
              </a:rPr>
              <a:t>Consejo profesional: </a:t>
            </a:r>
            <a:r>
              <a:rPr sz="1200" b="0" i="0">
                <a:solidFill>
                  <a:srgbClr val="1F2A2E"/>
                </a:solidFill>
                <a:latin typeface="Calibri"/>
              </a:rPr>
              <a:t>piensa en capas. Cada + añade una capa sobre las anteriores; construye el gráfico de forma incremental y guarda los pasos intermedios en objetos (p &lt;-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6446520"/>
            <a:ext cx="7315200" cy="274320"/>
          </a:xfrm>
          <a:prstGeom prst="rect">
            <a:avLst/>
          </a:prstGeom>
          <a:noFill/>
        </p:spPr>
        <p:txBody>
          <a:bodyPr wrap="square" lIns="0" tIns="0" rIns="0" bIns="0" anchor="t">
            <a:noAutofit/>
          </a:bodyPr>
          <a:lstStyle/>
          <a:p>
            <a:pPr algn="l">
              <a:lnSpc>
                <a:spcPct val="110000"/>
              </a:lnSpc>
              <a:spcAft>
                <a:spcPts val="0"/>
              </a:spcAft>
              <a:defRPr sz="900"/>
            </a:pPr>
            <a:r>
              <a:rPr sz="900" b="0" i="0">
                <a:solidFill>
                  <a:srgbClr val="9AA7AB"/>
                </a:solidFill>
                <a:latin typeface="Calibri"/>
              </a:rPr>
              <a:t>Visualización de Datos · Clase 18 · R y visualización de datos</a:t>
            </a:r>
          </a:p>
        </p:txBody>
      </p:sp>
      <p:sp>
        <p:nvSpPr>
          <p:cNvPr id="4" name="TextBox 3"/>
          <p:cNvSpPr txBox="1"/>
          <p:nvPr/>
        </p:nvSpPr>
        <p:spPr>
          <a:xfrm>
            <a:off x="10972800" y="6446520"/>
            <a:ext cx="667512" cy="274320"/>
          </a:xfrm>
          <a:prstGeom prst="rect">
            <a:avLst/>
          </a:prstGeom>
          <a:noFill/>
        </p:spPr>
        <p:txBody>
          <a:bodyPr wrap="square" lIns="0" tIns="0" rIns="0" bIns="0" anchor="t">
            <a:noAutofit/>
          </a:bodyPr>
          <a:lstStyle/>
          <a:p>
            <a:pPr algn="r">
              <a:lnSpc>
                <a:spcPct val="110000"/>
              </a:lnSpc>
              <a:spcAft>
                <a:spcPts val="0"/>
              </a:spcAft>
              <a:defRPr sz="900"/>
            </a:pPr>
            <a:r>
              <a:rPr sz="900" b="0" i="0">
                <a:solidFill>
                  <a:srgbClr val="9AA7AB"/>
                </a:solidFill>
                <a:latin typeface="Calibri"/>
              </a:rPr>
              <a:t>12</a:t>
            </a:r>
          </a:p>
        </p:txBody>
      </p:sp>
      <p:sp>
        <p:nvSpPr>
          <p:cNvPr id="5" name="TextBox 4"/>
          <p:cNvSpPr txBox="1"/>
          <p:nvPr/>
        </p:nvSpPr>
        <p:spPr>
          <a:xfrm>
            <a:off x="548640" y="457200"/>
            <a:ext cx="11091672" cy="731520"/>
          </a:xfrm>
          <a:prstGeom prst="rect">
            <a:avLst/>
          </a:prstGeom>
          <a:noFill/>
        </p:spPr>
        <p:txBody>
          <a:bodyPr wrap="square" lIns="0" tIns="0" rIns="0" bIns="0" anchor="t">
            <a:noAutofit/>
          </a:bodyPr>
          <a:lstStyle/>
          <a:p>
            <a:pPr algn="l">
              <a:lnSpc>
                <a:spcPct val="110000"/>
              </a:lnSpc>
              <a:spcAft>
                <a:spcPts val="0"/>
              </a:spcAft>
              <a:defRPr sz="3000"/>
            </a:pPr>
            <a:r>
              <a:rPr sz="3000" b="1" i="0">
                <a:solidFill>
                  <a:srgbClr val="0B6E4F"/>
                </a:solidFill>
                <a:latin typeface="Cambria"/>
              </a:rPr>
              <a:t>Componentes básicos: datos, aes() y geoms</a:t>
            </a:r>
          </a:p>
        </p:txBody>
      </p:sp>
      <p:sp>
        <p:nvSpPr>
          <p:cNvPr id="6" name="Rounded Rectangle 5"/>
          <p:cNvSpPr/>
          <p:nvPr/>
        </p:nvSpPr>
        <p:spPr>
          <a:xfrm>
            <a:off x="548640" y="1417320"/>
            <a:ext cx="3593592" cy="4846320"/>
          </a:xfrm>
          <a:prstGeom prst="roundRect">
            <a:avLst>
              <a:gd name="adj" fmla="val 6000"/>
            </a:avLst>
          </a:prstGeom>
          <a:solidFill>
            <a:srgbClr val="EE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1600200"/>
            <a:ext cx="3200400" cy="411480"/>
          </a:xfrm>
          <a:prstGeom prst="rect">
            <a:avLst/>
          </a:prstGeom>
          <a:noFill/>
        </p:spPr>
        <p:txBody>
          <a:bodyPr wrap="square" lIns="0" tIns="0" rIns="0" bIns="0" anchor="t">
            <a:noAutofit/>
          </a:bodyPr>
          <a:lstStyle/>
          <a:p>
            <a:pPr algn="l">
              <a:lnSpc>
                <a:spcPct val="110000"/>
              </a:lnSpc>
              <a:spcAft>
                <a:spcPts val="0"/>
              </a:spcAft>
              <a:defRPr sz="1700"/>
            </a:pPr>
            <a:r>
              <a:rPr sz="1700" b="1" i="0">
                <a:solidFill>
                  <a:srgbClr val="0B6E4F"/>
                </a:solidFill>
                <a:latin typeface="Cambria"/>
              </a:rPr>
              <a:t>Datos (data)</a:t>
            </a:r>
          </a:p>
        </p:txBody>
      </p:sp>
      <p:sp>
        <p:nvSpPr>
          <p:cNvPr id="8" name="TextBox 7"/>
          <p:cNvSpPr txBox="1"/>
          <p:nvPr/>
        </p:nvSpPr>
        <p:spPr>
          <a:xfrm>
            <a:off x="777240" y="2057400"/>
            <a:ext cx="3200400" cy="548640"/>
          </a:xfrm>
          <a:prstGeom prst="rect">
            <a:avLst/>
          </a:prstGeom>
          <a:noFill/>
        </p:spPr>
        <p:txBody>
          <a:bodyPr wrap="square" lIns="0" tIns="0" rIns="0" bIns="0" anchor="t">
            <a:noAutofit/>
          </a:bodyPr>
          <a:lstStyle/>
          <a:p>
            <a:pPr algn="l">
              <a:lnSpc>
                <a:spcPct val="110000"/>
              </a:lnSpc>
              <a:spcAft>
                <a:spcPts val="0"/>
              </a:spcAft>
              <a:defRPr sz="1200"/>
            </a:pPr>
            <a:r>
              <a:rPr sz="1200" b="0" i="1">
                <a:solidFill>
                  <a:srgbClr val="5B6B6F"/>
                </a:solidFill>
                <a:latin typeface="Calibri"/>
              </a:rPr>
              <a:t>El data frame o tibble que se va a visualizar.</a:t>
            </a:r>
          </a:p>
        </p:txBody>
      </p:sp>
      <p:sp>
        <p:nvSpPr>
          <p:cNvPr id="9" name="TextBox 8"/>
          <p:cNvSpPr txBox="1"/>
          <p:nvPr/>
        </p:nvSpPr>
        <p:spPr>
          <a:xfrm>
            <a:off x="777240" y="2651760"/>
            <a:ext cx="3154680" cy="2286000"/>
          </a:xfrm>
          <a:prstGeom prst="rect">
            <a:avLst/>
          </a:prstGeom>
          <a:noFill/>
        </p:spPr>
        <p:txBody>
          <a:bodyPr wrap="square" lIns="0" tIns="0" rIns="0" bIns="0" anchor="t">
            <a:noAutofit/>
          </a:bodyPr>
          <a:lstStyle/>
          <a:p>
            <a:pPr marL="201168" indent="-201168">
              <a:lnSpc>
                <a:spcPct val="108000"/>
              </a:lnSpc>
              <a:spcAft>
                <a:spcPts val="600"/>
              </a:spcAft>
              <a:buClr>
                <a:srgbClr val="0B6E4F"/>
              </a:buClr>
              <a:buFont typeface="Arial"/>
              <a:buChar char="•"/>
              <a:defRPr sz="1150"/>
            </a:pPr>
            <a:r>
              <a:rPr sz="1150" b="0" i="0">
                <a:solidFill>
                  <a:srgbClr val="1F2A2E"/>
                </a:solidFill>
                <a:latin typeface="Calibri"/>
              </a:rPr>
              <a:t>Formato tidy: una variable por columna, una observación por fila</a:t>
            </a:r>
          </a:p>
          <a:p>
            <a:pPr marL="201168" indent="-201168">
              <a:lnSpc>
                <a:spcPct val="108000"/>
              </a:lnSpc>
              <a:spcAft>
                <a:spcPts val="600"/>
              </a:spcAft>
              <a:buClr>
                <a:srgbClr val="0B6E4F"/>
              </a:buClr>
              <a:buFont typeface="Arial"/>
              <a:buChar char="•"/>
              <a:defRPr sz="1150"/>
            </a:pPr>
            <a:r>
              <a:rPr sz="1150" b="0" i="0">
                <a:solidFill>
                  <a:srgbClr val="1F2A2E"/>
                </a:solidFill>
                <a:latin typeface="Calibri"/>
              </a:rPr>
              <a:t>Numéricas, categóricas (factor) o fechas</a:t>
            </a:r>
          </a:p>
          <a:p>
            <a:pPr marL="201168" indent="-201168">
              <a:lnSpc>
                <a:spcPct val="108000"/>
              </a:lnSpc>
              <a:spcAft>
                <a:spcPts val="600"/>
              </a:spcAft>
              <a:buClr>
                <a:srgbClr val="0B6E4F"/>
              </a:buClr>
              <a:buFont typeface="Arial"/>
              <a:buChar char="•"/>
              <a:defRPr sz="1150"/>
            </a:pPr>
            <a:r>
              <a:rPr sz="1150" b="0" i="0">
                <a:solidFill>
                  <a:srgbClr val="1F2A2E"/>
                </a:solidFill>
                <a:latin typeface="Calibri"/>
              </a:rPr>
              <a:t>Se prepara con dplyr y tidyr antes de graficar</a:t>
            </a:r>
          </a:p>
        </p:txBody>
      </p:sp>
      <p:sp>
        <p:nvSpPr>
          <p:cNvPr id="10" name="Rounded Rectangle 9"/>
          <p:cNvSpPr/>
          <p:nvPr/>
        </p:nvSpPr>
        <p:spPr>
          <a:xfrm>
            <a:off x="777240" y="4983480"/>
            <a:ext cx="3136392" cy="1097280"/>
          </a:xfrm>
          <a:prstGeom prst="roundRect">
            <a:avLst>
              <a:gd name="adj" fmla="val 4000"/>
            </a:avLst>
          </a:prstGeom>
          <a:solidFill>
            <a:srgbClr val="0F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41832" y="5111496"/>
            <a:ext cx="2807208" cy="841247"/>
          </a:xfrm>
          <a:prstGeom prst="rect">
            <a:avLst/>
          </a:prstGeom>
          <a:noFill/>
        </p:spPr>
        <p:txBody>
          <a:bodyPr wrap="square" lIns="0" tIns="0" rIns="0" bIns="0" anchor="t">
            <a:noAutofit/>
          </a:bodyPr>
          <a:lstStyle/>
          <a:p>
            <a:pPr>
              <a:lnSpc>
                <a:spcPct val="105000"/>
              </a:lnSpc>
              <a:spcAft>
                <a:spcPts val="100"/>
              </a:spcAft>
              <a:defRPr sz="1050"/>
            </a:pPr>
            <a:r>
              <a:rPr sz="1050" b="0" i="0">
                <a:solidFill>
                  <a:srgbClr val="E8F1EC"/>
                </a:solidFill>
                <a:latin typeface="Consolas"/>
              </a:rPr>
              <a:t>ggplot(data = mpg)</a:t>
            </a:r>
          </a:p>
        </p:txBody>
      </p:sp>
      <p:sp>
        <p:nvSpPr>
          <p:cNvPr id="12" name="Rounded Rectangle 11"/>
          <p:cNvSpPr/>
          <p:nvPr/>
        </p:nvSpPr>
        <p:spPr>
          <a:xfrm>
            <a:off x="4297679" y="1417320"/>
            <a:ext cx="3593592" cy="4846320"/>
          </a:xfrm>
          <a:prstGeom prst="roundRect">
            <a:avLst>
              <a:gd name="adj" fmla="val 6000"/>
            </a:avLst>
          </a:prstGeom>
          <a:solidFill>
            <a:srgbClr val="EE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26279" y="1600200"/>
            <a:ext cx="3200400" cy="411480"/>
          </a:xfrm>
          <a:prstGeom prst="rect">
            <a:avLst/>
          </a:prstGeom>
          <a:noFill/>
        </p:spPr>
        <p:txBody>
          <a:bodyPr wrap="square" lIns="0" tIns="0" rIns="0" bIns="0" anchor="t">
            <a:noAutofit/>
          </a:bodyPr>
          <a:lstStyle/>
          <a:p>
            <a:pPr algn="l">
              <a:lnSpc>
                <a:spcPct val="110000"/>
              </a:lnSpc>
              <a:spcAft>
                <a:spcPts val="0"/>
              </a:spcAft>
              <a:defRPr sz="1700"/>
            </a:pPr>
            <a:r>
              <a:rPr sz="1700" b="1" i="0">
                <a:solidFill>
                  <a:srgbClr val="0B6E4F"/>
                </a:solidFill>
                <a:latin typeface="Cambria"/>
              </a:rPr>
              <a:t>Mapeo estético aes()</a:t>
            </a:r>
          </a:p>
        </p:txBody>
      </p:sp>
      <p:sp>
        <p:nvSpPr>
          <p:cNvPr id="14" name="TextBox 13"/>
          <p:cNvSpPr txBox="1"/>
          <p:nvPr/>
        </p:nvSpPr>
        <p:spPr>
          <a:xfrm>
            <a:off x="4526279" y="2057400"/>
            <a:ext cx="3200400" cy="548640"/>
          </a:xfrm>
          <a:prstGeom prst="rect">
            <a:avLst/>
          </a:prstGeom>
          <a:noFill/>
        </p:spPr>
        <p:txBody>
          <a:bodyPr wrap="square" lIns="0" tIns="0" rIns="0" bIns="0" anchor="t">
            <a:noAutofit/>
          </a:bodyPr>
          <a:lstStyle/>
          <a:p>
            <a:pPr algn="l">
              <a:lnSpc>
                <a:spcPct val="110000"/>
              </a:lnSpc>
              <a:spcAft>
                <a:spcPts val="0"/>
              </a:spcAft>
              <a:defRPr sz="1200"/>
            </a:pPr>
            <a:r>
              <a:rPr sz="1200" b="0" i="1">
                <a:solidFill>
                  <a:srgbClr val="5B6B6F"/>
                </a:solidFill>
                <a:latin typeface="Calibri"/>
              </a:rPr>
              <a:t>Asigna variables a propiedades visuales.</a:t>
            </a:r>
          </a:p>
        </p:txBody>
      </p:sp>
      <p:sp>
        <p:nvSpPr>
          <p:cNvPr id="15" name="TextBox 14"/>
          <p:cNvSpPr txBox="1"/>
          <p:nvPr/>
        </p:nvSpPr>
        <p:spPr>
          <a:xfrm>
            <a:off x="4526279" y="2651760"/>
            <a:ext cx="3154680" cy="2286000"/>
          </a:xfrm>
          <a:prstGeom prst="rect">
            <a:avLst/>
          </a:prstGeom>
          <a:noFill/>
        </p:spPr>
        <p:txBody>
          <a:bodyPr wrap="square" lIns="0" tIns="0" rIns="0" bIns="0" anchor="t">
            <a:noAutofit/>
          </a:bodyPr>
          <a:lstStyle/>
          <a:p>
            <a:pPr marL="201168" indent="-201168">
              <a:lnSpc>
                <a:spcPct val="108000"/>
              </a:lnSpc>
              <a:spcAft>
                <a:spcPts val="600"/>
              </a:spcAft>
              <a:buClr>
                <a:srgbClr val="0B6E4F"/>
              </a:buClr>
              <a:buFont typeface="Arial"/>
              <a:buChar char="•"/>
              <a:defRPr sz="1150"/>
            </a:pPr>
            <a:r>
              <a:rPr sz="1150" b="0" i="0">
                <a:solidFill>
                  <a:srgbClr val="1F2A2E"/>
                </a:solidFill>
                <a:latin typeface="Calibri"/>
              </a:rPr>
              <a:t>x, y: posición en los ejes</a:t>
            </a:r>
          </a:p>
          <a:p>
            <a:pPr marL="201168" indent="-201168">
              <a:lnSpc>
                <a:spcPct val="108000"/>
              </a:lnSpc>
              <a:spcAft>
                <a:spcPts val="600"/>
              </a:spcAft>
              <a:buClr>
                <a:srgbClr val="0B6E4F"/>
              </a:buClr>
              <a:buFont typeface="Arial"/>
              <a:buChar char="•"/>
              <a:defRPr sz="1150"/>
            </a:pPr>
            <a:r>
              <a:rPr sz="1150" b="0" i="0">
                <a:solidFill>
                  <a:srgbClr val="1F2A2E"/>
                </a:solidFill>
                <a:latin typeface="Calibri"/>
              </a:rPr>
              <a:t>colour, fill, size, shape, alpha: codifican variables adicionales</a:t>
            </a:r>
          </a:p>
          <a:p>
            <a:pPr marL="201168" indent="-201168">
              <a:lnSpc>
                <a:spcPct val="108000"/>
              </a:lnSpc>
              <a:spcAft>
                <a:spcPts val="600"/>
              </a:spcAft>
              <a:buClr>
                <a:srgbClr val="0B6E4F"/>
              </a:buClr>
              <a:buFont typeface="Arial"/>
              <a:buChar char="•"/>
              <a:defRPr sz="1150"/>
            </a:pPr>
            <a:r>
              <a:rPr sz="1150" b="0" i="0">
                <a:solidFill>
                  <a:srgbClr val="1F2A2E"/>
                </a:solidFill>
                <a:latin typeface="Calibri"/>
              </a:rPr>
              <a:t>Dentro de aes() se mapea una variable; fuera se fija un valor</a:t>
            </a:r>
          </a:p>
        </p:txBody>
      </p:sp>
      <p:sp>
        <p:nvSpPr>
          <p:cNvPr id="16" name="Rounded Rectangle 15"/>
          <p:cNvSpPr/>
          <p:nvPr/>
        </p:nvSpPr>
        <p:spPr>
          <a:xfrm>
            <a:off x="4526279" y="4983480"/>
            <a:ext cx="3136392" cy="1097280"/>
          </a:xfrm>
          <a:prstGeom prst="roundRect">
            <a:avLst>
              <a:gd name="adj" fmla="val 4000"/>
            </a:avLst>
          </a:prstGeom>
          <a:solidFill>
            <a:srgbClr val="0F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690871" y="5111496"/>
            <a:ext cx="2807208" cy="841247"/>
          </a:xfrm>
          <a:prstGeom prst="rect">
            <a:avLst/>
          </a:prstGeom>
          <a:noFill/>
        </p:spPr>
        <p:txBody>
          <a:bodyPr wrap="square" lIns="0" tIns="0" rIns="0" bIns="0" anchor="t">
            <a:noAutofit/>
          </a:bodyPr>
          <a:lstStyle/>
          <a:p>
            <a:pPr>
              <a:lnSpc>
                <a:spcPct val="105000"/>
              </a:lnSpc>
              <a:spcAft>
                <a:spcPts val="100"/>
              </a:spcAft>
              <a:defRPr sz="1050"/>
            </a:pPr>
            <a:r>
              <a:rPr sz="1050" b="0" i="0">
                <a:solidFill>
                  <a:srgbClr val="E8F1EC"/>
                </a:solidFill>
                <a:latin typeface="Consolas"/>
              </a:rPr>
              <a:t>aes(x = displ, y = hwy,</a:t>
            </a:r>
          </a:p>
          <a:p>
            <a:pPr>
              <a:lnSpc>
                <a:spcPct val="105000"/>
              </a:lnSpc>
              <a:spcAft>
                <a:spcPts val="100"/>
              </a:spcAft>
              <a:defRPr sz="1050"/>
            </a:pPr>
            <a:r>
              <a:rPr sz="1050" b="0" i="0">
                <a:solidFill>
                  <a:srgbClr val="E8F1EC"/>
                </a:solidFill>
                <a:latin typeface="Consolas"/>
              </a:rPr>
              <a:t>    colour = drv)</a:t>
            </a:r>
          </a:p>
        </p:txBody>
      </p:sp>
      <p:sp>
        <p:nvSpPr>
          <p:cNvPr id="18" name="Rounded Rectangle 17"/>
          <p:cNvSpPr/>
          <p:nvPr/>
        </p:nvSpPr>
        <p:spPr>
          <a:xfrm>
            <a:off x="8046719" y="1417320"/>
            <a:ext cx="3593592" cy="4846320"/>
          </a:xfrm>
          <a:prstGeom prst="roundRect">
            <a:avLst>
              <a:gd name="adj" fmla="val 6000"/>
            </a:avLst>
          </a:prstGeom>
          <a:solidFill>
            <a:srgbClr val="EE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275319" y="1600200"/>
            <a:ext cx="3200400" cy="411480"/>
          </a:xfrm>
          <a:prstGeom prst="rect">
            <a:avLst/>
          </a:prstGeom>
          <a:noFill/>
        </p:spPr>
        <p:txBody>
          <a:bodyPr wrap="square" lIns="0" tIns="0" rIns="0" bIns="0" anchor="t">
            <a:noAutofit/>
          </a:bodyPr>
          <a:lstStyle/>
          <a:p>
            <a:pPr algn="l">
              <a:lnSpc>
                <a:spcPct val="110000"/>
              </a:lnSpc>
              <a:spcAft>
                <a:spcPts val="0"/>
              </a:spcAft>
              <a:defRPr sz="1700"/>
            </a:pPr>
            <a:r>
              <a:rPr sz="1700" b="1" i="0">
                <a:solidFill>
                  <a:srgbClr val="0B6E4F"/>
                </a:solidFill>
                <a:latin typeface="Cambria"/>
              </a:rPr>
              <a:t>Geometrías geom_*()</a:t>
            </a:r>
          </a:p>
        </p:txBody>
      </p:sp>
      <p:sp>
        <p:nvSpPr>
          <p:cNvPr id="20" name="TextBox 19"/>
          <p:cNvSpPr txBox="1"/>
          <p:nvPr/>
        </p:nvSpPr>
        <p:spPr>
          <a:xfrm>
            <a:off x="8275319" y="2057400"/>
            <a:ext cx="3200400" cy="548640"/>
          </a:xfrm>
          <a:prstGeom prst="rect">
            <a:avLst/>
          </a:prstGeom>
          <a:noFill/>
        </p:spPr>
        <p:txBody>
          <a:bodyPr wrap="square" lIns="0" tIns="0" rIns="0" bIns="0" anchor="t">
            <a:noAutofit/>
          </a:bodyPr>
          <a:lstStyle/>
          <a:p>
            <a:pPr algn="l">
              <a:lnSpc>
                <a:spcPct val="110000"/>
              </a:lnSpc>
              <a:spcAft>
                <a:spcPts val="0"/>
              </a:spcAft>
              <a:defRPr sz="1200"/>
            </a:pPr>
            <a:r>
              <a:rPr sz="1200" b="0" i="1">
                <a:solidFill>
                  <a:srgbClr val="5B6B6F"/>
                </a:solidFill>
                <a:latin typeface="Calibri"/>
              </a:rPr>
              <a:t>La forma visual que toman los datos.</a:t>
            </a:r>
          </a:p>
        </p:txBody>
      </p:sp>
      <p:sp>
        <p:nvSpPr>
          <p:cNvPr id="21" name="TextBox 20"/>
          <p:cNvSpPr txBox="1"/>
          <p:nvPr/>
        </p:nvSpPr>
        <p:spPr>
          <a:xfrm>
            <a:off x="8275319" y="2651760"/>
            <a:ext cx="3154680" cy="2286000"/>
          </a:xfrm>
          <a:prstGeom prst="rect">
            <a:avLst/>
          </a:prstGeom>
          <a:noFill/>
        </p:spPr>
        <p:txBody>
          <a:bodyPr wrap="square" lIns="0" tIns="0" rIns="0" bIns="0" anchor="t">
            <a:noAutofit/>
          </a:bodyPr>
          <a:lstStyle/>
          <a:p>
            <a:pPr marL="201168" indent="-201168">
              <a:lnSpc>
                <a:spcPct val="108000"/>
              </a:lnSpc>
              <a:spcAft>
                <a:spcPts val="600"/>
              </a:spcAft>
              <a:buClr>
                <a:srgbClr val="0B6E4F"/>
              </a:buClr>
              <a:buFont typeface="Arial"/>
              <a:buChar char="•"/>
              <a:defRPr sz="1150"/>
            </a:pPr>
            <a:r>
              <a:rPr sz="1150" b="0" i="0">
                <a:solidFill>
                  <a:srgbClr val="1F2A2E"/>
                </a:solidFill>
                <a:latin typeface="Calibri"/>
              </a:rPr>
              <a:t>geom_point(): dispersión  ·  geom_line(): series temporales</a:t>
            </a:r>
          </a:p>
          <a:p>
            <a:pPr marL="201168" indent="-201168">
              <a:lnSpc>
                <a:spcPct val="108000"/>
              </a:lnSpc>
              <a:spcAft>
                <a:spcPts val="600"/>
              </a:spcAft>
              <a:buClr>
                <a:srgbClr val="0B6E4F"/>
              </a:buClr>
              <a:buFont typeface="Arial"/>
              <a:buChar char="•"/>
              <a:defRPr sz="1150"/>
            </a:pPr>
            <a:r>
              <a:rPr sz="1150" b="0" i="0">
                <a:solidFill>
                  <a:srgbClr val="1F2A2E"/>
                </a:solidFill>
                <a:latin typeface="Calibri"/>
              </a:rPr>
              <a:t>geom_col() y geom_bar(): barras  ·  geom_histogram(): frecuencias</a:t>
            </a:r>
          </a:p>
          <a:p>
            <a:pPr marL="201168" indent="-201168">
              <a:lnSpc>
                <a:spcPct val="108000"/>
              </a:lnSpc>
              <a:spcAft>
                <a:spcPts val="600"/>
              </a:spcAft>
              <a:buClr>
                <a:srgbClr val="0B6E4F"/>
              </a:buClr>
              <a:buFont typeface="Arial"/>
              <a:buChar char="•"/>
              <a:defRPr sz="1150"/>
            </a:pPr>
            <a:r>
              <a:rPr sz="1150" b="0" i="0">
                <a:solidFill>
                  <a:srgbClr val="1F2A2E"/>
                </a:solidFill>
                <a:latin typeface="Calibri"/>
              </a:rPr>
              <a:t>geom_boxplot() y geom_violin(): distribuciones</a:t>
            </a:r>
          </a:p>
        </p:txBody>
      </p:sp>
      <p:sp>
        <p:nvSpPr>
          <p:cNvPr id="22" name="Rounded Rectangle 21"/>
          <p:cNvSpPr/>
          <p:nvPr/>
        </p:nvSpPr>
        <p:spPr>
          <a:xfrm>
            <a:off x="8275319" y="4983480"/>
            <a:ext cx="3136392" cy="1097280"/>
          </a:xfrm>
          <a:prstGeom prst="roundRect">
            <a:avLst>
              <a:gd name="adj" fmla="val 4000"/>
            </a:avLst>
          </a:prstGeom>
          <a:solidFill>
            <a:srgbClr val="0F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439911" y="5111496"/>
            <a:ext cx="2807208" cy="841247"/>
          </a:xfrm>
          <a:prstGeom prst="rect">
            <a:avLst/>
          </a:prstGeom>
          <a:noFill/>
        </p:spPr>
        <p:txBody>
          <a:bodyPr wrap="square" lIns="0" tIns="0" rIns="0" bIns="0" anchor="t">
            <a:noAutofit/>
          </a:bodyPr>
          <a:lstStyle/>
          <a:p>
            <a:pPr>
              <a:lnSpc>
                <a:spcPct val="105000"/>
              </a:lnSpc>
              <a:spcAft>
                <a:spcPts val="100"/>
              </a:spcAft>
              <a:defRPr sz="1050"/>
            </a:pPr>
            <a:r>
              <a:rPr sz="1050" b="0" i="0">
                <a:solidFill>
                  <a:srgbClr val="E8F1EC"/>
                </a:solidFill>
                <a:latin typeface="Consolas"/>
              </a:rPr>
              <a:t>geom_point(alpha = 0.6) +</a:t>
            </a:r>
          </a:p>
          <a:p>
            <a:pPr>
              <a:lnSpc>
                <a:spcPct val="105000"/>
              </a:lnSpc>
              <a:spcAft>
                <a:spcPts val="100"/>
              </a:spcAft>
              <a:defRPr sz="1050"/>
            </a:pPr>
            <a:r>
              <a:rPr sz="1050" b="0" i="0">
                <a:solidFill>
                  <a:srgbClr val="E8F1EC"/>
                </a:solidFill>
                <a:latin typeface="Consolas"/>
              </a:rPr>
              <a:t>geom_smooth(method = </a:t>
            </a:r>
            <a:r>
              <a:rPr sz="1050" b="0" i="0">
                <a:solidFill>
                  <a:srgbClr val="F5C56B"/>
                </a:solidFill>
                <a:latin typeface="Consolas"/>
              </a:rPr>
              <a:t>"lm"</a:t>
            </a:r>
            <a:r>
              <a:rPr sz="1050" b="0" i="0">
                <a:solidFill>
                  <a:srgbClr val="E8F1EC"/>
                </a:solidFill>
                <a:latin typeface="Consolas"/>
              </a:rPr>
              <a: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6446520"/>
            <a:ext cx="7315200" cy="274320"/>
          </a:xfrm>
          <a:prstGeom prst="rect">
            <a:avLst/>
          </a:prstGeom>
          <a:noFill/>
        </p:spPr>
        <p:txBody>
          <a:bodyPr wrap="square" lIns="0" tIns="0" rIns="0" bIns="0" anchor="t">
            <a:noAutofit/>
          </a:bodyPr>
          <a:lstStyle/>
          <a:p>
            <a:pPr algn="l">
              <a:lnSpc>
                <a:spcPct val="110000"/>
              </a:lnSpc>
              <a:spcAft>
                <a:spcPts val="0"/>
              </a:spcAft>
              <a:defRPr sz="900"/>
            </a:pPr>
            <a:r>
              <a:rPr sz="900" b="0" i="0">
                <a:solidFill>
                  <a:srgbClr val="9AA7AB"/>
                </a:solidFill>
                <a:latin typeface="Calibri"/>
              </a:rPr>
              <a:t>Visualización de Datos · Clase 18 · R y visualización de datos</a:t>
            </a:r>
          </a:p>
        </p:txBody>
      </p:sp>
      <p:sp>
        <p:nvSpPr>
          <p:cNvPr id="4" name="TextBox 3"/>
          <p:cNvSpPr txBox="1"/>
          <p:nvPr/>
        </p:nvSpPr>
        <p:spPr>
          <a:xfrm>
            <a:off x="10972800" y="6446520"/>
            <a:ext cx="667512" cy="274320"/>
          </a:xfrm>
          <a:prstGeom prst="rect">
            <a:avLst/>
          </a:prstGeom>
          <a:noFill/>
        </p:spPr>
        <p:txBody>
          <a:bodyPr wrap="square" lIns="0" tIns="0" rIns="0" bIns="0" anchor="t">
            <a:noAutofit/>
          </a:bodyPr>
          <a:lstStyle/>
          <a:p>
            <a:pPr algn="r">
              <a:lnSpc>
                <a:spcPct val="110000"/>
              </a:lnSpc>
              <a:spcAft>
                <a:spcPts val="0"/>
              </a:spcAft>
              <a:defRPr sz="900"/>
            </a:pPr>
            <a:r>
              <a:rPr sz="900" b="0" i="0">
                <a:solidFill>
                  <a:srgbClr val="9AA7AB"/>
                </a:solidFill>
                <a:latin typeface="Calibri"/>
              </a:rPr>
              <a:t>13</a:t>
            </a:r>
          </a:p>
        </p:txBody>
      </p:sp>
      <p:sp>
        <p:nvSpPr>
          <p:cNvPr id="5" name="TextBox 4"/>
          <p:cNvSpPr txBox="1"/>
          <p:nvPr/>
        </p:nvSpPr>
        <p:spPr>
          <a:xfrm>
            <a:off x="548640" y="457200"/>
            <a:ext cx="11091672" cy="731520"/>
          </a:xfrm>
          <a:prstGeom prst="rect">
            <a:avLst/>
          </a:prstGeom>
          <a:noFill/>
        </p:spPr>
        <p:txBody>
          <a:bodyPr wrap="square" lIns="0" tIns="0" rIns="0" bIns="0" anchor="t">
            <a:noAutofit/>
          </a:bodyPr>
          <a:lstStyle/>
          <a:p>
            <a:pPr algn="l">
              <a:lnSpc>
                <a:spcPct val="110000"/>
              </a:lnSpc>
              <a:spcAft>
                <a:spcPts val="0"/>
              </a:spcAft>
              <a:defRPr sz="3000"/>
            </a:pPr>
            <a:r>
              <a:rPr sz="3000" b="1" i="0">
                <a:solidFill>
                  <a:srgbClr val="0B6E4F"/>
                </a:solidFill>
                <a:latin typeface="Cambria"/>
              </a:rPr>
              <a:t>Catálogo de geometrías: elige según la pregunta</a:t>
            </a:r>
          </a:p>
        </p:txBody>
      </p:sp>
      <p:sp>
        <p:nvSpPr>
          <p:cNvPr id="6" name="Rounded Rectangle 5"/>
          <p:cNvSpPr/>
          <p:nvPr/>
        </p:nvSpPr>
        <p:spPr>
          <a:xfrm>
            <a:off x="493776" y="1286255"/>
            <a:ext cx="7882127" cy="4514088"/>
          </a:xfrm>
          <a:prstGeom prst="roundRect">
            <a:avLst>
              <a:gd name="adj" fmla="val 2000"/>
            </a:avLst>
          </a:prstGeom>
          <a:solidFill>
            <a:srgbClr val="FFFFFF"/>
          </a:solidFill>
          <a:ln w="9525">
            <a:solidFill>
              <a:srgbClr val="CFE8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catalogo_geoms.png"/>
          <p:cNvPicPr>
            <a:picLocks noChangeAspect="1"/>
          </p:cNvPicPr>
          <p:nvPr/>
        </p:nvPicPr>
        <p:blipFill>
          <a:blip r:embed="rId3"/>
          <a:stretch>
            <a:fillRect/>
          </a:stretch>
        </p:blipFill>
        <p:spPr>
          <a:xfrm>
            <a:off x="548640" y="1341120"/>
            <a:ext cx="7772400" cy="4404360"/>
          </a:xfrm>
          <a:prstGeom prst="rect">
            <a:avLst/>
          </a:prstGeom>
        </p:spPr>
      </p:pic>
      <p:sp>
        <p:nvSpPr>
          <p:cNvPr id="8" name="TextBox 7"/>
          <p:cNvSpPr txBox="1"/>
          <p:nvPr/>
        </p:nvSpPr>
        <p:spPr>
          <a:xfrm>
            <a:off x="8595360" y="1325880"/>
            <a:ext cx="3063240" cy="365760"/>
          </a:xfrm>
          <a:prstGeom prst="rect">
            <a:avLst/>
          </a:prstGeom>
          <a:noFill/>
        </p:spPr>
        <p:txBody>
          <a:bodyPr wrap="square" lIns="0" tIns="0" rIns="0" bIns="0" anchor="t">
            <a:noAutofit/>
          </a:bodyPr>
          <a:lstStyle/>
          <a:p>
            <a:pPr algn="l">
              <a:lnSpc>
                <a:spcPct val="110000"/>
              </a:lnSpc>
              <a:spcAft>
                <a:spcPts val="0"/>
              </a:spcAft>
              <a:defRPr sz="1500"/>
            </a:pPr>
            <a:r>
              <a:rPr sz="1500" b="1" i="0">
                <a:solidFill>
                  <a:srgbClr val="0B6E4F"/>
                </a:solidFill>
                <a:latin typeface="Cambria"/>
              </a:rPr>
              <a:t>¿Qué pregunta tienes?</a:t>
            </a:r>
          </a:p>
        </p:txBody>
      </p:sp>
      <p:sp>
        <p:nvSpPr>
          <p:cNvPr id="9" name="TextBox 8"/>
          <p:cNvSpPr txBox="1"/>
          <p:nvPr/>
        </p:nvSpPr>
        <p:spPr>
          <a:xfrm>
            <a:off x="8595360" y="1783080"/>
            <a:ext cx="3063240" cy="292608"/>
          </a:xfrm>
          <a:prstGeom prst="rect">
            <a:avLst/>
          </a:prstGeom>
          <a:noFill/>
        </p:spPr>
        <p:txBody>
          <a:bodyPr wrap="square" lIns="0" tIns="0" rIns="0" bIns="0" anchor="t">
            <a:noAutofit/>
          </a:bodyPr>
          <a:lstStyle/>
          <a:p>
            <a:pPr algn="l">
              <a:lnSpc>
                <a:spcPct val="110000"/>
              </a:lnSpc>
              <a:spcAft>
                <a:spcPts val="0"/>
              </a:spcAft>
              <a:defRPr sz="1150"/>
            </a:pPr>
            <a:r>
              <a:rPr sz="1150" b="1" i="0">
                <a:solidFill>
                  <a:srgbClr val="1F2A2E"/>
                </a:solidFill>
                <a:latin typeface="Calibri"/>
              </a:rPr>
              <a:t>¿Cómo se distribuye una variable?</a:t>
            </a:r>
          </a:p>
        </p:txBody>
      </p:sp>
      <p:sp>
        <p:nvSpPr>
          <p:cNvPr id="10" name="TextBox 9"/>
          <p:cNvSpPr txBox="1"/>
          <p:nvPr/>
        </p:nvSpPr>
        <p:spPr>
          <a:xfrm>
            <a:off x="8595360" y="2057400"/>
            <a:ext cx="3063240" cy="292608"/>
          </a:xfrm>
          <a:prstGeom prst="rect">
            <a:avLst/>
          </a:prstGeom>
          <a:noFill/>
        </p:spPr>
        <p:txBody>
          <a:bodyPr wrap="square" lIns="0" tIns="0" rIns="0" bIns="0" anchor="t">
            <a:noAutofit/>
          </a:bodyPr>
          <a:lstStyle/>
          <a:p>
            <a:pPr algn="l">
              <a:lnSpc>
                <a:spcPct val="110000"/>
              </a:lnSpc>
              <a:spcAft>
                <a:spcPts val="0"/>
              </a:spcAft>
              <a:defRPr sz="1050"/>
            </a:pPr>
            <a:r>
              <a:rPr sz="1050" b="0" i="0">
                <a:solidFill>
                  <a:srgbClr val="0B6E4F"/>
                </a:solidFill>
                <a:latin typeface="Consolas"/>
              </a:rPr>
              <a:t>geom_histogram(), geom_density()</a:t>
            </a:r>
          </a:p>
        </p:txBody>
      </p:sp>
      <p:sp>
        <p:nvSpPr>
          <p:cNvPr id="11" name="TextBox 10"/>
          <p:cNvSpPr txBox="1"/>
          <p:nvPr/>
        </p:nvSpPr>
        <p:spPr>
          <a:xfrm>
            <a:off x="8595360" y="2459736"/>
            <a:ext cx="3063240" cy="292608"/>
          </a:xfrm>
          <a:prstGeom prst="rect">
            <a:avLst/>
          </a:prstGeom>
          <a:noFill/>
        </p:spPr>
        <p:txBody>
          <a:bodyPr wrap="square" lIns="0" tIns="0" rIns="0" bIns="0" anchor="t">
            <a:noAutofit/>
          </a:bodyPr>
          <a:lstStyle/>
          <a:p>
            <a:pPr algn="l">
              <a:lnSpc>
                <a:spcPct val="110000"/>
              </a:lnSpc>
              <a:spcAft>
                <a:spcPts val="0"/>
              </a:spcAft>
              <a:defRPr sz="1150"/>
            </a:pPr>
            <a:r>
              <a:rPr sz="1150" b="1" i="0">
                <a:solidFill>
                  <a:srgbClr val="1F2A2E"/>
                </a:solidFill>
                <a:latin typeface="Calibri"/>
              </a:rPr>
              <a:t>¿Cuántos hay por categoría?</a:t>
            </a:r>
          </a:p>
        </p:txBody>
      </p:sp>
      <p:sp>
        <p:nvSpPr>
          <p:cNvPr id="12" name="TextBox 11"/>
          <p:cNvSpPr txBox="1"/>
          <p:nvPr/>
        </p:nvSpPr>
        <p:spPr>
          <a:xfrm>
            <a:off x="8595360" y="2734056"/>
            <a:ext cx="3063240" cy="292608"/>
          </a:xfrm>
          <a:prstGeom prst="rect">
            <a:avLst/>
          </a:prstGeom>
          <a:noFill/>
        </p:spPr>
        <p:txBody>
          <a:bodyPr wrap="square" lIns="0" tIns="0" rIns="0" bIns="0" anchor="t">
            <a:noAutofit/>
          </a:bodyPr>
          <a:lstStyle/>
          <a:p>
            <a:pPr algn="l">
              <a:lnSpc>
                <a:spcPct val="110000"/>
              </a:lnSpc>
              <a:spcAft>
                <a:spcPts val="0"/>
              </a:spcAft>
              <a:defRPr sz="1050"/>
            </a:pPr>
            <a:r>
              <a:rPr sz="1050" b="0" i="0">
                <a:solidFill>
                  <a:srgbClr val="0B6E4F"/>
                </a:solidFill>
                <a:latin typeface="Consolas"/>
              </a:rPr>
              <a:t>geom_bar(), geom_col()</a:t>
            </a:r>
          </a:p>
        </p:txBody>
      </p:sp>
      <p:sp>
        <p:nvSpPr>
          <p:cNvPr id="13" name="TextBox 12"/>
          <p:cNvSpPr txBox="1"/>
          <p:nvPr/>
        </p:nvSpPr>
        <p:spPr>
          <a:xfrm>
            <a:off x="8595360" y="3136391"/>
            <a:ext cx="3063240" cy="292608"/>
          </a:xfrm>
          <a:prstGeom prst="rect">
            <a:avLst/>
          </a:prstGeom>
          <a:noFill/>
        </p:spPr>
        <p:txBody>
          <a:bodyPr wrap="square" lIns="0" tIns="0" rIns="0" bIns="0" anchor="t">
            <a:noAutofit/>
          </a:bodyPr>
          <a:lstStyle/>
          <a:p>
            <a:pPr algn="l">
              <a:lnSpc>
                <a:spcPct val="110000"/>
              </a:lnSpc>
              <a:spcAft>
                <a:spcPts val="0"/>
              </a:spcAft>
              <a:defRPr sz="1150"/>
            </a:pPr>
            <a:r>
              <a:rPr sz="1150" b="1" i="0">
                <a:solidFill>
                  <a:srgbClr val="1F2A2E"/>
                </a:solidFill>
                <a:latin typeface="Calibri"/>
              </a:rPr>
              <a:t>¿Se relacionan dos numéricas?</a:t>
            </a:r>
          </a:p>
        </p:txBody>
      </p:sp>
      <p:sp>
        <p:nvSpPr>
          <p:cNvPr id="14" name="TextBox 13"/>
          <p:cNvSpPr txBox="1"/>
          <p:nvPr/>
        </p:nvSpPr>
        <p:spPr>
          <a:xfrm>
            <a:off x="8595360" y="3410711"/>
            <a:ext cx="3063240" cy="292608"/>
          </a:xfrm>
          <a:prstGeom prst="rect">
            <a:avLst/>
          </a:prstGeom>
          <a:noFill/>
        </p:spPr>
        <p:txBody>
          <a:bodyPr wrap="square" lIns="0" tIns="0" rIns="0" bIns="0" anchor="t">
            <a:noAutofit/>
          </a:bodyPr>
          <a:lstStyle/>
          <a:p>
            <a:pPr algn="l">
              <a:lnSpc>
                <a:spcPct val="110000"/>
              </a:lnSpc>
              <a:spcAft>
                <a:spcPts val="0"/>
              </a:spcAft>
              <a:defRPr sz="1050"/>
            </a:pPr>
            <a:r>
              <a:rPr sz="1050" b="0" i="0">
                <a:solidFill>
                  <a:srgbClr val="0B6E4F"/>
                </a:solidFill>
                <a:latin typeface="Consolas"/>
              </a:rPr>
              <a:t>geom_point(), geom_smooth()</a:t>
            </a:r>
          </a:p>
        </p:txBody>
      </p:sp>
      <p:sp>
        <p:nvSpPr>
          <p:cNvPr id="15" name="TextBox 14"/>
          <p:cNvSpPr txBox="1"/>
          <p:nvPr/>
        </p:nvSpPr>
        <p:spPr>
          <a:xfrm>
            <a:off x="8595360" y="3813048"/>
            <a:ext cx="3063240" cy="292608"/>
          </a:xfrm>
          <a:prstGeom prst="rect">
            <a:avLst/>
          </a:prstGeom>
          <a:noFill/>
        </p:spPr>
        <p:txBody>
          <a:bodyPr wrap="square" lIns="0" tIns="0" rIns="0" bIns="0" anchor="t">
            <a:noAutofit/>
          </a:bodyPr>
          <a:lstStyle/>
          <a:p>
            <a:pPr algn="l">
              <a:lnSpc>
                <a:spcPct val="110000"/>
              </a:lnSpc>
              <a:spcAft>
                <a:spcPts val="0"/>
              </a:spcAft>
              <a:defRPr sz="1150"/>
            </a:pPr>
            <a:r>
              <a:rPr sz="1150" b="1" i="0">
                <a:solidFill>
                  <a:srgbClr val="1F2A2E"/>
                </a:solidFill>
                <a:latin typeface="Calibri"/>
              </a:rPr>
              <a:t>¿Cómo varía por grupo?</a:t>
            </a:r>
          </a:p>
        </p:txBody>
      </p:sp>
      <p:sp>
        <p:nvSpPr>
          <p:cNvPr id="16" name="TextBox 15"/>
          <p:cNvSpPr txBox="1"/>
          <p:nvPr/>
        </p:nvSpPr>
        <p:spPr>
          <a:xfrm>
            <a:off x="8595360" y="4087368"/>
            <a:ext cx="3063240" cy="292608"/>
          </a:xfrm>
          <a:prstGeom prst="rect">
            <a:avLst/>
          </a:prstGeom>
          <a:noFill/>
        </p:spPr>
        <p:txBody>
          <a:bodyPr wrap="square" lIns="0" tIns="0" rIns="0" bIns="0" anchor="t">
            <a:noAutofit/>
          </a:bodyPr>
          <a:lstStyle/>
          <a:p>
            <a:pPr algn="l">
              <a:lnSpc>
                <a:spcPct val="110000"/>
              </a:lnSpc>
              <a:spcAft>
                <a:spcPts val="0"/>
              </a:spcAft>
              <a:defRPr sz="1050"/>
            </a:pPr>
            <a:r>
              <a:rPr sz="1050" b="0" i="0">
                <a:solidFill>
                  <a:srgbClr val="0B6E4F"/>
                </a:solidFill>
                <a:latin typeface="Consolas"/>
              </a:rPr>
              <a:t>geom_boxplot(), geom_violin()</a:t>
            </a:r>
          </a:p>
        </p:txBody>
      </p:sp>
      <p:sp>
        <p:nvSpPr>
          <p:cNvPr id="17" name="TextBox 16"/>
          <p:cNvSpPr txBox="1"/>
          <p:nvPr/>
        </p:nvSpPr>
        <p:spPr>
          <a:xfrm>
            <a:off x="8595360" y="4489704"/>
            <a:ext cx="3063240" cy="292608"/>
          </a:xfrm>
          <a:prstGeom prst="rect">
            <a:avLst/>
          </a:prstGeom>
          <a:noFill/>
        </p:spPr>
        <p:txBody>
          <a:bodyPr wrap="square" lIns="0" tIns="0" rIns="0" bIns="0" anchor="t">
            <a:noAutofit/>
          </a:bodyPr>
          <a:lstStyle/>
          <a:p>
            <a:pPr algn="l">
              <a:lnSpc>
                <a:spcPct val="110000"/>
              </a:lnSpc>
              <a:spcAft>
                <a:spcPts val="0"/>
              </a:spcAft>
              <a:defRPr sz="1150"/>
            </a:pPr>
            <a:r>
              <a:rPr sz="1150" b="1" i="0">
                <a:solidFill>
                  <a:srgbClr val="1F2A2E"/>
                </a:solidFill>
                <a:latin typeface="Calibri"/>
              </a:rPr>
              <a:t>¿Cómo evoluciona en el tiempo?</a:t>
            </a:r>
          </a:p>
        </p:txBody>
      </p:sp>
      <p:sp>
        <p:nvSpPr>
          <p:cNvPr id="18" name="TextBox 17"/>
          <p:cNvSpPr txBox="1"/>
          <p:nvPr/>
        </p:nvSpPr>
        <p:spPr>
          <a:xfrm>
            <a:off x="8595360" y="4764024"/>
            <a:ext cx="3063240" cy="292608"/>
          </a:xfrm>
          <a:prstGeom prst="rect">
            <a:avLst/>
          </a:prstGeom>
          <a:noFill/>
        </p:spPr>
        <p:txBody>
          <a:bodyPr wrap="square" lIns="0" tIns="0" rIns="0" bIns="0" anchor="t">
            <a:noAutofit/>
          </a:bodyPr>
          <a:lstStyle/>
          <a:p>
            <a:pPr algn="l">
              <a:lnSpc>
                <a:spcPct val="110000"/>
              </a:lnSpc>
              <a:spcAft>
                <a:spcPts val="0"/>
              </a:spcAft>
              <a:defRPr sz="1050"/>
            </a:pPr>
            <a:r>
              <a:rPr sz="1050" b="0" i="0">
                <a:solidFill>
                  <a:srgbClr val="0B6E4F"/>
                </a:solidFill>
                <a:latin typeface="Consolas"/>
              </a:rPr>
              <a:t>geom_line(), geom_area()</a:t>
            </a:r>
          </a:p>
        </p:txBody>
      </p:sp>
      <p:sp>
        <p:nvSpPr>
          <p:cNvPr id="19" name="TextBox 18"/>
          <p:cNvSpPr txBox="1"/>
          <p:nvPr/>
        </p:nvSpPr>
        <p:spPr>
          <a:xfrm>
            <a:off x="8595360" y="5166360"/>
            <a:ext cx="3063240" cy="292608"/>
          </a:xfrm>
          <a:prstGeom prst="rect">
            <a:avLst/>
          </a:prstGeom>
          <a:noFill/>
        </p:spPr>
        <p:txBody>
          <a:bodyPr wrap="square" lIns="0" tIns="0" rIns="0" bIns="0" anchor="t">
            <a:noAutofit/>
          </a:bodyPr>
          <a:lstStyle/>
          <a:p>
            <a:pPr algn="l">
              <a:lnSpc>
                <a:spcPct val="110000"/>
              </a:lnSpc>
              <a:spcAft>
                <a:spcPts val="0"/>
              </a:spcAft>
              <a:defRPr sz="1150"/>
            </a:pPr>
            <a:r>
              <a:rPr sz="1150" b="1" i="0">
                <a:solidFill>
                  <a:srgbClr val="1F2A2E"/>
                </a:solidFill>
                <a:latin typeface="Calibri"/>
              </a:rPr>
              <a:t>¿Cómo se cruzan dos categorías?</a:t>
            </a:r>
          </a:p>
        </p:txBody>
      </p:sp>
      <p:sp>
        <p:nvSpPr>
          <p:cNvPr id="20" name="TextBox 19"/>
          <p:cNvSpPr txBox="1"/>
          <p:nvPr/>
        </p:nvSpPr>
        <p:spPr>
          <a:xfrm>
            <a:off x="8595360" y="5440680"/>
            <a:ext cx="3063240" cy="292608"/>
          </a:xfrm>
          <a:prstGeom prst="rect">
            <a:avLst/>
          </a:prstGeom>
          <a:noFill/>
        </p:spPr>
        <p:txBody>
          <a:bodyPr wrap="square" lIns="0" tIns="0" rIns="0" bIns="0" anchor="t">
            <a:noAutofit/>
          </a:bodyPr>
          <a:lstStyle/>
          <a:p>
            <a:pPr algn="l">
              <a:lnSpc>
                <a:spcPct val="110000"/>
              </a:lnSpc>
              <a:spcAft>
                <a:spcPts val="0"/>
              </a:spcAft>
              <a:defRPr sz="1050"/>
            </a:pPr>
            <a:r>
              <a:rPr sz="1050" b="0" i="0">
                <a:solidFill>
                  <a:srgbClr val="0B6E4F"/>
                </a:solidFill>
                <a:latin typeface="Consolas"/>
              </a:rPr>
              <a:t>geom_tile(), geom_count()</a:t>
            </a:r>
          </a:p>
        </p:txBody>
      </p:sp>
      <p:sp>
        <p:nvSpPr>
          <p:cNvPr id="21" name="TextBox 20"/>
          <p:cNvSpPr txBox="1"/>
          <p:nvPr/>
        </p:nvSpPr>
        <p:spPr>
          <a:xfrm>
            <a:off x="548640" y="5897880"/>
            <a:ext cx="11091672" cy="457200"/>
          </a:xfrm>
          <a:prstGeom prst="rect">
            <a:avLst/>
          </a:prstGeom>
          <a:noFill/>
        </p:spPr>
        <p:txBody>
          <a:bodyPr wrap="square" lIns="0" tIns="0" rIns="0" bIns="0" anchor="t">
            <a:noAutofit/>
          </a:bodyPr>
          <a:lstStyle/>
          <a:p>
            <a:pPr algn="l">
              <a:lnSpc>
                <a:spcPct val="110000"/>
              </a:lnSpc>
              <a:spcAft>
                <a:spcPts val="0"/>
              </a:spcAft>
              <a:defRPr sz="1150"/>
            </a:pPr>
            <a:r>
              <a:rPr sz="1150" b="0" i="1">
                <a:solidFill>
                  <a:srgbClr val="5B6B6F"/>
                </a:solidFill>
                <a:latin typeface="Calibri"/>
              </a:rPr>
              <a:t>Todos estos ejemplos están en el cuaderno, sección 'Catálogo de geometrías según la pregunta', junto con geom_hex(), geom_jitter(), geom_ribbon(), geom_sf() para mapas y ggridges.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6446520"/>
            <a:ext cx="7315200" cy="274320"/>
          </a:xfrm>
          <a:prstGeom prst="rect">
            <a:avLst/>
          </a:prstGeom>
          <a:noFill/>
        </p:spPr>
        <p:txBody>
          <a:bodyPr wrap="square" lIns="0" tIns="0" rIns="0" bIns="0" anchor="t">
            <a:noAutofit/>
          </a:bodyPr>
          <a:lstStyle/>
          <a:p>
            <a:pPr algn="l">
              <a:lnSpc>
                <a:spcPct val="110000"/>
              </a:lnSpc>
              <a:spcAft>
                <a:spcPts val="0"/>
              </a:spcAft>
              <a:defRPr sz="900"/>
            </a:pPr>
            <a:r>
              <a:rPr sz="900" b="0" i="0">
                <a:solidFill>
                  <a:srgbClr val="9AA7AB"/>
                </a:solidFill>
                <a:latin typeface="Calibri"/>
              </a:rPr>
              <a:t>Visualización de Datos · Clase 18 · R y visualización de datos</a:t>
            </a:r>
          </a:p>
        </p:txBody>
      </p:sp>
      <p:sp>
        <p:nvSpPr>
          <p:cNvPr id="4" name="TextBox 3"/>
          <p:cNvSpPr txBox="1"/>
          <p:nvPr/>
        </p:nvSpPr>
        <p:spPr>
          <a:xfrm>
            <a:off x="10972800" y="6446520"/>
            <a:ext cx="667512" cy="274320"/>
          </a:xfrm>
          <a:prstGeom prst="rect">
            <a:avLst/>
          </a:prstGeom>
          <a:noFill/>
        </p:spPr>
        <p:txBody>
          <a:bodyPr wrap="square" lIns="0" tIns="0" rIns="0" bIns="0" anchor="t">
            <a:noAutofit/>
          </a:bodyPr>
          <a:lstStyle/>
          <a:p>
            <a:pPr algn="r">
              <a:lnSpc>
                <a:spcPct val="110000"/>
              </a:lnSpc>
              <a:spcAft>
                <a:spcPts val="0"/>
              </a:spcAft>
              <a:defRPr sz="900"/>
            </a:pPr>
            <a:r>
              <a:rPr sz="900" b="0" i="0">
                <a:solidFill>
                  <a:srgbClr val="9AA7AB"/>
                </a:solidFill>
                <a:latin typeface="Calibri"/>
              </a:rPr>
              <a:t>14</a:t>
            </a:r>
          </a:p>
        </p:txBody>
      </p:sp>
      <p:sp>
        <p:nvSpPr>
          <p:cNvPr id="5" name="TextBox 4"/>
          <p:cNvSpPr txBox="1"/>
          <p:nvPr/>
        </p:nvSpPr>
        <p:spPr>
          <a:xfrm>
            <a:off x="548640" y="457200"/>
            <a:ext cx="11091672" cy="731520"/>
          </a:xfrm>
          <a:prstGeom prst="rect">
            <a:avLst/>
          </a:prstGeom>
          <a:noFill/>
        </p:spPr>
        <p:txBody>
          <a:bodyPr wrap="square" lIns="0" tIns="0" rIns="0" bIns="0" anchor="t">
            <a:noAutofit/>
          </a:bodyPr>
          <a:lstStyle/>
          <a:p>
            <a:pPr algn="l">
              <a:lnSpc>
                <a:spcPct val="110000"/>
              </a:lnSpc>
              <a:spcAft>
                <a:spcPts val="0"/>
              </a:spcAft>
              <a:defRPr sz="3000"/>
            </a:pPr>
            <a:r>
              <a:rPr sz="3000" b="1" i="0">
                <a:solidFill>
                  <a:srgbClr val="0B6E4F"/>
                </a:solidFill>
                <a:latin typeface="Cambria"/>
              </a:rPr>
              <a:t>Escalas y color con propósito</a:t>
            </a:r>
          </a:p>
        </p:txBody>
      </p:sp>
      <p:sp>
        <p:nvSpPr>
          <p:cNvPr id="6" name="Rounded Rectangle 5"/>
          <p:cNvSpPr/>
          <p:nvPr/>
        </p:nvSpPr>
        <p:spPr>
          <a:xfrm>
            <a:off x="768096" y="1241202"/>
            <a:ext cx="10625328" cy="3826955"/>
          </a:xfrm>
          <a:prstGeom prst="roundRect">
            <a:avLst>
              <a:gd name="adj" fmla="val 2000"/>
            </a:avLst>
          </a:prstGeom>
          <a:solidFill>
            <a:srgbClr val="FFFFFF"/>
          </a:solidFill>
          <a:ln w="9525">
            <a:solidFill>
              <a:srgbClr val="CFE8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escalas_color.png"/>
          <p:cNvPicPr>
            <a:picLocks noChangeAspect="1"/>
          </p:cNvPicPr>
          <p:nvPr/>
        </p:nvPicPr>
        <p:blipFill>
          <a:blip r:embed="rId3"/>
          <a:stretch>
            <a:fillRect/>
          </a:stretch>
        </p:blipFill>
        <p:spPr>
          <a:xfrm>
            <a:off x="822960" y="1296066"/>
            <a:ext cx="10515600" cy="3717227"/>
          </a:xfrm>
          <a:prstGeom prst="rect">
            <a:avLst/>
          </a:prstGeom>
        </p:spPr>
      </p:pic>
      <p:sp>
        <p:nvSpPr>
          <p:cNvPr id="8" name="Rounded Rectangle 7"/>
          <p:cNvSpPr/>
          <p:nvPr/>
        </p:nvSpPr>
        <p:spPr>
          <a:xfrm>
            <a:off x="548640" y="5166360"/>
            <a:ext cx="3593592" cy="1188720"/>
          </a:xfrm>
          <a:prstGeom prst="roundRect">
            <a:avLst>
              <a:gd name="adj" fmla="val 6000"/>
            </a:avLst>
          </a:prstGeom>
          <a:solidFill>
            <a:srgbClr val="EE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20" y="5230368"/>
            <a:ext cx="3200400" cy="320040"/>
          </a:xfrm>
          <a:prstGeom prst="rect">
            <a:avLst/>
          </a:prstGeom>
          <a:noFill/>
        </p:spPr>
        <p:txBody>
          <a:bodyPr wrap="square" lIns="0" tIns="0" rIns="0" bIns="0" anchor="t">
            <a:noAutofit/>
          </a:bodyPr>
          <a:lstStyle/>
          <a:p>
            <a:pPr algn="l">
              <a:lnSpc>
                <a:spcPct val="110000"/>
              </a:lnSpc>
              <a:spcAft>
                <a:spcPts val="0"/>
              </a:spcAft>
              <a:defRPr sz="1350"/>
            </a:pPr>
            <a:r>
              <a:rPr sz="1350" b="1" i="0">
                <a:solidFill>
                  <a:srgbClr val="0B6E4F"/>
                </a:solidFill>
                <a:latin typeface="Cambria"/>
              </a:rPr>
              <a:t>Categórica</a:t>
            </a:r>
          </a:p>
        </p:txBody>
      </p:sp>
      <p:sp>
        <p:nvSpPr>
          <p:cNvPr id="10" name="TextBox 9"/>
          <p:cNvSpPr txBox="1"/>
          <p:nvPr/>
        </p:nvSpPr>
        <p:spPr>
          <a:xfrm>
            <a:off x="731520" y="5550408"/>
            <a:ext cx="3246120" cy="777240"/>
          </a:xfrm>
          <a:prstGeom prst="rect">
            <a:avLst/>
          </a:prstGeom>
          <a:noFill/>
        </p:spPr>
        <p:txBody>
          <a:bodyPr wrap="square" lIns="0" tIns="0" rIns="0" bIns="0" anchor="t">
            <a:noAutofit/>
          </a:bodyPr>
          <a:lstStyle/>
          <a:p>
            <a:pPr algn="l">
              <a:lnSpc>
                <a:spcPct val="110000"/>
              </a:lnSpc>
              <a:spcAft>
                <a:spcPts val="0"/>
              </a:spcAft>
              <a:defRPr sz="1050"/>
            </a:pPr>
            <a:r>
              <a:rPr sz="1050" b="0" i="0">
                <a:solidFill>
                  <a:srgbClr val="1F2A2E"/>
                </a:solidFill>
                <a:latin typeface="Calibri"/>
              </a:rPr>
              <a:t>scale_colour_manual() con una paleta accesible (Okabe-Ito, Brewer Set2). Máximo 6 o 7 categorías.</a:t>
            </a:r>
          </a:p>
        </p:txBody>
      </p:sp>
      <p:sp>
        <p:nvSpPr>
          <p:cNvPr id="11" name="Rounded Rectangle 10"/>
          <p:cNvSpPr/>
          <p:nvPr/>
        </p:nvSpPr>
        <p:spPr>
          <a:xfrm>
            <a:off x="4297679" y="5166360"/>
            <a:ext cx="3593592" cy="1188720"/>
          </a:xfrm>
          <a:prstGeom prst="roundRect">
            <a:avLst>
              <a:gd name="adj" fmla="val 6000"/>
            </a:avLst>
          </a:prstGeom>
          <a:solidFill>
            <a:srgbClr val="EE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480559" y="5230368"/>
            <a:ext cx="3200400" cy="320040"/>
          </a:xfrm>
          <a:prstGeom prst="rect">
            <a:avLst/>
          </a:prstGeom>
          <a:noFill/>
        </p:spPr>
        <p:txBody>
          <a:bodyPr wrap="square" lIns="0" tIns="0" rIns="0" bIns="0" anchor="t">
            <a:noAutofit/>
          </a:bodyPr>
          <a:lstStyle/>
          <a:p>
            <a:pPr algn="l">
              <a:lnSpc>
                <a:spcPct val="110000"/>
              </a:lnSpc>
              <a:spcAft>
                <a:spcPts val="0"/>
              </a:spcAft>
              <a:defRPr sz="1350"/>
            </a:pPr>
            <a:r>
              <a:rPr sz="1350" b="1" i="0">
                <a:solidFill>
                  <a:srgbClr val="0B6E4F"/>
                </a:solidFill>
                <a:latin typeface="Cambria"/>
              </a:rPr>
              <a:t>Secuencial</a:t>
            </a:r>
          </a:p>
        </p:txBody>
      </p:sp>
      <p:sp>
        <p:nvSpPr>
          <p:cNvPr id="13" name="TextBox 12"/>
          <p:cNvSpPr txBox="1"/>
          <p:nvPr/>
        </p:nvSpPr>
        <p:spPr>
          <a:xfrm>
            <a:off x="4480559" y="5550408"/>
            <a:ext cx="3246120" cy="777240"/>
          </a:xfrm>
          <a:prstGeom prst="rect">
            <a:avLst/>
          </a:prstGeom>
          <a:noFill/>
        </p:spPr>
        <p:txBody>
          <a:bodyPr wrap="square" lIns="0" tIns="0" rIns="0" bIns="0" anchor="t">
            <a:noAutofit/>
          </a:bodyPr>
          <a:lstStyle/>
          <a:p>
            <a:pPr algn="l">
              <a:lnSpc>
                <a:spcPct val="110000"/>
              </a:lnSpc>
              <a:spcAft>
                <a:spcPts val="0"/>
              </a:spcAft>
              <a:defRPr sz="1050"/>
            </a:pPr>
            <a:r>
              <a:rPr sz="1050" b="0" i="0">
                <a:solidFill>
                  <a:srgbClr val="1F2A2E"/>
                </a:solidFill>
                <a:latin typeface="Calibri"/>
              </a:rPr>
              <a:t>scale_colour_viridis_c() o scale_fill_distiller(): ordena de menor a mayor y evita el arcoíris.</a:t>
            </a:r>
          </a:p>
        </p:txBody>
      </p:sp>
      <p:sp>
        <p:nvSpPr>
          <p:cNvPr id="14" name="Rounded Rectangle 13"/>
          <p:cNvSpPr/>
          <p:nvPr/>
        </p:nvSpPr>
        <p:spPr>
          <a:xfrm>
            <a:off x="8046719" y="5166360"/>
            <a:ext cx="3593592" cy="1188720"/>
          </a:xfrm>
          <a:prstGeom prst="roundRect">
            <a:avLst>
              <a:gd name="adj" fmla="val 6000"/>
            </a:avLst>
          </a:prstGeom>
          <a:solidFill>
            <a:srgbClr val="EE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229599" y="5230368"/>
            <a:ext cx="3200400" cy="320040"/>
          </a:xfrm>
          <a:prstGeom prst="rect">
            <a:avLst/>
          </a:prstGeom>
          <a:noFill/>
        </p:spPr>
        <p:txBody>
          <a:bodyPr wrap="square" lIns="0" tIns="0" rIns="0" bIns="0" anchor="t">
            <a:noAutofit/>
          </a:bodyPr>
          <a:lstStyle/>
          <a:p>
            <a:pPr algn="l">
              <a:lnSpc>
                <a:spcPct val="110000"/>
              </a:lnSpc>
              <a:spcAft>
                <a:spcPts val="0"/>
              </a:spcAft>
              <a:defRPr sz="1350"/>
            </a:pPr>
            <a:r>
              <a:rPr sz="1350" b="1" i="0">
                <a:solidFill>
                  <a:srgbClr val="0B6E4F"/>
                </a:solidFill>
                <a:latin typeface="Cambria"/>
              </a:rPr>
              <a:t>Divergente</a:t>
            </a:r>
          </a:p>
        </p:txBody>
      </p:sp>
      <p:sp>
        <p:nvSpPr>
          <p:cNvPr id="16" name="TextBox 15"/>
          <p:cNvSpPr txBox="1"/>
          <p:nvPr/>
        </p:nvSpPr>
        <p:spPr>
          <a:xfrm>
            <a:off x="8229599" y="5550408"/>
            <a:ext cx="3246120" cy="777240"/>
          </a:xfrm>
          <a:prstGeom prst="rect">
            <a:avLst/>
          </a:prstGeom>
          <a:noFill/>
        </p:spPr>
        <p:txBody>
          <a:bodyPr wrap="square" lIns="0" tIns="0" rIns="0" bIns="0" anchor="t">
            <a:noAutofit/>
          </a:bodyPr>
          <a:lstStyle/>
          <a:p>
            <a:pPr algn="l">
              <a:lnSpc>
                <a:spcPct val="110000"/>
              </a:lnSpc>
              <a:spcAft>
                <a:spcPts val="0"/>
              </a:spcAft>
              <a:defRPr sz="1050"/>
            </a:pPr>
            <a:r>
              <a:rPr sz="1050" b="0" i="0">
                <a:solidFill>
                  <a:srgbClr val="1F2A2E"/>
                </a:solidFill>
                <a:latin typeface="Calibri"/>
              </a:rPr>
              <a:t>scale_fill_gradient2(): dos extremos y un punto medio neutro, ideal para 'por encima o por debajo del promedio'.</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6446520"/>
            <a:ext cx="7315200" cy="274320"/>
          </a:xfrm>
          <a:prstGeom prst="rect">
            <a:avLst/>
          </a:prstGeom>
          <a:noFill/>
        </p:spPr>
        <p:txBody>
          <a:bodyPr wrap="square" lIns="0" tIns="0" rIns="0" bIns="0" anchor="t">
            <a:noAutofit/>
          </a:bodyPr>
          <a:lstStyle/>
          <a:p>
            <a:pPr algn="l">
              <a:lnSpc>
                <a:spcPct val="110000"/>
              </a:lnSpc>
              <a:spcAft>
                <a:spcPts val="0"/>
              </a:spcAft>
              <a:defRPr sz="900"/>
            </a:pPr>
            <a:r>
              <a:rPr sz="900" b="0" i="0">
                <a:solidFill>
                  <a:srgbClr val="9AA7AB"/>
                </a:solidFill>
                <a:latin typeface="Calibri"/>
              </a:rPr>
              <a:t>Visualización de Datos · Clase 18 · R y visualización de datos</a:t>
            </a:r>
          </a:p>
        </p:txBody>
      </p:sp>
      <p:sp>
        <p:nvSpPr>
          <p:cNvPr id="4" name="TextBox 3"/>
          <p:cNvSpPr txBox="1"/>
          <p:nvPr/>
        </p:nvSpPr>
        <p:spPr>
          <a:xfrm>
            <a:off x="10972800" y="6446520"/>
            <a:ext cx="667512" cy="274320"/>
          </a:xfrm>
          <a:prstGeom prst="rect">
            <a:avLst/>
          </a:prstGeom>
          <a:noFill/>
        </p:spPr>
        <p:txBody>
          <a:bodyPr wrap="square" lIns="0" tIns="0" rIns="0" bIns="0" anchor="t">
            <a:noAutofit/>
          </a:bodyPr>
          <a:lstStyle/>
          <a:p>
            <a:pPr algn="r">
              <a:lnSpc>
                <a:spcPct val="110000"/>
              </a:lnSpc>
              <a:spcAft>
                <a:spcPts val="0"/>
              </a:spcAft>
              <a:defRPr sz="900"/>
            </a:pPr>
            <a:r>
              <a:rPr sz="900" b="0" i="0">
                <a:solidFill>
                  <a:srgbClr val="9AA7AB"/>
                </a:solidFill>
                <a:latin typeface="Calibri"/>
              </a:rPr>
              <a:t>15</a:t>
            </a:r>
          </a:p>
        </p:txBody>
      </p:sp>
      <p:sp>
        <p:nvSpPr>
          <p:cNvPr id="5" name="TextBox 4"/>
          <p:cNvSpPr txBox="1"/>
          <p:nvPr/>
        </p:nvSpPr>
        <p:spPr>
          <a:xfrm>
            <a:off x="548640" y="457200"/>
            <a:ext cx="11091672" cy="731520"/>
          </a:xfrm>
          <a:prstGeom prst="rect">
            <a:avLst/>
          </a:prstGeom>
          <a:noFill/>
        </p:spPr>
        <p:txBody>
          <a:bodyPr wrap="square" lIns="0" tIns="0" rIns="0" bIns="0" anchor="t">
            <a:noAutofit/>
          </a:bodyPr>
          <a:lstStyle/>
          <a:p>
            <a:pPr algn="l">
              <a:lnSpc>
                <a:spcPct val="110000"/>
              </a:lnSpc>
              <a:spcAft>
                <a:spcPts val="0"/>
              </a:spcAft>
              <a:defRPr sz="3000"/>
            </a:pPr>
            <a:r>
              <a:rPr sz="3000" b="1" i="0">
                <a:solidFill>
                  <a:srgbClr val="0B6E4F"/>
                </a:solidFill>
                <a:latin typeface="Cambria"/>
              </a:rPr>
              <a:t>Facetas: comparar grupos con small multiples</a:t>
            </a:r>
          </a:p>
        </p:txBody>
      </p:sp>
      <p:sp>
        <p:nvSpPr>
          <p:cNvPr id="6" name="Rounded Rectangle 5"/>
          <p:cNvSpPr/>
          <p:nvPr/>
        </p:nvSpPr>
        <p:spPr>
          <a:xfrm>
            <a:off x="493776" y="1282238"/>
            <a:ext cx="7607807" cy="3790603"/>
          </a:xfrm>
          <a:prstGeom prst="roundRect">
            <a:avLst>
              <a:gd name="adj" fmla="val 2000"/>
            </a:avLst>
          </a:prstGeom>
          <a:solidFill>
            <a:srgbClr val="FFFFFF"/>
          </a:solidFill>
          <a:ln w="9525">
            <a:solidFill>
              <a:srgbClr val="CFE8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acetas.png"/>
          <p:cNvPicPr>
            <a:picLocks noChangeAspect="1"/>
          </p:cNvPicPr>
          <p:nvPr/>
        </p:nvPicPr>
        <p:blipFill>
          <a:blip r:embed="rId3"/>
          <a:stretch>
            <a:fillRect/>
          </a:stretch>
        </p:blipFill>
        <p:spPr>
          <a:xfrm>
            <a:off x="548640" y="1337102"/>
            <a:ext cx="7498079" cy="3680875"/>
          </a:xfrm>
          <a:prstGeom prst="rect">
            <a:avLst/>
          </a:prstGeom>
        </p:spPr>
      </p:pic>
      <p:sp>
        <p:nvSpPr>
          <p:cNvPr id="8" name="Rounded Rectangle 7"/>
          <p:cNvSpPr/>
          <p:nvPr/>
        </p:nvSpPr>
        <p:spPr>
          <a:xfrm>
            <a:off x="8275320" y="1325880"/>
            <a:ext cx="3364992" cy="1600200"/>
          </a:xfrm>
          <a:prstGeom prst="roundRect">
            <a:avLst>
              <a:gd name="adj" fmla="val 4000"/>
            </a:avLst>
          </a:prstGeom>
          <a:solidFill>
            <a:srgbClr val="0F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439912" y="1453895"/>
            <a:ext cx="3035808" cy="1344168"/>
          </a:xfrm>
          <a:prstGeom prst="rect">
            <a:avLst/>
          </a:prstGeom>
          <a:noFill/>
        </p:spPr>
        <p:txBody>
          <a:bodyPr wrap="square" lIns="0" tIns="0" rIns="0" bIns="0" anchor="t">
            <a:noAutofit/>
          </a:bodyPr>
          <a:lstStyle/>
          <a:p>
            <a:pPr>
              <a:lnSpc>
                <a:spcPct val="105000"/>
              </a:lnSpc>
              <a:spcAft>
                <a:spcPts val="100"/>
              </a:spcAft>
              <a:defRPr sz="1050"/>
            </a:pPr>
            <a:r>
              <a:rPr sz="1050" b="0" i="0">
                <a:solidFill>
                  <a:srgbClr val="E8F1EC"/>
                </a:solidFill>
                <a:latin typeface="Consolas"/>
              </a:rPr>
              <a:t>ggplot(mpg, aes(displ, hwy)) +</a:t>
            </a:r>
          </a:p>
          <a:p>
            <a:pPr>
              <a:lnSpc>
                <a:spcPct val="105000"/>
              </a:lnSpc>
              <a:spcAft>
                <a:spcPts val="100"/>
              </a:spcAft>
              <a:defRPr sz="1050"/>
            </a:pPr>
            <a:r>
              <a:rPr sz="1050" b="0" i="0">
                <a:solidFill>
                  <a:srgbClr val="E8F1EC"/>
                </a:solidFill>
                <a:latin typeface="Consolas"/>
              </a:rPr>
              <a:t>  geom_point() +</a:t>
            </a:r>
          </a:p>
          <a:p>
            <a:pPr>
              <a:lnSpc>
                <a:spcPct val="105000"/>
              </a:lnSpc>
              <a:spcAft>
                <a:spcPts val="100"/>
              </a:spcAft>
              <a:defRPr sz="1050"/>
            </a:pPr>
            <a:r>
              <a:rPr sz="1050" b="0" i="0">
                <a:solidFill>
                  <a:srgbClr val="E8F1EC"/>
                </a:solidFill>
                <a:latin typeface="Consolas"/>
              </a:rPr>
              <a:t>  geom_smooth(method = </a:t>
            </a:r>
            <a:r>
              <a:rPr sz="1050" b="0" i="0">
                <a:solidFill>
                  <a:srgbClr val="F5C56B"/>
                </a:solidFill>
                <a:latin typeface="Consolas"/>
              </a:rPr>
              <a:t>"lm"</a:t>
            </a:r>
            <a:r>
              <a:rPr sz="1050" b="0" i="0">
                <a:solidFill>
                  <a:srgbClr val="E8F1EC"/>
                </a:solidFill>
                <a:latin typeface="Consolas"/>
              </a:rPr>
              <a:t>) +</a:t>
            </a:r>
          </a:p>
          <a:p>
            <a:pPr>
              <a:lnSpc>
                <a:spcPct val="105000"/>
              </a:lnSpc>
              <a:spcAft>
                <a:spcPts val="100"/>
              </a:spcAft>
              <a:defRPr sz="1050"/>
            </a:pPr>
            <a:r>
              <a:rPr sz="1050" b="0" i="0">
                <a:solidFill>
                  <a:srgbClr val="E8F1EC"/>
                </a:solidFill>
                <a:latin typeface="Consolas"/>
              </a:rPr>
              <a:t>  facet_wrap(~ class, ncol = 4)</a:t>
            </a:r>
          </a:p>
        </p:txBody>
      </p:sp>
      <p:sp>
        <p:nvSpPr>
          <p:cNvPr id="10" name="TextBox 9"/>
          <p:cNvSpPr txBox="1"/>
          <p:nvPr/>
        </p:nvSpPr>
        <p:spPr>
          <a:xfrm>
            <a:off x="8275320" y="3108960"/>
            <a:ext cx="3364992" cy="2651760"/>
          </a:xfrm>
          <a:prstGeom prst="rect">
            <a:avLst/>
          </a:prstGeom>
          <a:noFill/>
        </p:spPr>
        <p:txBody>
          <a:bodyPr wrap="square" lIns="0" tIns="0" rIns="0" bIns="0" anchor="t">
            <a:noAutofit/>
          </a:bodyPr>
          <a:lstStyle/>
          <a:p>
            <a:pPr marL="201168" indent="-201168">
              <a:lnSpc>
                <a:spcPct val="108000"/>
              </a:lnSpc>
              <a:spcAft>
                <a:spcPts val="700"/>
              </a:spcAft>
              <a:buClr>
                <a:srgbClr val="0B6E4F"/>
              </a:buClr>
              <a:buFont typeface="Arial"/>
              <a:buChar char="•"/>
              <a:defRPr sz="1150"/>
            </a:pPr>
            <a:r>
              <a:rPr sz="1150" b="1" i="0">
                <a:solidFill>
                  <a:srgbClr val="1F2A2E"/>
                </a:solidFill>
                <a:latin typeface="Calibri"/>
              </a:rPr>
              <a:t>facet_wrap(~ var): </a:t>
            </a:r>
            <a:r>
              <a:rPr sz="1150" b="0" i="0">
                <a:solidFill>
                  <a:srgbClr val="1F2A2E"/>
                </a:solidFill>
                <a:latin typeface="Calibri"/>
              </a:rPr>
              <a:t>paneles en cuadrícula automática</a:t>
            </a:r>
          </a:p>
          <a:p>
            <a:pPr marL="201168" indent="-201168">
              <a:lnSpc>
                <a:spcPct val="108000"/>
              </a:lnSpc>
              <a:spcAft>
                <a:spcPts val="700"/>
              </a:spcAft>
              <a:buClr>
                <a:srgbClr val="0B6E4F"/>
              </a:buClr>
              <a:buFont typeface="Arial"/>
              <a:buChar char="•"/>
              <a:defRPr sz="1150"/>
            </a:pPr>
            <a:r>
              <a:rPr sz="1150" b="1" i="0">
                <a:solidFill>
                  <a:srgbClr val="1F2A2E"/>
                </a:solidFill>
                <a:latin typeface="Calibri"/>
              </a:rPr>
              <a:t>facet_grid(fila ~ col): </a:t>
            </a:r>
            <a:r>
              <a:rPr sz="1150" b="0" i="0">
                <a:solidFill>
                  <a:srgbClr val="1F2A2E"/>
                </a:solidFill>
                <a:latin typeface="Calibri"/>
              </a:rPr>
              <a:t>dos variables de agrupación</a:t>
            </a:r>
          </a:p>
          <a:p>
            <a:pPr marL="201168" indent="-201168">
              <a:lnSpc>
                <a:spcPct val="108000"/>
              </a:lnSpc>
              <a:spcAft>
                <a:spcPts val="700"/>
              </a:spcAft>
              <a:buClr>
                <a:srgbClr val="0B6E4F"/>
              </a:buClr>
              <a:buFont typeface="Arial"/>
              <a:buChar char="•"/>
              <a:defRPr sz="1150"/>
            </a:pPr>
            <a:r>
              <a:rPr sz="1150" b="1" i="0">
                <a:solidFill>
                  <a:srgbClr val="1F2A2E"/>
                </a:solidFill>
                <a:latin typeface="Calibri"/>
              </a:rPr>
              <a:t>scales = "free_y": </a:t>
            </a:r>
            <a:r>
              <a:rPr sz="1150" b="0" i="0">
                <a:solidFill>
                  <a:srgbClr val="1F2A2E"/>
                </a:solidFill>
                <a:latin typeface="Calibri"/>
              </a:rPr>
              <a:t>cuando las magnitudes difieren</a:t>
            </a:r>
          </a:p>
          <a:p>
            <a:pPr marL="201168" indent="-201168">
              <a:lnSpc>
                <a:spcPct val="108000"/>
              </a:lnSpc>
              <a:spcAft>
                <a:spcPts val="700"/>
              </a:spcAft>
              <a:buClr>
                <a:srgbClr val="0B6E4F"/>
              </a:buClr>
              <a:buFont typeface="Arial"/>
              <a:buChar char="•"/>
              <a:defRPr sz="1150"/>
            </a:pPr>
            <a:r>
              <a:rPr sz="1150" b="1" i="0">
                <a:solidFill>
                  <a:srgbClr val="1F2A2E"/>
                </a:solidFill>
                <a:latin typeface="Calibri"/>
              </a:rPr>
              <a:t>Mismos ejes = </a:t>
            </a:r>
            <a:r>
              <a:rPr sz="1150" b="0" i="0">
                <a:solidFill>
                  <a:srgbClr val="1F2A2E"/>
                </a:solidFill>
                <a:latin typeface="Calibri"/>
              </a:rPr>
              <a:t>comparación honesta entre grupos</a:t>
            </a:r>
          </a:p>
        </p:txBody>
      </p:sp>
      <p:sp>
        <p:nvSpPr>
          <p:cNvPr id="11" name="Rounded Rectangle 10"/>
          <p:cNvSpPr/>
          <p:nvPr/>
        </p:nvSpPr>
        <p:spPr>
          <a:xfrm>
            <a:off x="548640" y="5257800"/>
            <a:ext cx="7498079" cy="1051560"/>
          </a:xfrm>
          <a:prstGeom prst="roundRect">
            <a:avLst>
              <a:gd name="adj" fmla="val 6000"/>
            </a:avLst>
          </a:prstGeom>
          <a:solidFill>
            <a:srgbClr val="FFF3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77240" y="5257800"/>
            <a:ext cx="7132320" cy="1051560"/>
          </a:xfrm>
          <a:prstGeom prst="rect">
            <a:avLst/>
          </a:prstGeom>
          <a:noFill/>
        </p:spPr>
        <p:txBody>
          <a:bodyPr wrap="square" lIns="0" tIns="0" rIns="0" bIns="0" anchor="ctr">
            <a:noAutofit/>
          </a:bodyPr>
          <a:lstStyle/>
          <a:p>
            <a:pPr algn="l">
              <a:lnSpc>
                <a:spcPct val="110000"/>
              </a:lnSpc>
              <a:spcAft>
                <a:spcPts val="600"/>
              </a:spcAft>
              <a:defRPr sz="1200"/>
            </a:pPr>
            <a:r>
              <a:rPr sz="1200" b="1" i="0">
                <a:solidFill>
                  <a:srgbClr val="B7791F"/>
                </a:solidFill>
                <a:latin typeface="Calibri"/>
              </a:rPr>
              <a:t>Small multiples (Edward Tufte): </a:t>
            </a:r>
            <a:r>
              <a:rPr sz="1200" b="0" i="0">
                <a:solidFill>
                  <a:srgbClr val="1F2A2E"/>
                </a:solidFill>
                <a:latin typeface="Calibri"/>
              </a:rPr>
              <a:t>repetir el mismo gráfico para varios grupos es más legible que superponer siete colores en uno solo. El ojo compara posiciones mejor que colores.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6446520"/>
            <a:ext cx="7315200" cy="274320"/>
          </a:xfrm>
          <a:prstGeom prst="rect">
            <a:avLst/>
          </a:prstGeom>
          <a:noFill/>
        </p:spPr>
        <p:txBody>
          <a:bodyPr wrap="square" lIns="0" tIns="0" rIns="0" bIns="0" anchor="t">
            <a:noAutofit/>
          </a:bodyPr>
          <a:lstStyle/>
          <a:p>
            <a:pPr algn="l">
              <a:lnSpc>
                <a:spcPct val="110000"/>
              </a:lnSpc>
              <a:spcAft>
                <a:spcPts val="0"/>
              </a:spcAft>
              <a:defRPr sz="900"/>
            </a:pPr>
            <a:r>
              <a:rPr sz="900" b="0" i="0">
                <a:solidFill>
                  <a:srgbClr val="9AA7AB"/>
                </a:solidFill>
                <a:latin typeface="Calibri"/>
              </a:rPr>
              <a:t>Visualización de Datos · Clase 18 · R y visualización de datos</a:t>
            </a:r>
          </a:p>
        </p:txBody>
      </p:sp>
      <p:sp>
        <p:nvSpPr>
          <p:cNvPr id="4" name="TextBox 3"/>
          <p:cNvSpPr txBox="1"/>
          <p:nvPr/>
        </p:nvSpPr>
        <p:spPr>
          <a:xfrm>
            <a:off x="10972800" y="6446520"/>
            <a:ext cx="667512" cy="274320"/>
          </a:xfrm>
          <a:prstGeom prst="rect">
            <a:avLst/>
          </a:prstGeom>
          <a:noFill/>
        </p:spPr>
        <p:txBody>
          <a:bodyPr wrap="square" lIns="0" tIns="0" rIns="0" bIns="0" anchor="t">
            <a:noAutofit/>
          </a:bodyPr>
          <a:lstStyle/>
          <a:p>
            <a:pPr algn="r">
              <a:lnSpc>
                <a:spcPct val="110000"/>
              </a:lnSpc>
              <a:spcAft>
                <a:spcPts val="0"/>
              </a:spcAft>
              <a:defRPr sz="900"/>
            </a:pPr>
            <a:r>
              <a:rPr sz="900" b="0" i="0">
                <a:solidFill>
                  <a:srgbClr val="9AA7AB"/>
                </a:solidFill>
                <a:latin typeface="Calibri"/>
              </a:rPr>
              <a:t>16</a:t>
            </a:r>
          </a:p>
        </p:txBody>
      </p:sp>
      <p:sp>
        <p:nvSpPr>
          <p:cNvPr id="5" name="TextBox 4"/>
          <p:cNvSpPr txBox="1"/>
          <p:nvPr/>
        </p:nvSpPr>
        <p:spPr>
          <a:xfrm>
            <a:off x="548640" y="457200"/>
            <a:ext cx="11091672" cy="731520"/>
          </a:xfrm>
          <a:prstGeom prst="rect">
            <a:avLst/>
          </a:prstGeom>
          <a:noFill/>
        </p:spPr>
        <p:txBody>
          <a:bodyPr wrap="square" lIns="0" tIns="0" rIns="0" bIns="0" anchor="t">
            <a:noAutofit/>
          </a:bodyPr>
          <a:lstStyle/>
          <a:p>
            <a:pPr algn="l">
              <a:lnSpc>
                <a:spcPct val="110000"/>
              </a:lnSpc>
              <a:spcAft>
                <a:spcPts val="0"/>
              </a:spcAft>
              <a:defRPr sz="3000"/>
            </a:pPr>
            <a:r>
              <a:rPr sz="3000" b="1" i="0">
                <a:solidFill>
                  <a:srgbClr val="0B6E4F"/>
                </a:solidFill>
                <a:latin typeface="Cambria"/>
              </a:rPr>
              <a:t>Temas, etiquetas y anotaciones: de explorar a comunicar</a:t>
            </a:r>
          </a:p>
        </p:txBody>
      </p:sp>
      <p:sp>
        <p:nvSpPr>
          <p:cNvPr id="6" name="Rounded Rectangle 5"/>
          <p:cNvSpPr/>
          <p:nvPr/>
        </p:nvSpPr>
        <p:spPr>
          <a:xfrm>
            <a:off x="1647326" y="1225295"/>
            <a:ext cx="8866866" cy="3904488"/>
          </a:xfrm>
          <a:prstGeom prst="roundRect">
            <a:avLst>
              <a:gd name="adj" fmla="val 2000"/>
            </a:avLst>
          </a:prstGeom>
          <a:solidFill>
            <a:srgbClr val="FFFFFF"/>
          </a:solidFill>
          <a:ln w="9525">
            <a:solidFill>
              <a:srgbClr val="CFE8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temas_anotaciones.png"/>
          <p:cNvPicPr>
            <a:picLocks noChangeAspect="1"/>
          </p:cNvPicPr>
          <p:nvPr/>
        </p:nvPicPr>
        <p:blipFill>
          <a:blip r:embed="rId3"/>
          <a:stretch>
            <a:fillRect/>
          </a:stretch>
        </p:blipFill>
        <p:spPr>
          <a:xfrm>
            <a:off x="1702190" y="1280160"/>
            <a:ext cx="8757138" cy="3794760"/>
          </a:xfrm>
          <a:prstGeom prst="rect">
            <a:avLst/>
          </a:prstGeom>
        </p:spPr>
      </p:pic>
      <p:sp>
        <p:nvSpPr>
          <p:cNvPr id="8" name="Rounded Rectangle 7"/>
          <p:cNvSpPr/>
          <p:nvPr/>
        </p:nvSpPr>
        <p:spPr>
          <a:xfrm>
            <a:off x="548640" y="5212080"/>
            <a:ext cx="3593592" cy="1143000"/>
          </a:xfrm>
          <a:prstGeom prst="roundRect">
            <a:avLst>
              <a:gd name="adj" fmla="val 6000"/>
            </a:avLst>
          </a:prstGeom>
          <a:solidFill>
            <a:srgbClr val="EE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20" y="5276088"/>
            <a:ext cx="3200400" cy="320040"/>
          </a:xfrm>
          <a:prstGeom prst="rect">
            <a:avLst/>
          </a:prstGeom>
          <a:noFill/>
        </p:spPr>
        <p:txBody>
          <a:bodyPr wrap="square" lIns="0" tIns="0" rIns="0" bIns="0" anchor="t">
            <a:noAutofit/>
          </a:bodyPr>
          <a:lstStyle/>
          <a:p>
            <a:pPr algn="l">
              <a:lnSpc>
                <a:spcPct val="110000"/>
              </a:lnSpc>
              <a:spcAft>
                <a:spcPts val="0"/>
              </a:spcAft>
              <a:defRPr sz="1300"/>
            </a:pPr>
            <a:r>
              <a:rPr sz="1300" b="1" i="0">
                <a:solidFill>
                  <a:srgbClr val="0B6E4F"/>
                </a:solidFill>
                <a:latin typeface="Consolas"/>
              </a:rPr>
              <a:t>labs()</a:t>
            </a:r>
          </a:p>
        </p:txBody>
      </p:sp>
      <p:sp>
        <p:nvSpPr>
          <p:cNvPr id="10" name="TextBox 9"/>
          <p:cNvSpPr txBox="1"/>
          <p:nvPr/>
        </p:nvSpPr>
        <p:spPr>
          <a:xfrm>
            <a:off x="731520" y="5596128"/>
            <a:ext cx="3246120" cy="731520"/>
          </a:xfrm>
          <a:prstGeom prst="rect">
            <a:avLst/>
          </a:prstGeom>
          <a:noFill/>
        </p:spPr>
        <p:txBody>
          <a:bodyPr wrap="square" lIns="0" tIns="0" rIns="0" bIns="0" anchor="t">
            <a:noAutofit/>
          </a:bodyPr>
          <a:lstStyle/>
          <a:p>
            <a:pPr algn="l">
              <a:lnSpc>
                <a:spcPct val="110000"/>
              </a:lnSpc>
              <a:spcAft>
                <a:spcPts val="0"/>
              </a:spcAft>
              <a:defRPr sz="1050"/>
            </a:pPr>
            <a:r>
              <a:rPr sz="1050" b="0" i="0">
                <a:solidFill>
                  <a:srgbClr val="1F2A2E"/>
                </a:solidFill>
                <a:latin typeface="Calibri"/>
              </a:rPr>
              <a:t>title que afirma el hallazgo, subtitle con contexto, x e y con unidades, caption con la fuente.</a:t>
            </a:r>
          </a:p>
        </p:txBody>
      </p:sp>
      <p:sp>
        <p:nvSpPr>
          <p:cNvPr id="11" name="Rounded Rectangle 10"/>
          <p:cNvSpPr/>
          <p:nvPr/>
        </p:nvSpPr>
        <p:spPr>
          <a:xfrm>
            <a:off x="4297679" y="5212080"/>
            <a:ext cx="3593592" cy="1143000"/>
          </a:xfrm>
          <a:prstGeom prst="roundRect">
            <a:avLst>
              <a:gd name="adj" fmla="val 6000"/>
            </a:avLst>
          </a:prstGeom>
          <a:solidFill>
            <a:srgbClr val="EE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480559" y="5276088"/>
            <a:ext cx="3200400" cy="320040"/>
          </a:xfrm>
          <a:prstGeom prst="rect">
            <a:avLst/>
          </a:prstGeom>
          <a:noFill/>
        </p:spPr>
        <p:txBody>
          <a:bodyPr wrap="square" lIns="0" tIns="0" rIns="0" bIns="0" anchor="t">
            <a:noAutofit/>
          </a:bodyPr>
          <a:lstStyle/>
          <a:p>
            <a:pPr algn="l">
              <a:lnSpc>
                <a:spcPct val="110000"/>
              </a:lnSpc>
              <a:spcAft>
                <a:spcPts val="0"/>
              </a:spcAft>
              <a:defRPr sz="1300"/>
            </a:pPr>
            <a:r>
              <a:rPr sz="1300" b="1" i="0">
                <a:solidFill>
                  <a:srgbClr val="0B6E4F"/>
                </a:solidFill>
                <a:latin typeface="Consolas"/>
              </a:rPr>
              <a:t>theme()</a:t>
            </a:r>
          </a:p>
        </p:txBody>
      </p:sp>
      <p:sp>
        <p:nvSpPr>
          <p:cNvPr id="13" name="TextBox 12"/>
          <p:cNvSpPr txBox="1"/>
          <p:nvPr/>
        </p:nvSpPr>
        <p:spPr>
          <a:xfrm>
            <a:off x="4480559" y="5596128"/>
            <a:ext cx="3246120" cy="731520"/>
          </a:xfrm>
          <a:prstGeom prst="rect">
            <a:avLst/>
          </a:prstGeom>
          <a:noFill/>
        </p:spPr>
        <p:txBody>
          <a:bodyPr wrap="square" lIns="0" tIns="0" rIns="0" bIns="0" anchor="t">
            <a:noAutofit/>
          </a:bodyPr>
          <a:lstStyle/>
          <a:p>
            <a:pPr algn="l">
              <a:lnSpc>
                <a:spcPct val="110000"/>
              </a:lnSpc>
              <a:spcAft>
                <a:spcPts val="0"/>
              </a:spcAft>
              <a:defRPr sz="1050"/>
            </a:pPr>
            <a:r>
              <a:rPr sz="1050" b="0" i="0">
                <a:solidFill>
                  <a:srgbClr val="1F2A2E"/>
                </a:solidFill>
                <a:latin typeface="Calibri"/>
              </a:rPr>
              <a:t>theme_minimal() como base; ajusta legend.position, panel.grid y element_text(). Define tu tema y reutilízalo.</a:t>
            </a:r>
          </a:p>
        </p:txBody>
      </p:sp>
      <p:sp>
        <p:nvSpPr>
          <p:cNvPr id="14" name="Rounded Rectangle 13"/>
          <p:cNvSpPr/>
          <p:nvPr/>
        </p:nvSpPr>
        <p:spPr>
          <a:xfrm>
            <a:off x="8046719" y="5212080"/>
            <a:ext cx="3593592" cy="1143000"/>
          </a:xfrm>
          <a:prstGeom prst="roundRect">
            <a:avLst>
              <a:gd name="adj" fmla="val 6000"/>
            </a:avLst>
          </a:prstGeom>
          <a:solidFill>
            <a:srgbClr val="EE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229599" y="5276088"/>
            <a:ext cx="3200400" cy="320040"/>
          </a:xfrm>
          <a:prstGeom prst="rect">
            <a:avLst/>
          </a:prstGeom>
          <a:noFill/>
        </p:spPr>
        <p:txBody>
          <a:bodyPr wrap="square" lIns="0" tIns="0" rIns="0" bIns="0" anchor="t">
            <a:noAutofit/>
          </a:bodyPr>
          <a:lstStyle/>
          <a:p>
            <a:pPr algn="l">
              <a:lnSpc>
                <a:spcPct val="110000"/>
              </a:lnSpc>
              <a:spcAft>
                <a:spcPts val="0"/>
              </a:spcAft>
              <a:defRPr sz="1300"/>
            </a:pPr>
            <a:r>
              <a:rPr sz="1300" b="1" i="0">
                <a:solidFill>
                  <a:srgbClr val="0B6E4F"/>
                </a:solidFill>
                <a:latin typeface="Consolas"/>
              </a:rPr>
              <a:t>annotate() + ggrepel</a:t>
            </a:r>
          </a:p>
        </p:txBody>
      </p:sp>
      <p:sp>
        <p:nvSpPr>
          <p:cNvPr id="16" name="TextBox 15"/>
          <p:cNvSpPr txBox="1"/>
          <p:nvPr/>
        </p:nvSpPr>
        <p:spPr>
          <a:xfrm>
            <a:off x="8229599" y="5596128"/>
            <a:ext cx="3246120" cy="731520"/>
          </a:xfrm>
          <a:prstGeom prst="rect">
            <a:avLst/>
          </a:prstGeom>
          <a:noFill/>
        </p:spPr>
        <p:txBody>
          <a:bodyPr wrap="square" lIns="0" tIns="0" rIns="0" bIns="0" anchor="t">
            <a:noAutofit/>
          </a:bodyPr>
          <a:lstStyle/>
          <a:p>
            <a:pPr algn="l">
              <a:lnSpc>
                <a:spcPct val="110000"/>
              </a:lnSpc>
              <a:spcAft>
                <a:spcPts val="0"/>
              </a:spcAft>
              <a:defRPr sz="1050"/>
            </a:pPr>
            <a:r>
              <a:rPr sz="1050" b="0" i="0">
                <a:solidFill>
                  <a:srgbClr val="1F2A2E"/>
                </a:solidFill>
                <a:latin typeface="Calibri"/>
              </a:rPr>
              <a:t>Resalta zonas (rect), señala puntos (text, curve) y etiqueta sin superposiciones con geom_text_repel().</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6446520"/>
            <a:ext cx="7315200" cy="274320"/>
          </a:xfrm>
          <a:prstGeom prst="rect">
            <a:avLst/>
          </a:prstGeom>
          <a:noFill/>
        </p:spPr>
        <p:txBody>
          <a:bodyPr wrap="square" lIns="0" tIns="0" rIns="0" bIns="0" anchor="t">
            <a:noAutofit/>
          </a:bodyPr>
          <a:lstStyle/>
          <a:p>
            <a:pPr algn="l">
              <a:lnSpc>
                <a:spcPct val="110000"/>
              </a:lnSpc>
              <a:spcAft>
                <a:spcPts val="0"/>
              </a:spcAft>
              <a:defRPr sz="900"/>
            </a:pPr>
            <a:r>
              <a:rPr sz="900" b="0" i="0">
                <a:solidFill>
                  <a:srgbClr val="9AA7AB"/>
                </a:solidFill>
                <a:latin typeface="Calibri"/>
              </a:rPr>
              <a:t>Visualización de Datos · Clase 18 · R y visualización de datos</a:t>
            </a:r>
          </a:p>
        </p:txBody>
      </p:sp>
      <p:sp>
        <p:nvSpPr>
          <p:cNvPr id="4" name="TextBox 3"/>
          <p:cNvSpPr txBox="1"/>
          <p:nvPr/>
        </p:nvSpPr>
        <p:spPr>
          <a:xfrm>
            <a:off x="10972800" y="6446520"/>
            <a:ext cx="667512" cy="274320"/>
          </a:xfrm>
          <a:prstGeom prst="rect">
            <a:avLst/>
          </a:prstGeom>
          <a:noFill/>
        </p:spPr>
        <p:txBody>
          <a:bodyPr wrap="square" lIns="0" tIns="0" rIns="0" bIns="0" anchor="t">
            <a:noAutofit/>
          </a:bodyPr>
          <a:lstStyle/>
          <a:p>
            <a:pPr algn="r">
              <a:lnSpc>
                <a:spcPct val="110000"/>
              </a:lnSpc>
              <a:spcAft>
                <a:spcPts val="0"/>
              </a:spcAft>
              <a:defRPr sz="900"/>
            </a:pPr>
            <a:r>
              <a:rPr sz="900" b="0" i="0">
                <a:solidFill>
                  <a:srgbClr val="9AA7AB"/>
                </a:solidFill>
                <a:latin typeface="Calibri"/>
              </a:rPr>
              <a:t>17</a:t>
            </a:r>
          </a:p>
        </p:txBody>
      </p:sp>
      <p:sp>
        <p:nvSpPr>
          <p:cNvPr id="5" name="TextBox 4"/>
          <p:cNvSpPr txBox="1"/>
          <p:nvPr/>
        </p:nvSpPr>
        <p:spPr>
          <a:xfrm>
            <a:off x="548640" y="457200"/>
            <a:ext cx="11091672" cy="731520"/>
          </a:xfrm>
          <a:prstGeom prst="rect">
            <a:avLst/>
          </a:prstGeom>
          <a:noFill/>
        </p:spPr>
        <p:txBody>
          <a:bodyPr wrap="square" lIns="0" tIns="0" rIns="0" bIns="0" anchor="t">
            <a:noAutofit/>
          </a:bodyPr>
          <a:lstStyle/>
          <a:p>
            <a:pPr algn="l">
              <a:lnSpc>
                <a:spcPct val="110000"/>
              </a:lnSpc>
              <a:spcAft>
                <a:spcPts val="0"/>
              </a:spcAft>
              <a:defRPr sz="3000"/>
            </a:pPr>
            <a:r>
              <a:rPr sz="3000" b="1" i="0">
                <a:solidFill>
                  <a:srgbClr val="0B6E4F"/>
                </a:solidFill>
                <a:latin typeface="Cambria"/>
              </a:rPr>
              <a:t>Composición con patchwork y exportación con ggsave()</a:t>
            </a:r>
          </a:p>
        </p:txBody>
      </p:sp>
      <p:sp>
        <p:nvSpPr>
          <p:cNvPr id="6" name="Rounded Rectangle 5"/>
          <p:cNvSpPr/>
          <p:nvPr/>
        </p:nvSpPr>
        <p:spPr>
          <a:xfrm>
            <a:off x="493776" y="1302105"/>
            <a:ext cx="5870448" cy="3796588"/>
          </a:xfrm>
          <a:prstGeom prst="roundRect">
            <a:avLst>
              <a:gd name="adj" fmla="val 2000"/>
            </a:avLst>
          </a:prstGeom>
          <a:solidFill>
            <a:srgbClr val="FFFFFF"/>
          </a:solidFill>
          <a:ln w="9525">
            <a:solidFill>
              <a:srgbClr val="CFE8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patchwork.png"/>
          <p:cNvPicPr>
            <a:picLocks noChangeAspect="1"/>
          </p:cNvPicPr>
          <p:nvPr/>
        </p:nvPicPr>
        <p:blipFill>
          <a:blip r:embed="rId3"/>
          <a:stretch>
            <a:fillRect/>
          </a:stretch>
        </p:blipFill>
        <p:spPr>
          <a:xfrm>
            <a:off x="548640" y="1356969"/>
            <a:ext cx="5760720" cy="3686860"/>
          </a:xfrm>
          <a:prstGeom prst="rect">
            <a:avLst/>
          </a:prstGeom>
        </p:spPr>
      </p:pic>
      <p:sp>
        <p:nvSpPr>
          <p:cNvPr id="8" name="Rounded Rectangle 7"/>
          <p:cNvSpPr/>
          <p:nvPr/>
        </p:nvSpPr>
        <p:spPr>
          <a:xfrm>
            <a:off x="6583680" y="1325880"/>
            <a:ext cx="5056632" cy="1325880"/>
          </a:xfrm>
          <a:prstGeom prst="roundRect">
            <a:avLst>
              <a:gd name="adj" fmla="val 4000"/>
            </a:avLst>
          </a:prstGeom>
          <a:solidFill>
            <a:srgbClr val="0F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748272" y="1453895"/>
            <a:ext cx="4727448" cy="1069848"/>
          </a:xfrm>
          <a:prstGeom prst="rect">
            <a:avLst/>
          </a:prstGeom>
          <a:noFill/>
        </p:spPr>
        <p:txBody>
          <a:bodyPr wrap="square" lIns="0" tIns="0" rIns="0" bIns="0" anchor="t">
            <a:noAutofit/>
          </a:bodyPr>
          <a:lstStyle/>
          <a:p>
            <a:pPr>
              <a:lnSpc>
                <a:spcPct val="105000"/>
              </a:lnSpc>
              <a:spcAft>
                <a:spcPts val="100"/>
              </a:spcAft>
              <a:defRPr sz="1100"/>
            </a:pPr>
            <a:r>
              <a:rPr sz="1100" b="0" i="0">
                <a:solidFill>
                  <a:srgbClr val="E8F1EC"/>
                </a:solidFill>
                <a:latin typeface="Consolas"/>
              </a:rPr>
              <a:t>library(patchwork)</a:t>
            </a:r>
          </a:p>
          <a:p>
            <a:pPr>
              <a:lnSpc>
                <a:spcPct val="105000"/>
              </a:lnSpc>
              <a:spcAft>
                <a:spcPts val="100"/>
              </a:spcAft>
              <a:defRPr sz="1100"/>
            </a:pPr>
            <a:r>
              <a:rPr sz="1100" b="0" i="0">
                <a:solidFill>
                  <a:srgbClr val="E8F1EC"/>
                </a:solidFill>
                <a:latin typeface="Consolas"/>
              </a:rPr>
              <a:t>(pa | pb) / pc +</a:t>
            </a:r>
          </a:p>
          <a:p>
            <a:pPr>
              <a:lnSpc>
                <a:spcPct val="105000"/>
              </a:lnSpc>
              <a:spcAft>
                <a:spcPts val="100"/>
              </a:spcAft>
              <a:defRPr sz="1100"/>
            </a:pPr>
            <a:r>
              <a:rPr sz="1100" b="0" i="0">
                <a:solidFill>
                  <a:srgbClr val="E8F1EC"/>
                </a:solidFill>
                <a:latin typeface="Consolas"/>
              </a:rPr>
              <a:t>  plot_annotation(tag_levels = </a:t>
            </a:r>
            <a:r>
              <a:rPr sz="1100" b="0" i="0">
                <a:solidFill>
                  <a:srgbClr val="F5C56B"/>
                </a:solidFill>
                <a:latin typeface="Consolas"/>
              </a:rPr>
              <a:t>"A"</a:t>
            </a:r>
            <a:r>
              <a:rPr sz="1100" b="0" i="0">
                <a:solidFill>
                  <a:srgbClr val="E8F1EC"/>
                </a:solidFill>
                <a:latin typeface="Consolas"/>
              </a:rPr>
              <a:t>)</a:t>
            </a:r>
          </a:p>
        </p:txBody>
      </p:sp>
      <p:sp>
        <p:nvSpPr>
          <p:cNvPr id="10" name="Rounded Rectangle 9"/>
          <p:cNvSpPr/>
          <p:nvPr/>
        </p:nvSpPr>
        <p:spPr>
          <a:xfrm>
            <a:off x="6583680" y="2788920"/>
            <a:ext cx="5056632" cy="1325880"/>
          </a:xfrm>
          <a:prstGeom prst="roundRect">
            <a:avLst>
              <a:gd name="adj" fmla="val 4000"/>
            </a:avLst>
          </a:prstGeom>
          <a:solidFill>
            <a:srgbClr val="0F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748272" y="2916936"/>
            <a:ext cx="4727448" cy="1069848"/>
          </a:xfrm>
          <a:prstGeom prst="rect">
            <a:avLst/>
          </a:prstGeom>
          <a:noFill/>
        </p:spPr>
        <p:txBody>
          <a:bodyPr wrap="square" lIns="0" tIns="0" rIns="0" bIns="0" anchor="t">
            <a:noAutofit/>
          </a:bodyPr>
          <a:lstStyle/>
          <a:p>
            <a:pPr>
              <a:lnSpc>
                <a:spcPct val="105000"/>
              </a:lnSpc>
              <a:spcAft>
                <a:spcPts val="100"/>
              </a:spcAft>
              <a:defRPr sz="1100"/>
            </a:pPr>
            <a:r>
              <a:rPr sz="1100" b="0" i="0">
                <a:solidFill>
                  <a:srgbClr val="E8F1EC"/>
                </a:solidFill>
                <a:latin typeface="Consolas"/>
              </a:rPr>
              <a:t>ggsave(</a:t>
            </a:r>
            <a:r>
              <a:rPr sz="1100" b="0" i="0">
                <a:solidFill>
                  <a:srgbClr val="F5C56B"/>
                </a:solidFill>
                <a:latin typeface="Consolas"/>
              </a:rPr>
              <a:t>"figura.png"</a:t>
            </a:r>
            <a:r>
              <a:rPr sz="1100" b="0" i="0">
                <a:solidFill>
                  <a:srgbClr val="E8F1EC"/>
                </a:solidFill>
                <a:latin typeface="Consolas"/>
              </a:rPr>
              <a:t>, g, width = 10,</a:t>
            </a:r>
          </a:p>
          <a:p>
            <a:pPr>
              <a:lnSpc>
                <a:spcPct val="105000"/>
              </a:lnSpc>
              <a:spcAft>
                <a:spcPts val="100"/>
              </a:spcAft>
              <a:defRPr sz="1100"/>
            </a:pPr>
            <a:r>
              <a:rPr sz="1100" b="0" i="0">
                <a:solidFill>
                  <a:srgbClr val="E8F1EC"/>
                </a:solidFill>
                <a:latin typeface="Consolas"/>
              </a:rPr>
              <a:t>       height = 5.6, dpi = 300, bg = </a:t>
            </a:r>
            <a:r>
              <a:rPr sz="1100" b="0" i="0">
                <a:solidFill>
                  <a:srgbClr val="F5C56B"/>
                </a:solidFill>
                <a:latin typeface="Consolas"/>
              </a:rPr>
              <a:t>"white"</a:t>
            </a:r>
            <a:r>
              <a:rPr sz="1100" b="0" i="0">
                <a:solidFill>
                  <a:srgbClr val="E8F1EC"/>
                </a:solidFill>
                <a:latin typeface="Consolas"/>
              </a:rPr>
              <a:t>)</a:t>
            </a:r>
          </a:p>
          <a:p>
            <a:pPr>
              <a:lnSpc>
                <a:spcPct val="105000"/>
              </a:lnSpc>
              <a:spcAft>
                <a:spcPts val="100"/>
              </a:spcAft>
              <a:defRPr sz="1100"/>
            </a:pPr>
            <a:r>
              <a:rPr sz="1100" b="0" i="0">
                <a:solidFill>
                  <a:srgbClr val="E8F1EC"/>
                </a:solidFill>
                <a:latin typeface="Consolas"/>
              </a:rPr>
              <a:t>ggsave(</a:t>
            </a:r>
            <a:r>
              <a:rPr sz="1100" b="0" i="0">
                <a:solidFill>
                  <a:srgbClr val="F5C56B"/>
                </a:solidFill>
                <a:latin typeface="Consolas"/>
              </a:rPr>
              <a:t>"figura.svg"</a:t>
            </a:r>
            <a:r>
              <a:rPr sz="1100" b="0" i="0">
                <a:solidFill>
                  <a:srgbClr val="E8F1EC"/>
                </a:solidFill>
                <a:latin typeface="Consolas"/>
              </a:rPr>
              <a:t>, g)      </a:t>
            </a:r>
            <a:r>
              <a:rPr sz="1100" b="0" i="0">
                <a:solidFill>
                  <a:srgbClr val="8FB5A4"/>
                </a:solidFill>
                <a:latin typeface="Consolas"/>
              </a:rPr>
              <a:t># vectorial para web</a:t>
            </a:r>
          </a:p>
        </p:txBody>
      </p:sp>
      <p:graphicFrame>
        <p:nvGraphicFramePr>
          <p:cNvPr id="12" name="Table 11"/>
          <p:cNvGraphicFramePr>
            <a:graphicFrameLocks noGrp="1"/>
          </p:cNvGraphicFramePr>
          <p:nvPr/>
        </p:nvGraphicFramePr>
        <p:xfrm>
          <a:off x="6583680" y="4297680"/>
          <a:ext cx="5056632" cy="1554480"/>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1490472">
                  <a:extLst>
                    <a:ext uri="{9D8B030D-6E8A-4147-A177-3AD203B41FA5}">
                      <a16:colId xmlns:a16="http://schemas.microsoft.com/office/drawing/2014/main" val="20002"/>
                    </a:ext>
                  </a:extLst>
                </a:gridCol>
              </a:tblGrid>
              <a:tr h="388620">
                <a:tc>
                  <a:txBody>
                    <a:bodyPr/>
                    <a:lstStyle/>
                    <a:p>
                      <a:r>
                        <a:rPr sz="1100" b="1" i="0">
                          <a:solidFill>
                            <a:srgbClr val="FFFFFF"/>
                          </a:solidFill>
                          <a:latin typeface="Calibri"/>
                        </a:rPr>
                        <a:t>Destino</a:t>
                      </a:r>
                    </a:p>
                  </a:txBody>
                  <a:tcPr marT="27432" marB="27432" anchor="ctr">
                    <a:solidFill>
                      <a:srgbClr val="0B6E4F"/>
                    </a:solidFill>
                  </a:tcPr>
                </a:tc>
                <a:tc>
                  <a:txBody>
                    <a:bodyPr/>
                    <a:lstStyle/>
                    <a:p>
                      <a:r>
                        <a:rPr sz="1100" b="1" i="0">
                          <a:solidFill>
                            <a:srgbClr val="FFFFFF"/>
                          </a:solidFill>
                          <a:latin typeface="Calibri"/>
                        </a:rPr>
                        <a:t>Formato</a:t>
                      </a:r>
                    </a:p>
                  </a:txBody>
                  <a:tcPr marT="27432" marB="27432" anchor="ctr">
                    <a:solidFill>
                      <a:srgbClr val="0B6E4F"/>
                    </a:solidFill>
                  </a:tcPr>
                </a:tc>
                <a:tc>
                  <a:txBody>
                    <a:bodyPr/>
                    <a:lstStyle/>
                    <a:p>
                      <a:r>
                        <a:rPr sz="1100" b="1" i="0">
                          <a:solidFill>
                            <a:srgbClr val="FFFFFF"/>
                          </a:solidFill>
                          <a:latin typeface="Calibri"/>
                        </a:rPr>
                        <a:t>Tamaño</a:t>
                      </a:r>
                    </a:p>
                  </a:txBody>
                  <a:tcPr marT="27432" marB="27432" anchor="ctr">
                    <a:solidFill>
                      <a:srgbClr val="0B6E4F"/>
                    </a:solidFill>
                  </a:tcPr>
                </a:tc>
                <a:extLst>
                  <a:ext uri="{0D108BD9-81ED-4DB2-BD59-A6C34878D82A}">
                    <a16:rowId xmlns:a16="http://schemas.microsoft.com/office/drawing/2014/main" val="10000"/>
                  </a:ext>
                </a:extLst>
              </a:tr>
              <a:tr h="388620">
                <a:tc>
                  <a:txBody>
                    <a:bodyPr/>
                    <a:lstStyle/>
                    <a:p>
                      <a:r>
                        <a:rPr sz="1100" b="0" i="0">
                          <a:solidFill>
                            <a:srgbClr val="1F2A2E"/>
                          </a:solidFill>
                          <a:latin typeface="Calibri"/>
                        </a:rPr>
                        <a:t>Diapositiva 16:9</a:t>
                      </a:r>
                    </a:p>
                  </a:txBody>
                  <a:tcPr marT="27432" marB="27432" anchor="ctr">
                    <a:solidFill>
                      <a:srgbClr val="EEF6F2"/>
                    </a:solidFill>
                  </a:tcPr>
                </a:tc>
                <a:tc>
                  <a:txBody>
                    <a:bodyPr/>
                    <a:lstStyle/>
                    <a:p>
                      <a:r>
                        <a:rPr sz="1100" b="0" i="0">
                          <a:solidFill>
                            <a:srgbClr val="1F2A2E"/>
                          </a:solidFill>
                          <a:latin typeface="Calibri"/>
                        </a:rPr>
                        <a:t>PNG 300 dpi</a:t>
                      </a:r>
                    </a:p>
                  </a:txBody>
                  <a:tcPr marT="27432" marB="27432" anchor="ctr">
                    <a:solidFill>
                      <a:srgbClr val="EEF6F2"/>
                    </a:solidFill>
                  </a:tcPr>
                </a:tc>
                <a:tc>
                  <a:txBody>
                    <a:bodyPr/>
                    <a:lstStyle/>
                    <a:p>
                      <a:r>
                        <a:rPr sz="1100" b="0" i="0">
                          <a:solidFill>
                            <a:srgbClr val="1F2A2E"/>
                          </a:solidFill>
                          <a:latin typeface="Calibri"/>
                        </a:rPr>
                        <a:t>10 × 5.6 in</a:t>
                      </a:r>
                    </a:p>
                  </a:txBody>
                  <a:tcPr marT="27432" marB="27432" anchor="ctr">
                    <a:solidFill>
                      <a:srgbClr val="EEF6F2"/>
                    </a:solidFill>
                  </a:tcPr>
                </a:tc>
                <a:extLst>
                  <a:ext uri="{0D108BD9-81ED-4DB2-BD59-A6C34878D82A}">
                    <a16:rowId xmlns:a16="http://schemas.microsoft.com/office/drawing/2014/main" val="10001"/>
                  </a:ext>
                </a:extLst>
              </a:tr>
              <a:tr h="388620">
                <a:tc>
                  <a:txBody>
                    <a:bodyPr/>
                    <a:lstStyle/>
                    <a:p>
                      <a:r>
                        <a:rPr sz="1100" b="0" i="0">
                          <a:solidFill>
                            <a:srgbClr val="1F2A2E"/>
                          </a:solidFill>
                          <a:latin typeface="Calibri"/>
                        </a:rPr>
                        <a:t>Informe o artículo</a:t>
                      </a:r>
                    </a:p>
                  </a:txBody>
                  <a:tcPr marT="27432" marB="27432" anchor="ctr">
                    <a:solidFill>
                      <a:srgbClr val="FFFFFF"/>
                    </a:solidFill>
                  </a:tcPr>
                </a:tc>
                <a:tc>
                  <a:txBody>
                    <a:bodyPr/>
                    <a:lstStyle/>
                    <a:p>
                      <a:r>
                        <a:rPr sz="1100" b="0" i="0">
                          <a:solidFill>
                            <a:srgbClr val="1F2A2E"/>
                          </a:solidFill>
                          <a:latin typeface="Calibri"/>
                        </a:rPr>
                        <a:t>PDF o SVG</a:t>
                      </a:r>
                    </a:p>
                  </a:txBody>
                  <a:tcPr marT="27432" marB="27432" anchor="ctr">
                    <a:solidFill>
                      <a:srgbClr val="FFFFFF"/>
                    </a:solidFill>
                  </a:tcPr>
                </a:tc>
                <a:tc>
                  <a:txBody>
                    <a:bodyPr/>
                    <a:lstStyle/>
                    <a:p>
                      <a:r>
                        <a:rPr sz="1100" b="0" i="0">
                          <a:solidFill>
                            <a:srgbClr val="1F2A2E"/>
                          </a:solidFill>
                          <a:latin typeface="Calibri"/>
                        </a:rPr>
                        <a:t>7 × 4.5 in</a:t>
                      </a:r>
                    </a:p>
                  </a:txBody>
                  <a:tcPr marT="27432" marB="27432" anchor="ctr">
                    <a:solidFill>
                      <a:srgbClr val="FFFFFF"/>
                    </a:solidFill>
                  </a:tcPr>
                </a:tc>
                <a:extLst>
                  <a:ext uri="{0D108BD9-81ED-4DB2-BD59-A6C34878D82A}">
                    <a16:rowId xmlns:a16="http://schemas.microsoft.com/office/drawing/2014/main" val="10002"/>
                  </a:ext>
                </a:extLst>
              </a:tr>
              <a:tr h="388620">
                <a:tc>
                  <a:txBody>
                    <a:bodyPr/>
                    <a:lstStyle/>
                    <a:p>
                      <a:r>
                        <a:rPr sz="1100" b="0" i="0">
                          <a:solidFill>
                            <a:srgbClr val="1F2A2E"/>
                          </a:solidFill>
                          <a:latin typeface="Calibri"/>
                        </a:rPr>
                        <a:t>Web o dashboard</a:t>
                      </a:r>
                    </a:p>
                  </a:txBody>
                  <a:tcPr marT="27432" marB="27432" anchor="ctr">
                    <a:solidFill>
                      <a:srgbClr val="EEF6F2"/>
                    </a:solidFill>
                  </a:tcPr>
                </a:tc>
                <a:tc>
                  <a:txBody>
                    <a:bodyPr/>
                    <a:lstStyle/>
                    <a:p>
                      <a:r>
                        <a:rPr sz="1100" b="0" i="0">
                          <a:solidFill>
                            <a:srgbClr val="1F2A2E"/>
                          </a:solidFill>
                          <a:latin typeface="Calibri"/>
                        </a:rPr>
                        <a:t>PNG 150 dpi o HTML</a:t>
                      </a:r>
                    </a:p>
                  </a:txBody>
                  <a:tcPr marT="27432" marB="27432" anchor="ctr">
                    <a:solidFill>
                      <a:srgbClr val="EEF6F2"/>
                    </a:solidFill>
                  </a:tcPr>
                </a:tc>
                <a:tc>
                  <a:txBody>
                    <a:bodyPr/>
                    <a:lstStyle/>
                    <a:p>
                      <a:r>
                        <a:rPr sz="1100" b="0" i="0">
                          <a:solidFill>
                            <a:srgbClr val="1F2A2E"/>
                          </a:solidFill>
                          <a:latin typeface="Calibri"/>
                        </a:rPr>
                        <a:t>9 × 5 in</a:t>
                      </a:r>
                    </a:p>
                  </a:txBody>
                  <a:tcPr marT="27432" marB="27432" anchor="ctr">
                    <a:solidFill>
                      <a:srgbClr val="EEF6F2"/>
                    </a:solidFill>
                  </a:tcPr>
                </a:tc>
                <a:extLst>
                  <a:ext uri="{0D108BD9-81ED-4DB2-BD59-A6C34878D82A}">
                    <a16:rowId xmlns:a16="http://schemas.microsoft.com/office/drawing/2014/main" val="10003"/>
                  </a:ext>
                </a:extLst>
              </a:tr>
            </a:tbl>
          </a:graphicData>
        </a:graphic>
      </p:graphicFrame>
      <p:sp>
        <p:nvSpPr>
          <p:cNvPr id="13" name="TextBox 12"/>
          <p:cNvSpPr txBox="1"/>
          <p:nvPr/>
        </p:nvSpPr>
        <p:spPr>
          <a:xfrm>
            <a:off x="548640" y="5257800"/>
            <a:ext cx="5852160" cy="1097280"/>
          </a:xfrm>
          <a:prstGeom prst="rect">
            <a:avLst/>
          </a:prstGeom>
          <a:noFill/>
        </p:spPr>
        <p:txBody>
          <a:bodyPr wrap="square" lIns="0" tIns="0" rIns="0" bIns="0" anchor="t">
            <a:noAutofit/>
          </a:bodyPr>
          <a:lstStyle/>
          <a:p>
            <a:pPr algn="l">
              <a:lnSpc>
                <a:spcPct val="110000"/>
              </a:lnSpc>
              <a:spcAft>
                <a:spcPts val="400"/>
              </a:spcAft>
              <a:defRPr sz="1200"/>
            </a:pPr>
            <a:r>
              <a:rPr sz="1200" b="1" i="0">
                <a:solidFill>
                  <a:srgbClr val="0B6E4F"/>
                </a:solidFill>
                <a:latin typeface="Consolas"/>
              </a:rPr>
              <a:t>|</a:t>
            </a:r>
            <a:r>
              <a:rPr sz="1200" b="0" i="0">
                <a:solidFill>
                  <a:srgbClr val="1F2A2E"/>
                </a:solidFill>
                <a:latin typeface="Calibri"/>
              </a:rPr>
              <a:t> coloca al lado  ·  </a:t>
            </a:r>
            <a:r>
              <a:rPr sz="1200" b="1" i="0">
                <a:solidFill>
                  <a:srgbClr val="0B6E4F"/>
                </a:solidFill>
                <a:latin typeface="Consolas"/>
              </a:rPr>
              <a:t>/</a:t>
            </a:r>
            <a:r>
              <a:rPr sz="1200" b="0" i="0">
                <a:solidFill>
                  <a:srgbClr val="1F2A2E"/>
                </a:solidFill>
                <a:latin typeface="Calibri"/>
              </a:rPr>
              <a:t> coloca debajo  ·  </a:t>
            </a:r>
            <a:r>
              <a:rPr sz="1100" b="0" i="0">
                <a:solidFill>
                  <a:srgbClr val="0B6E4F"/>
                </a:solidFill>
                <a:latin typeface="Consolas"/>
              </a:rPr>
              <a:t>plot_layout(guides = "collect")</a:t>
            </a:r>
            <a:r>
              <a:rPr sz="1200" b="0" i="0">
                <a:solidFill>
                  <a:srgbClr val="1F2A2E"/>
                </a:solidFill>
                <a:latin typeface="Calibri"/>
              </a:rPr>
              <a:t> unifica leyendas</a:t>
            </a:r>
          </a:p>
          <a:p>
            <a:pPr algn="l">
              <a:lnSpc>
                <a:spcPct val="110000"/>
              </a:lnSpc>
              <a:spcAft>
                <a:spcPts val="400"/>
              </a:spcAft>
              <a:defRPr sz="1200"/>
            </a:pPr>
            <a:r>
              <a:rPr sz="1100" b="0" i="0">
                <a:solidFill>
                  <a:srgbClr val="0B6E4F"/>
                </a:solidFill>
                <a:latin typeface="Consolas"/>
              </a:rPr>
              <a:t>inset_element()</a:t>
            </a:r>
            <a:r>
              <a:rPr sz="1200" b="0" i="0">
                <a:solidFill>
                  <a:srgbClr val="1F2A2E"/>
                </a:solidFill>
                <a:latin typeface="Calibri"/>
              </a:rPr>
              <a:t> incrusta un gráfico dentro de otro  ·  alternativa: </a:t>
            </a:r>
            <a:r>
              <a:rPr sz="1100" b="0" i="0">
                <a:solidFill>
                  <a:srgbClr val="0B6E4F"/>
                </a:solidFill>
                <a:latin typeface="Consolas"/>
              </a:rPr>
              <a:t>cowplot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6446520"/>
            <a:ext cx="7315200" cy="274320"/>
          </a:xfrm>
          <a:prstGeom prst="rect">
            <a:avLst/>
          </a:prstGeom>
          <a:noFill/>
        </p:spPr>
        <p:txBody>
          <a:bodyPr wrap="square" lIns="0" tIns="0" rIns="0" bIns="0" anchor="t">
            <a:noAutofit/>
          </a:bodyPr>
          <a:lstStyle/>
          <a:p>
            <a:pPr algn="l">
              <a:lnSpc>
                <a:spcPct val="110000"/>
              </a:lnSpc>
              <a:spcAft>
                <a:spcPts val="0"/>
              </a:spcAft>
              <a:defRPr sz="900"/>
            </a:pPr>
            <a:r>
              <a:rPr sz="900" b="0" i="0">
                <a:solidFill>
                  <a:srgbClr val="9AA7AB"/>
                </a:solidFill>
                <a:latin typeface="Calibri"/>
              </a:rPr>
              <a:t>Visualización de Datos · Clase 18 · R y visualización de datos</a:t>
            </a:r>
          </a:p>
        </p:txBody>
      </p:sp>
      <p:sp>
        <p:nvSpPr>
          <p:cNvPr id="4" name="TextBox 3"/>
          <p:cNvSpPr txBox="1"/>
          <p:nvPr/>
        </p:nvSpPr>
        <p:spPr>
          <a:xfrm>
            <a:off x="10972800" y="6446520"/>
            <a:ext cx="667512" cy="274320"/>
          </a:xfrm>
          <a:prstGeom prst="rect">
            <a:avLst/>
          </a:prstGeom>
          <a:noFill/>
        </p:spPr>
        <p:txBody>
          <a:bodyPr wrap="square" lIns="0" tIns="0" rIns="0" bIns="0" anchor="t">
            <a:noAutofit/>
          </a:bodyPr>
          <a:lstStyle/>
          <a:p>
            <a:pPr algn="r">
              <a:lnSpc>
                <a:spcPct val="110000"/>
              </a:lnSpc>
              <a:spcAft>
                <a:spcPts val="0"/>
              </a:spcAft>
              <a:defRPr sz="900"/>
            </a:pPr>
            <a:r>
              <a:rPr sz="900" b="0" i="0">
                <a:solidFill>
                  <a:srgbClr val="9AA7AB"/>
                </a:solidFill>
                <a:latin typeface="Calibri"/>
              </a:rPr>
              <a:t>18</a:t>
            </a:r>
          </a:p>
        </p:txBody>
      </p:sp>
      <p:sp>
        <p:nvSpPr>
          <p:cNvPr id="5" name="TextBox 4"/>
          <p:cNvSpPr txBox="1"/>
          <p:nvPr/>
        </p:nvSpPr>
        <p:spPr>
          <a:xfrm>
            <a:off x="548640" y="457200"/>
            <a:ext cx="11091672" cy="731520"/>
          </a:xfrm>
          <a:prstGeom prst="rect">
            <a:avLst/>
          </a:prstGeom>
          <a:noFill/>
        </p:spPr>
        <p:txBody>
          <a:bodyPr wrap="square" lIns="0" tIns="0" rIns="0" bIns="0" anchor="t">
            <a:noAutofit/>
          </a:bodyPr>
          <a:lstStyle/>
          <a:p>
            <a:pPr algn="l">
              <a:lnSpc>
                <a:spcPct val="110000"/>
              </a:lnSpc>
              <a:spcAft>
                <a:spcPts val="0"/>
              </a:spcAft>
              <a:defRPr sz="3000"/>
            </a:pPr>
            <a:r>
              <a:rPr sz="3000" b="1" i="0">
                <a:solidFill>
                  <a:srgbClr val="0B6E4F"/>
                </a:solidFill>
                <a:latin typeface="Cambria"/>
              </a:rPr>
              <a:t>Ventajas de ggplot2 frente a los gráficos base de R</a:t>
            </a:r>
          </a:p>
        </p:txBody>
      </p:sp>
      <p:sp>
        <p:nvSpPr>
          <p:cNvPr id="6" name="Rounded Rectangle 5"/>
          <p:cNvSpPr/>
          <p:nvPr/>
        </p:nvSpPr>
        <p:spPr>
          <a:xfrm>
            <a:off x="1362456" y="1228561"/>
            <a:ext cx="4407408" cy="3486476"/>
          </a:xfrm>
          <a:prstGeom prst="roundRect">
            <a:avLst>
              <a:gd name="adj" fmla="val 2000"/>
            </a:avLst>
          </a:prstGeom>
          <a:solidFill>
            <a:srgbClr val="FFFFFF"/>
          </a:solidFill>
          <a:ln w="9525">
            <a:solidFill>
              <a:srgbClr val="CFE8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base_r.png"/>
          <p:cNvPicPr>
            <a:picLocks noChangeAspect="1"/>
          </p:cNvPicPr>
          <p:nvPr/>
        </p:nvPicPr>
        <p:blipFill>
          <a:blip r:embed="rId3"/>
          <a:stretch>
            <a:fillRect/>
          </a:stretch>
        </p:blipFill>
        <p:spPr>
          <a:xfrm>
            <a:off x="1417320" y="1283425"/>
            <a:ext cx="4297680" cy="3376748"/>
          </a:xfrm>
          <a:prstGeom prst="rect">
            <a:avLst/>
          </a:prstGeom>
        </p:spPr>
      </p:pic>
      <p:sp>
        <p:nvSpPr>
          <p:cNvPr id="8" name="Rounded Rectangle 7"/>
          <p:cNvSpPr/>
          <p:nvPr/>
        </p:nvSpPr>
        <p:spPr>
          <a:xfrm>
            <a:off x="6391656" y="1228561"/>
            <a:ext cx="4407408" cy="3486476"/>
          </a:xfrm>
          <a:prstGeom prst="roundRect">
            <a:avLst>
              <a:gd name="adj" fmla="val 2000"/>
            </a:avLst>
          </a:prstGeom>
          <a:solidFill>
            <a:srgbClr val="FFFFFF"/>
          </a:solidFill>
          <a:ln w="9525">
            <a:solidFill>
              <a:srgbClr val="CFE8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ggplot_r.png"/>
          <p:cNvPicPr>
            <a:picLocks noChangeAspect="1"/>
          </p:cNvPicPr>
          <p:nvPr/>
        </p:nvPicPr>
        <p:blipFill>
          <a:blip r:embed="rId4"/>
          <a:stretch>
            <a:fillRect/>
          </a:stretch>
        </p:blipFill>
        <p:spPr>
          <a:xfrm>
            <a:off x="6446520" y="1283425"/>
            <a:ext cx="4297680" cy="3376748"/>
          </a:xfrm>
          <a:prstGeom prst="rect">
            <a:avLst/>
          </a:prstGeom>
        </p:spPr>
      </p:pic>
      <p:sp>
        <p:nvSpPr>
          <p:cNvPr id="10" name="Oval 9"/>
          <p:cNvSpPr/>
          <p:nvPr/>
        </p:nvSpPr>
        <p:spPr>
          <a:xfrm>
            <a:off x="5852160" y="2697480"/>
            <a:ext cx="502920" cy="502920"/>
          </a:xfrm>
          <a:prstGeom prst="ellipse">
            <a:avLst/>
          </a:prstGeom>
          <a:solidFill>
            <a:srgbClr val="F2A93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i="0">
                <a:solidFill>
                  <a:srgbClr val="0A3D2E"/>
                </a:solidFill>
                <a:latin typeface="Cambria"/>
              </a:rPr>
              <a:t>vs</a:t>
            </a:r>
          </a:p>
        </p:txBody>
      </p:sp>
      <p:sp>
        <p:nvSpPr>
          <p:cNvPr id="11" name="TextBox 10"/>
          <p:cNvSpPr txBox="1"/>
          <p:nvPr/>
        </p:nvSpPr>
        <p:spPr>
          <a:xfrm>
            <a:off x="548640" y="4892040"/>
            <a:ext cx="3566160" cy="365760"/>
          </a:xfrm>
          <a:prstGeom prst="rect">
            <a:avLst/>
          </a:prstGeom>
          <a:noFill/>
        </p:spPr>
        <p:txBody>
          <a:bodyPr wrap="square" lIns="0" tIns="0" rIns="0" bIns="0" anchor="t">
            <a:noAutofit/>
          </a:bodyPr>
          <a:lstStyle/>
          <a:p>
            <a:pPr algn="l">
              <a:lnSpc>
                <a:spcPct val="110000"/>
              </a:lnSpc>
              <a:spcAft>
                <a:spcPts val="0"/>
              </a:spcAft>
              <a:defRPr sz="1400"/>
            </a:pPr>
            <a:r>
              <a:rPr sz="1400" b="1" i="0">
                <a:solidFill>
                  <a:srgbClr val="0B6E4F"/>
                </a:solidFill>
                <a:latin typeface="Cambria"/>
              </a:rPr>
              <a:t>Sintaxis coherente</a:t>
            </a:r>
          </a:p>
        </p:txBody>
      </p:sp>
      <p:sp>
        <p:nvSpPr>
          <p:cNvPr id="12" name="TextBox 11"/>
          <p:cNvSpPr txBox="1"/>
          <p:nvPr/>
        </p:nvSpPr>
        <p:spPr>
          <a:xfrm>
            <a:off x="548640" y="5257800"/>
            <a:ext cx="3566160" cy="1097280"/>
          </a:xfrm>
          <a:prstGeom prst="rect">
            <a:avLst/>
          </a:prstGeom>
          <a:noFill/>
        </p:spPr>
        <p:txBody>
          <a:bodyPr wrap="square" lIns="0" tIns="0" rIns="0" bIns="0" anchor="t">
            <a:noAutofit/>
          </a:bodyPr>
          <a:lstStyle/>
          <a:p>
            <a:pPr algn="l">
              <a:lnSpc>
                <a:spcPct val="112000"/>
              </a:lnSpc>
              <a:spcAft>
                <a:spcPts val="0"/>
              </a:spcAft>
              <a:defRPr sz="1150"/>
            </a:pPr>
            <a:r>
              <a:rPr sz="1150" b="0" i="0">
                <a:solidFill>
                  <a:srgbClr val="1F2A2E"/>
                </a:solidFill>
                <a:latin typeface="Calibri"/>
              </a:rPr>
              <a:t>Un sistema consistente y lógico que reduce la curva de aprendizaje: con pocas piezas, un principiante produce gráficos profesionales en minutos.</a:t>
            </a:r>
          </a:p>
        </p:txBody>
      </p:sp>
      <p:sp>
        <p:nvSpPr>
          <p:cNvPr id="13" name="TextBox 12"/>
          <p:cNvSpPr txBox="1"/>
          <p:nvPr/>
        </p:nvSpPr>
        <p:spPr>
          <a:xfrm>
            <a:off x="4297679" y="4892040"/>
            <a:ext cx="3566160" cy="365760"/>
          </a:xfrm>
          <a:prstGeom prst="rect">
            <a:avLst/>
          </a:prstGeom>
          <a:noFill/>
        </p:spPr>
        <p:txBody>
          <a:bodyPr wrap="square" lIns="0" tIns="0" rIns="0" bIns="0" anchor="t">
            <a:noAutofit/>
          </a:bodyPr>
          <a:lstStyle/>
          <a:p>
            <a:pPr algn="l">
              <a:lnSpc>
                <a:spcPct val="110000"/>
              </a:lnSpc>
              <a:spcAft>
                <a:spcPts val="0"/>
              </a:spcAft>
              <a:defRPr sz="1400"/>
            </a:pPr>
            <a:r>
              <a:rPr sz="1400" b="1" i="0">
                <a:solidFill>
                  <a:srgbClr val="0B6E4F"/>
                </a:solidFill>
                <a:latin typeface="Cambria"/>
              </a:rPr>
              <a:t>Personalización avanzada</a:t>
            </a:r>
          </a:p>
        </p:txBody>
      </p:sp>
      <p:sp>
        <p:nvSpPr>
          <p:cNvPr id="14" name="TextBox 13"/>
          <p:cNvSpPr txBox="1"/>
          <p:nvPr/>
        </p:nvSpPr>
        <p:spPr>
          <a:xfrm>
            <a:off x="4297679" y="5257800"/>
            <a:ext cx="3566160" cy="1097280"/>
          </a:xfrm>
          <a:prstGeom prst="rect">
            <a:avLst/>
          </a:prstGeom>
          <a:noFill/>
        </p:spPr>
        <p:txBody>
          <a:bodyPr wrap="square" lIns="0" tIns="0" rIns="0" bIns="0" anchor="t">
            <a:noAutofit/>
          </a:bodyPr>
          <a:lstStyle/>
          <a:p>
            <a:pPr algn="l">
              <a:lnSpc>
                <a:spcPct val="112000"/>
              </a:lnSpc>
              <a:spcAft>
                <a:spcPts val="0"/>
              </a:spcAft>
              <a:defRPr sz="1150"/>
            </a:pPr>
            <a:r>
              <a:rPr sz="1150" b="0" i="0">
                <a:solidFill>
                  <a:srgbClr val="1F2A2E"/>
                </a:solidFill>
                <a:latin typeface="Calibri"/>
              </a:rPr>
              <a:t>Control total sobre temas, etiquetas, colores, fuentes y leyendas. Cada elemento visual es una capa que se puede ajustar.</a:t>
            </a:r>
          </a:p>
        </p:txBody>
      </p:sp>
      <p:sp>
        <p:nvSpPr>
          <p:cNvPr id="15" name="TextBox 14"/>
          <p:cNvSpPr txBox="1"/>
          <p:nvPr/>
        </p:nvSpPr>
        <p:spPr>
          <a:xfrm>
            <a:off x="8046719" y="4892040"/>
            <a:ext cx="3566160" cy="365760"/>
          </a:xfrm>
          <a:prstGeom prst="rect">
            <a:avLst/>
          </a:prstGeom>
          <a:noFill/>
        </p:spPr>
        <p:txBody>
          <a:bodyPr wrap="square" lIns="0" tIns="0" rIns="0" bIns="0" anchor="t">
            <a:noAutofit/>
          </a:bodyPr>
          <a:lstStyle/>
          <a:p>
            <a:pPr algn="l">
              <a:lnSpc>
                <a:spcPct val="110000"/>
              </a:lnSpc>
              <a:spcAft>
                <a:spcPts val="0"/>
              </a:spcAft>
              <a:defRPr sz="1400"/>
            </a:pPr>
            <a:r>
              <a:rPr sz="1400" b="1" i="0">
                <a:solidFill>
                  <a:srgbClr val="0B6E4F"/>
                </a:solidFill>
                <a:latin typeface="Cambria"/>
              </a:rPr>
              <a:t>Calidad publicable</a:t>
            </a:r>
          </a:p>
        </p:txBody>
      </p:sp>
      <p:sp>
        <p:nvSpPr>
          <p:cNvPr id="16" name="TextBox 15"/>
          <p:cNvSpPr txBox="1"/>
          <p:nvPr/>
        </p:nvSpPr>
        <p:spPr>
          <a:xfrm>
            <a:off x="8046719" y="5257800"/>
            <a:ext cx="3566160" cy="1097280"/>
          </a:xfrm>
          <a:prstGeom prst="rect">
            <a:avLst/>
          </a:prstGeom>
          <a:noFill/>
        </p:spPr>
        <p:txBody>
          <a:bodyPr wrap="square" lIns="0" tIns="0" rIns="0" bIns="0" anchor="t">
            <a:noAutofit/>
          </a:bodyPr>
          <a:lstStyle/>
          <a:p>
            <a:pPr algn="l">
              <a:lnSpc>
                <a:spcPct val="112000"/>
              </a:lnSpc>
              <a:spcAft>
                <a:spcPts val="0"/>
              </a:spcAft>
              <a:defRPr sz="1150"/>
            </a:pPr>
            <a:r>
              <a:rPr sz="1150" b="0" i="0">
                <a:solidFill>
                  <a:srgbClr val="1F2A2E"/>
                </a:solidFill>
                <a:latin typeface="Calibri"/>
              </a:rPr>
              <a:t>Gráficos de calidad editorial para artículos científicos, presentaciones ejecutivas y reportes, sin edición externa.</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3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6446520"/>
            <a:ext cx="7315200" cy="274320"/>
          </a:xfrm>
          <a:prstGeom prst="rect">
            <a:avLst/>
          </a:prstGeom>
          <a:noFill/>
        </p:spPr>
        <p:txBody>
          <a:bodyPr wrap="square" lIns="0" tIns="0" rIns="0" bIns="0" anchor="t">
            <a:noAutofit/>
          </a:bodyPr>
          <a:lstStyle/>
          <a:p>
            <a:pPr algn="l">
              <a:lnSpc>
                <a:spcPct val="110000"/>
              </a:lnSpc>
              <a:spcAft>
                <a:spcPts val="0"/>
              </a:spcAft>
              <a:defRPr sz="900"/>
            </a:pPr>
            <a:r>
              <a:rPr sz="900" b="0" i="0">
                <a:solidFill>
                  <a:srgbClr val="9CC4B4"/>
                </a:solidFill>
                <a:latin typeface="Calibri"/>
              </a:rPr>
              <a:t>Visualización de Datos · Clase 18 · R y visualización de datos</a:t>
            </a:r>
          </a:p>
        </p:txBody>
      </p:sp>
      <p:sp>
        <p:nvSpPr>
          <p:cNvPr id="4" name="TextBox 3"/>
          <p:cNvSpPr txBox="1"/>
          <p:nvPr/>
        </p:nvSpPr>
        <p:spPr>
          <a:xfrm>
            <a:off x="10972800" y="6446520"/>
            <a:ext cx="667512" cy="274320"/>
          </a:xfrm>
          <a:prstGeom prst="rect">
            <a:avLst/>
          </a:prstGeom>
          <a:noFill/>
        </p:spPr>
        <p:txBody>
          <a:bodyPr wrap="square" lIns="0" tIns="0" rIns="0" bIns="0" anchor="t">
            <a:noAutofit/>
          </a:bodyPr>
          <a:lstStyle/>
          <a:p>
            <a:pPr algn="r">
              <a:lnSpc>
                <a:spcPct val="110000"/>
              </a:lnSpc>
              <a:spcAft>
                <a:spcPts val="0"/>
              </a:spcAft>
              <a:defRPr sz="900"/>
            </a:pPr>
            <a:r>
              <a:rPr sz="900" b="0" i="0">
                <a:solidFill>
                  <a:srgbClr val="9CC4B4"/>
                </a:solidFill>
                <a:latin typeface="Calibri"/>
              </a:rPr>
              <a:t>19</a:t>
            </a:r>
          </a:p>
        </p:txBody>
      </p:sp>
      <p:pic>
        <p:nvPicPr>
          <p:cNvPr id="5" name="Picture 4" descr="img-006.png"/>
          <p:cNvPicPr>
            <a:picLocks noChangeAspect="1"/>
          </p:cNvPicPr>
          <p:nvPr/>
        </p:nvPicPr>
        <p:blipFill>
          <a:blip r:embed="rId3"/>
          <a:srcRect t="5357" b="5357"/>
          <a:stretch>
            <a:fillRect/>
          </a:stretch>
        </p:blipFill>
        <p:spPr>
          <a:xfrm>
            <a:off x="7071055" y="0"/>
            <a:ext cx="5120640" cy="6858000"/>
          </a:xfrm>
          <a:prstGeom prst="rect">
            <a:avLst/>
          </a:prstGeom>
        </p:spPr>
      </p:pic>
      <p:sp>
        <p:nvSpPr>
          <p:cNvPr id="6" name="TextBox 5"/>
          <p:cNvSpPr txBox="1"/>
          <p:nvPr/>
        </p:nvSpPr>
        <p:spPr>
          <a:xfrm>
            <a:off x="640080" y="1737360"/>
            <a:ext cx="5760720" cy="1097280"/>
          </a:xfrm>
          <a:prstGeom prst="rect">
            <a:avLst/>
          </a:prstGeom>
          <a:noFill/>
        </p:spPr>
        <p:txBody>
          <a:bodyPr wrap="square" lIns="0" tIns="0" rIns="0" bIns="0" anchor="t">
            <a:noAutofit/>
          </a:bodyPr>
          <a:lstStyle/>
          <a:p>
            <a:pPr algn="l">
              <a:lnSpc>
                <a:spcPct val="110000"/>
              </a:lnSpc>
              <a:spcAft>
                <a:spcPts val="0"/>
              </a:spcAft>
              <a:defRPr sz="5400"/>
            </a:pPr>
            <a:r>
              <a:rPr sz="5400" b="1" i="0">
                <a:solidFill>
                  <a:srgbClr val="FFFFFF"/>
                </a:solidFill>
                <a:latin typeface="Cambria"/>
              </a:rPr>
              <a:t>Capítulo 3</a:t>
            </a:r>
          </a:p>
        </p:txBody>
      </p:sp>
      <p:sp>
        <p:nvSpPr>
          <p:cNvPr id="7" name="TextBox 6"/>
          <p:cNvSpPr txBox="1"/>
          <p:nvPr/>
        </p:nvSpPr>
        <p:spPr>
          <a:xfrm>
            <a:off x="640080" y="2926080"/>
            <a:ext cx="5943600" cy="1371600"/>
          </a:xfrm>
          <a:prstGeom prst="rect">
            <a:avLst/>
          </a:prstGeom>
          <a:noFill/>
        </p:spPr>
        <p:txBody>
          <a:bodyPr wrap="square" lIns="0" tIns="0" rIns="0" bIns="0" anchor="t">
            <a:noAutofit/>
          </a:bodyPr>
          <a:lstStyle/>
          <a:p>
            <a:pPr algn="l">
              <a:lnSpc>
                <a:spcPct val="105000"/>
              </a:lnSpc>
              <a:spcAft>
                <a:spcPts val="0"/>
              </a:spcAft>
              <a:defRPr sz="2500"/>
            </a:pPr>
            <a:r>
              <a:rPr sz="2500" b="1" i="0">
                <a:solidFill>
                  <a:srgbClr val="F2A93B"/>
                </a:solidFill>
                <a:latin typeface="Cambria"/>
              </a:rPr>
              <a:t>Más allá de lo estático: visualización interactiva en R</a:t>
            </a:r>
          </a:p>
        </p:txBody>
      </p:sp>
      <p:sp>
        <p:nvSpPr>
          <p:cNvPr id="8" name="TextBox 7"/>
          <p:cNvSpPr txBox="1"/>
          <p:nvPr/>
        </p:nvSpPr>
        <p:spPr>
          <a:xfrm>
            <a:off x="640080" y="4343400"/>
            <a:ext cx="5760720" cy="1645920"/>
          </a:xfrm>
          <a:prstGeom prst="rect">
            <a:avLst/>
          </a:prstGeom>
          <a:noFill/>
        </p:spPr>
        <p:txBody>
          <a:bodyPr wrap="square" lIns="0" tIns="0" rIns="0" bIns="0" anchor="t">
            <a:noAutofit/>
          </a:bodyPr>
          <a:lstStyle/>
          <a:p>
            <a:pPr algn="l">
              <a:lnSpc>
                <a:spcPct val="115000"/>
              </a:lnSpc>
              <a:spcAft>
                <a:spcPts val="0"/>
              </a:spcAft>
              <a:defRPr sz="1400"/>
            </a:pPr>
            <a:r>
              <a:rPr sz="1400" b="0" i="0">
                <a:solidFill>
                  <a:srgbClr val="D7E9E1"/>
                </a:solidFill>
                <a:latin typeface="Calibri"/>
              </a:rPr>
              <a:t>La interactividad permite explorar, filtrar y descubrir hallazgos de forma autónoma. R ofrece un ecosistema robusto de paquetes para crear experiencias visuales dinámicas sin salir del lenguaje.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6446520"/>
            <a:ext cx="7315200" cy="274320"/>
          </a:xfrm>
          <a:prstGeom prst="rect">
            <a:avLst/>
          </a:prstGeom>
          <a:noFill/>
        </p:spPr>
        <p:txBody>
          <a:bodyPr wrap="square" lIns="0" tIns="0" rIns="0" bIns="0" anchor="t">
            <a:noAutofit/>
          </a:bodyPr>
          <a:lstStyle/>
          <a:p>
            <a:pPr algn="l">
              <a:lnSpc>
                <a:spcPct val="110000"/>
              </a:lnSpc>
              <a:spcAft>
                <a:spcPts val="0"/>
              </a:spcAft>
              <a:defRPr sz="900"/>
            </a:pPr>
            <a:r>
              <a:rPr sz="900" b="0" i="0">
                <a:solidFill>
                  <a:srgbClr val="9AA7AB"/>
                </a:solidFill>
                <a:latin typeface="Calibri"/>
              </a:rPr>
              <a:t>Visualización de Datos · Clase 18 · R y visualización de datos</a:t>
            </a:r>
          </a:p>
        </p:txBody>
      </p:sp>
      <p:sp>
        <p:nvSpPr>
          <p:cNvPr id="4" name="TextBox 3"/>
          <p:cNvSpPr txBox="1"/>
          <p:nvPr/>
        </p:nvSpPr>
        <p:spPr>
          <a:xfrm>
            <a:off x="10972800" y="6446520"/>
            <a:ext cx="667512" cy="274320"/>
          </a:xfrm>
          <a:prstGeom prst="rect">
            <a:avLst/>
          </a:prstGeom>
          <a:noFill/>
        </p:spPr>
        <p:txBody>
          <a:bodyPr wrap="square" lIns="0" tIns="0" rIns="0" bIns="0" anchor="t">
            <a:noAutofit/>
          </a:bodyPr>
          <a:lstStyle/>
          <a:p>
            <a:pPr algn="r">
              <a:lnSpc>
                <a:spcPct val="110000"/>
              </a:lnSpc>
              <a:spcAft>
                <a:spcPts val="0"/>
              </a:spcAft>
              <a:defRPr sz="900"/>
            </a:pPr>
            <a:r>
              <a:rPr sz="900" b="0" i="0">
                <a:solidFill>
                  <a:srgbClr val="9AA7AB"/>
                </a:solidFill>
                <a:latin typeface="Calibri"/>
              </a:rPr>
              <a:t>20</a:t>
            </a:r>
          </a:p>
        </p:txBody>
      </p:sp>
      <p:sp>
        <p:nvSpPr>
          <p:cNvPr id="5" name="TextBox 4"/>
          <p:cNvSpPr txBox="1"/>
          <p:nvPr/>
        </p:nvSpPr>
        <p:spPr>
          <a:xfrm>
            <a:off x="548640" y="457200"/>
            <a:ext cx="11091672" cy="731520"/>
          </a:xfrm>
          <a:prstGeom prst="rect">
            <a:avLst/>
          </a:prstGeom>
          <a:noFill/>
        </p:spPr>
        <p:txBody>
          <a:bodyPr wrap="square" lIns="0" tIns="0" rIns="0" bIns="0" anchor="t">
            <a:noAutofit/>
          </a:bodyPr>
          <a:lstStyle/>
          <a:p>
            <a:pPr algn="l">
              <a:lnSpc>
                <a:spcPct val="110000"/>
              </a:lnSpc>
              <a:spcAft>
                <a:spcPts val="0"/>
              </a:spcAft>
              <a:defRPr sz="3000"/>
            </a:pPr>
            <a:r>
              <a:rPr sz="3000" b="1" i="0">
                <a:solidFill>
                  <a:srgbClr val="0B6E4F"/>
                </a:solidFill>
                <a:latin typeface="Cambria"/>
              </a:rPr>
              <a:t>Herramientas para gráficos dinámicos</a:t>
            </a:r>
          </a:p>
        </p:txBody>
      </p:sp>
      <p:sp>
        <p:nvSpPr>
          <p:cNvPr id="6" name="Rounded Rectangle 5"/>
          <p:cNvSpPr/>
          <p:nvPr/>
        </p:nvSpPr>
        <p:spPr>
          <a:xfrm>
            <a:off x="548640" y="1325880"/>
            <a:ext cx="3593592" cy="2377440"/>
          </a:xfrm>
          <a:prstGeom prst="roundRect">
            <a:avLst>
              <a:gd name="adj" fmla="val 6000"/>
            </a:avLst>
          </a:prstGeom>
          <a:solidFill>
            <a:srgbClr val="EE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49808" y="1463039"/>
            <a:ext cx="3200400" cy="347472"/>
          </a:xfrm>
          <a:prstGeom prst="rect">
            <a:avLst/>
          </a:prstGeom>
          <a:noFill/>
        </p:spPr>
        <p:txBody>
          <a:bodyPr wrap="square" lIns="0" tIns="0" rIns="0" bIns="0" anchor="t">
            <a:noAutofit/>
          </a:bodyPr>
          <a:lstStyle/>
          <a:p>
            <a:pPr algn="l">
              <a:lnSpc>
                <a:spcPct val="110000"/>
              </a:lnSpc>
              <a:spcAft>
                <a:spcPts val="0"/>
              </a:spcAft>
              <a:defRPr sz="1400"/>
            </a:pPr>
            <a:r>
              <a:rPr sz="1400" b="1" i="0">
                <a:solidFill>
                  <a:srgbClr val="0B6E4F"/>
                </a:solidFill>
                <a:latin typeface="Consolas"/>
              </a:rPr>
              <a:t>ggplotly()  ·  plotly</a:t>
            </a:r>
          </a:p>
        </p:txBody>
      </p:sp>
      <p:sp>
        <p:nvSpPr>
          <p:cNvPr id="8" name="TextBox 7"/>
          <p:cNvSpPr txBox="1"/>
          <p:nvPr/>
        </p:nvSpPr>
        <p:spPr>
          <a:xfrm>
            <a:off x="749808" y="1801368"/>
            <a:ext cx="3246120" cy="594360"/>
          </a:xfrm>
          <a:prstGeom prst="rect">
            <a:avLst/>
          </a:prstGeom>
          <a:noFill/>
        </p:spPr>
        <p:txBody>
          <a:bodyPr wrap="square" lIns="0" tIns="0" rIns="0" bIns="0" anchor="t">
            <a:noAutofit/>
          </a:bodyPr>
          <a:lstStyle/>
          <a:p>
            <a:pPr algn="l">
              <a:lnSpc>
                <a:spcPct val="110000"/>
              </a:lnSpc>
              <a:spcAft>
                <a:spcPts val="0"/>
              </a:spcAft>
              <a:defRPr sz="1050"/>
            </a:pPr>
            <a:r>
              <a:rPr sz="1050" b="0" i="0">
                <a:solidFill>
                  <a:srgbClr val="1F2A2E"/>
                </a:solidFill>
                <a:latin typeface="Calibri"/>
              </a:rPr>
              <a:t>Convierte cualquier ggplot2 en interactivo: tooltips, zoom, pan y exportación.</a:t>
            </a:r>
          </a:p>
        </p:txBody>
      </p:sp>
      <p:sp>
        <p:nvSpPr>
          <p:cNvPr id="9" name="Rounded Rectangle 8"/>
          <p:cNvSpPr/>
          <p:nvPr/>
        </p:nvSpPr>
        <p:spPr>
          <a:xfrm>
            <a:off x="749808" y="2423160"/>
            <a:ext cx="3200400" cy="411480"/>
          </a:xfrm>
          <a:prstGeom prst="roundRect">
            <a:avLst>
              <a:gd name="adj" fmla="val 4000"/>
            </a:avLst>
          </a:prstGeom>
          <a:solidFill>
            <a:srgbClr val="0F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14400" y="2551176"/>
            <a:ext cx="2871216" cy="155448"/>
          </a:xfrm>
          <a:prstGeom prst="rect">
            <a:avLst/>
          </a:prstGeom>
          <a:noFill/>
        </p:spPr>
        <p:txBody>
          <a:bodyPr wrap="square" lIns="0" tIns="0" rIns="0" bIns="0" anchor="t">
            <a:noAutofit/>
          </a:bodyPr>
          <a:lstStyle/>
          <a:p>
            <a:pPr>
              <a:lnSpc>
                <a:spcPct val="105000"/>
              </a:lnSpc>
              <a:spcAft>
                <a:spcPts val="100"/>
              </a:spcAft>
              <a:defRPr sz="950"/>
            </a:pPr>
            <a:r>
              <a:rPr sz="950" b="0" i="0">
                <a:solidFill>
                  <a:srgbClr val="E8F1EC"/>
                </a:solidFill>
                <a:latin typeface="Consolas"/>
              </a:rPr>
              <a:t>ggplotly(p, tooltip = c(</a:t>
            </a:r>
            <a:r>
              <a:rPr sz="950" b="0" i="0">
                <a:solidFill>
                  <a:srgbClr val="F5C56B"/>
                </a:solidFill>
                <a:latin typeface="Consolas"/>
              </a:rPr>
              <a:t>"x"</a:t>
            </a:r>
            <a:r>
              <a:rPr sz="950" b="0" i="0">
                <a:solidFill>
                  <a:srgbClr val="E8F1EC"/>
                </a:solidFill>
                <a:latin typeface="Consolas"/>
              </a:rPr>
              <a:t>, </a:t>
            </a:r>
            <a:r>
              <a:rPr sz="950" b="0" i="0">
                <a:solidFill>
                  <a:srgbClr val="F5C56B"/>
                </a:solidFill>
                <a:latin typeface="Consolas"/>
              </a:rPr>
              <a:t>"y"</a:t>
            </a:r>
            <a:r>
              <a:rPr sz="950" b="0" i="0">
                <a:solidFill>
                  <a:srgbClr val="E8F1EC"/>
                </a:solidFill>
                <a:latin typeface="Consolas"/>
              </a:rPr>
              <a:t>))</a:t>
            </a:r>
          </a:p>
        </p:txBody>
      </p:sp>
      <p:sp>
        <p:nvSpPr>
          <p:cNvPr id="11" name="TextBox 10"/>
          <p:cNvSpPr txBox="1"/>
          <p:nvPr/>
        </p:nvSpPr>
        <p:spPr>
          <a:xfrm>
            <a:off x="749808" y="2926080"/>
            <a:ext cx="3246120" cy="777240"/>
          </a:xfrm>
          <a:prstGeom prst="rect">
            <a:avLst/>
          </a:prstGeom>
          <a:noFill/>
        </p:spPr>
        <p:txBody>
          <a:bodyPr wrap="square" lIns="0" tIns="0" rIns="0" bIns="0" anchor="t">
            <a:noAutofit/>
          </a:bodyPr>
          <a:lstStyle/>
          <a:p>
            <a:pPr marL="201168" indent="-201168">
              <a:lnSpc>
                <a:spcPct val="108000"/>
              </a:lnSpc>
              <a:spcAft>
                <a:spcPts val="200"/>
              </a:spcAft>
              <a:buClr>
                <a:srgbClr val="0B6E4F"/>
              </a:buClr>
              <a:buFont typeface="Arial"/>
              <a:buChar char="•"/>
              <a:defRPr sz="1050"/>
            </a:pPr>
            <a:r>
              <a:rPr sz="1050" b="0" i="0">
                <a:solidFill>
                  <a:srgbClr val="1F2A2E"/>
                </a:solidFill>
                <a:latin typeface="Calibri"/>
              </a:rPr>
              <a:t>Integración perfecta con ggplot2</a:t>
            </a:r>
          </a:p>
          <a:p>
            <a:pPr marL="201168" indent="-201168">
              <a:lnSpc>
                <a:spcPct val="108000"/>
              </a:lnSpc>
              <a:spcAft>
                <a:spcPts val="200"/>
              </a:spcAft>
              <a:buClr>
                <a:srgbClr val="0B6E4F"/>
              </a:buClr>
              <a:buFont typeface="Arial"/>
              <a:buChar char="•"/>
              <a:defRPr sz="1050"/>
            </a:pPr>
            <a:r>
              <a:rPr sz="1050" b="0" i="0">
                <a:solidFill>
                  <a:srgbClr val="1F2A2E"/>
                </a:solidFill>
                <a:latin typeface="Calibri"/>
              </a:rPr>
              <a:t>Tooltips personalizables con aes(text = ...)</a:t>
            </a:r>
          </a:p>
        </p:txBody>
      </p:sp>
      <p:sp>
        <p:nvSpPr>
          <p:cNvPr id="12" name="Rounded Rectangle 11"/>
          <p:cNvSpPr/>
          <p:nvPr/>
        </p:nvSpPr>
        <p:spPr>
          <a:xfrm>
            <a:off x="4297679" y="1325880"/>
            <a:ext cx="3593592" cy="2377440"/>
          </a:xfrm>
          <a:prstGeom prst="roundRect">
            <a:avLst>
              <a:gd name="adj" fmla="val 6000"/>
            </a:avLst>
          </a:prstGeom>
          <a:solidFill>
            <a:srgbClr val="EE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498847" y="1463039"/>
            <a:ext cx="3200400" cy="347472"/>
          </a:xfrm>
          <a:prstGeom prst="rect">
            <a:avLst/>
          </a:prstGeom>
          <a:noFill/>
        </p:spPr>
        <p:txBody>
          <a:bodyPr wrap="square" lIns="0" tIns="0" rIns="0" bIns="0" anchor="t">
            <a:noAutofit/>
          </a:bodyPr>
          <a:lstStyle/>
          <a:p>
            <a:pPr algn="l">
              <a:lnSpc>
                <a:spcPct val="110000"/>
              </a:lnSpc>
              <a:spcAft>
                <a:spcPts val="0"/>
              </a:spcAft>
              <a:defRPr sz="1400"/>
            </a:pPr>
            <a:r>
              <a:rPr sz="1400" b="1" i="0">
                <a:solidFill>
                  <a:srgbClr val="0B6E4F"/>
                </a:solidFill>
                <a:latin typeface="Consolas"/>
              </a:rPr>
              <a:t>plot_ly()</a:t>
            </a:r>
          </a:p>
        </p:txBody>
      </p:sp>
      <p:sp>
        <p:nvSpPr>
          <p:cNvPr id="14" name="TextBox 13"/>
          <p:cNvSpPr txBox="1"/>
          <p:nvPr/>
        </p:nvSpPr>
        <p:spPr>
          <a:xfrm>
            <a:off x="4498847" y="1801368"/>
            <a:ext cx="3246120" cy="594360"/>
          </a:xfrm>
          <a:prstGeom prst="rect">
            <a:avLst/>
          </a:prstGeom>
          <a:noFill/>
        </p:spPr>
        <p:txBody>
          <a:bodyPr wrap="square" lIns="0" tIns="0" rIns="0" bIns="0" anchor="t">
            <a:noAutofit/>
          </a:bodyPr>
          <a:lstStyle/>
          <a:p>
            <a:pPr algn="l">
              <a:lnSpc>
                <a:spcPct val="110000"/>
              </a:lnSpc>
              <a:spcAft>
                <a:spcPts val="0"/>
              </a:spcAft>
              <a:defRPr sz="1050"/>
            </a:pPr>
            <a:r>
              <a:rPr sz="1050" b="0" i="0">
                <a:solidFill>
                  <a:srgbClr val="1F2A2E"/>
                </a:solidFill>
                <a:latin typeface="Calibri"/>
              </a:rPr>
              <a:t>Sintaxis nativa de Plotly para gráficos 3D, mapas, animaciones y controles.</a:t>
            </a:r>
          </a:p>
        </p:txBody>
      </p:sp>
      <p:sp>
        <p:nvSpPr>
          <p:cNvPr id="15" name="Rounded Rectangle 14"/>
          <p:cNvSpPr/>
          <p:nvPr/>
        </p:nvSpPr>
        <p:spPr>
          <a:xfrm>
            <a:off x="4498847" y="2423160"/>
            <a:ext cx="3200400" cy="411480"/>
          </a:xfrm>
          <a:prstGeom prst="roundRect">
            <a:avLst>
              <a:gd name="adj" fmla="val 4000"/>
            </a:avLst>
          </a:prstGeom>
          <a:solidFill>
            <a:srgbClr val="0F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663439" y="2551176"/>
            <a:ext cx="2871216" cy="155448"/>
          </a:xfrm>
          <a:prstGeom prst="rect">
            <a:avLst/>
          </a:prstGeom>
          <a:noFill/>
        </p:spPr>
        <p:txBody>
          <a:bodyPr wrap="square" lIns="0" tIns="0" rIns="0" bIns="0" anchor="t">
            <a:noAutofit/>
          </a:bodyPr>
          <a:lstStyle/>
          <a:p>
            <a:pPr>
              <a:lnSpc>
                <a:spcPct val="105000"/>
              </a:lnSpc>
              <a:spcAft>
                <a:spcPts val="100"/>
              </a:spcAft>
              <a:defRPr sz="950"/>
            </a:pPr>
            <a:r>
              <a:rPr sz="950" b="0" i="0">
                <a:solidFill>
                  <a:srgbClr val="E8F1EC"/>
                </a:solidFill>
                <a:latin typeface="Consolas"/>
              </a:rPr>
              <a:t>plot_ly(df, x = ~x, y = ~y)</a:t>
            </a:r>
          </a:p>
        </p:txBody>
      </p:sp>
      <p:sp>
        <p:nvSpPr>
          <p:cNvPr id="17" name="TextBox 16"/>
          <p:cNvSpPr txBox="1"/>
          <p:nvPr/>
        </p:nvSpPr>
        <p:spPr>
          <a:xfrm>
            <a:off x="4498847" y="2926080"/>
            <a:ext cx="3246120" cy="777240"/>
          </a:xfrm>
          <a:prstGeom prst="rect">
            <a:avLst/>
          </a:prstGeom>
          <a:noFill/>
        </p:spPr>
        <p:txBody>
          <a:bodyPr wrap="square" lIns="0" tIns="0" rIns="0" bIns="0" anchor="t">
            <a:noAutofit/>
          </a:bodyPr>
          <a:lstStyle/>
          <a:p>
            <a:pPr marL="201168" indent="-201168">
              <a:lnSpc>
                <a:spcPct val="108000"/>
              </a:lnSpc>
              <a:spcAft>
                <a:spcPts val="200"/>
              </a:spcAft>
              <a:buClr>
                <a:srgbClr val="0B6E4F"/>
              </a:buClr>
              <a:buFont typeface="Arial"/>
              <a:buChar char="•"/>
              <a:defRPr sz="1050"/>
            </a:pPr>
            <a:r>
              <a:rPr sz="1050" b="0" i="0">
                <a:solidFill>
                  <a:srgbClr val="1F2A2E"/>
                </a:solidFill>
                <a:latin typeface="Calibri"/>
              </a:rPr>
              <a:t>Más de 40 tipos de gráfico</a:t>
            </a:r>
          </a:p>
          <a:p>
            <a:pPr marL="201168" indent="-201168">
              <a:lnSpc>
                <a:spcPct val="108000"/>
              </a:lnSpc>
              <a:spcAft>
                <a:spcPts val="200"/>
              </a:spcAft>
              <a:buClr>
                <a:srgbClr val="0B6E4F"/>
              </a:buClr>
              <a:buFont typeface="Arial"/>
              <a:buChar char="•"/>
              <a:defRPr sz="1050"/>
            </a:pPr>
            <a:r>
              <a:rPr sz="1050" b="0" i="0">
                <a:solidFill>
                  <a:srgbClr val="1F2A2E"/>
                </a:solidFill>
                <a:latin typeface="Calibri"/>
              </a:rPr>
              <a:t>Range sliders, botones y frames</a:t>
            </a:r>
          </a:p>
        </p:txBody>
      </p:sp>
      <p:sp>
        <p:nvSpPr>
          <p:cNvPr id="18" name="Rounded Rectangle 17"/>
          <p:cNvSpPr/>
          <p:nvPr/>
        </p:nvSpPr>
        <p:spPr>
          <a:xfrm>
            <a:off x="8046719" y="1325880"/>
            <a:ext cx="3593592" cy="2377440"/>
          </a:xfrm>
          <a:prstGeom prst="roundRect">
            <a:avLst>
              <a:gd name="adj" fmla="val 6000"/>
            </a:avLst>
          </a:prstGeom>
          <a:solidFill>
            <a:srgbClr val="EE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247888" y="1463039"/>
            <a:ext cx="3200400" cy="347472"/>
          </a:xfrm>
          <a:prstGeom prst="rect">
            <a:avLst/>
          </a:prstGeom>
          <a:noFill/>
        </p:spPr>
        <p:txBody>
          <a:bodyPr wrap="square" lIns="0" tIns="0" rIns="0" bIns="0" anchor="t">
            <a:noAutofit/>
          </a:bodyPr>
          <a:lstStyle/>
          <a:p>
            <a:pPr algn="l">
              <a:lnSpc>
                <a:spcPct val="110000"/>
              </a:lnSpc>
              <a:spcAft>
                <a:spcPts val="0"/>
              </a:spcAft>
              <a:defRPr sz="1400"/>
            </a:pPr>
            <a:r>
              <a:rPr sz="1400" b="1" i="0">
                <a:solidFill>
                  <a:srgbClr val="0B6E4F"/>
                </a:solidFill>
                <a:latin typeface="Consolas"/>
              </a:rPr>
              <a:t>highcharter</a:t>
            </a:r>
          </a:p>
        </p:txBody>
      </p:sp>
      <p:sp>
        <p:nvSpPr>
          <p:cNvPr id="20" name="TextBox 19"/>
          <p:cNvSpPr txBox="1"/>
          <p:nvPr/>
        </p:nvSpPr>
        <p:spPr>
          <a:xfrm>
            <a:off x="8247888" y="1801368"/>
            <a:ext cx="3246120" cy="594360"/>
          </a:xfrm>
          <a:prstGeom prst="rect">
            <a:avLst/>
          </a:prstGeom>
          <a:noFill/>
        </p:spPr>
        <p:txBody>
          <a:bodyPr wrap="square" lIns="0" tIns="0" rIns="0" bIns="0" anchor="t">
            <a:noAutofit/>
          </a:bodyPr>
          <a:lstStyle/>
          <a:p>
            <a:pPr algn="l">
              <a:lnSpc>
                <a:spcPct val="110000"/>
              </a:lnSpc>
              <a:spcAft>
                <a:spcPts val="0"/>
              </a:spcAft>
              <a:defRPr sz="1050"/>
            </a:pPr>
            <a:r>
              <a:rPr sz="1050" b="0" i="0">
                <a:solidFill>
                  <a:srgbClr val="1F2A2E"/>
                </a:solidFill>
                <a:latin typeface="Calibri"/>
              </a:rPr>
              <a:t>Interfaz R a Highcharts: animaciones fluidas y acabado profesional.</a:t>
            </a:r>
          </a:p>
        </p:txBody>
      </p:sp>
      <p:sp>
        <p:nvSpPr>
          <p:cNvPr id="21" name="Rounded Rectangle 20"/>
          <p:cNvSpPr/>
          <p:nvPr/>
        </p:nvSpPr>
        <p:spPr>
          <a:xfrm>
            <a:off x="8247888" y="2423160"/>
            <a:ext cx="3200400" cy="411480"/>
          </a:xfrm>
          <a:prstGeom prst="roundRect">
            <a:avLst>
              <a:gd name="adj" fmla="val 4000"/>
            </a:avLst>
          </a:prstGeom>
          <a:solidFill>
            <a:srgbClr val="0F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412480" y="2551176"/>
            <a:ext cx="2871216" cy="155448"/>
          </a:xfrm>
          <a:prstGeom prst="rect">
            <a:avLst/>
          </a:prstGeom>
          <a:noFill/>
        </p:spPr>
        <p:txBody>
          <a:bodyPr wrap="square" lIns="0" tIns="0" rIns="0" bIns="0" anchor="t">
            <a:noAutofit/>
          </a:bodyPr>
          <a:lstStyle/>
          <a:p>
            <a:pPr>
              <a:lnSpc>
                <a:spcPct val="105000"/>
              </a:lnSpc>
              <a:spcAft>
                <a:spcPts val="100"/>
              </a:spcAft>
              <a:defRPr sz="950"/>
            </a:pPr>
            <a:r>
              <a:rPr sz="950" b="0" i="0">
                <a:solidFill>
                  <a:srgbClr val="E8F1EC"/>
                </a:solidFill>
                <a:latin typeface="Consolas"/>
              </a:rPr>
              <a:t>hchart(mpg, </a:t>
            </a:r>
            <a:r>
              <a:rPr sz="950" b="0" i="0">
                <a:solidFill>
                  <a:srgbClr val="F5C56B"/>
                </a:solidFill>
                <a:latin typeface="Consolas"/>
              </a:rPr>
              <a:t>"scatter"</a:t>
            </a:r>
            <a:r>
              <a:rPr sz="950" b="0" i="0">
                <a:solidFill>
                  <a:srgbClr val="E8F1EC"/>
                </a:solidFill>
                <a:latin typeface="Consolas"/>
              </a:rPr>
              <a:t>, hcaes(displ, hwy))</a:t>
            </a:r>
          </a:p>
        </p:txBody>
      </p:sp>
      <p:sp>
        <p:nvSpPr>
          <p:cNvPr id="23" name="TextBox 22"/>
          <p:cNvSpPr txBox="1"/>
          <p:nvPr/>
        </p:nvSpPr>
        <p:spPr>
          <a:xfrm>
            <a:off x="8247888" y="2926080"/>
            <a:ext cx="3246120" cy="777240"/>
          </a:xfrm>
          <a:prstGeom prst="rect">
            <a:avLst/>
          </a:prstGeom>
          <a:noFill/>
        </p:spPr>
        <p:txBody>
          <a:bodyPr wrap="square" lIns="0" tIns="0" rIns="0" bIns="0" anchor="t">
            <a:noAutofit/>
          </a:bodyPr>
          <a:lstStyle/>
          <a:p>
            <a:pPr marL="201168" indent="-201168">
              <a:lnSpc>
                <a:spcPct val="108000"/>
              </a:lnSpc>
              <a:spcAft>
                <a:spcPts val="200"/>
              </a:spcAft>
              <a:buClr>
                <a:srgbClr val="0B6E4F"/>
              </a:buClr>
              <a:buFont typeface="Arial"/>
              <a:buChar char="•"/>
              <a:defRPr sz="1050"/>
            </a:pPr>
            <a:r>
              <a:rPr sz="1050" b="0" i="0">
                <a:solidFill>
                  <a:srgbClr val="1F2A2E"/>
                </a:solidFill>
                <a:latin typeface="Calibri"/>
              </a:rPr>
              <a:t>Gráficos financieros y mapas</a:t>
            </a:r>
          </a:p>
          <a:p>
            <a:pPr marL="201168" indent="-201168">
              <a:lnSpc>
                <a:spcPct val="108000"/>
              </a:lnSpc>
              <a:spcAft>
                <a:spcPts val="200"/>
              </a:spcAft>
              <a:buClr>
                <a:srgbClr val="0B6E4F"/>
              </a:buClr>
              <a:buFont typeface="Arial"/>
              <a:buChar char="•"/>
              <a:defRPr sz="1050"/>
            </a:pPr>
            <a:r>
              <a:rPr sz="1050" b="0" i="0">
                <a:solidFill>
                  <a:srgbClr val="1F2A2E"/>
                </a:solidFill>
                <a:latin typeface="Calibri"/>
              </a:rPr>
              <a:t>Exporta a PNG, SVG y PDF</a:t>
            </a:r>
          </a:p>
        </p:txBody>
      </p:sp>
      <p:sp>
        <p:nvSpPr>
          <p:cNvPr id="24" name="Rounded Rectangle 23"/>
          <p:cNvSpPr/>
          <p:nvPr/>
        </p:nvSpPr>
        <p:spPr>
          <a:xfrm>
            <a:off x="548640" y="3840480"/>
            <a:ext cx="3593592" cy="2377440"/>
          </a:xfrm>
          <a:prstGeom prst="roundRect">
            <a:avLst>
              <a:gd name="adj" fmla="val 6000"/>
            </a:avLst>
          </a:prstGeom>
          <a:solidFill>
            <a:srgbClr val="EE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49808" y="3977640"/>
            <a:ext cx="3200400" cy="347472"/>
          </a:xfrm>
          <a:prstGeom prst="rect">
            <a:avLst/>
          </a:prstGeom>
          <a:noFill/>
        </p:spPr>
        <p:txBody>
          <a:bodyPr wrap="square" lIns="0" tIns="0" rIns="0" bIns="0" anchor="t">
            <a:noAutofit/>
          </a:bodyPr>
          <a:lstStyle/>
          <a:p>
            <a:pPr algn="l">
              <a:lnSpc>
                <a:spcPct val="110000"/>
              </a:lnSpc>
              <a:spcAft>
                <a:spcPts val="0"/>
              </a:spcAft>
              <a:defRPr sz="1400"/>
            </a:pPr>
            <a:r>
              <a:rPr sz="1400" b="1" i="0">
                <a:solidFill>
                  <a:srgbClr val="0B6E4F"/>
                </a:solidFill>
                <a:latin typeface="Consolas"/>
              </a:rPr>
              <a:t>leaflet</a:t>
            </a:r>
          </a:p>
        </p:txBody>
      </p:sp>
      <p:sp>
        <p:nvSpPr>
          <p:cNvPr id="26" name="TextBox 25"/>
          <p:cNvSpPr txBox="1"/>
          <p:nvPr/>
        </p:nvSpPr>
        <p:spPr>
          <a:xfrm>
            <a:off x="749808" y="4315968"/>
            <a:ext cx="3246120" cy="594360"/>
          </a:xfrm>
          <a:prstGeom prst="rect">
            <a:avLst/>
          </a:prstGeom>
          <a:noFill/>
        </p:spPr>
        <p:txBody>
          <a:bodyPr wrap="square" lIns="0" tIns="0" rIns="0" bIns="0" anchor="t">
            <a:noAutofit/>
          </a:bodyPr>
          <a:lstStyle/>
          <a:p>
            <a:pPr algn="l">
              <a:lnSpc>
                <a:spcPct val="110000"/>
              </a:lnSpc>
              <a:spcAft>
                <a:spcPts val="0"/>
              </a:spcAft>
              <a:defRPr sz="1050"/>
            </a:pPr>
            <a:r>
              <a:rPr sz="1050" b="0" i="0">
                <a:solidFill>
                  <a:srgbClr val="1F2A2E"/>
                </a:solidFill>
                <a:latin typeface="Calibri"/>
              </a:rPr>
              <a:t>Mapas interactivos con teselas, marcadores, polígonos y clusters.</a:t>
            </a:r>
          </a:p>
        </p:txBody>
      </p:sp>
      <p:sp>
        <p:nvSpPr>
          <p:cNvPr id="27" name="Rounded Rectangle 26"/>
          <p:cNvSpPr/>
          <p:nvPr/>
        </p:nvSpPr>
        <p:spPr>
          <a:xfrm>
            <a:off x="749808" y="4937760"/>
            <a:ext cx="3200400" cy="411480"/>
          </a:xfrm>
          <a:prstGeom prst="roundRect">
            <a:avLst>
              <a:gd name="adj" fmla="val 4000"/>
            </a:avLst>
          </a:prstGeom>
          <a:solidFill>
            <a:srgbClr val="0F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14400" y="5065776"/>
            <a:ext cx="2871216" cy="155448"/>
          </a:xfrm>
          <a:prstGeom prst="rect">
            <a:avLst/>
          </a:prstGeom>
          <a:noFill/>
        </p:spPr>
        <p:txBody>
          <a:bodyPr wrap="square" lIns="0" tIns="0" rIns="0" bIns="0" anchor="t">
            <a:noAutofit/>
          </a:bodyPr>
          <a:lstStyle/>
          <a:p>
            <a:pPr>
              <a:lnSpc>
                <a:spcPct val="105000"/>
              </a:lnSpc>
              <a:spcAft>
                <a:spcPts val="100"/>
              </a:spcAft>
              <a:defRPr sz="950"/>
            </a:pPr>
            <a:r>
              <a:rPr sz="950" b="0" i="0">
                <a:solidFill>
                  <a:srgbClr val="E8F1EC"/>
                </a:solidFill>
                <a:latin typeface="Consolas"/>
              </a:rPr>
              <a:t>leaflet(df) |&gt; addTiles() |&gt; addMarkers()</a:t>
            </a:r>
          </a:p>
        </p:txBody>
      </p:sp>
      <p:sp>
        <p:nvSpPr>
          <p:cNvPr id="29" name="TextBox 28"/>
          <p:cNvSpPr txBox="1"/>
          <p:nvPr/>
        </p:nvSpPr>
        <p:spPr>
          <a:xfrm>
            <a:off x="749808" y="5440680"/>
            <a:ext cx="3246120" cy="777240"/>
          </a:xfrm>
          <a:prstGeom prst="rect">
            <a:avLst/>
          </a:prstGeom>
          <a:noFill/>
        </p:spPr>
        <p:txBody>
          <a:bodyPr wrap="square" lIns="0" tIns="0" rIns="0" bIns="0" anchor="t">
            <a:noAutofit/>
          </a:bodyPr>
          <a:lstStyle/>
          <a:p>
            <a:pPr marL="201168" indent="-201168">
              <a:lnSpc>
                <a:spcPct val="108000"/>
              </a:lnSpc>
              <a:spcAft>
                <a:spcPts val="200"/>
              </a:spcAft>
              <a:buClr>
                <a:srgbClr val="0B6E4F"/>
              </a:buClr>
              <a:buFont typeface="Arial"/>
              <a:buChar char="•"/>
              <a:defRPr sz="1050"/>
            </a:pPr>
            <a:r>
              <a:rPr sz="1050" b="0" i="0">
                <a:solidFill>
                  <a:srgbClr val="1F2A2E"/>
                </a:solidFill>
                <a:latin typeface="Calibri"/>
              </a:rPr>
              <a:t>Mapas de calor y capas superpuestas</a:t>
            </a:r>
          </a:p>
          <a:p>
            <a:pPr marL="201168" indent="-201168">
              <a:lnSpc>
                <a:spcPct val="108000"/>
              </a:lnSpc>
              <a:spcAft>
                <a:spcPts val="200"/>
              </a:spcAft>
              <a:buClr>
                <a:srgbClr val="0B6E4F"/>
              </a:buClr>
              <a:buFont typeface="Arial"/>
              <a:buChar char="•"/>
              <a:defRPr sz="1050"/>
            </a:pPr>
            <a:r>
              <a:rPr sz="1050" b="0" i="0">
                <a:solidFill>
                  <a:srgbClr val="1F2A2E"/>
                </a:solidFill>
                <a:latin typeface="Calibri"/>
              </a:rPr>
              <a:t>Compatible con sf y con Shiny</a:t>
            </a:r>
          </a:p>
        </p:txBody>
      </p:sp>
      <p:sp>
        <p:nvSpPr>
          <p:cNvPr id="30" name="Rounded Rectangle 29"/>
          <p:cNvSpPr/>
          <p:nvPr/>
        </p:nvSpPr>
        <p:spPr>
          <a:xfrm>
            <a:off x="4297679" y="3840480"/>
            <a:ext cx="3593592" cy="2377440"/>
          </a:xfrm>
          <a:prstGeom prst="roundRect">
            <a:avLst>
              <a:gd name="adj" fmla="val 6000"/>
            </a:avLst>
          </a:prstGeom>
          <a:solidFill>
            <a:srgbClr val="EE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498847" y="3977640"/>
            <a:ext cx="3200400" cy="347472"/>
          </a:xfrm>
          <a:prstGeom prst="rect">
            <a:avLst/>
          </a:prstGeom>
          <a:noFill/>
        </p:spPr>
        <p:txBody>
          <a:bodyPr wrap="square" lIns="0" tIns="0" rIns="0" bIns="0" anchor="t">
            <a:noAutofit/>
          </a:bodyPr>
          <a:lstStyle/>
          <a:p>
            <a:pPr algn="l">
              <a:lnSpc>
                <a:spcPct val="110000"/>
              </a:lnSpc>
              <a:spcAft>
                <a:spcPts val="0"/>
              </a:spcAft>
              <a:defRPr sz="1400"/>
            </a:pPr>
            <a:r>
              <a:rPr sz="1400" b="1" i="0">
                <a:solidFill>
                  <a:srgbClr val="0B6E4F"/>
                </a:solidFill>
                <a:latin typeface="Consolas"/>
              </a:rPr>
              <a:t>DT</a:t>
            </a:r>
          </a:p>
        </p:txBody>
      </p:sp>
      <p:sp>
        <p:nvSpPr>
          <p:cNvPr id="32" name="TextBox 31"/>
          <p:cNvSpPr txBox="1"/>
          <p:nvPr/>
        </p:nvSpPr>
        <p:spPr>
          <a:xfrm>
            <a:off x="4498847" y="4315968"/>
            <a:ext cx="3246120" cy="594360"/>
          </a:xfrm>
          <a:prstGeom prst="rect">
            <a:avLst/>
          </a:prstGeom>
          <a:noFill/>
        </p:spPr>
        <p:txBody>
          <a:bodyPr wrap="square" lIns="0" tIns="0" rIns="0" bIns="0" anchor="t">
            <a:noAutofit/>
          </a:bodyPr>
          <a:lstStyle/>
          <a:p>
            <a:pPr algn="l">
              <a:lnSpc>
                <a:spcPct val="110000"/>
              </a:lnSpc>
              <a:spcAft>
                <a:spcPts val="0"/>
              </a:spcAft>
              <a:defRPr sz="1050"/>
            </a:pPr>
            <a:r>
              <a:rPr sz="1050" b="0" i="0">
                <a:solidFill>
                  <a:srgbClr val="1F2A2E"/>
                </a:solidFill>
                <a:latin typeface="Calibri"/>
              </a:rPr>
              <a:t>Tablas HTML con búsqueda, filtros, ordenamiento y paginación.</a:t>
            </a:r>
          </a:p>
        </p:txBody>
      </p:sp>
      <p:sp>
        <p:nvSpPr>
          <p:cNvPr id="33" name="Rounded Rectangle 32"/>
          <p:cNvSpPr/>
          <p:nvPr/>
        </p:nvSpPr>
        <p:spPr>
          <a:xfrm>
            <a:off x="4498847" y="4937760"/>
            <a:ext cx="3200400" cy="411480"/>
          </a:xfrm>
          <a:prstGeom prst="roundRect">
            <a:avLst>
              <a:gd name="adj" fmla="val 4000"/>
            </a:avLst>
          </a:prstGeom>
          <a:solidFill>
            <a:srgbClr val="0F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663439" y="5065776"/>
            <a:ext cx="2871216" cy="155448"/>
          </a:xfrm>
          <a:prstGeom prst="rect">
            <a:avLst/>
          </a:prstGeom>
          <a:noFill/>
        </p:spPr>
        <p:txBody>
          <a:bodyPr wrap="square" lIns="0" tIns="0" rIns="0" bIns="0" anchor="t">
            <a:noAutofit/>
          </a:bodyPr>
          <a:lstStyle/>
          <a:p>
            <a:pPr>
              <a:lnSpc>
                <a:spcPct val="105000"/>
              </a:lnSpc>
              <a:spcAft>
                <a:spcPts val="100"/>
              </a:spcAft>
              <a:defRPr sz="950"/>
            </a:pPr>
            <a:r>
              <a:rPr sz="950" b="0" i="0">
                <a:solidFill>
                  <a:srgbClr val="E8F1EC"/>
                </a:solidFill>
                <a:latin typeface="Consolas"/>
              </a:rPr>
              <a:t>DT::datatable(df, filter = </a:t>
            </a:r>
            <a:r>
              <a:rPr sz="950" b="0" i="0">
                <a:solidFill>
                  <a:srgbClr val="F5C56B"/>
                </a:solidFill>
                <a:latin typeface="Consolas"/>
              </a:rPr>
              <a:t>"top"</a:t>
            </a:r>
            <a:r>
              <a:rPr sz="950" b="0" i="0">
                <a:solidFill>
                  <a:srgbClr val="E8F1EC"/>
                </a:solidFill>
                <a:latin typeface="Consolas"/>
              </a:rPr>
              <a:t>)</a:t>
            </a:r>
          </a:p>
        </p:txBody>
      </p:sp>
      <p:sp>
        <p:nvSpPr>
          <p:cNvPr id="35" name="TextBox 34"/>
          <p:cNvSpPr txBox="1"/>
          <p:nvPr/>
        </p:nvSpPr>
        <p:spPr>
          <a:xfrm>
            <a:off x="4498847" y="5440680"/>
            <a:ext cx="3246120" cy="777240"/>
          </a:xfrm>
          <a:prstGeom prst="rect">
            <a:avLst/>
          </a:prstGeom>
          <a:noFill/>
        </p:spPr>
        <p:txBody>
          <a:bodyPr wrap="square" lIns="0" tIns="0" rIns="0" bIns="0" anchor="t">
            <a:noAutofit/>
          </a:bodyPr>
          <a:lstStyle/>
          <a:p>
            <a:pPr marL="201168" indent="-201168">
              <a:lnSpc>
                <a:spcPct val="108000"/>
              </a:lnSpc>
              <a:spcAft>
                <a:spcPts val="200"/>
              </a:spcAft>
              <a:buClr>
                <a:srgbClr val="0B6E4F"/>
              </a:buClr>
              <a:buFont typeface="Arial"/>
              <a:buChar char="•"/>
              <a:defRPr sz="1050"/>
            </a:pPr>
            <a:r>
              <a:rPr sz="1050" b="0" i="0">
                <a:solidFill>
                  <a:srgbClr val="1F2A2E"/>
                </a:solidFill>
                <a:latin typeface="Calibri"/>
              </a:rPr>
              <a:t>Exporta a CSV y Excel</a:t>
            </a:r>
          </a:p>
          <a:p>
            <a:pPr marL="201168" indent="-201168">
              <a:lnSpc>
                <a:spcPct val="108000"/>
              </a:lnSpc>
              <a:spcAft>
                <a:spcPts val="200"/>
              </a:spcAft>
              <a:buClr>
                <a:srgbClr val="0B6E4F"/>
              </a:buClr>
              <a:buFont typeface="Arial"/>
              <a:buChar char="•"/>
              <a:defRPr sz="1050"/>
            </a:pPr>
            <a:r>
              <a:rPr sz="1050" b="0" i="0">
                <a:solidFill>
                  <a:srgbClr val="1F2A2E"/>
                </a:solidFill>
                <a:latin typeface="Calibri"/>
              </a:rPr>
              <a:t>El complemento ideal de un gráfico</a:t>
            </a:r>
          </a:p>
        </p:txBody>
      </p:sp>
      <p:sp>
        <p:nvSpPr>
          <p:cNvPr id="36" name="Rounded Rectangle 35"/>
          <p:cNvSpPr/>
          <p:nvPr/>
        </p:nvSpPr>
        <p:spPr>
          <a:xfrm>
            <a:off x="8046719" y="3840480"/>
            <a:ext cx="3593592" cy="2377440"/>
          </a:xfrm>
          <a:prstGeom prst="roundRect">
            <a:avLst>
              <a:gd name="adj" fmla="val 6000"/>
            </a:avLst>
          </a:prstGeom>
          <a:solidFill>
            <a:srgbClr val="EE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8247888" y="3977640"/>
            <a:ext cx="3200400" cy="347472"/>
          </a:xfrm>
          <a:prstGeom prst="rect">
            <a:avLst/>
          </a:prstGeom>
          <a:noFill/>
        </p:spPr>
        <p:txBody>
          <a:bodyPr wrap="square" lIns="0" tIns="0" rIns="0" bIns="0" anchor="t">
            <a:noAutofit/>
          </a:bodyPr>
          <a:lstStyle/>
          <a:p>
            <a:pPr algn="l">
              <a:lnSpc>
                <a:spcPct val="110000"/>
              </a:lnSpc>
              <a:spcAft>
                <a:spcPts val="0"/>
              </a:spcAft>
              <a:defRPr sz="1400"/>
            </a:pPr>
            <a:r>
              <a:rPr sz="1400" b="1" i="0">
                <a:solidFill>
                  <a:srgbClr val="0B6E4F"/>
                </a:solidFill>
                <a:latin typeface="Consolas"/>
              </a:rPr>
              <a:t>gganimate</a:t>
            </a:r>
          </a:p>
        </p:txBody>
      </p:sp>
      <p:sp>
        <p:nvSpPr>
          <p:cNvPr id="38" name="TextBox 37"/>
          <p:cNvSpPr txBox="1"/>
          <p:nvPr/>
        </p:nvSpPr>
        <p:spPr>
          <a:xfrm>
            <a:off x="8247888" y="4315968"/>
            <a:ext cx="3246120" cy="594360"/>
          </a:xfrm>
          <a:prstGeom prst="rect">
            <a:avLst/>
          </a:prstGeom>
          <a:noFill/>
        </p:spPr>
        <p:txBody>
          <a:bodyPr wrap="square" lIns="0" tIns="0" rIns="0" bIns="0" anchor="t">
            <a:noAutofit/>
          </a:bodyPr>
          <a:lstStyle/>
          <a:p>
            <a:pPr algn="l">
              <a:lnSpc>
                <a:spcPct val="110000"/>
              </a:lnSpc>
              <a:spcAft>
                <a:spcPts val="0"/>
              </a:spcAft>
              <a:defRPr sz="1050"/>
            </a:pPr>
            <a:r>
              <a:rPr sz="1050" b="0" i="0">
                <a:solidFill>
                  <a:srgbClr val="1F2A2E"/>
                </a:solidFill>
                <a:latin typeface="Calibri"/>
              </a:rPr>
              <a:t>Animaciones a partir de ggplot2: transiciones por tiempo o por estado.</a:t>
            </a:r>
          </a:p>
        </p:txBody>
      </p:sp>
      <p:sp>
        <p:nvSpPr>
          <p:cNvPr id="39" name="Rounded Rectangle 38"/>
          <p:cNvSpPr/>
          <p:nvPr/>
        </p:nvSpPr>
        <p:spPr>
          <a:xfrm>
            <a:off x="8247888" y="4937760"/>
            <a:ext cx="3200400" cy="411480"/>
          </a:xfrm>
          <a:prstGeom prst="roundRect">
            <a:avLst>
              <a:gd name="adj" fmla="val 4000"/>
            </a:avLst>
          </a:prstGeom>
          <a:solidFill>
            <a:srgbClr val="0F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8412480" y="5065776"/>
            <a:ext cx="2871216" cy="155448"/>
          </a:xfrm>
          <a:prstGeom prst="rect">
            <a:avLst/>
          </a:prstGeom>
          <a:noFill/>
        </p:spPr>
        <p:txBody>
          <a:bodyPr wrap="square" lIns="0" tIns="0" rIns="0" bIns="0" anchor="t">
            <a:noAutofit/>
          </a:bodyPr>
          <a:lstStyle/>
          <a:p>
            <a:pPr>
              <a:lnSpc>
                <a:spcPct val="105000"/>
              </a:lnSpc>
              <a:spcAft>
                <a:spcPts val="100"/>
              </a:spcAft>
              <a:defRPr sz="950"/>
            </a:pPr>
            <a:r>
              <a:rPr sz="950" b="0" i="0">
                <a:solidFill>
                  <a:srgbClr val="E8F1EC"/>
                </a:solidFill>
                <a:latin typeface="Consolas"/>
              </a:rPr>
              <a:t>p + transition_reveal(date)</a:t>
            </a:r>
          </a:p>
        </p:txBody>
      </p:sp>
      <p:sp>
        <p:nvSpPr>
          <p:cNvPr id="41" name="TextBox 40"/>
          <p:cNvSpPr txBox="1"/>
          <p:nvPr/>
        </p:nvSpPr>
        <p:spPr>
          <a:xfrm>
            <a:off x="8247888" y="5440680"/>
            <a:ext cx="3246120" cy="777240"/>
          </a:xfrm>
          <a:prstGeom prst="rect">
            <a:avLst/>
          </a:prstGeom>
          <a:noFill/>
        </p:spPr>
        <p:txBody>
          <a:bodyPr wrap="square" lIns="0" tIns="0" rIns="0" bIns="0" anchor="t">
            <a:noAutofit/>
          </a:bodyPr>
          <a:lstStyle/>
          <a:p>
            <a:pPr marL="201168" indent="-201168">
              <a:lnSpc>
                <a:spcPct val="108000"/>
              </a:lnSpc>
              <a:spcAft>
                <a:spcPts val="200"/>
              </a:spcAft>
              <a:buClr>
                <a:srgbClr val="0B6E4F"/>
              </a:buClr>
              <a:buFont typeface="Arial"/>
              <a:buChar char="•"/>
              <a:defRPr sz="1050"/>
            </a:pPr>
            <a:r>
              <a:rPr sz="1050" b="0" i="0">
                <a:solidFill>
                  <a:srgbClr val="1F2A2E"/>
                </a:solidFill>
                <a:latin typeface="Calibri"/>
              </a:rPr>
              <a:t>GIF o MP4 con gifski o av</a:t>
            </a:r>
          </a:p>
          <a:p>
            <a:pPr marL="201168" indent="-201168">
              <a:lnSpc>
                <a:spcPct val="108000"/>
              </a:lnSpc>
              <a:spcAft>
                <a:spcPts val="200"/>
              </a:spcAft>
              <a:buClr>
                <a:srgbClr val="0B6E4F"/>
              </a:buClr>
              <a:buFont typeface="Arial"/>
              <a:buChar char="•"/>
              <a:defRPr sz="1050"/>
            </a:pPr>
            <a:r>
              <a:rPr sz="1050" b="0" i="0">
                <a:solidFill>
                  <a:srgbClr val="1F2A2E"/>
                </a:solidFill>
                <a:latin typeface="Calibri"/>
              </a:rPr>
              <a:t>Perfecto para contar una evolución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6446520"/>
            <a:ext cx="7315200" cy="274320"/>
          </a:xfrm>
          <a:prstGeom prst="rect">
            <a:avLst/>
          </a:prstGeom>
          <a:noFill/>
        </p:spPr>
        <p:txBody>
          <a:bodyPr wrap="square" lIns="0" tIns="0" rIns="0" bIns="0" anchor="t">
            <a:noAutofit/>
          </a:bodyPr>
          <a:lstStyle/>
          <a:p>
            <a:pPr algn="l">
              <a:lnSpc>
                <a:spcPct val="110000"/>
              </a:lnSpc>
              <a:spcAft>
                <a:spcPts val="0"/>
              </a:spcAft>
              <a:defRPr sz="900"/>
            </a:pPr>
            <a:r>
              <a:rPr sz="900" b="0" i="0">
                <a:solidFill>
                  <a:srgbClr val="9AA7AB"/>
                </a:solidFill>
                <a:latin typeface="Calibri"/>
              </a:rPr>
              <a:t>Visualización de Datos · Clase 18 · R y visualización de datos</a:t>
            </a:r>
          </a:p>
        </p:txBody>
      </p:sp>
      <p:sp>
        <p:nvSpPr>
          <p:cNvPr id="4" name="TextBox 3"/>
          <p:cNvSpPr txBox="1"/>
          <p:nvPr/>
        </p:nvSpPr>
        <p:spPr>
          <a:xfrm>
            <a:off x="10972800" y="6446520"/>
            <a:ext cx="667512" cy="274320"/>
          </a:xfrm>
          <a:prstGeom prst="rect">
            <a:avLst/>
          </a:prstGeom>
          <a:noFill/>
        </p:spPr>
        <p:txBody>
          <a:bodyPr wrap="square" lIns="0" tIns="0" rIns="0" bIns="0" anchor="t">
            <a:noAutofit/>
          </a:bodyPr>
          <a:lstStyle/>
          <a:p>
            <a:pPr algn="r">
              <a:lnSpc>
                <a:spcPct val="110000"/>
              </a:lnSpc>
              <a:spcAft>
                <a:spcPts val="0"/>
              </a:spcAft>
              <a:defRPr sz="900"/>
            </a:pPr>
            <a:r>
              <a:rPr sz="900" b="0" i="0">
                <a:solidFill>
                  <a:srgbClr val="9AA7AB"/>
                </a:solidFill>
                <a:latin typeface="Calibri"/>
              </a:rPr>
              <a:t>21</a:t>
            </a:r>
          </a:p>
        </p:txBody>
      </p:sp>
      <p:sp>
        <p:nvSpPr>
          <p:cNvPr id="5" name="TextBox 4"/>
          <p:cNvSpPr txBox="1"/>
          <p:nvPr/>
        </p:nvSpPr>
        <p:spPr>
          <a:xfrm>
            <a:off x="548640" y="457200"/>
            <a:ext cx="11091672" cy="731520"/>
          </a:xfrm>
          <a:prstGeom prst="rect">
            <a:avLst/>
          </a:prstGeom>
          <a:noFill/>
        </p:spPr>
        <p:txBody>
          <a:bodyPr wrap="square" lIns="0" tIns="0" rIns="0" bIns="0" anchor="t">
            <a:noAutofit/>
          </a:bodyPr>
          <a:lstStyle/>
          <a:p>
            <a:pPr algn="l">
              <a:lnSpc>
                <a:spcPct val="110000"/>
              </a:lnSpc>
              <a:spcAft>
                <a:spcPts val="0"/>
              </a:spcAft>
              <a:defRPr sz="3000"/>
            </a:pPr>
            <a:r>
              <a:rPr sz="3000" b="1" i="0">
                <a:solidFill>
                  <a:srgbClr val="0B6E4F"/>
                </a:solidFill>
                <a:latin typeface="Cambria"/>
              </a:rPr>
              <a:t>De ggplot2 a interactivo en una línea</a:t>
            </a:r>
          </a:p>
        </p:txBody>
      </p:sp>
      <p:sp>
        <p:nvSpPr>
          <p:cNvPr id="6" name="Rounded Rectangle 5"/>
          <p:cNvSpPr/>
          <p:nvPr/>
        </p:nvSpPr>
        <p:spPr>
          <a:xfrm>
            <a:off x="548640" y="1325880"/>
            <a:ext cx="4846320" cy="1965960"/>
          </a:xfrm>
          <a:prstGeom prst="roundRect">
            <a:avLst>
              <a:gd name="adj" fmla="val 4000"/>
            </a:avLst>
          </a:prstGeom>
          <a:solidFill>
            <a:srgbClr val="0F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13232" y="1453895"/>
            <a:ext cx="4517136" cy="1709928"/>
          </a:xfrm>
          <a:prstGeom prst="rect">
            <a:avLst/>
          </a:prstGeom>
          <a:noFill/>
        </p:spPr>
        <p:txBody>
          <a:bodyPr wrap="square" lIns="0" tIns="0" rIns="0" bIns="0" anchor="t">
            <a:noAutofit/>
          </a:bodyPr>
          <a:lstStyle/>
          <a:p>
            <a:pPr>
              <a:lnSpc>
                <a:spcPct val="105000"/>
              </a:lnSpc>
              <a:spcAft>
                <a:spcPts val="100"/>
              </a:spcAft>
              <a:defRPr sz="1050"/>
            </a:pPr>
            <a:r>
              <a:rPr sz="1050" b="0" i="0">
                <a:solidFill>
                  <a:srgbClr val="E8F1EC"/>
                </a:solidFill>
                <a:latin typeface="Consolas"/>
              </a:rPr>
              <a:t>p &lt;- ggplot(mpg, aes(displ, hwy, colour = drv,</a:t>
            </a:r>
          </a:p>
          <a:p>
            <a:pPr>
              <a:lnSpc>
                <a:spcPct val="105000"/>
              </a:lnSpc>
              <a:spcAft>
                <a:spcPts val="100"/>
              </a:spcAft>
              <a:defRPr sz="1050"/>
            </a:pPr>
            <a:r>
              <a:rPr sz="1050" b="0" i="0">
                <a:solidFill>
                  <a:srgbClr val="E8F1EC"/>
                </a:solidFill>
                <a:latin typeface="Consolas"/>
              </a:rPr>
              <a:t>       text = paste(manufacturer, model))) +</a:t>
            </a:r>
          </a:p>
          <a:p>
            <a:pPr>
              <a:lnSpc>
                <a:spcPct val="105000"/>
              </a:lnSpc>
              <a:spcAft>
                <a:spcPts val="100"/>
              </a:spcAft>
              <a:defRPr sz="1050"/>
            </a:pPr>
            <a:r>
              <a:rPr sz="1050" b="0" i="0">
                <a:solidFill>
                  <a:srgbClr val="E8F1EC"/>
                </a:solidFill>
                <a:latin typeface="Consolas"/>
              </a:rPr>
              <a:t>  geom_point(size = 2.5)</a:t>
            </a:r>
          </a:p>
          <a:p>
            <a:pPr>
              <a:lnSpc>
                <a:spcPct val="105000"/>
              </a:lnSpc>
              <a:spcAft>
                <a:spcPts val="100"/>
              </a:spcAft>
              <a:defRPr sz="1050"/>
            </a:pPr>
            <a:endParaRPr sz="1050" b="0" i="0">
              <a:solidFill>
                <a:srgbClr val="E8F1EC"/>
              </a:solidFill>
              <a:latin typeface="Consolas"/>
            </a:endParaRPr>
          </a:p>
          <a:p>
            <a:pPr>
              <a:lnSpc>
                <a:spcPct val="105000"/>
              </a:lnSpc>
              <a:spcAft>
                <a:spcPts val="100"/>
              </a:spcAft>
              <a:defRPr sz="1050"/>
            </a:pPr>
            <a:r>
              <a:rPr sz="1050" b="0" i="0">
                <a:solidFill>
                  <a:srgbClr val="E8F1EC"/>
                </a:solidFill>
                <a:latin typeface="Consolas"/>
              </a:rPr>
              <a:t>ggplotly(p, tooltip = c(</a:t>
            </a:r>
            <a:r>
              <a:rPr sz="1050" b="0" i="0">
                <a:solidFill>
                  <a:srgbClr val="F5C56B"/>
                </a:solidFill>
                <a:latin typeface="Consolas"/>
              </a:rPr>
              <a:t>"text"</a:t>
            </a:r>
            <a:r>
              <a:rPr sz="1050" b="0" i="0">
                <a:solidFill>
                  <a:srgbClr val="E8F1EC"/>
                </a:solidFill>
                <a:latin typeface="Consolas"/>
              </a:rPr>
              <a:t>, </a:t>
            </a:r>
            <a:r>
              <a:rPr sz="1050" b="0" i="0">
                <a:solidFill>
                  <a:srgbClr val="F5C56B"/>
                </a:solidFill>
                <a:latin typeface="Consolas"/>
              </a:rPr>
              <a:t>"x"</a:t>
            </a:r>
            <a:r>
              <a:rPr sz="1050" b="0" i="0">
                <a:solidFill>
                  <a:srgbClr val="E8F1EC"/>
                </a:solidFill>
                <a:latin typeface="Consolas"/>
              </a:rPr>
              <a:t>, </a:t>
            </a:r>
            <a:r>
              <a:rPr sz="1050" b="0" i="0">
                <a:solidFill>
                  <a:srgbClr val="F5C56B"/>
                </a:solidFill>
                <a:latin typeface="Consolas"/>
              </a:rPr>
              <a:t>"y"</a:t>
            </a:r>
            <a:r>
              <a:rPr sz="1050" b="0" i="0">
                <a:solidFill>
                  <a:srgbClr val="E8F1EC"/>
                </a:solidFill>
                <a:latin typeface="Consolas"/>
              </a:rPr>
              <a:t>))</a:t>
            </a:r>
          </a:p>
        </p:txBody>
      </p:sp>
      <p:sp>
        <p:nvSpPr>
          <p:cNvPr id="8" name="TextBox 7"/>
          <p:cNvSpPr txBox="1"/>
          <p:nvPr/>
        </p:nvSpPr>
        <p:spPr>
          <a:xfrm>
            <a:off x="548640" y="3474720"/>
            <a:ext cx="4846320" cy="2834640"/>
          </a:xfrm>
          <a:prstGeom prst="rect">
            <a:avLst/>
          </a:prstGeom>
          <a:noFill/>
        </p:spPr>
        <p:txBody>
          <a:bodyPr wrap="square" lIns="0" tIns="0" rIns="0" bIns="0" anchor="t">
            <a:noAutofit/>
          </a:bodyPr>
          <a:lstStyle/>
          <a:p>
            <a:pPr marL="201168" indent="-201168">
              <a:lnSpc>
                <a:spcPct val="108000"/>
              </a:lnSpc>
              <a:spcAft>
                <a:spcPts val="600"/>
              </a:spcAft>
              <a:buClr>
                <a:srgbClr val="0B6E4F"/>
              </a:buClr>
              <a:buFont typeface="Arial"/>
              <a:buChar char="•"/>
              <a:defRPr sz="1200"/>
            </a:pPr>
            <a:r>
              <a:rPr sz="1200" b="1" i="0">
                <a:solidFill>
                  <a:srgbClr val="1F2A2E"/>
                </a:solidFill>
                <a:latin typeface="Calibri"/>
              </a:rPr>
              <a:t>Tooltip: </a:t>
            </a:r>
            <a:r>
              <a:rPr sz="1200" b="0" i="0">
                <a:solidFill>
                  <a:srgbClr val="1F2A2E"/>
                </a:solidFill>
                <a:latin typeface="Calibri"/>
              </a:rPr>
              <a:t>al pasar el mouse ves el modelo exacto de cada punto.</a:t>
            </a:r>
          </a:p>
          <a:p>
            <a:pPr marL="201168" indent="-201168">
              <a:lnSpc>
                <a:spcPct val="108000"/>
              </a:lnSpc>
              <a:spcAft>
                <a:spcPts val="600"/>
              </a:spcAft>
              <a:buClr>
                <a:srgbClr val="0B6E4F"/>
              </a:buClr>
              <a:buFont typeface="Arial"/>
              <a:buChar char="•"/>
              <a:defRPr sz="1200"/>
            </a:pPr>
            <a:r>
              <a:rPr sz="1200" b="1" i="0">
                <a:solidFill>
                  <a:srgbClr val="1F2A2E"/>
                </a:solidFill>
                <a:latin typeface="Calibri"/>
              </a:rPr>
              <a:t>Zoom y pan: </a:t>
            </a:r>
            <a:r>
              <a:rPr sz="1200" b="0" i="0">
                <a:solidFill>
                  <a:srgbClr val="1F2A2E"/>
                </a:solidFill>
                <a:latin typeface="Calibri"/>
              </a:rPr>
              <a:t>explora una región sin rehacer el gráfico.</a:t>
            </a:r>
          </a:p>
          <a:p>
            <a:pPr marL="201168" indent="-201168">
              <a:lnSpc>
                <a:spcPct val="108000"/>
              </a:lnSpc>
              <a:spcAft>
                <a:spcPts val="600"/>
              </a:spcAft>
              <a:buClr>
                <a:srgbClr val="0B6E4F"/>
              </a:buClr>
              <a:buFont typeface="Arial"/>
              <a:buChar char="•"/>
              <a:defRPr sz="1200"/>
            </a:pPr>
            <a:r>
              <a:rPr sz="1200" b="1" i="0">
                <a:solidFill>
                  <a:srgbClr val="1F2A2E"/>
                </a:solidFill>
                <a:latin typeface="Calibri"/>
              </a:rPr>
              <a:t>Leyenda clicable: </a:t>
            </a:r>
            <a:r>
              <a:rPr sz="1200" b="0" i="0">
                <a:solidFill>
                  <a:srgbClr val="1F2A2E"/>
                </a:solidFill>
                <a:latin typeface="Calibri"/>
              </a:rPr>
              <a:t>oculta o aísla una categoría.</a:t>
            </a:r>
          </a:p>
          <a:p>
            <a:pPr marL="201168" indent="-201168">
              <a:lnSpc>
                <a:spcPct val="108000"/>
              </a:lnSpc>
              <a:spcAft>
                <a:spcPts val="600"/>
              </a:spcAft>
              <a:buClr>
                <a:srgbClr val="0B6E4F"/>
              </a:buClr>
              <a:buFont typeface="Arial"/>
              <a:buChar char="•"/>
              <a:defRPr sz="1200"/>
            </a:pPr>
            <a:r>
              <a:rPr sz="1200" b="1" i="0">
                <a:solidFill>
                  <a:srgbClr val="1F2A2E"/>
                </a:solidFill>
                <a:latin typeface="Calibri"/>
              </a:rPr>
              <a:t>Barra de herramientas: </a:t>
            </a:r>
            <a:r>
              <a:rPr sz="1200" b="0" i="0">
                <a:solidFill>
                  <a:srgbClr val="1F2A2E"/>
                </a:solidFill>
                <a:latin typeface="Calibri"/>
              </a:rPr>
              <a:t>descarga PNG, selección, autoescala.</a:t>
            </a:r>
          </a:p>
          <a:p>
            <a:pPr marL="201168" indent="-201168">
              <a:lnSpc>
                <a:spcPct val="108000"/>
              </a:lnSpc>
              <a:spcAft>
                <a:spcPts val="600"/>
              </a:spcAft>
              <a:buClr>
                <a:srgbClr val="0B6E4F"/>
              </a:buClr>
              <a:buFont typeface="Arial"/>
              <a:buChar char="•"/>
              <a:defRPr sz="1200"/>
            </a:pPr>
            <a:r>
              <a:rPr sz="1200" b="1" i="0">
                <a:solidFill>
                  <a:srgbClr val="1F2A2E"/>
                </a:solidFill>
                <a:latin typeface="Calibri"/>
              </a:rPr>
              <a:t>Se comparte como HTML: </a:t>
            </a:r>
            <a:r>
              <a:rPr sz="1200" b="0" i="0">
                <a:solidFill>
                  <a:srgbClr val="1F2A2E"/>
                </a:solidFill>
                <a:latin typeface="Calibri"/>
              </a:rPr>
              <a:t>htmlwidgets::saveWidget(), o dentro de un R Markdown, flexdashboard o Shiny.</a:t>
            </a:r>
          </a:p>
        </p:txBody>
      </p:sp>
      <p:sp>
        <p:nvSpPr>
          <p:cNvPr id="9" name="Rounded Rectangle 8"/>
          <p:cNvSpPr/>
          <p:nvPr/>
        </p:nvSpPr>
        <p:spPr>
          <a:xfrm>
            <a:off x="5614416" y="1994517"/>
            <a:ext cx="6080760" cy="3600485"/>
          </a:xfrm>
          <a:prstGeom prst="roundRect">
            <a:avLst>
              <a:gd name="adj" fmla="val 2000"/>
            </a:avLst>
          </a:prstGeom>
          <a:solidFill>
            <a:srgbClr val="FFFFFF"/>
          </a:solidFill>
          <a:ln w="9525">
            <a:solidFill>
              <a:srgbClr val="CFE8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plotly_demo.png"/>
          <p:cNvPicPr>
            <a:picLocks noChangeAspect="1"/>
          </p:cNvPicPr>
          <p:nvPr/>
        </p:nvPicPr>
        <p:blipFill>
          <a:blip r:embed="rId3"/>
          <a:stretch>
            <a:fillRect/>
          </a:stretch>
        </p:blipFill>
        <p:spPr>
          <a:xfrm>
            <a:off x="5669280" y="2049381"/>
            <a:ext cx="5971032" cy="3490757"/>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6446520"/>
            <a:ext cx="7315200" cy="274320"/>
          </a:xfrm>
          <a:prstGeom prst="rect">
            <a:avLst/>
          </a:prstGeom>
          <a:noFill/>
        </p:spPr>
        <p:txBody>
          <a:bodyPr wrap="square" lIns="0" tIns="0" rIns="0" bIns="0" anchor="t">
            <a:noAutofit/>
          </a:bodyPr>
          <a:lstStyle/>
          <a:p>
            <a:pPr algn="l">
              <a:lnSpc>
                <a:spcPct val="110000"/>
              </a:lnSpc>
              <a:spcAft>
                <a:spcPts val="0"/>
              </a:spcAft>
              <a:defRPr sz="900"/>
            </a:pPr>
            <a:r>
              <a:rPr sz="900" b="0" i="0">
                <a:solidFill>
                  <a:srgbClr val="9AA7AB"/>
                </a:solidFill>
                <a:latin typeface="Calibri"/>
              </a:rPr>
              <a:t>Visualización de Datos · Clase 18 · R y visualización de datos</a:t>
            </a:r>
          </a:p>
        </p:txBody>
      </p:sp>
      <p:sp>
        <p:nvSpPr>
          <p:cNvPr id="4" name="TextBox 3"/>
          <p:cNvSpPr txBox="1"/>
          <p:nvPr/>
        </p:nvSpPr>
        <p:spPr>
          <a:xfrm>
            <a:off x="10972800" y="6446520"/>
            <a:ext cx="667512" cy="274320"/>
          </a:xfrm>
          <a:prstGeom prst="rect">
            <a:avLst/>
          </a:prstGeom>
          <a:noFill/>
        </p:spPr>
        <p:txBody>
          <a:bodyPr wrap="square" lIns="0" tIns="0" rIns="0" bIns="0" anchor="t">
            <a:noAutofit/>
          </a:bodyPr>
          <a:lstStyle/>
          <a:p>
            <a:pPr algn="r">
              <a:lnSpc>
                <a:spcPct val="110000"/>
              </a:lnSpc>
              <a:spcAft>
                <a:spcPts val="0"/>
              </a:spcAft>
              <a:defRPr sz="900"/>
            </a:pPr>
            <a:r>
              <a:rPr sz="900" b="0" i="0">
                <a:solidFill>
                  <a:srgbClr val="9AA7AB"/>
                </a:solidFill>
                <a:latin typeface="Calibri"/>
              </a:rPr>
              <a:t>22</a:t>
            </a:r>
          </a:p>
        </p:txBody>
      </p:sp>
      <p:sp>
        <p:nvSpPr>
          <p:cNvPr id="5" name="TextBox 4"/>
          <p:cNvSpPr txBox="1"/>
          <p:nvPr/>
        </p:nvSpPr>
        <p:spPr>
          <a:xfrm>
            <a:off x="548640" y="457200"/>
            <a:ext cx="11091672" cy="731520"/>
          </a:xfrm>
          <a:prstGeom prst="rect">
            <a:avLst/>
          </a:prstGeom>
          <a:noFill/>
        </p:spPr>
        <p:txBody>
          <a:bodyPr wrap="square" lIns="0" tIns="0" rIns="0" bIns="0" anchor="t">
            <a:noAutofit/>
          </a:bodyPr>
          <a:lstStyle/>
          <a:p>
            <a:pPr algn="l">
              <a:lnSpc>
                <a:spcPct val="110000"/>
              </a:lnSpc>
              <a:spcAft>
                <a:spcPts val="0"/>
              </a:spcAft>
              <a:defRPr sz="3000"/>
            </a:pPr>
            <a:r>
              <a:rPr sz="3000" b="1" i="0">
                <a:solidFill>
                  <a:srgbClr val="0B6E4F"/>
                </a:solidFill>
                <a:latin typeface="Cambria"/>
              </a:rPr>
              <a:t>Cuadros de mando con Shiny</a:t>
            </a:r>
          </a:p>
        </p:txBody>
      </p:sp>
      <p:sp>
        <p:nvSpPr>
          <p:cNvPr id="6" name="TextBox 5"/>
          <p:cNvSpPr txBox="1"/>
          <p:nvPr/>
        </p:nvSpPr>
        <p:spPr>
          <a:xfrm>
            <a:off x="548640" y="1280160"/>
            <a:ext cx="4663440" cy="822960"/>
          </a:xfrm>
          <a:prstGeom prst="rect">
            <a:avLst/>
          </a:prstGeom>
          <a:noFill/>
        </p:spPr>
        <p:txBody>
          <a:bodyPr wrap="square" lIns="0" tIns="0" rIns="0" bIns="0" anchor="t">
            <a:noAutofit/>
          </a:bodyPr>
          <a:lstStyle/>
          <a:p>
            <a:pPr algn="l">
              <a:lnSpc>
                <a:spcPct val="115000"/>
              </a:lnSpc>
              <a:spcAft>
                <a:spcPts val="0"/>
              </a:spcAft>
              <a:defRPr sz="1200"/>
            </a:pPr>
            <a:r>
              <a:rPr sz="1200" b="0" i="0">
                <a:solidFill>
                  <a:srgbClr val="1F2A2E"/>
                </a:solidFill>
                <a:latin typeface="Calibri"/>
              </a:rPr>
              <a:t>Shiny crea aplicaciones web completas desde R, sin desarrollo web. Une la interfaz (ui) con la lógica (server) mediante reactividad: cuando cambia un control, se recalcula solo lo que depende de él.</a:t>
            </a:r>
          </a:p>
        </p:txBody>
      </p:sp>
      <p:sp>
        <p:nvSpPr>
          <p:cNvPr id="7" name="Oval 6"/>
          <p:cNvSpPr/>
          <p:nvPr/>
        </p:nvSpPr>
        <p:spPr>
          <a:xfrm>
            <a:off x="548640" y="2286000"/>
            <a:ext cx="457200" cy="457200"/>
          </a:xfrm>
          <a:prstGeom prst="ellipse">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i="0">
                <a:solidFill>
                  <a:srgbClr val="FFFFFF"/>
                </a:solidFill>
                <a:latin typeface="Calibri"/>
              </a:rPr>
              <a:t>01</a:t>
            </a:r>
          </a:p>
        </p:txBody>
      </p:sp>
      <p:sp>
        <p:nvSpPr>
          <p:cNvPr id="8" name="TextBox 7"/>
          <p:cNvSpPr txBox="1"/>
          <p:nvPr/>
        </p:nvSpPr>
        <p:spPr>
          <a:xfrm>
            <a:off x="1143000" y="2240280"/>
            <a:ext cx="4114800" cy="320040"/>
          </a:xfrm>
          <a:prstGeom prst="rect">
            <a:avLst/>
          </a:prstGeom>
          <a:noFill/>
        </p:spPr>
        <p:txBody>
          <a:bodyPr wrap="square" lIns="0" tIns="0" rIns="0" bIns="0" anchor="t">
            <a:noAutofit/>
          </a:bodyPr>
          <a:lstStyle/>
          <a:p>
            <a:pPr algn="l">
              <a:lnSpc>
                <a:spcPct val="110000"/>
              </a:lnSpc>
              <a:spcAft>
                <a:spcPts val="0"/>
              </a:spcAft>
              <a:defRPr sz="1350"/>
            </a:pPr>
            <a:r>
              <a:rPr sz="1350" b="1" i="0">
                <a:solidFill>
                  <a:srgbClr val="0B6E4F"/>
                </a:solidFill>
                <a:latin typeface="Cambria"/>
              </a:rPr>
              <a:t>Diseño UI</a:t>
            </a:r>
          </a:p>
        </p:txBody>
      </p:sp>
      <p:sp>
        <p:nvSpPr>
          <p:cNvPr id="9" name="TextBox 8"/>
          <p:cNvSpPr txBox="1"/>
          <p:nvPr/>
        </p:nvSpPr>
        <p:spPr>
          <a:xfrm>
            <a:off x="1143000" y="2560320"/>
            <a:ext cx="4069080" cy="685800"/>
          </a:xfrm>
          <a:prstGeom prst="rect">
            <a:avLst/>
          </a:prstGeom>
          <a:noFill/>
        </p:spPr>
        <p:txBody>
          <a:bodyPr wrap="square" lIns="0" tIns="0" rIns="0" bIns="0" anchor="t">
            <a:noAutofit/>
          </a:bodyPr>
          <a:lstStyle/>
          <a:p>
            <a:pPr algn="l">
              <a:lnSpc>
                <a:spcPct val="110000"/>
              </a:lnSpc>
              <a:spcAft>
                <a:spcPts val="0"/>
              </a:spcAft>
              <a:defRPr sz="1100"/>
            </a:pPr>
            <a:r>
              <a:rPr sz="1100" b="0" i="0">
                <a:solidFill>
                  <a:srgbClr val="1F2A2E"/>
                </a:solidFill>
                <a:latin typeface="Calibri"/>
              </a:rPr>
              <a:t>fluidPage(), sidebarLayout(), selectInput(), plotOutput(): define qué ve el usuario.</a:t>
            </a:r>
          </a:p>
        </p:txBody>
      </p:sp>
      <p:sp>
        <p:nvSpPr>
          <p:cNvPr id="10" name="Oval 9"/>
          <p:cNvSpPr/>
          <p:nvPr/>
        </p:nvSpPr>
        <p:spPr>
          <a:xfrm>
            <a:off x="548640" y="3310128"/>
            <a:ext cx="457200" cy="457200"/>
          </a:xfrm>
          <a:prstGeom prst="ellipse">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i="0">
                <a:solidFill>
                  <a:srgbClr val="FFFFFF"/>
                </a:solidFill>
                <a:latin typeface="Calibri"/>
              </a:rPr>
              <a:t>02</a:t>
            </a:r>
          </a:p>
        </p:txBody>
      </p:sp>
      <p:sp>
        <p:nvSpPr>
          <p:cNvPr id="11" name="TextBox 10"/>
          <p:cNvSpPr txBox="1"/>
          <p:nvPr/>
        </p:nvSpPr>
        <p:spPr>
          <a:xfrm>
            <a:off x="1143000" y="3264408"/>
            <a:ext cx="4114800" cy="320040"/>
          </a:xfrm>
          <a:prstGeom prst="rect">
            <a:avLst/>
          </a:prstGeom>
          <a:noFill/>
        </p:spPr>
        <p:txBody>
          <a:bodyPr wrap="square" lIns="0" tIns="0" rIns="0" bIns="0" anchor="t">
            <a:noAutofit/>
          </a:bodyPr>
          <a:lstStyle/>
          <a:p>
            <a:pPr algn="l">
              <a:lnSpc>
                <a:spcPct val="110000"/>
              </a:lnSpc>
              <a:spcAft>
                <a:spcPts val="0"/>
              </a:spcAft>
              <a:defRPr sz="1350"/>
            </a:pPr>
            <a:r>
              <a:rPr sz="1350" b="1" i="0">
                <a:solidFill>
                  <a:srgbClr val="0B6E4F"/>
                </a:solidFill>
                <a:latin typeface="Cambria"/>
              </a:rPr>
              <a:t>Lógica server</a:t>
            </a:r>
          </a:p>
        </p:txBody>
      </p:sp>
      <p:sp>
        <p:nvSpPr>
          <p:cNvPr id="12" name="TextBox 11"/>
          <p:cNvSpPr txBox="1"/>
          <p:nvPr/>
        </p:nvSpPr>
        <p:spPr>
          <a:xfrm>
            <a:off x="1143000" y="3584448"/>
            <a:ext cx="4069080" cy="685800"/>
          </a:xfrm>
          <a:prstGeom prst="rect">
            <a:avLst/>
          </a:prstGeom>
          <a:noFill/>
        </p:spPr>
        <p:txBody>
          <a:bodyPr wrap="square" lIns="0" tIns="0" rIns="0" bIns="0" anchor="t">
            <a:noAutofit/>
          </a:bodyPr>
          <a:lstStyle/>
          <a:p>
            <a:pPr algn="l">
              <a:lnSpc>
                <a:spcPct val="110000"/>
              </a:lnSpc>
              <a:spcAft>
                <a:spcPts val="0"/>
              </a:spcAft>
              <a:defRPr sz="1100"/>
            </a:pPr>
            <a:r>
              <a:rPr sz="1100" b="0" i="0">
                <a:solidFill>
                  <a:srgbClr val="1F2A2E"/>
                </a:solidFill>
                <a:latin typeface="Calibri"/>
              </a:rPr>
              <a:t>function(input, output): calcula y dibuja con renderPlot() y renderTable().</a:t>
            </a:r>
          </a:p>
        </p:txBody>
      </p:sp>
      <p:sp>
        <p:nvSpPr>
          <p:cNvPr id="13" name="Oval 12"/>
          <p:cNvSpPr/>
          <p:nvPr/>
        </p:nvSpPr>
        <p:spPr>
          <a:xfrm>
            <a:off x="548640" y="4334256"/>
            <a:ext cx="457200" cy="457200"/>
          </a:xfrm>
          <a:prstGeom prst="ellipse">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i="0">
                <a:solidFill>
                  <a:srgbClr val="FFFFFF"/>
                </a:solidFill>
                <a:latin typeface="Calibri"/>
              </a:rPr>
              <a:t>03</a:t>
            </a:r>
          </a:p>
        </p:txBody>
      </p:sp>
      <p:sp>
        <p:nvSpPr>
          <p:cNvPr id="14" name="TextBox 13"/>
          <p:cNvSpPr txBox="1"/>
          <p:nvPr/>
        </p:nvSpPr>
        <p:spPr>
          <a:xfrm>
            <a:off x="1143000" y="4288536"/>
            <a:ext cx="4114800" cy="320040"/>
          </a:xfrm>
          <a:prstGeom prst="rect">
            <a:avLst/>
          </a:prstGeom>
          <a:noFill/>
        </p:spPr>
        <p:txBody>
          <a:bodyPr wrap="square" lIns="0" tIns="0" rIns="0" bIns="0" anchor="t">
            <a:noAutofit/>
          </a:bodyPr>
          <a:lstStyle/>
          <a:p>
            <a:pPr algn="l">
              <a:lnSpc>
                <a:spcPct val="110000"/>
              </a:lnSpc>
              <a:spcAft>
                <a:spcPts val="0"/>
              </a:spcAft>
              <a:defRPr sz="1350"/>
            </a:pPr>
            <a:r>
              <a:rPr sz="1350" b="1" i="0">
                <a:solidFill>
                  <a:srgbClr val="0B6E4F"/>
                </a:solidFill>
                <a:latin typeface="Cambria"/>
              </a:rPr>
              <a:t>Reactividad</a:t>
            </a:r>
          </a:p>
        </p:txBody>
      </p:sp>
      <p:sp>
        <p:nvSpPr>
          <p:cNvPr id="15" name="TextBox 14"/>
          <p:cNvSpPr txBox="1"/>
          <p:nvPr/>
        </p:nvSpPr>
        <p:spPr>
          <a:xfrm>
            <a:off x="1143000" y="4608576"/>
            <a:ext cx="4069080" cy="685800"/>
          </a:xfrm>
          <a:prstGeom prst="rect">
            <a:avLst/>
          </a:prstGeom>
          <a:noFill/>
        </p:spPr>
        <p:txBody>
          <a:bodyPr wrap="square" lIns="0" tIns="0" rIns="0" bIns="0" anchor="t">
            <a:noAutofit/>
          </a:bodyPr>
          <a:lstStyle/>
          <a:p>
            <a:pPr algn="l">
              <a:lnSpc>
                <a:spcPct val="110000"/>
              </a:lnSpc>
              <a:spcAft>
                <a:spcPts val="0"/>
              </a:spcAft>
              <a:defRPr sz="1100"/>
            </a:pPr>
            <a:r>
              <a:rPr sz="1100" b="0" i="0">
                <a:solidFill>
                  <a:srgbClr val="1F2A2E"/>
                </a:solidFill>
                <a:latin typeface="Calibri"/>
              </a:rPr>
              <a:t>reactive(): cuando cambia un input se recalculan solo los outputs que dependen de él.</a:t>
            </a:r>
          </a:p>
        </p:txBody>
      </p:sp>
      <p:sp>
        <p:nvSpPr>
          <p:cNvPr id="16" name="Oval 15"/>
          <p:cNvSpPr/>
          <p:nvPr/>
        </p:nvSpPr>
        <p:spPr>
          <a:xfrm>
            <a:off x="548640" y="5358384"/>
            <a:ext cx="457200" cy="457200"/>
          </a:xfrm>
          <a:prstGeom prst="ellipse">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i="0">
                <a:solidFill>
                  <a:srgbClr val="FFFFFF"/>
                </a:solidFill>
                <a:latin typeface="Calibri"/>
              </a:rPr>
              <a:t>04</a:t>
            </a:r>
          </a:p>
        </p:txBody>
      </p:sp>
      <p:sp>
        <p:nvSpPr>
          <p:cNvPr id="17" name="TextBox 16"/>
          <p:cNvSpPr txBox="1"/>
          <p:nvPr/>
        </p:nvSpPr>
        <p:spPr>
          <a:xfrm>
            <a:off x="1143000" y="5312664"/>
            <a:ext cx="4114800" cy="320040"/>
          </a:xfrm>
          <a:prstGeom prst="rect">
            <a:avLst/>
          </a:prstGeom>
          <a:noFill/>
        </p:spPr>
        <p:txBody>
          <a:bodyPr wrap="square" lIns="0" tIns="0" rIns="0" bIns="0" anchor="t">
            <a:noAutofit/>
          </a:bodyPr>
          <a:lstStyle/>
          <a:p>
            <a:pPr algn="l">
              <a:lnSpc>
                <a:spcPct val="110000"/>
              </a:lnSpc>
              <a:spcAft>
                <a:spcPts val="0"/>
              </a:spcAft>
              <a:defRPr sz="1350"/>
            </a:pPr>
            <a:r>
              <a:rPr sz="1350" b="1" i="0">
                <a:solidFill>
                  <a:srgbClr val="0B6E4F"/>
                </a:solidFill>
                <a:latin typeface="Cambria"/>
              </a:rPr>
              <a:t>Despliegue</a:t>
            </a:r>
          </a:p>
        </p:txBody>
      </p:sp>
      <p:sp>
        <p:nvSpPr>
          <p:cNvPr id="18" name="TextBox 17"/>
          <p:cNvSpPr txBox="1"/>
          <p:nvPr/>
        </p:nvSpPr>
        <p:spPr>
          <a:xfrm>
            <a:off x="1143000" y="5632704"/>
            <a:ext cx="4069080" cy="685800"/>
          </a:xfrm>
          <a:prstGeom prst="rect">
            <a:avLst/>
          </a:prstGeom>
          <a:noFill/>
        </p:spPr>
        <p:txBody>
          <a:bodyPr wrap="square" lIns="0" tIns="0" rIns="0" bIns="0" anchor="t">
            <a:noAutofit/>
          </a:bodyPr>
          <a:lstStyle/>
          <a:p>
            <a:pPr algn="l">
              <a:lnSpc>
                <a:spcPct val="110000"/>
              </a:lnSpc>
              <a:spcAft>
                <a:spcPts val="0"/>
              </a:spcAft>
              <a:defRPr sz="1100"/>
            </a:pPr>
            <a:r>
              <a:rPr sz="1100" b="0" i="0">
                <a:solidFill>
                  <a:srgbClr val="1F2A2E"/>
                </a:solidFill>
                <a:latin typeface="Calibri"/>
              </a:rPr>
              <a:t>shinyapps.io, Posit Connect, Shiny Server o Shinylive (corre en el navegador, sin servidor).</a:t>
            </a:r>
          </a:p>
        </p:txBody>
      </p:sp>
      <p:sp>
        <p:nvSpPr>
          <p:cNvPr id="19" name="Rounded Rectangle 18"/>
          <p:cNvSpPr/>
          <p:nvPr/>
        </p:nvSpPr>
        <p:spPr>
          <a:xfrm>
            <a:off x="5486400" y="1280160"/>
            <a:ext cx="6153912" cy="5029200"/>
          </a:xfrm>
          <a:prstGeom prst="roundRect">
            <a:avLst>
              <a:gd name="adj" fmla="val 4000"/>
            </a:avLst>
          </a:prstGeom>
          <a:solidFill>
            <a:srgbClr val="0F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650992" y="1408176"/>
            <a:ext cx="5824728" cy="4773168"/>
          </a:xfrm>
          <a:prstGeom prst="rect">
            <a:avLst/>
          </a:prstGeom>
          <a:noFill/>
        </p:spPr>
        <p:txBody>
          <a:bodyPr wrap="square" lIns="0" tIns="0" rIns="0" bIns="0" anchor="t">
            <a:noAutofit/>
          </a:bodyPr>
          <a:lstStyle/>
          <a:p>
            <a:pPr>
              <a:lnSpc>
                <a:spcPct val="105000"/>
              </a:lnSpc>
              <a:spcAft>
                <a:spcPts val="100"/>
              </a:spcAft>
              <a:defRPr sz="1050"/>
            </a:pPr>
            <a:r>
              <a:rPr sz="1050" b="0" i="0">
                <a:solidFill>
                  <a:srgbClr val="E8F1EC"/>
                </a:solidFill>
                <a:latin typeface="Consolas"/>
              </a:rPr>
              <a:t>library(shiny); library(tidyverse)</a:t>
            </a:r>
          </a:p>
          <a:p>
            <a:pPr>
              <a:lnSpc>
                <a:spcPct val="105000"/>
              </a:lnSpc>
              <a:spcAft>
                <a:spcPts val="100"/>
              </a:spcAft>
              <a:defRPr sz="1050"/>
            </a:pPr>
            <a:endParaRPr sz="1050" b="0" i="0">
              <a:solidFill>
                <a:srgbClr val="E8F1EC"/>
              </a:solidFill>
              <a:latin typeface="Consolas"/>
            </a:endParaRPr>
          </a:p>
          <a:p>
            <a:pPr>
              <a:lnSpc>
                <a:spcPct val="105000"/>
              </a:lnSpc>
              <a:spcAft>
                <a:spcPts val="100"/>
              </a:spcAft>
              <a:defRPr sz="1050"/>
            </a:pPr>
            <a:r>
              <a:rPr sz="1050" b="0" i="0">
                <a:solidFill>
                  <a:srgbClr val="E8F1EC"/>
                </a:solidFill>
                <a:latin typeface="Consolas"/>
              </a:rPr>
              <a:t>ui &lt;- fluidPage(</a:t>
            </a:r>
          </a:p>
          <a:p>
            <a:pPr>
              <a:lnSpc>
                <a:spcPct val="105000"/>
              </a:lnSpc>
              <a:spcAft>
                <a:spcPts val="100"/>
              </a:spcAft>
              <a:defRPr sz="1050"/>
            </a:pPr>
            <a:r>
              <a:rPr sz="1050" b="0" i="0">
                <a:solidFill>
                  <a:srgbClr val="E8F1EC"/>
                </a:solidFill>
                <a:latin typeface="Consolas"/>
              </a:rPr>
              <a:t>  titlePanel(</a:t>
            </a:r>
            <a:r>
              <a:rPr sz="1050" b="0" i="0">
                <a:solidFill>
                  <a:srgbClr val="F5C56B"/>
                </a:solidFill>
                <a:latin typeface="Consolas"/>
              </a:rPr>
              <a:t>"Explorador mpg"</a:t>
            </a:r>
            <a:r>
              <a:rPr sz="1050" b="0" i="0">
                <a:solidFill>
                  <a:srgbClr val="E8F1EC"/>
                </a:solidFill>
                <a:latin typeface="Consolas"/>
              </a:rPr>
              <a:t>),</a:t>
            </a:r>
          </a:p>
          <a:p>
            <a:pPr>
              <a:lnSpc>
                <a:spcPct val="105000"/>
              </a:lnSpc>
              <a:spcAft>
                <a:spcPts val="100"/>
              </a:spcAft>
              <a:defRPr sz="1050"/>
            </a:pPr>
            <a:r>
              <a:rPr sz="1050" b="0" i="0">
                <a:solidFill>
                  <a:srgbClr val="E8F1EC"/>
                </a:solidFill>
                <a:latin typeface="Consolas"/>
              </a:rPr>
              <a:t>  sidebarLayout(</a:t>
            </a:r>
          </a:p>
          <a:p>
            <a:pPr>
              <a:lnSpc>
                <a:spcPct val="105000"/>
              </a:lnSpc>
              <a:spcAft>
                <a:spcPts val="100"/>
              </a:spcAft>
              <a:defRPr sz="1050"/>
            </a:pPr>
            <a:r>
              <a:rPr sz="1050" b="0" i="0">
                <a:solidFill>
                  <a:srgbClr val="E8F1EC"/>
                </a:solidFill>
                <a:latin typeface="Consolas"/>
              </a:rPr>
              <a:t>    sidebarPanel(</a:t>
            </a:r>
          </a:p>
          <a:p>
            <a:pPr>
              <a:lnSpc>
                <a:spcPct val="105000"/>
              </a:lnSpc>
              <a:spcAft>
                <a:spcPts val="100"/>
              </a:spcAft>
              <a:defRPr sz="1050"/>
            </a:pPr>
            <a:r>
              <a:rPr sz="1050" b="0" i="0">
                <a:solidFill>
                  <a:srgbClr val="E8F1EC"/>
                </a:solidFill>
                <a:latin typeface="Consolas"/>
              </a:rPr>
              <a:t>      selectInput(</a:t>
            </a:r>
            <a:r>
              <a:rPr sz="1050" b="0" i="0">
                <a:solidFill>
                  <a:srgbClr val="F5C56B"/>
                </a:solidFill>
                <a:latin typeface="Consolas"/>
              </a:rPr>
              <a:t>"clase"</a:t>
            </a:r>
            <a:r>
              <a:rPr sz="1050" b="0" i="0">
                <a:solidFill>
                  <a:srgbClr val="E8F1EC"/>
                </a:solidFill>
                <a:latin typeface="Consolas"/>
              </a:rPr>
              <a:t>, </a:t>
            </a:r>
            <a:r>
              <a:rPr sz="1050" b="0" i="0">
                <a:solidFill>
                  <a:srgbClr val="F5C56B"/>
                </a:solidFill>
                <a:latin typeface="Consolas"/>
              </a:rPr>
              <a:t>"Tipo de vehículo"</a:t>
            </a:r>
            <a:r>
              <a:rPr sz="1050" b="0" i="0">
                <a:solidFill>
                  <a:srgbClr val="E8F1EC"/>
                </a:solidFill>
                <a:latin typeface="Consolas"/>
              </a:rPr>
              <a:t>,</a:t>
            </a:r>
          </a:p>
          <a:p>
            <a:pPr>
              <a:lnSpc>
                <a:spcPct val="105000"/>
              </a:lnSpc>
              <a:spcAft>
                <a:spcPts val="100"/>
              </a:spcAft>
              <a:defRPr sz="1050"/>
            </a:pPr>
            <a:r>
              <a:rPr sz="1050" b="0" i="0">
                <a:solidFill>
                  <a:srgbClr val="E8F1EC"/>
                </a:solidFill>
                <a:latin typeface="Consolas"/>
              </a:rPr>
              <a:t>                  choices = unique(mpg$class)),</a:t>
            </a:r>
          </a:p>
          <a:p>
            <a:pPr>
              <a:lnSpc>
                <a:spcPct val="105000"/>
              </a:lnSpc>
              <a:spcAft>
                <a:spcPts val="100"/>
              </a:spcAft>
              <a:defRPr sz="1050"/>
            </a:pPr>
            <a:r>
              <a:rPr sz="1050" b="0" i="0">
                <a:solidFill>
                  <a:srgbClr val="E8F1EC"/>
                </a:solidFill>
                <a:latin typeface="Consolas"/>
              </a:rPr>
              <a:t>      sliderInput(</a:t>
            </a:r>
            <a:r>
              <a:rPr sz="1050" b="0" i="0">
                <a:solidFill>
                  <a:srgbClr val="F5C56B"/>
                </a:solidFill>
                <a:latin typeface="Consolas"/>
              </a:rPr>
              <a:t>"alpha"</a:t>
            </a:r>
            <a:r>
              <a:rPr sz="1050" b="0" i="0">
                <a:solidFill>
                  <a:srgbClr val="E8F1EC"/>
                </a:solidFill>
                <a:latin typeface="Consolas"/>
              </a:rPr>
              <a:t>, </a:t>
            </a:r>
            <a:r>
              <a:rPr sz="1050" b="0" i="0">
                <a:solidFill>
                  <a:srgbClr val="F5C56B"/>
                </a:solidFill>
                <a:latin typeface="Consolas"/>
              </a:rPr>
              <a:t>"Transparencia"</a:t>
            </a:r>
            <a:r>
              <a:rPr sz="1050" b="0" i="0">
                <a:solidFill>
                  <a:srgbClr val="E8F1EC"/>
                </a:solidFill>
                <a:latin typeface="Consolas"/>
              </a:rPr>
              <a:t>, 0.1, 1, 0.6)),</a:t>
            </a:r>
          </a:p>
          <a:p>
            <a:pPr>
              <a:lnSpc>
                <a:spcPct val="105000"/>
              </a:lnSpc>
              <a:spcAft>
                <a:spcPts val="100"/>
              </a:spcAft>
              <a:defRPr sz="1050"/>
            </a:pPr>
            <a:r>
              <a:rPr sz="1050" b="0" i="0">
                <a:solidFill>
                  <a:srgbClr val="E8F1EC"/>
                </a:solidFill>
                <a:latin typeface="Consolas"/>
              </a:rPr>
              <a:t>    mainPanel(plotOutput(</a:t>
            </a:r>
            <a:r>
              <a:rPr sz="1050" b="0" i="0">
                <a:solidFill>
                  <a:srgbClr val="F5C56B"/>
                </a:solidFill>
                <a:latin typeface="Consolas"/>
              </a:rPr>
              <a:t>"grafico"</a:t>
            </a:r>
            <a:r>
              <a:rPr sz="1050" b="0" i="0">
                <a:solidFill>
                  <a:srgbClr val="E8F1EC"/>
                </a:solidFill>
                <a:latin typeface="Consolas"/>
              </a:rPr>
              <a:t>))))</a:t>
            </a:r>
          </a:p>
          <a:p>
            <a:pPr>
              <a:lnSpc>
                <a:spcPct val="105000"/>
              </a:lnSpc>
              <a:spcAft>
                <a:spcPts val="100"/>
              </a:spcAft>
              <a:defRPr sz="1050"/>
            </a:pPr>
            <a:endParaRPr sz="1050" b="0" i="0">
              <a:solidFill>
                <a:srgbClr val="E8F1EC"/>
              </a:solidFill>
              <a:latin typeface="Consolas"/>
            </a:endParaRPr>
          </a:p>
          <a:p>
            <a:pPr>
              <a:lnSpc>
                <a:spcPct val="105000"/>
              </a:lnSpc>
              <a:spcAft>
                <a:spcPts val="100"/>
              </a:spcAft>
              <a:defRPr sz="1050"/>
            </a:pPr>
            <a:r>
              <a:rPr sz="1050" b="0" i="0">
                <a:solidFill>
                  <a:srgbClr val="E8F1EC"/>
                </a:solidFill>
                <a:latin typeface="Consolas"/>
              </a:rPr>
              <a:t>server &lt;- function(input, output) {</a:t>
            </a:r>
          </a:p>
          <a:p>
            <a:pPr>
              <a:lnSpc>
                <a:spcPct val="105000"/>
              </a:lnSpc>
              <a:spcAft>
                <a:spcPts val="100"/>
              </a:spcAft>
              <a:defRPr sz="1050"/>
            </a:pPr>
            <a:r>
              <a:rPr sz="1050" b="0" i="0">
                <a:solidFill>
                  <a:srgbClr val="E8F1EC"/>
                </a:solidFill>
                <a:latin typeface="Consolas"/>
              </a:rPr>
              <a:t>  datos &lt;- reactive(filter(mpg, class == input$clase))</a:t>
            </a:r>
          </a:p>
          <a:p>
            <a:pPr>
              <a:lnSpc>
                <a:spcPct val="105000"/>
              </a:lnSpc>
              <a:spcAft>
                <a:spcPts val="100"/>
              </a:spcAft>
              <a:defRPr sz="1050"/>
            </a:pPr>
            <a:r>
              <a:rPr sz="1050" b="0" i="0">
                <a:solidFill>
                  <a:srgbClr val="E8F1EC"/>
                </a:solidFill>
                <a:latin typeface="Consolas"/>
              </a:rPr>
              <a:t>  output$grafico &lt;- renderPlot(</a:t>
            </a:r>
          </a:p>
          <a:p>
            <a:pPr>
              <a:lnSpc>
                <a:spcPct val="105000"/>
              </a:lnSpc>
              <a:spcAft>
                <a:spcPts val="100"/>
              </a:spcAft>
              <a:defRPr sz="1050"/>
            </a:pPr>
            <a:r>
              <a:rPr sz="1050" b="0" i="0">
                <a:solidFill>
                  <a:srgbClr val="E8F1EC"/>
                </a:solidFill>
                <a:latin typeface="Consolas"/>
              </a:rPr>
              <a:t>    ggplot(datos(), aes(displ, hwy)) +</a:t>
            </a:r>
          </a:p>
          <a:p>
            <a:pPr>
              <a:lnSpc>
                <a:spcPct val="105000"/>
              </a:lnSpc>
              <a:spcAft>
                <a:spcPts val="100"/>
              </a:spcAft>
              <a:defRPr sz="1050"/>
            </a:pPr>
            <a:r>
              <a:rPr sz="1050" b="0" i="0">
                <a:solidFill>
                  <a:srgbClr val="E8F1EC"/>
                </a:solidFill>
                <a:latin typeface="Consolas"/>
              </a:rPr>
              <a:t>      geom_point(alpha = input$alpha, size = 3))</a:t>
            </a:r>
          </a:p>
          <a:p>
            <a:pPr>
              <a:lnSpc>
                <a:spcPct val="105000"/>
              </a:lnSpc>
              <a:spcAft>
                <a:spcPts val="100"/>
              </a:spcAft>
              <a:defRPr sz="1050"/>
            </a:pPr>
            <a:r>
              <a:rPr sz="1050" b="0" i="0">
                <a:solidFill>
                  <a:srgbClr val="E8F1EC"/>
                </a:solidFill>
                <a:latin typeface="Consolas"/>
              </a:rPr>
              <a:t>}</a:t>
            </a:r>
          </a:p>
          <a:p>
            <a:pPr>
              <a:lnSpc>
                <a:spcPct val="105000"/>
              </a:lnSpc>
              <a:spcAft>
                <a:spcPts val="100"/>
              </a:spcAft>
              <a:defRPr sz="1050"/>
            </a:pPr>
            <a:endParaRPr sz="1050" b="0" i="0">
              <a:solidFill>
                <a:srgbClr val="E8F1EC"/>
              </a:solidFill>
              <a:latin typeface="Consolas"/>
            </a:endParaRPr>
          </a:p>
          <a:p>
            <a:pPr>
              <a:lnSpc>
                <a:spcPct val="105000"/>
              </a:lnSpc>
              <a:spcAft>
                <a:spcPts val="100"/>
              </a:spcAft>
              <a:defRPr sz="1050"/>
            </a:pPr>
            <a:r>
              <a:rPr sz="1050" b="0" i="0">
                <a:solidFill>
                  <a:srgbClr val="E8F1EC"/>
                </a:solidFill>
                <a:latin typeface="Consolas"/>
              </a:rPr>
              <a:t>shinyApp(ui, server)   </a:t>
            </a:r>
            <a:r>
              <a:rPr sz="1050" b="0" i="0">
                <a:solidFill>
                  <a:srgbClr val="8FB5A4"/>
                </a:solidFill>
                <a:latin typeface="Consolas"/>
              </a:rPr>
              <a:t># 20 líneas: una app completa</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6446520"/>
            <a:ext cx="7315200" cy="274320"/>
          </a:xfrm>
          <a:prstGeom prst="rect">
            <a:avLst/>
          </a:prstGeom>
          <a:noFill/>
        </p:spPr>
        <p:txBody>
          <a:bodyPr wrap="square" lIns="0" tIns="0" rIns="0" bIns="0" anchor="t">
            <a:noAutofit/>
          </a:bodyPr>
          <a:lstStyle/>
          <a:p>
            <a:pPr algn="l">
              <a:lnSpc>
                <a:spcPct val="110000"/>
              </a:lnSpc>
              <a:spcAft>
                <a:spcPts val="0"/>
              </a:spcAft>
              <a:defRPr sz="900"/>
            </a:pPr>
            <a:r>
              <a:rPr sz="900" b="0" i="0">
                <a:solidFill>
                  <a:srgbClr val="9AA7AB"/>
                </a:solidFill>
                <a:latin typeface="Calibri"/>
              </a:rPr>
              <a:t>Visualización de Datos · Clase 18 · R y visualización de datos</a:t>
            </a:r>
          </a:p>
        </p:txBody>
      </p:sp>
      <p:sp>
        <p:nvSpPr>
          <p:cNvPr id="4" name="TextBox 3"/>
          <p:cNvSpPr txBox="1"/>
          <p:nvPr/>
        </p:nvSpPr>
        <p:spPr>
          <a:xfrm>
            <a:off x="10972800" y="6446520"/>
            <a:ext cx="667512" cy="274320"/>
          </a:xfrm>
          <a:prstGeom prst="rect">
            <a:avLst/>
          </a:prstGeom>
          <a:noFill/>
        </p:spPr>
        <p:txBody>
          <a:bodyPr wrap="square" lIns="0" tIns="0" rIns="0" bIns="0" anchor="t">
            <a:noAutofit/>
          </a:bodyPr>
          <a:lstStyle/>
          <a:p>
            <a:pPr algn="r">
              <a:lnSpc>
                <a:spcPct val="110000"/>
              </a:lnSpc>
              <a:spcAft>
                <a:spcPts val="0"/>
              </a:spcAft>
              <a:defRPr sz="900"/>
            </a:pPr>
            <a:r>
              <a:rPr sz="900" b="0" i="0">
                <a:solidFill>
                  <a:srgbClr val="9AA7AB"/>
                </a:solidFill>
                <a:latin typeface="Calibri"/>
              </a:rPr>
              <a:t>23</a:t>
            </a:r>
          </a:p>
        </p:txBody>
      </p:sp>
      <p:sp>
        <p:nvSpPr>
          <p:cNvPr id="5" name="TextBox 4"/>
          <p:cNvSpPr txBox="1"/>
          <p:nvPr/>
        </p:nvSpPr>
        <p:spPr>
          <a:xfrm>
            <a:off x="548640" y="457200"/>
            <a:ext cx="11091672" cy="731520"/>
          </a:xfrm>
          <a:prstGeom prst="rect">
            <a:avLst/>
          </a:prstGeom>
          <a:noFill/>
        </p:spPr>
        <p:txBody>
          <a:bodyPr wrap="square" lIns="0" tIns="0" rIns="0" bIns="0" anchor="t">
            <a:noAutofit/>
          </a:bodyPr>
          <a:lstStyle/>
          <a:p>
            <a:pPr algn="l">
              <a:lnSpc>
                <a:spcPct val="110000"/>
              </a:lnSpc>
              <a:spcAft>
                <a:spcPts val="0"/>
              </a:spcAft>
              <a:defRPr sz="3000"/>
            </a:pPr>
            <a:r>
              <a:rPr sz="3000" b="1" i="0">
                <a:solidFill>
                  <a:srgbClr val="0B6E4F"/>
                </a:solidFill>
                <a:latin typeface="Cambria"/>
              </a:rPr>
              <a:t>flexdashboard, Quarto o Shiny: ¿cuál elegir?</a:t>
            </a:r>
          </a:p>
        </p:txBody>
      </p:sp>
      <p:graphicFrame>
        <p:nvGraphicFramePr>
          <p:cNvPr id="6" name="Table 5"/>
          <p:cNvGraphicFramePr>
            <a:graphicFrameLocks noGrp="1"/>
          </p:cNvGraphicFramePr>
          <p:nvPr/>
        </p:nvGraphicFramePr>
        <p:xfrm>
          <a:off x="548640" y="1371600"/>
          <a:ext cx="7040880" cy="2834640"/>
        </p:xfrm>
        <a:graphic>
          <a:graphicData uri="http://schemas.openxmlformats.org/drawingml/2006/table">
            <a:tbl>
              <a:tblPr firstRow="1" bandRow="1">
                <a:tableStyleId>{5C22544A-7EE6-4342-B048-85BDC9FD1C3A}</a:tableStyleId>
              </a:tblPr>
              <a:tblGrid>
                <a:gridCol w="283464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tblGrid>
              <a:tr h="708660">
                <a:tc>
                  <a:txBody>
                    <a:bodyPr/>
                    <a:lstStyle/>
                    <a:p>
                      <a:r>
                        <a:rPr sz="1200" b="1" i="0">
                          <a:solidFill>
                            <a:srgbClr val="FFFFFF"/>
                          </a:solidFill>
                          <a:latin typeface="Calibri"/>
                        </a:rPr>
                        <a:t>Necesito...</a:t>
                      </a:r>
                    </a:p>
                  </a:txBody>
                  <a:tcPr marL="109728" marR="109728" anchor="ctr">
                    <a:solidFill>
                      <a:srgbClr val="0B6E4F"/>
                    </a:solidFill>
                  </a:tcPr>
                </a:tc>
                <a:tc>
                  <a:txBody>
                    <a:bodyPr/>
                    <a:lstStyle/>
                    <a:p>
                      <a:r>
                        <a:rPr sz="1200" b="1" i="0">
                          <a:solidFill>
                            <a:srgbClr val="FFFFFF"/>
                          </a:solidFill>
                          <a:latin typeface="Calibri"/>
                        </a:rPr>
                        <a:t>Herramienta</a:t>
                      </a:r>
                    </a:p>
                  </a:txBody>
                  <a:tcPr marL="109728" marR="109728" anchor="ctr">
                    <a:solidFill>
                      <a:srgbClr val="0B6E4F"/>
                    </a:solidFill>
                  </a:tcPr>
                </a:tc>
                <a:tc>
                  <a:txBody>
                    <a:bodyPr/>
                    <a:lstStyle/>
                    <a:p>
                      <a:r>
                        <a:rPr sz="1200" b="1" i="0">
                          <a:solidFill>
                            <a:srgbClr val="FFFFFF"/>
                          </a:solidFill>
                          <a:latin typeface="Calibri"/>
                        </a:rPr>
                        <a:t>Ejemplo</a:t>
                      </a:r>
                    </a:p>
                  </a:txBody>
                  <a:tcPr marL="109728" marR="109728" anchor="ctr">
                    <a:solidFill>
                      <a:srgbClr val="0B6E4F"/>
                    </a:solidFill>
                  </a:tcPr>
                </a:tc>
                <a:extLst>
                  <a:ext uri="{0D108BD9-81ED-4DB2-BD59-A6C34878D82A}">
                    <a16:rowId xmlns:a16="http://schemas.microsoft.com/office/drawing/2014/main" val="10000"/>
                  </a:ext>
                </a:extLst>
              </a:tr>
              <a:tr h="708660">
                <a:tc>
                  <a:txBody>
                    <a:bodyPr/>
                    <a:lstStyle/>
                    <a:p>
                      <a:r>
                        <a:rPr sz="1200" b="0" i="0">
                          <a:solidFill>
                            <a:srgbClr val="1F2A2E"/>
                          </a:solidFill>
                          <a:latin typeface="Calibri"/>
                        </a:rPr>
                        <a:t>Un informe que se regenera con datos nuevos</a:t>
                      </a:r>
                    </a:p>
                  </a:txBody>
                  <a:tcPr marL="109728" marR="109728" anchor="ctr">
                    <a:solidFill>
                      <a:srgbClr val="EEF6F2"/>
                    </a:solidFill>
                  </a:tcPr>
                </a:tc>
                <a:tc>
                  <a:txBody>
                    <a:bodyPr/>
                    <a:lstStyle/>
                    <a:p>
                      <a:r>
                        <a:rPr sz="1200" b="1" i="0">
                          <a:solidFill>
                            <a:srgbClr val="0B6E4F"/>
                          </a:solidFill>
                          <a:latin typeface="Calibri"/>
                        </a:rPr>
                        <a:t>R Markdown / Quarto</a:t>
                      </a:r>
                    </a:p>
                  </a:txBody>
                  <a:tcPr marL="109728" marR="109728" anchor="ctr">
                    <a:solidFill>
                      <a:srgbClr val="EEF6F2"/>
                    </a:solidFill>
                  </a:tcPr>
                </a:tc>
                <a:tc>
                  <a:txBody>
                    <a:bodyPr/>
                    <a:lstStyle/>
                    <a:p>
                      <a:r>
                        <a:rPr sz="1200" b="0" i="0">
                          <a:solidFill>
                            <a:srgbClr val="1F2A2E"/>
                          </a:solidFill>
                          <a:latin typeface="Calibri"/>
                        </a:rPr>
                        <a:t>Reporte mensual de ventas en HTML o PDF</a:t>
                      </a:r>
                    </a:p>
                  </a:txBody>
                  <a:tcPr marL="109728" marR="109728" anchor="ctr">
                    <a:solidFill>
                      <a:srgbClr val="EEF6F2"/>
                    </a:solidFill>
                  </a:tcPr>
                </a:tc>
                <a:extLst>
                  <a:ext uri="{0D108BD9-81ED-4DB2-BD59-A6C34878D82A}">
                    <a16:rowId xmlns:a16="http://schemas.microsoft.com/office/drawing/2014/main" val="10001"/>
                  </a:ext>
                </a:extLst>
              </a:tr>
              <a:tr h="708660">
                <a:tc>
                  <a:txBody>
                    <a:bodyPr/>
                    <a:lstStyle/>
                    <a:p>
                      <a:r>
                        <a:rPr sz="1200" b="0" i="0">
                          <a:solidFill>
                            <a:srgbClr val="1F2A2E"/>
                          </a:solidFill>
                          <a:latin typeface="Calibri"/>
                        </a:rPr>
                        <a:t>Un panel de gráficos interactivos sin lógica compleja</a:t>
                      </a:r>
                    </a:p>
                  </a:txBody>
                  <a:tcPr marL="109728" marR="109728" anchor="ctr">
                    <a:solidFill>
                      <a:srgbClr val="FFFFFF"/>
                    </a:solidFill>
                  </a:tcPr>
                </a:tc>
                <a:tc>
                  <a:txBody>
                    <a:bodyPr/>
                    <a:lstStyle/>
                    <a:p>
                      <a:r>
                        <a:rPr sz="1200" b="1" i="0">
                          <a:solidFill>
                            <a:srgbClr val="0B6E4F"/>
                          </a:solidFill>
                          <a:latin typeface="Calibri"/>
                        </a:rPr>
                        <a:t>flexdashboard / Quarto dashboards</a:t>
                      </a:r>
                    </a:p>
                  </a:txBody>
                  <a:tcPr marL="109728" marR="109728" anchor="ctr">
                    <a:solidFill>
                      <a:srgbClr val="FFFFFF"/>
                    </a:solidFill>
                  </a:tcPr>
                </a:tc>
                <a:tc>
                  <a:txBody>
                    <a:bodyPr/>
                    <a:lstStyle/>
                    <a:p>
                      <a:r>
                        <a:rPr sz="1200" b="0" i="0">
                          <a:solidFill>
                            <a:srgbClr val="1F2A2E"/>
                          </a:solidFill>
                          <a:latin typeface="Calibri"/>
                        </a:rPr>
                        <a:t>Tablero de indicadores para la dirección</a:t>
                      </a:r>
                    </a:p>
                  </a:txBody>
                  <a:tcPr marL="109728" marR="109728" anchor="ctr">
                    <a:solidFill>
                      <a:srgbClr val="FFFFFF"/>
                    </a:solidFill>
                  </a:tcPr>
                </a:tc>
                <a:extLst>
                  <a:ext uri="{0D108BD9-81ED-4DB2-BD59-A6C34878D82A}">
                    <a16:rowId xmlns:a16="http://schemas.microsoft.com/office/drawing/2014/main" val="10002"/>
                  </a:ext>
                </a:extLst>
              </a:tr>
              <a:tr h="708660">
                <a:tc>
                  <a:txBody>
                    <a:bodyPr/>
                    <a:lstStyle/>
                    <a:p>
                      <a:r>
                        <a:rPr sz="1200" b="0" i="0">
                          <a:solidFill>
                            <a:srgbClr val="1F2A2E"/>
                          </a:solidFill>
                          <a:latin typeface="Calibri"/>
                        </a:rPr>
                        <a:t>Filtros, escenarios y cálculos en vivo</a:t>
                      </a:r>
                    </a:p>
                  </a:txBody>
                  <a:tcPr marL="109728" marR="109728" anchor="ctr">
                    <a:solidFill>
                      <a:srgbClr val="EEF6F2"/>
                    </a:solidFill>
                  </a:tcPr>
                </a:tc>
                <a:tc>
                  <a:txBody>
                    <a:bodyPr/>
                    <a:lstStyle/>
                    <a:p>
                      <a:r>
                        <a:rPr sz="1200" b="1" i="0">
                          <a:solidFill>
                            <a:srgbClr val="0B6E4F"/>
                          </a:solidFill>
                          <a:latin typeface="Calibri"/>
                        </a:rPr>
                        <a:t>Shiny</a:t>
                      </a:r>
                    </a:p>
                  </a:txBody>
                  <a:tcPr marL="109728" marR="109728" anchor="ctr">
                    <a:solidFill>
                      <a:srgbClr val="EEF6F2"/>
                    </a:solidFill>
                  </a:tcPr>
                </a:tc>
                <a:tc>
                  <a:txBody>
                    <a:bodyPr/>
                    <a:lstStyle/>
                    <a:p>
                      <a:r>
                        <a:rPr sz="1200" b="0" i="0">
                          <a:solidFill>
                            <a:srgbClr val="1F2A2E"/>
                          </a:solidFill>
                          <a:latin typeface="Calibri"/>
                        </a:rPr>
                        <a:t>Simulador de precios con controles</a:t>
                      </a:r>
                    </a:p>
                  </a:txBody>
                  <a:tcPr marL="109728" marR="109728" anchor="ctr">
                    <a:solidFill>
                      <a:srgbClr val="EEF6F2"/>
                    </a:solidFill>
                  </a:tcPr>
                </a:tc>
                <a:extLst>
                  <a:ext uri="{0D108BD9-81ED-4DB2-BD59-A6C34878D82A}">
                    <a16:rowId xmlns:a16="http://schemas.microsoft.com/office/drawing/2014/main" val="10003"/>
                  </a:ext>
                </a:extLst>
              </a:tr>
            </a:tbl>
          </a:graphicData>
        </a:graphic>
      </p:graphicFrame>
      <p:sp>
        <p:nvSpPr>
          <p:cNvPr id="7" name="Rounded Rectangle 6"/>
          <p:cNvSpPr/>
          <p:nvPr/>
        </p:nvSpPr>
        <p:spPr>
          <a:xfrm>
            <a:off x="7955279" y="1371600"/>
            <a:ext cx="3685032" cy="2834640"/>
          </a:xfrm>
          <a:prstGeom prst="roundRect">
            <a:avLst>
              <a:gd name="adj" fmla="val 3000"/>
            </a:avLst>
          </a:prstGeom>
          <a:solidFill>
            <a:srgbClr val="FFFFFF"/>
          </a:solidFill>
          <a:ln w="9525">
            <a:solidFill>
              <a:srgbClr val="CFE8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065007" y="1481328"/>
            <a:ext cx="3465576" cy="347472"/>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156448" y="1481328"/>
            <a:ext cx="3319272" cy="347472"/>
          </a:xfrm>
          <a:prstGeom prst="rect">
            <a:avLst/>
          </a:prstGeom>
          <a:noFill/>
        </p:spPr>
        <p:txBody>
          <a:bodyPr wrap="square" lIns="0" tIns="0" rIns="0" bIns="0" anchor="ctr">
            <a:noAutofit/>
          </a:bodyPr>
          <a:lstStyle/>
          <a:p>
            <a:pPr algn="l">
              <a:lnSpc>
                <a:spcPct val="110000"/>
              </a:lnSpc>
              <a:spcAft>
                <a:spcPts val="0"/>
              </a:spcAft>
              <a:defRPr sz="950"/>
            </a:pPr>
            <a:r>
              <a:rPr sz="950" b="0" i="0">
                <a:solidFill>
                  <a:srgbClr val="FFFFFF"/>
                </a:solidFill>
                <a:latin typeface="Consolas"/>
              </a:rPr>
              <a:t>title: "Mercado de vivienda"</a:t>
            </a:r>
          </a:p>
        </p:txBody>
      </p:sp>
      <p:sp>
        <p:nvSpPr>
          <p:cNvPr id="10" name="Rounded Rectangle 9"/>
          <p:cNvSpPr/>
          <p:nvPr/>
        </p:nvSpPr>
        <p:spPr>
          <a:xfrm>
            <a:off x="8065007" y="1938528"/>
            <a:ext cx="2013508" cy="1005840"/>
          </a:xfrm>
          <a:prstGeom prst="roundRect">
            <a:avLst>
              <a:gd name="adj" fmla="val 5000"/>
            </a:avLst>
          </a:prstGeom>
          <a:solidFill>
            <a:srgbClr val="EE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138159" y="1984248"/>
            <a:ext cx="1876348" cy="274320"/>
          </a:xfrm>
          <a:prstGeom prst="rect">
            <a:avLst/>
          </a:prstGeom>
          <a:noFill/>
        </p:spPr>
        <p:txBody>
          <a:bodyPr wrap="square" lIns="0" tIns="0" rIns="0" bIns="0" anchor="t">
            <a:noAutofit/>
          </a:bodyPr>
          <a:lstStyle/>
          <a:p>
            <a:pPr algn="l">
              <a:lnSpc>
                <a:spcPct val="110000"/>
              </a:lnSpc>
              <a:spcAft>
                <a:spcPts val="0"/>
              </a:spcAft>
              <a:defRPr sz="850"/>
            </a:pPr>
            <a:r>
              <a:rPr sz="850" b="0" i="0">
                <a:solidFill>
                  <a:srgbClr val="0B6E4F"/>
                </a:solidFill>
                <a:latin typeface="Consolas"/>
              </a:rPr>
              <a:t>### Ventas por año (ggplotly)</a:t>
            </a:r>
          </a:p>
        </p:txBody>
      </p:sp>
      <p:sp>
        <p:nvSpPr>
          <p:cNvPr id="12" name="Rectangle 11"/>
          <p:cNvSpPr/>
          <p:nvPr/>
        </p:nvSpPr>
        <p:spPr>
          <a:xfrm>
            <a:off x="8183879" y="2304288"/>
            <a:ext cx="1739188" cy="502920"/>
          </a:xfrm>
          <a:prstGeom prst="rect">
            <a:avLst/>
          </a:prstGeom>
          <a:solidFill>
            <a:srgbClr val="CFE8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8065007" y="3035808"/>
            <a:ext cx="2013508" cy="1005840"/>
          </a:xfrm>
          <a:prstGeom prst="roundRect">
            <a:avLst>
              <a:gd name="adj" fmla="val 5000"/>
            </a:avLst>
          </a:prstGeom>
          <a:solidFill>
            <a:srgbClr val="EE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138159" y="3081528"/>
            <a:ext cx="1876348" cy="274320"/>
          </a:xfrm>
          <a:prstGeom prst="rect">
            <a:avLst/>
          </a:prstGeom>
          <a:noFill/>
        </p:spPr>
        <p:txBody>
          <a:bodyPr wrap="square" lIns="0" tIns="0" rIns="0" bIns="0" anchor="t">
            <a:noAutofit/>
          </a:bodyPr>
          <a:lstStyle/>
          <a:p>
            <a:pPr algn="l">
              <a:lnSpc>
                <a:spcPct val="110000"/>
              </a:lnSpc>
              <a:spcAft>
                <a:spcPts val="0"/>
              </a:spcAft>
              <a:defRPr sz="850"/>
            </a:pPr>
            <a:r>
              <a:rPr sz="850" b="0" i="0">
                <a:solidFill>
                  <a:srgbClr val="0B6E4F"/>
                </a:solidFill>
                <a:latin typeface="Consolas"/>
              </a:rPr>
              <a:t>### Mapa (leaflet)</a:t>
            </a:r>
          </a:p>
        </p:txBody>
      </p:sp>
      <p:sp>
        <p:nvSpPr>
          <p:cNvPr id="15" name="Rectangle 14"/>
          <p:cNvSpPr/>
          <p:nvPr/>
        </p:nvSpPr>
        <p:spPr>
          <a:xfrm>
            <a:off x="8183879" y="3401568"/>
            <a:ext cx="1739188" cy="502920"/>
          </a:xfrm>
          <a:prstGeom prst="rect">
            <a:avLst/>
          </a:prstGeom>
          <a:solidFill>
            <a:srgbClr val="CFE8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10188244" y="1938528"/>
            <a:ext cx="1342339" cy="1005840"/>
          </a:xfrm>
          <a:prstGeom prst="roundRect">
            <a:avLst>
              <a:gd name="adj" fmla="val 5000"/>
            </a:avLst>
          </a:prstGeom>
          <a:solidFill>
            <a:srgbClr val="FFF3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0261396" y="1984248"/>
            <a:ext cx="1205179" cy="274320"/>
          </a:xfrm>
          <a:prstGeom prst="rect">
            <a:avLst/>
          </a:prstGeom>
          <a:noFill/>
        </p:spPr>
        <p:txBody>
          <a:bodyPr wrap="square" lIns="0" tIns="0" rIns="0" bIns="0" anchor="t">
            <a:noAutofit/>
          </a:bodyPr>
          <a:lstStyle/>
          <a:p>
            <a:pPr algn="l">
              <a:lnSpc>
                <a:spcPct val="110000"/>
              </a:lnSpc>
              <a:spcAft>
                <a:spcPts val="0"/>
              </a:spcAft>
              <a:defRPr sz="850"/>
            </a:pPr>
            <a:r>
              <a:rPr sz="850" b="0" i="0">
                <a:solidFill>
                  <a:srgbClr val="B7791F"/>
                </a:solidFill>
                <a:latin typeface="Consolas"/>
              </a:rPr>
              <a:t>### KPI (valueBox)</a:t>
            </a:r>
          </a:p>
        </p:txBody>
      </p:sp>
      <p:sp>
        <p:nvSpPr>
          <p:cNvPr id="18" name="Rectangle 17"/>
          <p:cNvSpPr/>
          <p:nvPr/>
        </p:nvSpPr>
        <p:spPr>
          <a:xfrm>
            <a:off x="10307116" y="2304288"/>
            <a:ext cx="1068019" cy="502920"/>
          </a:xfrm>
          <a:prstGeom prst="rect">
            <a:avLst/>
          </a:prstGeom>
          <a:solidFill>
            <a:srgbClr val="F9E3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10188244" y="3035808"/>
            <a:ext cx="1342339" cy="1005840"/>
          </a:xfrm>
          <a:prstGeom prst="roundRect">
            <a:avLst>
              <a:gd name="adj" fmla="val 5000"/>
            </a:avLst>
          </a:prstGeom>
          <a:solidFill>
            <a:srgbClr val="FFF3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261396" y="3081528"/>
            <a:ext cx="1205179" cy="274320"/>
          </a:xfrm>
          <a:prstGeom prst="rect">
            <a:avLst/>
          </a:prstGeom>
          <a:noFill/>
        </p:spPr>
        <p:txBody>
          <a:bodyPr wrap="square" lIns="0" tIns="0" rIns="0" bIns="0" anchor="t">
            <a:noAutofit/>
          </a:bodyPr>
          <a:lstStyle/>
          <a:p>
            <a:pPr algn="l">
              <a:lnSpc>
                <a:spcPct val="110000"/>
              </a:lnSpc>
              <a:spcAft>
                <a:spcPts val="0"/>
              </a:spcAft>
              <a:defRPr sz="850"/>
            </a:pPr>
            <a:r>
              <a:rPr sz="850" b="0" i="0">
                <a:solidFill>
                  <a:srgbClr val="B7791F"/>
                </a:solidFill>
                <a:latin typeface="Consolas"/>
              </a:rPr>
              <a:t>### Tabla (DT)</a:t>
            </a:r>
          </a:p>
        </p:txBody>
      </p:sp>
      <p:sp>
        <p:nvSpPr>
          <p:cNvPr id="21" name="Rectangle 20"/>
          <p:cNvSpPr/>
          <p:nvPr/>
        </p:nvSpPr>
        <p:spPr>
          <a:xfrm>
            <a:off x="10307116" y="3401568"/>
            <a:ext cx="1068019" cy="502920"/>
          </a:xfrm>
          <a:prstGeom prst="rect">
            <a:avLst/>
          </a:prstGeom>
          <a:solidFill>
            <a:srgbClr val="F9E3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955279" y="4251959"/>
            <a:ext cx="3685032" cy="274320"/>
          </a:xfrm>
          <a:prstGeom prst="rect">
            <a:avLst/>
          </a:prstGeom>
          <a:noFill/>
        </p:spPr>
        <p:txBody>
          <a:bodyPr wrap="square" lIns="0" tIns="0" rIns="0" bIns="0" anchor="t">
            <a:noAutofit/>
          </a:bodyPr>
          <a:lstStyle/>
          <a:p>
            <a:pPr algn="ctr">
              <a:lnSpc>
                <a:spcPct val="110000"/>
              </a:lnSpc>
              <a:spcAft>
                <a:spcPts val="0"/>
              </a:spcAft>
              <a:defRPr sz="900"/>
            </a:pPr>
            <a:r>
              <a:rPr sz="900" b="0" i="0">
                <a:solidFill>
                  <a:srgbClr val="5B6B6F"/>
                </a:solidFill>
                <a:latin typeface="Consolas"/>
              </a:rPr>
              <a:t>Column {data-width=600}   |   Column {data-width=400}</a:t>
            </a:r>
          </a:p>
        </p:txBody>
      </p:sp>
      <p:sp>
        <p:nvSpPr>
          <p:cNvPr id="23" name="Rounded Rectangle 22"/>
          <p:cNvSpPr/>
          <p:nvPr/>
        </p:nvSpPr>
        <p:spPr>
          <a:xfrm>
            <a:off x="548640" y="4617720"/>
            <a:ext cx="11091672" cy="1691640"/>
          </a:xfrm>
          <a:prstGeom prst="roundRect">
            <a:avLst>
              <a:gd name="adj" fmla="val 6000"/>
            </a:avLst>
          </a:prstGeom>
          <a:solidFill>
            <a:srgbClr val="FFF3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77240" y="4709160"/>
            <a:ext cx="6583680" cy="1554480"/>
          </a:xfrm>
          <a:prstGeom prst="rect">
            <a:avLst/>
          </a:prstGeom>
          <a:noFill/>
        </p:spPr>
        <p:txBody>
          <a:bodyPr wrap="square" lIns="0" tIns="0" rIns="0" bIns="0" anchor="t">
            <a:noAutofit/>
          </a:bodyPr>
          <a:lstStyle/>
          <a:p>
            <a:pPr algn="l">
              <a:lnSpc>
                <a:spcPct val="110000"/>
              </a:lnSpc>
              <a:spcAft>
                <a:spcPts val="600"/>
              </a:spcAft>
              <a:defRPr sz="1150"/>
            </a:pPr>
            <a:r>
              <a:rPr sz="1150" b="1" i="0">
                <a:solidFill>
                  <a:srgbClr val="B7791F"/>
                </a:solidFill>
                <a:latin typeface="Calibri"/>
              </a:rPr>
              <a:t>flexdashboard</a:t>
            </a:r>
            <a:r>
              <a:rPr sz="1150" b="0" i="0">
                <a:solidFill>
                  <a:srgbClr val="1F2A2E"/>
                </a:solidFill>
                <a:latin typeface="Calibri"/>
              </a:rPr>
              <a:t> organiza con encabezados de Markdown: cada Column o Row es una sección y cada ### una tarjeta. Si añades runtime: shiny al YAML, el mismo archivo se vuelve reactivo.</a:t>
            </a:r>
          </a:p>
          <a:p>
            <a:pPr algn="l">
              <a:lnSpc>
                <a:spcPct val="110000"/>
              </a:lnSpc>
              <a:spcAft>
                <a:spcPts val="600"/>
              </a:spcAft>
              <a:defRPr sz="1150"/>
            </a:pPr>
            <a:r>
              <a:rPr sz="1150" b="1" i="0">
                <a:solidFill>
                  <a:srgbClr val="B7791F"/>
                </a:solidFill>
                <a:latin typeface="Calibri"/>
              </a:rPr>
              <a:t>Quarto</a:t>
            </a:r>
            <a:r>
              <a:rPr sz="1150" b="0" i="0">
                <a:solidFill>
                  <a:srgbClr val="1F2A2E"/>
                </a:solidFill>
                <a:latin typeface="Calibri"/>
              </a:rPr>
              <a:t> (2022) es el sucesor multilenguaje de R Markdown: los mismos dashboards y reportes, también desde Python y Julia.</a:t>
            </a:r>
          </a:p>
        </p:txBody>
      </p:sp>
      <p:sp>
        <p:nvSpPr>
          <p:cNvPr id="25" name="Rounded Rectangle 24"/>
          <p:cNvSpPr/>
          <p:nvPr/>
        </p:nvSpPr>
        <p:spPr>
          <a:xfrm>
            <a:off x="7589520" y="4754880"/>
            <a:ext cx="3840480" cy="1417320"/>
          </a:xfrm>
          <a:prstGeom prst="roundRect">
            <a:avLst>
              <a:gd name="adj" fmla="val 4000"/>
            </a:avLst>
          </a:prstGeom>
          <a:solidFill>
            <a:srgbClr val="0F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754112" y="4882896"/>
            <a:ext cx="3511296" cy="1161288"/>
          </a:xfrm>
          <a:prstGeom prst="rect">
            <a:avLst/>
          </a:prstGeom>
          <a:noFill/>
        </p:spPr>
        <p:txBody>
          <a:bodyPr wrap="square" lIns="0" tIns="0" rIns="0" bIns="0" anchor="t">
            <a:noAutofit/>
          </a:bodyPr>
          <a:lstStyle/>
          <a:p>
            <a:pPr>
              <a:lnSpc>
                <a:spcPct val="105000"/>
              </a:lnSpc>
              <a:spcAft>
                <a:spcPts val="100"/>
              </a:spcAft>
              <a:defRPr sz="950"/>
            </a:pPr>
            <a:r>
              <a:rPr sz="950" b="0" i="0">
                <a:solidFill>
                  <a:srgbClr val="E8F1EC"/>
                </a:solidFill>
                <a:latin typeface="Consolas"/>
              </a:rPr>
              <a:t>---</a:t>
            </a:r>
          </a:p>
          <a:p>
            <a:pPr>
              <a:lnSpc>
                <a:spcPct val="105000"/>
              </a:lnSpc>
              <a:spcAft>
                <a:spcPts val="100"/>
              </a:spcAft>
              <a:defRPr sz="950"/>
            </a:pPr>
            <a:r>
              <a:rPr sz="950" b="0" i="0">
                <a:solidFill>
                  <a:srgbClr val="E8F1EC"/>
                </a:solidFill>
                <a:latin typeface="Consolas"/>
              </a:rPr>
              <a:t>title: </a:t>
            </a:r>
            <a:r>
              <a:rPr sz="950" b="0" i="0">
                <a:solidFill>
                  <a:srgbClr val="F5C56B"/>
                </a:solidFill>
                <a:latin typeface="Consolas"/>
              </a:rPr>
              <a:t>"Mercado de vivienda"</a:t>
            </a:r>
          </a:p>
          <a:p>
            <a:pPr>
              <a:lnSpc>
                <a:spcPct val="105000"/>
              </a:lnSpc>
              <a:spcAft>
                <a:spcPts val="100"/>
              </a:spcAft>
              <a:defRPr sz="950"/>
            </a:pPr>
            <a:r>
              <a:rPr sz="950" b="0" i="0">
                <a:solidFill>
                  <a:srgbClr val="E8F1EC"/>
                </a:solidFill>
                <a:latin typeface="Consolas"/>
              </a:rPr>
              <a:t>output: flexdashboard::flex_dashboard</a:t>
            </a:r>
          </a:p>
          <a:p>
            <a:pPr>
              <a:lnSpc>
                <a:spcPct val="105000"/>
              </a:lnSpc>
              <a:spcAft>
                <a:spcPts val="100"/>
              </a:spcAft>
              <a:defRPr sz="950"/>
            </a:pPr>
            <a:r>
              <a:rPr sz="950" b="0" i="0">
                <a:solidFill>
                  <a:srgbClr val="E8F1EC"/>
                </a:solidFill>
                <a:latin typeface="Consolas"/>
              </a:rPr>
              <a:t>runtime: shiny</a:t>
            </a:r>
          </a:p>
          <a:p>
            <a:pPr>
              <a:lnSpc>
                <a:spcPct val="105000"/>
              </a:lnSpc>
              <a:spcAft>
                <a:spcPts val="100"/>
              </a:spcAft>
              <a:defRPr sz="950"/>
            </a:pPr>
            <a:r>
              <a:rPr sz="950" b="0" i="0">
                <a:solidFill>
                  <a:srgbClr val="E8F1EC"/>
                </a:solidFill>
                <a:latin typeface="Consolas"/>
              </a:rPr>
              <a: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3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6446520"/>
            <a:ext cx="7315200" cy="274320"/>
          </a:xfrm>
          <a:prstGeom prst="rect">
            <a:avLst/>
          </a:prstGeom>
          <a:noFill/>
        </p:spPr>
        <p:txBody>
          <a:bodyPr wrap="square" lIns="0" tIns="0" rIns="0" bIns="0" anchor="t">
            <a:noAutofit/>
          </a:bodyPr>
          <a:lstStyle/>
          <a:p>
            <a:pPr algn="l">
              <a:lnSpc>
                <a:spcPct val="110000"/>
              </a:lnSpc>
              <a:spcAft>
                <a:spcPts val="0"/>
              </a:spcAft>
              <a:defRPr sz="900"/>
            </a:pPr>
            <a:r>
              <a:rPr sz="900" b="0" i="0">
                <a:solidFill>
                  <a:srgbClr val="9CC4B4"/>
                </a:solidFill>
                <a:latin typeface="Calibri"/>
              </a:rPr>
              <a:t>Visualización de Datos · Clase 18 · R y visualización de datos</a:t>
            </a:r>
          </a:p>
        </p:txBody>
      </p:sp>
      <p:sp>
        <p:nvSpPr>
          <p:cNvPr id="4" name="TextBox 3"/>
          <p:cNvSpPr txBox="1"/>
          <p:nvPr/>
        </p:nvSpPr>
        <p:spPr>
          <a:xfrm>
            <a:off x="10972800" y="6446520"/>
            <a:ext cx="667512" cy="274320"/>
          </a:xfrm>
          <a:prstGeom prst="rect">
            <a:avLst/>
          </a:prstGeom>
          <a:noFill/>
        </p:spPr>
        <p:txBody>
          <a:bodyPr wrap="square" lIns="0" tIns="0" rIns="0" bIns="0" anchor="t">
            <a:noAutofit/>
          </a:bodyPr>
          <a:lstStyle/>
          <a:p>
            <a:pPr algn="r">
              <a:lnSpc>
                <a:spcPct val="110000"/>
              </a:lnSpc>
              <a:spcAft>
                <a:spcPts val="0"/>
              </a:spcAft>
              <a:defRPr sz="900"/>
            </a:pPr>
            <a:r>
              <a:rPr sz="900" b="0" i="0">
                <a:solidFill>
                  <a:srgbClr val="9CC4B4"/>
                </a:solidFill>
                <a:latin typeface="Calibri"/>
              </a:rPr>
              <a:t>24</a:t>
            </a:r>
          </a:p>
        </p:txBody>
      </p:sp>
      <p:pic>
        <p:nvPicPr>
          <p:cNvPr id="5" name="Picture 4" descr="img-009.png"/>
          <p:cNvPicPr>
            <a:picLocks noChangeAspect="1"/>
          </p:cNvPicPr>
          <p:nvPr/>
        </p:nvPicPr>
        <p:blipFill>
          <a:blip r:embed="rId3"/>
          <a:srcRect t="5357" b="5357"/>
          <a:stretch>
            <a:fillRect/>
          </a:stretch>
        </p:blipFill>
        <p:spPr>
          <a:xfrm>
            <a:off x="0" y="0"/>
            <a:ext cx="5120640" cy="6858000"/>
          </a:xfrm>
          <a:prstGeom prst="rect">
            <a:avLst/>
          </a:prstGeom>
        </p:spPr>
      </p:pic>
      <p:sp>
        <p:nvSpPr>
          <p:cNvPr id="6" name="TextBox 5"/>
          <p:cNvSpPr txBox="1"/>
          <p:nvPr/>
        </p:nvSpPr>
        <p:spPr>
          <a:xfrm>
            <a:off x="5760720" y="1737360"/>
            <a:ext cx="5760720" cy="1097280"/>
          </a:xfrm>
          <a:prstGeom prst="rect">
            <a:avLst/>
          </a:prstGeom>
          <a:noFill/>
        </p:spPr>
        <p:txBody>
          <a:bodyPr wrap="square" lIns="0" tIns="0" rIns="0" bIns="0" anchor="t">
            <a:noAutofit/>
          </a:bodyPr>
          <a:lstStyle/>
          <a:p>
            <a:pPr algn="l">
              <a:lnSpc>
                <a:spcPct val="110000"/>
              </a:lnSpc>
              <a:spcAft>
                <a:spcPts val="0"/>
              </a:spcAft>
              <a:defRPr sz="5400"/>
            </a:pPr>
            <a:r>
              <a:rPr sz="5400" b="1" i="0">
                <a:solidFill>
                  <a:srgbClr val="FFFFFF"/>
                </a:solidFill>
                <a:latin typeface="Cambria"/>
              </a:rPr>
              <a:t>Capítulo 4</a:t>
            </a:r>
          </a:p>
        </p:txBody>
      </p:sp>
      <p:sp>
        <p:nvSpPr>
          <p:cNvPr id="7" name="TextBox 6"/>
          <p:cNvSpPr txBox="1"/>
          <p:nvPr/>
        </p:nvSpPr>
        <p:spPr>
          <a:xfrm>
            <a:off x="5760720" y="2926080"/>
            <a:ext cx="5943600" cy="1371600"/>
          </a:xfrm>
          <a:prstGeom prst="rect">
            <a:avLst/>
          </a:prstGeom>
          <a:noFill/>
        </p:spPr>
        <p:txBody>
          <a:bodyPr wrap="square" lIns="0" tIns="0" rIns="0" bIns="0" anchor="t">
            <a:noAutofit/>
          </a:bodyPr>
          <a:lstStyle/>
          <a:p>
            <a:pPr algn="l">
              <a:lnSpc>
                <a:spcPct val="105000"/>
              </a:lnSpc>
              <a:spcAft>
                <a:spcPts val="0"/>
              </a:spcAft>
              <a:defRPr sz="2500"/>
            </a:pPr>
            <a:r>
              <a:rPr sz="2500" b="1" i="0">
                <a:solidFill>
                  <a:srgbClr val="F2A93B"/>
                </a:solidFill>
                <a:latin typeface="Cambria"/>
              </a:rPr>
              <a:t>Flujo completo de análisis y visualización con R</a:t>
            </a:r>
          </a:p>
        </p:txBody>
      </p:sp>
      <p:sp>
        <p:nvSpPr>
          <p:cNvPr id="8" name="TextBox 7"/>
          <p:cNvSpPr txBox="1"/>
          <p:nvPr/>
        </p:nvSpPr>
        <p:spPr>
          <a:xfrm>
            <a:off x="5760720" y="4343400"/>
            <a:ext cx="5760720" cy="1645920"/>
          </a:xfrm>
          <a:prstGeom prst="rect">
            <a:avLst/>
          </a:prstGeom>
          <a:noFill/>
        </p:spPr>
        <p:txBody>
          <a:bodyPr wrap="square" lIns="0" tIns="0" rIns="0" bIns="0" anchor="t">
            <a:noAutofit/>
          </a:bodyPr>
          <a:lstStyle/>
          <a:p>
            <a:pPr algn="l">
              <a:lnSpc>
                <a:spcPct val="115000"/>
              </a:lnSpc>
              <a:spcAft>
                <a:spcPts val="0"/>
              </a:spcAft>
              <a:defRPr sz="1400"/>
            </a:pPr>
            <a:r>
              <a:rPr sz="1400" b="0" i="0">
                <a:solidFill>
                  <a:srgbClr val="D7E9E1"/>
                </a:solidFill>
                <a:latin typeface="Calibri"/>
              </a:rPr>
              <a:t>El análisis de datos no es lineal sino iterativo: cada fase informa y refina las anteriores. R ofrece herramientas integradas para cada etapa del ciclo, sin cambiar de entorno.</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6446520"/>
            <a:ext cx="7315200" cy="274320"/>
          </a:xfrm>
          <a:prstGeom prst="rect">
            <a:avLst/>
          </a:prstGeom>
          <a:noFill/>
        </p:spPr>
        <p:txBody>
          <a:bodyPr wrap="square" lIns="0" tIns="0" rIns="0" bIns="0" anchor="t">
            <a:noAutofit/>
          </a:bodyPr>
          <a:lstStyle/>
          <a:p>
            <a:pPr algn="l">
              <a:lnSpc>
                <a:spcPct val="110000"/>
              </a:lnSpc>
              <a:spcAft>
                <a:spcPts val="0"/>
              </a:spcAft>
              <a:defRPr sz="900"/>
            </a:pPr>
            <a:r>
              <a:rPr sz="900" b="0" i="0">
                <a:solidFill>
                  <a:srgbClr val="9AA7AB"/>
                </a:solidFill>
                <a:latin typeface="Calibri"/>
              </a:rPr>
              <a:t>Visualización de Datos · Clase 18 · R y visualización de datos</a:t>
            </a:r>
          </a:p>
        </p:txBody>
      </p:sp>
      <p:sp>
        <p:nvSpPr>
          <p:cNvPr id="4" name="TextBox 3"/>
          <p:cNvSpPr txBox="1"/>
          <p:nvPr/>
        </p:nvSpPr>
        <p:spPr>
          <a:xfrm>
            <a:off x="10972800" y="6446520"/>
            <a:ext cx="667512" cy="274320"/>
          </a:xfrm>
          <a:prstGeom prst="rect">
            <a:avLst/>
          </a:prstGeom>
          <a:noFill/>
        </p:spPr>
        <p:txBody>
          <a:bodyPr wrap="square" lIns="0" tIns="0" rIns="0" bIns="0" anchor="t">
            <a:noAutofit/>
          </a:bodyPr>
          <a:lstStyle/>
          <a:p>
            <a:pPr algn="r">
              <a:lnSpc>
                <a:spcPct val="110000"/>
              </a:lnSpc>
              <a:spcAft>
                <a:spcPts val="0"/>
              </a:spcAft>
              <a:defRPr sz="900"/>
            </a:pPr>
            <a:r>
              <a:rPr sz="900" b="0" i="0">
                <a:solidFill>
                  <a:srgbClr val="9AA7AB"/>
                </a:solidFill>
                <a:latin typeface="Calibri"/>
              </a:rPr>
              <a:t>25</a:t>
            </a:r>
          </a:p>
        </p:txBody>
      </p:sp>
      <p:sp>
        <p:nvSpPr>
          <p:cNvPr id="5" name="TextBox 4"/>
          <p:cNvSpPr txBox="1"/>
          <p:nvPr/>
        </p:nvSpPr>
        <p:spPr>
          <a:xfrm>
            <a:off x="548640" y="457200"/>
            <a:ext cx="11091672" cy="731520"/>
          </a:xfrm>
          <a:prstGeom prst="rect">
            <a:avLst/>
          </a:prstGeom>
          <a:noFill/>
        </p:spPr>
        <p:txBody>
          <a:bodyPr wrap="square" lIns="0" tIns="0" rIns="0" bIns="0" anchor="t">
            <a:noAutofit/>
          </a:bodyPr>
          <a:lstStyle/>
          <a:p>
            <a:pPr algn="l">
              <a:lnSpc>
                <a:spcPct val="110000"/>
              </a:lnSpc>
              <a:spcAft>
                <a:spcPts val="0"/>
              </a:spcAft>
              <a:defRPr sz="3000"/>
            </a:pPr>
            <a:r>
              <a:rPr sz="3000" b="1" i="0">
                <a:solidFill>
                  <a:srgbClr val="0B6E4F"/>
                </a:solidFill>
                <a:latin typeface="Cambria"/>
              </a:rPr>
              <a:t>Las cinco fases del análisis exploratorio en R</a:t>
            </a:r>
          </a:p>
        </p:txBody>
      </p:sp>
      <p:sp>
        <p:nvSpPr>
          <p:cNvPr id="6" name="Rounded Rectangle 5"/>
          <p:cNvSpPr/>
          <p:nvPr/>
        </p:nvSpPr>
        <p:spPr>
          <a:xfrm>
            <a:off x="548640" y="1417320"/>
            <a:ext cx="2011680" cy="3246120"/>
          </a:xfrm>
          <a:prstGeom prst="roundRect">
            <a:avLst>
              <a:gd name="adj" fmla="val 6000"/>
            </a:avLst>
          </a:prstGeom>
          <a:solidFill>
            <a:srgbClr val="EE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31520" y="1600200"/>
            <a:ext cx="457200" cy="457200"/>
          </a:xfrm>
          <a:prstGeom prst="ellipse">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i="0">
                <a:solidFill>
                  <a:srgbClr val="FFFFFF"/>
                </a:solidFill>
                <a:latin typeface="Cambria"/>
              </a:rPr>
              <a:t>1</a:t>
            </a:r>
          </a:p>
        </p:txBody>
      </p:sp>
      <p:sp>
        <p:nvSpPr>
          <p:cNvPr id="8" name="TextBox 7"/>
          <p:cNvSpPr txBox="1"/>
          <p:nvPr/>
        </p:nvSpPr>
        <p:spPr>
          <a:xfrm>
            <a:off x="731520" y="2148840"/>
            <a:ext cx="1691640" cy="640080"/>
          </a:xfrm>
          <a:prstGeom prst="rect">
            <a:avLst/>
          </a:prstGeom>
          <a:noFill/>
        </p:spPr>
        <p:txBody>
          <a:bodyPr wrap="square" lIns="0" tIns="0" rIns="0" bIns="0" anchor="t">
            <a:noAutofit/>
          </a:bodyPr>
          <a:lstStyle/>
          <a:p>
            <a:pPr algn="l">
              <a:lnSpc>
                <a:spcPct val="100000"/>
              </a:lnSpc>
              <a:spcAft>
                <a:spcPts val="0"/>
              </a:spcAft>
              <a:defRPr sz="1350"/>
            </a:pPr>
            <a:r>
              <a:rPr sz="1350" b="1" i="0">
                <a:solidFill>
                  <a:srgbClr val="0B6E4F"/>
                </a:solidFill>
                <a:latin typeface="Cambria"/>
              </a:rPr>
              <a:t>Definir y recopilar</a:t>
            </a:r>
          </a:p>
        </p:txBody>
      </p:sp>
      <p:sp>
        <p:nvSpPr>
          <p:cNvPr id="9" name="TextBox 8"/>
          <p:cNvSpPr txBox="1"/>
          <p:nvPr/>
        </p:nvSpPr>
        <p:spPr>
          <a:xfrm>
            <a:off x="731520" y="2788920"/>
            <a:ext cx="1691640" cy="1097280"/>
          </a:xfrm>
          <a:prstGeom prst="rect">
            <a:avLst/>
          </a:prstGeom>
          <a:noFill/>
        </p:spPr>
        <p:txBody>
          <a:bodyPr wrap="square" lIns="0" tIns="0" rIns="0" bIns="0" anchor="t">
            <a:noAutofit/>
          </a:bodyPr>
          <a:lstStyle/>
          <a:p>
            <a:pPr algn="l">
              <a:lnSpc>
                <a:spcPct val="110000"/>
              </a:lnSpc>
              <a:spcAft>
                <a:spcPts val="0"/>
              </a:spcAft>
              <a:defRPr sz="1050"/>
            </a:pPr>
            <a:r>
              <a:rPr sz="1050" b="0" i="0">
                <a:solidFill>
                  <a:srgbClr val="1F2A2E"/>
                </a:solidFill>
                <a:latin typeface="Calibri"/>
              </a:rPr>
              <a:t>Preguntas claras y datos de bases, APIs, archivos CSV, Excel o web scraping.</a:t>
            </a:r>
          </a:p>
        </p:txBody>
      </p:sp>
      <p:sp>
        <p:nvSpPr>
          <p:cNvPr id="10" name="TextBox 9"/>
          <p:cNvSpPr txBox="1"/>
          <p:nvPr/>
        </p:nvSpPr>
        <p:spPr>
          <a:xfrm>
            <a:off x="731520" y="3886200"/>
            <a:ext cx="1691640" cy="228600"/>
          </a:xfrm>
          <a:prstGeom prst="rect">
            <a:avLst/>
          </a:prstGeom>
          <a:noFill/>
        </p:spPr>
        <p:txBody>
          <a:bodyPr wrap="square" lIns="0" tIns="0" rIns="0" bIns="0" anchor="t">
            <a:noAutofit/>
          </a:bodyPr>
          <a:lstStyle/>
          <a:p>
            <a:pPr algn="l">
              <a:lnSpc>
                <a:spcPct val="110000"/>
              </a:lnSpc>
              <a:spcAft>
                <a:spcPts val="0"/>
              </a:spcAft>
              <a:defRPr sz="950"/>
            </a:pPr>
            <a:r>
              <a:rPr sz="950" b="1" i="0">
                <a:solidFill>
                  <a:srgbClr val="5B6B6F"/>
                </a:solidFill>
                <a:latin typeface="Calibri"/>
              </a:rPr>
              <a:t>Paquetes</a:t>
            </a:r>
          </a:p>
        </p:txBody>
      </p:sp>
      <p:sp>
        <p:nvSpPr>
          <p:cNvPr id="11" name="TextBox 10"/>
          <p:cNvSpPr txBox="1"/>
          <p:nvPr/>
        </p:nvSpPr>
        <p:spPr>
          <a:xfrm>
            <a:off x="731520" y="4114800"/>
            <a:ext cx="1691640" cy="548640"/>
          </a:xfrm>
          <a:prstGeom prst="rect">
            <a:avLst/>
          </a:prstGeom>
          <a:noFill/>
        </p:spPr>
        <p:txBody>
          <a:bodyPr wrap="square" lIns="0" tIns="0" rIns="0" bIns="0" anchor="t">
            <a:noAutofit/>
          </a:bodyPr>
          <a:lstStyle/>
          <a:p>
            <a:pPr algn="l">
              <a:lnSpc>
                <a:spcPct val="105000"/>
              </a:lnSpc>
              <a:spcAft>
                <a:spcPts val="0"/>
              </a:spcAft>
              <a:defRPr sz="950"/>
            </a:pPr>
            <a:r>
              <a:rPr sz="950" b="0" i="0">
                <a:solidFill>
                  <a:srgbClr val="0B6E4F"/>
                </a:solidFill>
                <a:latin typeface="Consolas"/>
              </a:rPr>
              <a:t>readr, readxl, httr2, DBI, rvest</a:t>
            </a:r>
          </a:p>
        </p:txBody>
      </p:sp>
      <p:sp>
        <p:nvSpPr>
          <p:cNvPr id="12" name="Right Arrow 11"/>
          <p:cNvSpPr/>
          <p:nvPr/>
        </p:nvSpPr>
        <p:spPr>
          <a:xfrm>
            <a:off x="2596896" y="2880360"/>
            <a:ext cx="182880" cy="256032"/>
          </a:xfrm>
          <a:prstGeom prst="rightArrow">
            <a:avLst/>
          </a:prstGeom>
          <a:solidFill>
            <a:srgbClr val="F2A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2816352" y="1417320"/>
            <a:ext cx="2011680" cy="3246120"/>
          </a:xfrm>
          <a:prstGeom prst="roundRect">
            <a:avLst>
              <a:gd name="adj" fmla="val 6000"/>
            </a:avLst>
          </a:prstGeom>
          <a:solidFill>
            <a:srgbClr val="EE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2999232" y="1600200"/>
            <a:ext cx="457200" cy="457200"/>
          </a:xfrm>
          <a:prstGeom prst="ellipse">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i="0">
                <a:solidFill>
                  <a:srgbClr val="FFFFFF"/>
                </a:solidFill>
                <a:latin typeface="Cambria"/>
              </a:rPr>
              <a:t>2</a:t>
            </a:r>
          </a:p>
        </p:txBody>
      </p:sp>
      <p:sp>
        <p:nvSpPr>
          <p:cNvPr id="15" name="TextBox 14"/>
          <p:cNvSpPr txBox="1"/>
          <p:nvPr/>
        </p:nvSpPr>
        <p:spPr>
          <a:xfrm>
            <a:off x="2999232" y="2148840"/>
            <a:ext cx="1691640" cy="640080"/>
          </a:xfrm>
          <a:prstGeom prst="rect">
            <a:avLst/>
          </a:prstGeom>
          <a:noFill/>
        </p:spPr>
        <p:txBody>
          <a:bodyPr wrap="square" lIns="0" tIns="0" rIns="0" bIns="0" anchor="t">
            <a:noAutofit/>
          </a:bodyPr>
          <a:lstStyle/>
          <a:p>
            <a:pPr algn="l">
              <a:lnSpc>
                <a:spcPct val="100000"/>
              </a:lnSpc>
              <a:spcAft>
                <a:spcPts val="0"/>
              </a:spcAft>
              <a:defRPr sz="1350"/>
            </a:pPr>
            <a:r>
              <a:rPr sz="1350" b="1" i="0">
                <a:solidFill>
                  <a:srgbClr val="0B6E4F"/>
                </a:solidFill>
                <a:latin typeface="Cambria"/>
              </a:rPr>
              <a:t>Importar y limpiar</a:t>
            </a:r>
          </a:p>
        </p:txBody>
      </p:sp>
      <p:sp>
        <p:nvSpPr>
          <p:cNvPr id="16" name="TextBox 15"/>
          <p:cNvSpPr txBox="1"/>
          <p:nvPr/>
        </p:nvSpPr>
        <p:spPr>
          <a:xfrm>
            <a:off x="2999232" y="2788920"/>
            <a:ext cx="1691640" cy="1097280"/>
          </a:xfrm>
          <a:prstGeom prst="rect">
            <a:avLst/>
          </a:prstGeom>
          <a:noFill/>
        </p:spPr>
        <p:txBody>
          <a:bodyPr wrap="square" lIns="0" tIns="0" rIns="0" bIns="0" anchor="t">
            <a:noAutofit/>
          </a:bodyPr>
          <a:lstStyle/>
          <a:p>
            <a:pPr algn="l">
              <a:lnSpc>
                <a:spcPct val="110000"/>
              </a:lnSpc>
              <a:spcAft>
                <a:spcPts val="0"/>
              </a:spcAft>
              <a:defRPr sz="1050"/>
            </a:pPr>
            <a:r>
              <a:rPr sz="1050" b="0" i="0">
                <a:solidFill>
                  <a:srgbClr val="1F2A2E"/>
                </a:solidFill>
                <a:latin typeface="Calibri"/>
              </a:rPr>
              <a:t>Filtrar, transformar, unir tablas, tratar faltantes y atípicos, normalizar formatos.</a:t>
            </a:r>
          </a:p>
        </p:txBody>
      </p:sp>
      <p:sp>
        <p:nvSpPr>
          <p:cNvPr id="17" name="TextBox 16"/>
          <p:cNvSpPr txBox="1"/>
          <p:nvPr/>
        </p:nvSpPr>
        <p:spPr>
          <a:xfrm>
            <a:off x="2999232" y="3886200"/>
            <a:ext cx="1691640" cy="228600"/>
          </a:xfrm>
          <a:prstGeom prst="rect">
            <a:avLst/>
          </a:prstGeom>
          <a:noFill/>
        </p:spPr>
        <p:txBody>
          <a:bodyPr wrap="square" lIns="0" tIns="0" rIns="0" bIns="0" anchor="t">
            <a:noAutofit/>
          </a:bodyPr>
          <a:lstStyle/>
          <a:p>
            <a:pPr algn="l">
              <a:lnSpc>
                <a:spcPct val="110000"/>
              </a:lnSpc>
              <a:spcAft>
                <a:spcPts val="0"/>
              </a:spcAft>
              <a:defRPr sz="950"/>
            </a:pPr>
            <a:r>
              <a:rPr sz="950" b="1" i="0">
                <a:solidFill>
                  <a:srgbClr val="5B6B6F"/>
                </a:solidFill>
                <a:latin typeface="Calibri"/>
              </a:rPr>
              <a:t>Paquetes</a:t>
            </a:r>
          </a:p>
        </p:txBody>
      </p:sp>
      <p:sp>
        <p:nvSpPr>
          <p:cNvPr id="18" name="TextBox 17"/>
          <p:cNvSpPr txBox="1"/>
          <p:nvPr/>
        </p:nvSpPr>
        <p:spPr>
          <a:xfrm>
            <a:off x="2999232" y="4114800"/>
            <a:ext cx="1691640" cy="548640"/>
          </a:xfrm>
          <a:prstGeom prst="rect">
            <a:avLst/>
          </a:prstGeom>
          <a:noFill/>
        </p:spPr>
        <p:txBody>
          <a:bodyPr wrap="square" lIns="0" tIns="0" rIns="0" bIns="0" anchor="t">
            <a:noAutofit/>
          </a:bodyPr>
          <a:lstStyle/>
          <a:p>
            <a:pPr algn="l">
              <a:lnSpc>
                <a:spcPct val="105000"/>
              </a:lnSpc>
              <a:spcAft>
                <a:spcPts val="0"/>
              </a:spcAft>
              <a:defRPr sz="950"/>
            </a:pPr>
            <a:r>
              <a:rPr sz="950" b="0" i="0">
                <a:solidFill>
                  <a:srgbClr val="0B6E4F"/>
                </a:solidFill>
                <a:latin typeface="Consolas"/>
              </a:rPr>
              <a:t>dplyr, tidyr, janitor, lubridate</a:t>
            </a:r>
          </a:p>
        </p:txBody>
      </p:sp>
      <p:sp>
        <p:nvSpPr>
          <p:cNvPr id="19" name="Right Arrow 18"/>
          <p:cNvSpPr/>
          <p:nvPr/>
        </p:nvSpPr>
        <p:spPr>
          <a:xfrm>
            <a:off x="4864608" y="2880360"/>
            <a:ext cx="182880" cy="256032"/>
          </a:xfrm>
          <a:prstGeom prst="rightArrow">
            <a:avLst/>
          </a:prstGeom>
          <a:solidFill>
            <a:srgbClr val="F2A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5084064" y="1417320"/>
            <a:ext cx="2011680" cy="3246120"/>
          </a:xfrm>
          <a:prstGeom prst="roundRect">
            <a:avLst>
              <a:gd name="adj" fmla="val 6000"/>
            </a:avLst>
          </a:prstGeom>
          <a:solidFill>
            <a:srgbClr val="FFF3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5266944" y="1600200"/>
            <a:ext cx="457200" cy="457200"/>
          </a:xfrm>
          <a:prstGeom prst="ellipse">
            <a:avLst/>
          </a:prstGeom>
          <a:solidFill>
            <a:srgbClr val="F2A93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i="0">
                <a:solidFill>
                  <a:srgbClr val="0A3D2E"/>
                </a:solidFill>
                <a:latin typeface="Cambria"/>
              </a:rPr>
              <a:t>3</a:t>
            </a:r>
          </a:p>
        </p:txBody>
      </p:sp>
      <p:sp>
        <p:nvSpPr>
          <p:cNvPr id="22" name="TextBox 21"/>
          <p:cNvSpPr txBox="1"/>
          <p:nvPr/>
        </p:nvSpPr>
        <p:spPr>
          <a:xfrm>
            <a:off x="5266944" y="2148840"/>
            <a:ext cx="1691640" cy="640080"/>
          </a:xfrm>
          <a:prstGeom prst="rect">
            <a:avLst/>
          </a:prstGeom>
          <a:noFill/>
        </p:spPr>
        <p:txBody>
          <a:bodyPr wrap="square" lIns="0" tIns="0" rIns="0" bIns="0" anchor="t">
            <a:noAutofit/>
          </a:bodyPr>
          <a:lstStyle/>
          <a:p>
            <a:pPr algn="l">
              <a:lnSpc>
                <a:spcPct val="100000"/>
              </a:lnSpc>
              <a:spcAft>
                <a:spcPts val="0"/>
              </a:spcAft>
              <a:defRPr sz="1350"/>
            </a:pPr>
            <a:r>
              <a:rPr sz="1350" b="1" i="0">
                <a:solidFill>
                  <a:srgbClr val="0B6E4F"/>
                </a:solidFill>
                <a:latin typeface="Cambria"/>
              </a:rPr>
              <a:t>Visualizar patrones</a:t>
            </a:r>
          </a:p>
        </p:txBody>
      </p:sp>
      <p:sp>
        <p:nvSpPr>
          <p:cNvPr id="23" name="TextBox 22"/>
          <p:cNvSpPr txBox="1"/>
          <p:nvPr/>
        </p:nvSpPr>
        <p:spPr>
          <a:xfrm>
            <a:off x="5266944" y="2788920"/>
            <a:ext cx="1691640" cy="1097280"/>
          </a:xfrm>
          <a:prstGeom prst="rect">
            <a:avLst/>
          </a:prstGeom>
          <a:noFill/>
        </p:spPr>
        <p:txBody>
          <a:bodyPr wrap="square" lIns="0" tIns="0" rIns="0" bIns="0" anchor="t">
            <a:noAutofit/>
          </a:bodyPr>
          <a:lstStyle/>
          <a:p>
            <a:pPr algn="l">
              <a:lnSpc>
                <a:spcPct val="110000"/>
              </a:lnSpc>
              <a:spcAft>
                <a:spcPts val="0"/>
              </a:spcAft>
              <a:defRPr sz="1050"/>
            </a:pPr>
            <a:r>
              <a:rPr sz="1050" b="0" i="0">
                <a:solidFill>
                  <a:srgbClr val="1F2A2E"/>
                </a:solidFill>
                <a:latin typeface="Calibri"/>
              </a:rPr>
              <a:t>Distribuciones, correlaciones y tendencias; formular hipótesis preliminares.</a:t>
            </a:r>
          </a:p>
        </p:txBody>
      </p:sp>
      <p:sp>
        <p:nvSpPr>
          <p:cNvPr id="24" name="TextBox 23"/>
          <p:cNvSpPr txBox="1"/>
          <p:nvPr/>
        </p:nvSpPr>
        <p:spPr>
          <a:xfrm>
            <a:off x="5266944" y="3886200"/>
            <a:ext cx="1691640" cy="228600"/>
          </a:xfrm>
          <a:prstGeom prst="rect">
            <a:avLst/>
          </a:prstGeom>
          <a:noFill/>
        </p:spPr>
        <p:txBody>
          <a:bodyPr wrap="square" lIns="0" tIns="0" rIns="0" bIns="0" anchor="t">
            <a:noAutofit/>
          </a:bodyPr>
          <a:lstStyle/>
          <a:p>
            <a:pPr algn="l">
              <a:lnSpc>
                <a:spcPct val="110000"/>
              </a:lnSpc>
              <a:spcAft>
                <a:spcPts val="0"/>
              </a:spcAft>
              <a:defRPr sz="950"/>
            </a:pPr>
            <a:r>
              <a:rPr sz="950" b="1" i="0">
                <a:solidFill>
                  <a:srgbClr val="5B6B6F"/>
                </a:solidFill>
                <a:latin typeface="Calibri"/>
              </a:rPr>
              <a:t>Paquetes</a:t>
            </a:r>
          </a:p>
        </p:txBody>
      </p:sp>
      <p:sp>
        <p:nvSpPr>
          <p:cNvPr id="25" name="TextBox 24"/>
          <p:cNvSpPr txBox="1"/>
          <p:nvPr/>
        </p:nvSpPr>
        <p:spPr>
          <a:xfrm>
            <a:off x="5266944" y="4114800"/>
            <a:ext cx="1691640" cy="548640"/>
          </a:xfrm>
          <a:prstGeom prst="rect">
            <a:avLst/>
          </a:prstGeom>
          <a:noFill/>
        </p:spPr>
        <p:txBody>
          <a:bodyPr wrap="square" lIns="0" tIns="0" rIns="0" bIns="0" anchor="t">
            <a:noAutofit/>
          </a:bodyPr>
          <a:lstStyle/>
          <a:p>
            <a:pPr algn="l">
              <a:lnSpc>
                <a:spcPct val="105000"/>
              </a:lnSpc>
              <a:spcAft>
                <a:spcPts val="0"/>
              </a:spcAft>
              <a:defRPr sz="950"/>
            </a:pPr>
            <a:r>
              <a:rPr sz="950" b="0" i="0">
                <a:solidFill>
                  <a:srgbClr val="0B6E4F"/>
                </a:solidFill>
                <a:latin typeface="Consolas"/>
              </a:rPr>
              <a:t>ggplot2, patchwork, plotly</a:t>
            </a:r>
          </a:p>
        </p:txBody>
      </p:sp>
      <p:sp>
        <p:nvSpPr>
          <p:cNvPr id="26" name="Right Arrow 25"/>
          <p:cNvSpPr/>
          <p:nvPr/>
        </p:nvSpPr>
        <p:spPr>
          <a:xfrm>
            <a:off x="7132320" y="2880360"/>
            <a:ext cx="182880" cy="256032"/>
          </a:xfrm>
          <a:prstGeom prst="rightArrow">
            <a:avLst/>
          </a:prstGeom>
          <a:solidFill>
            <a:srgbClr val="F2A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7351775" y="1417320"/>
            <a:ext cx="2011680" cy="3246120"/>
          </a:xfrm>
          <a:prstGeom prst="roundRect">
            <a:avLst>
              <a:gd name="adj" fmla="val 6000"/>
            </a:avLst>
          </a:prstGeom>
          <a:solidFill>
            <a:srgbClr val="EE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7534655" y="1600200"/>
            <a:ext cx="457200" cy="457200"/>
          </a:xfrm>
          <a:prstGeom prst="ellipse">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i="0">
                <a:solidFill>
                  <a:srgbClr val="FFFFFF"/>
                </a:solidFill>
                <a:latin typeface="Cambria"/>
              </a:rPr>
              <a:t>4</a:t>
            </a:r>
          </a:p>
        </p:txBody>
      </p:sp>
      <p:sp>
        <p:nvSpPr>
          <p:cNvPr id="29" name="TextBox 28"/>
          <p:cNvSpPr txBox="1"/>
          <p:nvPr/>
        </p:nvSpPr>
        <p:spPr>
          <a:xfrm>
            <a:off x="7534655" y="2148840"/>
            <a:ext cx="1691640" cy="640080"/>
          </a:xfrm>
          <a:prstGeom prst="rect">
            <a:avLst/>
          </a:prstGeom>
          <a:noFill/>
        </p:spPr>
        <p:txBody>
          <a:bodyPr wrap="square" lIns="0" tIns="0" rIns="0" bIns="0" anchor="t">
            <a:noAutofit/>
          </a:bodyPr>
          <a:lstStyle/>
          <a:p>
            <a:pPr algn="l">
              <a:lnSpc>
                <a:spcPct val="100000"/>
              </a:lnSpc>
              <a:spcAft>
                <a:spcPts val="0"/>
              </a:spcAft>
              <a:defRPr sz="1350"/>
            </a:pPr>
            <a:r>
              <a:rPr sz="1350" b="1" i="0">
                <a:solidFill>
                  <a:srgbClr val="0B6E4F"/>
                </a:solidFill>
                <a:latin typeface="Cambria"/>
              </a:rPr>
              <a:t>Modelar y predecir</a:t>
            </a:r>
          </a:p>
        </p:txBody>
      </p:sp>
      <p:sp>
        <p:nvSpPr>
          <p:cNvPr id="30" name="TextBox 29"/>
          <p:cNvSpPr txBox="1"/>
          <p:nvPr/>
        </p:nvSpPr>
        <p:spPr>
          <a:xfrm>
            <a:off x="7534655" y="2788920"/>
            <a:ext cx="1691640" cy="1097280"/>
          </a:xfrm>
          <a:prstGeom prst="rect">
            <a:avLst/>
          </a:prstGeom>
          <a:noFill/>
        </p:spPr>
        <p:txBody>
          <a:bodyPr wrap="square" lIns="0" tIns="0" rIns="0" bIns="0" anchor="t">
            <a:noAutofit/>
          </a:bodyPr>
          <a:lstStyle/>
          <a:p>
            <a:pPr algn="l">
              <a:lnSpc>
                <a:spcPct val="110000"/>
              </a:lnSpc>
              <a:spcAft>
                <a:spcPts val="0"/>
              </a:spcAft>
              <a:defRPr sz="1050"/>
            </a:pPr>
            <a:r>
              <a:rPr sz="1050" b="0" i="0">
                <a:solidFill>
                  <a:srgbClr val="1F2A2E"/>
                </a:solidFill>
                <a:latin typeface="Calibri"/>
              </a:rPr>
              <a:t>Cuantificar relaciones, predecir y validar hipótesis con rigor.</a:t>
            </a:r>
          </a:p>
        </p:txBody>
      </p:sp>
      <p:sp>
        <p:nvSpPr>
          <p:cNvPr id="31" name="TextBox 30"/>
          <p:cNvSpPr txBox="1"/>
          <p:nvPr/>
        </p:nvSpPr>
        <p:spPr>
          <a:xfrm>
            <a:off x="7534655" y="3886200"/>
            <a:ext cx="1691640" cy="228600"/>
          </a:xfrm>
          <a:prstGeom prst="rect">
            <a:avLst/>
          </a:prstGeom>
          <a:noFill/>
        </p:spPr>
        <p:txBody>
          <a:bodyPr wrap="square" lIns="0" tIns="0" rIns="0" bIns="0" anchor="t">
            <a:noAutofit/>
          </a:bodyPr>
          <a:lstStyle/>
          <a:p>
            <a:pPr algn="l">
              <a:lnSpc>
                <a:spcPct val="110000"/>
              </a:lnSpc>
              <a:spcAft>
                <a:spcPts val="0"/>
              </a:spcAft>
              <a:defRPr sz="950"/>
            </a:pPr>
            <a:r>
              <a:rPr sz="950" b="1" i="0">
                <a:solidFill>
                  <a:srgbClr val="5B6B6F"/>
                </a:solidFill>
                <a:latin typeface="Calibri"/>
              </a:rPr>
              <a:t>Paquetes</a:t>
            </a:r>
          </a:p>
        </p:txBody>
      </p:sp>
      <p:sp>
        <p:nvSpPr>
          <p:cNvPr id="32" name="TextBox 31"/>
          <p:cNvSpPr txBox="1"/>
          <p:nvPr/>
        </p:nvSpPr>
        <p:spPr>
          <a:xfrm>
            <a:off x="7534655" y="4114800"/>
            <a:ext cx="1691640" cy="548640"/>
          </a:xfrm>
          <a:prstGeom prst="rect">
            <a:avLst/>
          </a:prstGeom>
          <a:noFill/>
        </p:spPr>
        <p:txBody>
          <a:bodyPr wrap="square" lIns="0" tIns="0" rIns="0" bIns="0" anchor="t">
            <a:noAutofit/>
          </a:bodyPr>
          <a:lstStyle/>
          <a:p>
            <a:pPr algn="l">
              <a:lnSpc>
                <a:spcPct val="105000"/>
              </a:lnSpc>
              <a:spcAft>
                <a:spcPts val="0"/>
              </a:spcAft>
              <a:defRPr sz="950"/>
            </a:pPr>
            <a:r>
              <a:rPr sz="950" b="0" i="0">
                <a:solidFill>
                  <a:srgbClr val="0B6E4F"/>
                </a:solidFill>
                <a:latin typeface="Consolas"/>
              </a:rPr>
              <a:t>lm / glm, tidymodels, forecast</a:t>
            </a:r>
          </a:p>
        </p:txBody>
      </p:sp>
      <p:sp>
        <p:nvSpPr>
          <p:cNvPr id="33" name="Right Arrow 32"/>
          <p:cNvSpPr/>
          <p:nvPr/>
        </p:nvSpPr>
        <p:spPr>
          <a:xfrm>
            <a:off x="9400032" y="2880360"/>
            <a:ext cx="182880" cy="256032"/>
          </a:xfrm>
          <a:prstGeom prst="rightArrow">
            <a:avLst/>
          </a:prstGeom>
          <a:solidFill>
            <a:srgbClr val="F2A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ounded Rectangle 33"/>
          <p:cNvSpPr/>
          <p:nvPr/>
        </p:nvSpPr>
        <p:spPr>
          <a:xfrm>
            <a:off x="9619488" y="1417320"/>
            <a:ext cx="2011680" cy="3246120"/>
          </a:xfrm>
          <a:prstGeom prst="roundRect">
            <a:avLst>
              <a:gd name="adj" fmla="val 6000"/>
            </a:avLst>
          </a:prstGeom>
          <a:solidFill>
            <a:srgbClr val="EE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9802367" y="1600200"/>
            <a:ext cx="457200" cy="457200"/>
          </a:xfrm>
          <a:prstGeom prst="ellipse">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i="0">
                <a:solidFill>
                  <a:srgbClr val="FFFFFF"/>
                </a:solidFill>
                <a:latin typeface="Cambria"/>
              </a:rPr>
              <a:t>5</a:t>
            </a:r>
          </a:p>
        </p:txBody>
      </p:sp>
      <p:sp>
        <p:nvSpPr>
          <p:cNvPr id="36" name="TextBox 35"/>
          <p:cNvSpPr txBox="1"/>
          <p:nvPr/>
        </p:nvSpPr>
        <p:spPr>
          <a:xfrm>
            <a:off x="9802367" y="2148840"/>
            <a:ext cx="1691640" cy="640080"/>
          </a:xfrm>
          <a:prstGeom prst="rect">
            <a:avLst/>
          </a:prstGeom>
          <a:noFill/>
        </p:spPr>
        <p:txBody>
          <a:bodyPr wrap="square" lIns="0" tIns="0" rIns="0" bIns="0" anchor="t">
            <a:noAutofit/>
          </a:bodyPr>
          <a:lstStyle/>
          <a:p>
            <a:pPr algn="l">
              <a:lnSpc>
                <a:spcPct val="100000"/>
              </a:lnSpc>
              <a:spcAft>
                <a:spcPts val="0"/>
              </a:spcAft>
              <a:defRPr sz="1350"/>
            </a:pPr>
            <a:r>
              <a:rPr sz="1350" b="1" i="0">
                <a:solidFill>
                  <a:srgbClr val="0B6E4F"/>
                </a:solidFill>
                <a:latin typeface="Cambria"/>
              </a:rPr>
              <a:t>Comunicar</a:t>
            </a:r>
          </a:p>
        </p:txBody>
      </p:sp>
      <p:sp>
        <p:nvSpPr>
          <p:cNvPr id="37" name="TextBox 36"/>
          <p:cNvSpPr txBox="1"/>
          <p:nvPr/>
        </p:nvSpPr>
        <p:spPr>
          <a:xfrm>
            <a:off x="9802367" y="2788920"/>
            <a:ext cx="1691640" cy="1097280"/>
          </a:xfrm>
          <a:prstGeom prst="rect">
            <a:avLst/>
          </a:prstGeom>
          <a:noFill/>
        </p:spPr>
        <p:txBody>
          <a:bodyPr wrap="square" lIns="0" tIns="0" rIns="0" bIns="0" anchor="t">
            <a:noAutofit/>
          </a:bodyPr>
          <a:lstStyle/>
          <a:p>
            <a:pPr algn="l">
              <a:lnSpc>
                <a:spcPct val="110000"/>
              </a:lnSpc>
              <a:spcAft>
                <a:spcPts val="0"/>
              </a:spcAft>
              <a:defRPr sz="1050"/>
            </a:pPr>
            <a:r>
              <a:rPr sz="1050" b="0" i="0">
                <a:solidFill>
                  <a:srgbClr val="1F2A2E"/>
                </a:solidFill>
                <a:latin typeface="Calibri"/>
              </a:rPr>
              <a:t>Gráficos finales, dashboards y reportes reproducibles para tomar decisiones.</a:t>
            </a:r>
          </a:p>
        </p:txBody>
      </p:sp>
      <p:sp>
        <p:nvSpPr>
          <p:cNvPr id="38" name="TextBox 37"/>
          <p:cNvSpPr txBox="1"/>
          <p:nvPr/>
        </p:nvSpPr>
        <p:spPr>
          <a:xfrm>
            <a:off x="9802367" y="3886200"/>
            <a:ext cx="1691640" cy="228600"/>
          </a:xfrm>
          <a:prstGeom prst="rect">
            <a:avLst/>
          </a:prstGeom>
          <a:noFill/>
        </p:spPr>
        <p:txBody>
          <a:bodyPr wrap="square" lIns="0" tIns="0" rIns="0" bIns="0" anchor="t">
            <a:noAutofit/>
          </a:bodyPr>
          <a:lstStyle/>
          <a:p>
            <a:pPr algn="l">
              <a:lnSpc>
                <a:spcPct val="110000"/>
              </a:lnSpc>
              <a:spcAft>
                <a:spcPts val="0"/>
              </a:spcAft>
              <a:defRPr sz="950"/>
            </a:pPr>
            <a:r>
              <a:rPr sz="950" b="1" i="0">
                <a:solidFill>
                  <a:srgbClr val="5B6B6F"/>
                </a:solidFill>
                <a:latin typeface="Calibri"/>
              </a:rPr>
              <a:t>Paquetes</a:t>
            </a:r>
          </a:p>
        </p:txBody>
      </p:sp>
      <p:sp>
        <p:nvSpPr>
          <p:cNvPr id="39" name="TextBox 38"/>
          <p:cNvSpPr txBox="1"/>
          <p:nvPr/>
        </p:nvSpPr>
        <p:spPr>
          <a:xfrm>
            <a:off x="9802367" y="4114800"/>
            <a:ext cx="1691640" cy="548640"/>
          </a:xfrm>
          <a:prstGeom prst="rect">
            <a:avLst/>
          </a:prstGeom>
          <a:noFill/>
        </p:spPr>
        <p:txBody>
          <a:bodyPr wrap="square" lIns="0" tIns="0" rIns="0" bIns="0" anchor="t">
            <a:noAutofit/>
          </a:bodyPr>
          <a:lstStyle/>
          <a:p>
            <a:pPr algn="l">
              <a:lnSpc>
                <a:spcPct val="105000"/>
              </a:lnSpc>
              <a:spcAft>
                <a:spcPts val="0"/>
              </a:spcAft>
              <a:defRPr sz="950"/>
            </a:pPr>
            <a:r>
              <a:rPr sz="950" b="0" i="0">
                <a:solidFill>
                  <a:srgbClr val="0B6E4F"/>
                </a:solidFill>
                <a:latin typeface="Consolas"/>
              </a:rPr>
              <a:t>rmarkdown, quarto, shiny</a:t>
            </a:r>
          </a:p>
        </p:txBody>
      </p:sp>
      <p:sp>
        <p:nvSpPr>
          <p:cNvPr id="40" name="Rounded Rectangle 39"/>
          <p:cNvSpPr/>
          <p:nvPr/>
        </p:nvSpPr>
        <p:spPr>
          <a:xfrm>
            <a:off x="548640" y="4937760"/>
            <a:ext cx="11091672" cy="1371600"/>
          </a:xfrm>
          <a:prstGeom prst="roundRect">
            <a:avLst>
              <a:gd name="adj" fmla="val 6000"/>
            </a:avLst>
          </a:prstGeom>
          <a:solidFill>
            <a:srgbClr val="EE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777240" y="5029200"/>
            <a:ext cx="10698480" cy="1188720"/>
          </a:xfrm>
          <a:prstGeom prst="rect">
            <a:avLst/>
          </a:prstGeom>
          <a:noFill/>
        </p:spPr>
        <p:txBody>
          <a:bodyPr wrap="square" lIns="0" tIns="0" rIns="0" bIns="0" anchor="ctr">
            <a:noAutofit/>
          </a:bodyPr>
          <a:lstStyle/>
          <a:p>
            <a:pPr algn="l">
              <a:lnSpc>
                <a:spcPct val="115000"/>
              </a:lnSpc>
              <a:spcAft>
                <a:spcPts val="600"/>
              </a:spcAft>
              <a:defRPr sz="1250"/>
            </a:pPr>
            <a:r>
              <a:rPr sz="1250" b="1" i="0">
                <a:solidFill>
                  <a:srgbClr val="0B6E4F"/>
                </a:solidFill>
                <a:latin typeface="Calibri"/>
              </a:rPr>
              <a:t>No es lineal: es iterativo. </a:t>
            </a:r>
            <a:r>
              <a:rPr sz="1250" b="0" i="0">
                <a:solidFill>
                  <a:srgbClr val="1F2A2E"/>
                </a:solidFill>
                <a:latin typeface="Calibri"/>
              </a:rPr>
              <a:t>Visualizar revela problemas de limpieza; modelar exige nuevas variables; comunicar obliga a simplificar. En R todo ocurre en el mismo entorno, con el mismo data frame y la misma sintaxis tidyverse, sin cambiar de herramienta.</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6446520"/>
            <a:ext cx="7315200" cy="274320"/>
          </a:xfrm>
          <a:prstGeom prst="rect">
            <a:avLst/>
          </a:prstGeom>
          <a:noFill/>
        </p:spPr>
        <p:txBody>
          <a:bodyPr wrap="square" lIns="0" tIns="0" rIns="0" bIns="0" anchor="t">
            <a:noAutofit/>
          </a:bodyPr>
          <a:lstStyle/>
          <a:p>
            <a:pPr algn="l">
              <a:lnSpc>
                <a:spcPct val="110000"/>
              </a:lnSpc>
              <a:spcAft>
                <a:spcPts val="0"/>
              </a:spcAft>
              <a:defRPr sz="900"/>
            </a:pPr>
            <a:r>
              <a:rPr sz="900" b="0" i="0">
                <a:solidFill>
                  <a:srgbClr val="9AA7AB"/>
                </a:solidFill>
                <a:latin typeface="Calibri"/>
              </a:rPr>
              <a:t>Visualización de Datos · Clase 18 · R y visualización de datos</a:t>
            </a:r>
          </a:p>
        </p:txBody>
      </p:sp>
      <p:sp>
        <p:nvSpPr>
          <p:cNvPr id="4" name="TextBox 3"/>
          <p:cNvSpPr txBox="1"/>
          <p:nvPr/>
        </p:nvSpPr>
        <p:spPr>
          <a:xfrm>
            <a:off x="10972800" y="6446520"/>
            <a:ext cx="667512" cy="274320"/>
          </a:xfrm>
          <a:prstGeom prst="rect">
            <a:avLst/>
          </a:prstGeom>
          <a:noFill/>
        </p:spPr>
        <p:txBody>
          <a:bodyPr wrap="square" lIns="0" tIns="0" rIns="0" bIns="0" anchor="t">
            <a:noAutofit/>
          </a:bodyPr>
          <a:lstStyle/>
          <a:p>
            <a:pPr algn="r">
              <a:lnSpc>
                <a:spcPct val="110000"/>
              </a:lnSpc>
              <a:spcAft>
                <a:spcPts val="0"/>
              </a:spcAft>
              <a:defRPr sz="900"/>
            </a:pPr>
            <a:r>
              <a:rPr sz="900" b="0" i="0">
                <a:solidFill>
                  <a:srgbClr val="9AA7AB"/>
                </a:solidFill>
                <a:latin typeface="Calibri"/>
              </a:rPr>
              <a:t>26</a:t>
            </a:r>
          </a:p>
        </p:txBody>
      </p:sp>
      <p:sp>
        <p:nvSpPr>
          <p:cNvPr id="5" name="TextBox 4"/>
          <p:cNvSpPr txBox="1"/>
          <p:nvPr/>
        </p:nvSpPr>
        <p:spPr>
          <a:xfrm>
            <a:off x="548640" y="457200"/>
            <a:ext cx="11091672" cy="731520"/>
          </a:xfrm>
          <a:prstGeom prst="rect">
            <a:avLst/>
          </a:prstGeom>
          <a:noFill/>
        </p:spPr>
        <p:txBody>
          <a:bodyPr wrap="square" lIns="0" tIns="0" rIns="0" bIns="0" anchor="t">
            <a:noAutofit/>
          </a:bodyPr>
          <a:lstStyle/>
          <a:p>
            <a:pPr algn="l">
              <a:lnSpc>
                <a:spcPct val="110000"/>
              </a:lnSpc>
              <a:spcAft>
                <a:spcPts val="0"/>
              </a:spcAft>
              <a:defRPr sz="3000"/>
            </a:pPr>
            <a:r>
              <a:rPr sz="3000" b="1" i="0">
                <a:solidFill>
                  <a:srgbClr val="0B6E4F"/>
                </a:solidFill>
                <a:latin typeface="Cambria"/>
              </a:rPr>
              <a:t>Ejemplo práctico: de la tabla al gráfico en una sola tubería</a:t>
            </a:r>
          </a:p>
        </p:txBody>
      </p:sp>
      <p:sp>
        <p:nvSpPr>
          <p:cNvPr id="6" name="Rounded Rectangle 5"/>
          <p:cNvSpPr/>
          <p:nvPr/>
        </p:nvSpPr>
        <p:spPr>
          <a:xfrm>
            <a:off x="548640" y="1325880"/>
            <a:ext cx="5166360" cy="4160520"/>
          </a:xfrm>
          <a:prstGeom prst="roundRect">
            <a:avLst>
              <a:gd name="adj" fmla="val 4000"/>
            </a:avLst>
          </a:prstGeom>
          <a:solidFill>
            <a:srgbClr val="0F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13232" y="1453895"/>
            <a:ext cx="4837176" cy="3904487"/>
          </a:xfrm>
          <a:prstGeom prst="rect">
            <a:avLst/>
          </a:prstGeom>
          <a:noFill/>
        </p:spPr>
        <p:txBody>
          <a:bodyPr wrap="square" lIns="0" tIns="0" rIns="0" bIns="0" anchor="t">
            <a:noAutofit/>
          </a:bodyPr>
          <a:lstStyle/>
          <a:p>
            <a:pPr>
              <a:lnSpc>
                <a:spcPct val="105000"/>
              </a:lnSpc>
              <a:spcAft>
                <a:spcPts val="100"/>
              </a:spcAft>
              <a:defRPr sz="1050"/>
            </a:pPr>
            <a:r>
              <a:rPr sz="1050" b="0" i="0">
                <a:solidFill>
                  <a:srgbClr val="E8F1EC"/>
                </a:solidFill>
                <a:latin typeface="Consolas"/>
              </a:rPr>
              <a:t>library(tidyverse)</a:t>
            </a:r>
          </a:p>
          <a:p>
            <a:pPr>
              <a:lnSpc>
                <a:spcPct val="105000"/>
              </a:lnSpc>
              <a:spcAft>
                <a:spcPts val="100"/>
              </a:spcAft>
              <a:defRPr sz="1050"/>
            </a:pPr>
            <a:endParaRPr sz="1050" b="0" i="0">
              <a:solidFill>
                <a:srgbClr val="E8F1EC"/>
              </a:solidFill>
              <a:latin typeface="Consolas"/>
            </a:endParaRPr>
          </a:p>
          <a:p>
            <a:pPr>
              <a:lnSpc>
                <a:spcPct val="105000"/>
              </a:lnSpc>
              <a:spcAft>
                <a:spcPts val="100"/>
              </a:spcAft>
              <a:defRPr sz="1050"/>
            </a:pPr>
            <a:r>
              <a:rPr sz="1050" b="0" i="0">
                <a:solidFill>
                  <a:srgbClr val="E8F1EC"/>
                </a:solidFill>
                <a:latin typeface="Consolas"/>
              </a:rPr>
              <a:t>txhousing |&gt;</a:t>
            </a:r>
          </a:p>
          <a:p>
            <a:pPr>
              <a:lnSpc>
                <a:spcPct val="105000"/>
              </a:lnSpc>
              <a:spcAft>
                <a:spcPts val="100"/>
              </a:spcAft>
              <a:defRPr sz="1050"/>
            </a:pPr>
            <a:r>
              <a:rPr sz="1050" b="0" i="0">
                <a:solidFill>
                  <a:srgbClr val="E8F1EC"/>
                </a:solidFill>
                <a:latin typeface="Consolas"/>
              </a:rPr>
              <a:t>  filter(city %in% c(</a:t>
            </a:r>
            <a:r>
              <a:rPr sz="1050" b="0" i="0">
                <a:solidFill>
                  <a:srgbClr val="F5C56B"/>
                </a:solidFill>
                <a:latin typeface="Consolas"/>
              </a:rPr>
              <a:t>"Houston"</a:t>
            </a:r>
            <a:r>
              <a:rPr sz="1050" b="0" i="0">
                <a:solidFill>
                  <a:srgbClr val="E8F1EC"/>
                </a:solidFill>
                <a:latin typeface="Consolas"/>
              </a:rPr>
              <a:t>, </a:t>
            </a:r>
            <a:r>
              <a:rPr sz="1050" b="0" i="0">
                <a:solidFill>
                  <a:srgbClr val="F5C56B"/>
                </a:solidFill>
                <a:latin typeface="Consolas"/>
              </a:rPr>
              <a:t>"Dallas"</a:t>
            </a:r>
            <a:r>
              <a:rPr sz="1050" b="0" i="0">
                <a:solidFill>
                  <a:srgbClr val="E8F1EC"/>
                </a:solidFill>
                <a:latin typeface="Consolas"/>
              </a:rPr>
              <a:t>,</a:t>
            </a:r>
          </a:p>
          <a:p>
            <a:pPr>
              <a:lnSpc>
                <a:spcPct val="105000"/>
              </a:lnSpc>
              <a:spcAft>
                <a:spcPts val="100"/>
              </a:spcAft>
              <a:defRPr sz="1050"/>
            </a:pPr>
            <a:r>
              <a:rPr sz="1050" b="0" i="0">
                <a:solidFill>
                  <a:srgbClr val="E8F1EC"/>
                </a:solidFill>
                <a:latin typeface="Consolas"/>
              </a:rPr>
              <a:t>                     </a:t>
            </a:r>
            <a:r>
              <a:rPr sz="1050" b="0" i="0">
                <a:solidFill>
                  <a:srgbClr val="F5C56B"/>
                </a:solidFill>
                <a:latin typeface="Consolas"/>
              </a:rPr>
              <a:t>"Austin"</a:t>
            </a:r>
            <a:r>
              <a:rPr sz="1050" b="0" i="0">
                <a:solidFill>
                  <a:srgbClr val="E8F1EC"/>
                </a:solidFill>
                <a:latin typeface="Consolas"/>
              </a:rPr>
              <a:t>, </a:t>
            </a:r>
            <a:r>
              <a:rPr sz="1050" b="0" i="0">
                <a:solidFill>
                  <a:srgbClr val="F5C56B"/>
                </a:solidFill>
                <a:latin typeface="Consolas"/>
              </a:rPr>
              <a:t>"San Antonio"</a:t>
            </a:r>
            <a:r>
              <a:rPr sz="1050" b="0" i="0">
                <a:solidFill>
                  <a:srgbClr val="E8F1EC"/>
                </a:solidFill>
                <a:latin typeface="Consolas"/>
              </a:rPr>
              <a:t>),</a:t>
            </a:r>
          </a:p>
          <a:p>
            <a:pPr>
              <a:lnSpc>
                <a:spcPct val="105000"/>
              </a:lnSpc>
              <a:spcAft>
                <a:spcPts val="100"/>
              </a:spcAft>
              <a:defRPr sz="1050"/>
            </a:pPr>
            <a:r>
              <a:rPr sz="1050" b="0" i="0">
                <a:solidFill>
                  <a:srgbClr val="E8F1EC"/>
                </a:solidFill>
                <a:latin typeface="Consolas"/>
              </a:rPr>
              <a:t>         year &lt;= 2014) |&gt;        </a:t>
            </a:r>
            <a:r>
              <a:rPr sz="1050" b="0" i="0">
                <a:solidFill>
                  <a:srgbClr val="8FB5A4"/>
                </a:solidFill>
                <a:latin typeface="Consolas"/>
              </a:rPr>
              <a:t># 2015 está incompleto</a:t>
            </a:r>
          </a:p>
          <a:p>
            <a:pPr>
              <a:lnSpc>
                <a:spcPct val="105000"/>
              </a:lnSpc>
              <a:spcAft>
                <a:spcPts val="100"/>
              </a:spcAft>
              <a:defRPr sz="1050"/>
            </a:pPr>
            <a:r>
              <a:rPr sz="1050" b="0" i="0">
                <a:solidFill>
                  <a:srgbClr val="E8F1EC"/>
                </a:solidFill>
                <a:latin typeface="Consolas"/>
              </a:rPr>
              <a:t>  group_by(city, year) |&gt;</a:t>
            </a:r>
          </a:p>
          <a:p>
            <a:pPr>
              <a:lnSpc>
                <a:spcPct val="105000"/>
              </a:lnSpc>
              <a:spcAft>
                <a:spcPts val="100"/>
              </a:spcAft>
              <a:defRPr sz="1050"/>
            </a:pPr>
            <a:r>
              <a:rPr sz="1050" b="0" i="0">
                <a:solidFill>
                  <a:srgbClr val="E8F1EC"/>
                </a:solidFill>
                <a:latin typeface="Consolas"/>
              </a:rPr>
              <a:t>  summarise(ventas = sum(sales, na.rm = TRUE)) |&gt;</a:t>
            </a:r>
          </a:p>
          <a:p>
            <a:pPr>
              <a:lnSpc>
                <a:spcPct val="105000"/>
              </a:lnSpc>
              <a:spcAft>
                <a:spcPts val="100"/>
              </a:spcAft>
              <a:defRPr sz="1050"/>
            </a:pPr>
            <a:r>
              <a:rPr sz="1050" b="0" i="0">
                <a:solidFill>
                  <a:srgbClr val="E8F1EC"/>
                </a:solidFill>
                <a:latin typeface="Consolas"/>
              </a:rPr>
              <a:t>  ggplot(aes(year, ventas / 1000, colour = city)) +</a:t>
            </a:r>
          </a:p>
          <a:p>
            <a:pPr>
              <a:lnSpc>
                <a:spcPct val="105000"/>
              </a:lnSpc>
              <a:spcAft>
                <a:spcPts val="100"/>
              </a:spcAft>
              <a:defRPr sz="1050"/>
            </a:pPr>
            <a:r>
              <a:rPr sz="1050" b="0" i="0">
                <a:solidFill>
                  <a:srgbClr val="E8F1EC"/>
                </a:solidFill>
                <a:latin typeface="Consolas"/>
              </a:rPr>
              <a:t>    geom_line(linewidth = 1.1) +</a:t>
            </a:r>
          </a:p>
          <a:p>
            <a:pPr>
              <a:lnSpc>
                <a:spcPct val="105000"/>
              </a:lnSpc>
              <a:spcAft>
                <a:spcPts val="100"/>
              </a:spcAft>
              <a:defRPr sz="1050"/>
            </a:pPr>
            <a:r>
              <a:rPr sz="1050" b="0" i="0">
                <a:solidFill>
                  <a:srgbClr val="E8F1EC"/>
                </a:solidFill>
                <a:latin typeface="Consolas"/>
              </a:rPr>
              <a:t>    geom_point() +</a:t>
            </a:r>
          </a:p>
          <a:p>
            <a:pPr>
              <a:lnSpc>
                <a:spcPct val="105000"/>
              </a:lnSpc>
              <a:spcAft>
                <a:spcPts val="100"/>
              </a:spcAft>
              <a:defRPr sz="1050"/>
            </a:pPr>
            <a:r>
              <a:rPr sz="1050" b="0" i="0">
                <a:solidFill>
                  <a:srgbClr val="E8F1EC"/>
                </a:solidFill>
                <a:latin typeface="Consolas"/>
              </a:rPr>
              <a:t>    scale_colour_manual(values = paleta) +</a:t>
            </a:r>
          </a:p>
          <a:p>
            <a:pPr>
              <a:lnSpc>
                <a:spcPct val="105000"/>
              </a:lnSpc>
              <a:spcAft>
                <a:spcPts val="100"/>
              </a:spcAft>
              <a:defRPr sz="1050"/>
            </a:pPr>
            <a:r>
              <a:rPr sz="1050" b="0" i="0">
                <a:solidFill>
                  <a:srgbClr val="E8F1EC"/>
                </a:solidFill>
                <a:latin typeface="Consolas"/>
              </a:rPr>
              <a:t>    labs(title = </a:t>
            </a:r>
            <a:r>
              <a:rPr sz="1050" b="0" i="0">
                <a:solidFill>
                  <a:srgbClr val="F5C56B"/>
                </a:solidFill>
                <a:latin typeface="Consolas"/>
              </a:rPr>
              <a:t>"Ventas anuales de vivienda"</a:t>
            </a:r>
            <a:r>
              <a:rPr sz="1050" b="0" i="0">
                <a:solidFill>
                  <a:srgbClr val="E8F1EC"/>
                </a:solidFill>
                <a:latin typeface="Consolas"/>
              </a:rPr>
              <a:t>,</a:t>
            </a:r>
          </a:p>
          <a:p>
            <a:pPr>
              <a:lnSpc>
                <a:spcPct val="105000"/>
              </a:lnSpc>
              <a:spcAft>
                <a:spcPts val="100"/>
              </a:spcAft>
              <a:defRPr sz="1050"/>
            </a:pPr>
            <a:r>
              <a:rPr sz="1050" b="0" i="0">
                <a:solidFill>
                  <a:srgbClr val="E8F1EC"/>
                </a:solidFill>
                <a:latin typeface="Consolas"/>
              </a:rPr>
              <a:t>         y = </a:t>
            </a:r>
            <a:r>
              <a:rPr sz="1050" b="0" i="0">
                <a:solidFill>
                  <a:srgbClr val="F5C56B"/>
                </a:solidFill>
                <a:latin typeface="Consolas"/>
              </a:rPr>
              <a:t>"Ventas (miles)"</a:t>
            </a:r>
            <a:r>
              <a:rPr sz="1050" b="0" i="0">
                <a:solidFill>
                  <a:srgbClr val="E8F1EC"/>
                </a:solidFill>
                <a:latin typeface="Consolas"/>
              </a:rPr>
              <a:t>, x = NULL,</a:t>
            </a:r>
          </a:p>
          <a:p>
            <a:pPr>
              <a:lnSpc>
                <a:spcPct val="105000"/>
              </a:lnSpc>
              <a:spcAft>
                <a:spcPts val="100"/>
              </a:spcAft>
              <a:defRPr sz="1050"/>
            </a:pPr>
            <a:r>
              <a:rPr sz="1050" b="0" i="0">
                <a:solidFill>
                  <a:srgbClr val="E8F1EC"/>
                </a:solidFill>
                <a:latin typeface="Consolas"/>
              </a:rPr>
              <a:t>         caption = </a:t>
            </a:r>
            <a:r>
              <a:rPr sz="1050" b="0" i="0">
                <a:solidFill>
                  <a:srgbClr val="F5C56B"/>
                </a:solidFill>
                <a:latin typeface="Consolas"/>
              </a:rPr>
              <a:t>"Fuente: TAMU Real Estate Center"</a:t>
            </a:r>
            <a:r>
              <a:rPr sz="1050" b="0" i="0">
                <a:solidFill>
                  <a:srgbClr val="E8F1EC"/>
                </a:solidFill>
                <a:latin typeface="Consolas"/>
              </a:rPr>
              <a:t>) +</a:t>
            </a:r>
          </a:p>
          <a:p>
            <a:pPr>
              <a:lnSpc>
                <a:spcPct val="105000"/>
              </a:lnSpc>
              <a:spcAft>
                <a:spcPts val="100"/>
              </a:spcAft>
              <a:defRPr sz="1050"/>
            </a:pPr>
            <a:r>
              <a:rPr sz="1050" b="0" i="0">
                <a:solidFill>
                  <a:srgbClr val="E8F1EC"/>
                </a:solidFill>
                <a:latin typeface="Consolas"/>
              </a:rPr>
              <a:t>    theme_minimal()</a:t>
            </a:r>
          </a:p>
        </p:txBody>
      </p:sp>
      <p:sp>
        <p:nvSpPr>
          <p:cNvPr id="8" name="Rounded Rectangle 7"/>
          <p:cNvSpPr/>
          <p:nvPr/>
        </p:nvSpPr>
        <p:spPr>
          <a:xfrm>
            <a:off x="5888736" y="1289255"/>
            <a:ext cx="5806440" cy="3227928"/>
          </a:xfrm>
          <a:prstGeom prst="roundRect">
            <a:avLst>
              <a:gd name="adj" fmla="val 2000"/>
            </a:avLst>
          </a:prstGeom>
          <a:solidFill>
            <a:srgbClr val="FFFFFF"/>
          </a:solidFill>
          <a:ln w="9525">
            <a:solidFill>
              <a:srgbClr val="CFE8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pipeline_tidyverse.png"/>
          <p:cNvPicPr>
            <a:picLocks noChangeAspect="1"/>
          </p:cNvPicPr>
          <p:nvPr/>
        </p:nvPicPr>
        <p:blipFill>
          <a:blip r:embed="rId3"/>
          <a:stretch>
            <a:fillRect/>
          </a:stretch>
        </p:blipFill>
        <p:spPr>
          <a:xfrm>
            <a:off x="5943600" y="1344119"/>
            <a:ext cx="5696712" cy="3118200"/>
          </a:xfrm>
          <a:prstGeom prst="rect">
            <a:avLst/>
          </a:prstGeom>
        </p:spPr>
      </p:pic>
      <p:sp>
        <p:nvSpPr>
          <p:cNvPr id="10" name="TextBox 9"/>
          <p:cNvSpPr txBox="1"/>
          <p:nvPr/>
        </p:nvSpPr>
        <p:spPr>
          <a:xfrm>
            <a:off x="5943600" y="4663440"/>
            <a:ext cx="5696712" cy="1645920"/>
          </a:xfrm>
          <a:prstGeom prst="rect">
            <a:avLst/>
          </a:prstGeom>
          <a:noFill/>
        </p:spPr>
        <p:txBody>
          <a:bodyPr wrap="square" lIns="0" tIns="0" rIns="0" bIns="0" anchor="t">
            <a:noAutofit/>
          </a:bodyPr>
          <a:lstStyle/>
          <a:p>
            <a:pPr marL="201168" indent="-201168">
              <a:lnSpc>
                <a:spcPct val="108000"/>
              </a:lnSpc>
              <a:spcAft>
                <a:spcPts val="400"/>
              </a:spcAft>
              <a:buClr>
                <a:srgbClr val="0B6E4F"/>
              </a:buClr>
              <a:buFont typeface="Arial"/>
              <a:buChar char="•"/>
              <a:defRPr sz="1150"/>
            </a:pPr>
            <a:r>
              <a:rPr sz="1150" b="1" i="0">
                <a:solidFill>
                  <a:srgbClr val="1F2A2E"/>
                </a:solidFill>
                <a:latin typeface="Calibri"/>
              </a:rPr>
              <a:t>|&gt; </a:t>
            </a:r>
            <a:r>
              <a:rPr sz="1050" b="0" i="0">
                <a:solidFill>
                  <a:srgbClr val="0B6E4F"/>
                </a:solidFill>
                <a:latin typeface="Consolas"/>
              </a:rPr>
              <a:t>encadena pasos de dplyr; </a:t>
            </a:r>
          </a:p>
          <a:p>
            <a:pPr marL="201168" indent="-201168">
              <a:lnSpc>
                <a:spcPct val="108000"/>
              </a:lnSpc>
              <a:spcAft>
                <a:spcPts val="400"/>
              </a:spcAft>
              <a:buClr>
                <a:srgbClr val="0B6E4F"/>
              </a:buClr>
              <a:buFont typeface="Arial"/>
              <a:buChar char="•"/>
              <a:defRPr sz="1150"/>
            </a:pPr>
            <a:r>
              <a:rPr sz="1150" b="1" i="0">
                <a:solidFill>
                  <a:srgbClr val="1F2A2E"/>
                </a:solidFill>
                <a:latin typeface="Calibri"/>
              </a:rPr>
              <a:t>+ </a:t>
            </a:r>
            <a:r>
              <a:rPr sz="1050" b="0" i="0">
                <a:solidFill>
                  <a:srgbClr val="0B6E4F"/>
                </a:solidFill>
                <a:latin typeface="Consolas"/>
              </a:rPr>
              <a:t>apila capas de ggplot2 sobre el resultado.</a:t>
            </a:r>
          </a:p>
          <a:p>
            <a:pPr marL="201168" indent="-201168">
              <a:lnSpc>
                <a:spcPct val="108000"/>
              </a:lnSpc>
              <a:spcAft>
                <a:spcPts val="400"/>
              </a:spcAft>
              <a:buClr>
                <a:srgbClr val="0B6E4F"/>
              </a:buClr>
              <a:buFont typeface="Arial"/>
              <a:buChar char="•"/>
              <a:defRPr sz="1150"/>
            </a:pPr>
            <a:r>
              <a:rPr sz="1150" b="1" i="0">
                <a:solidFill>
                  <a:srgbClr val="1F2A2E"/>
                </a:solidFill>
                <a:latin typeface="Calibri"/>
              </a:rPr>
              <a:t>Escala sin esfuerzo: </a:t>
            </a:r>
            <a:r>
              <a:rPr sz="1150" b="0" i="0">
                <a:solidFill>
                  <a:srgbClr val="1F2A2E"/>
                </a:solidFill>
                <a:latin typeface="Calibri"/>
              </a:rPr>
              <a:t>el mismo código sirve para 4 ciudades o para las 46 del dataset.</a:t>
            </a:r>
          </a:p>
          <a:p>
            <a:pPr marL="201168" indent="-201168">
              <a:lnSpc>
                <a:spcPct val="108000"/>
              </a:lnSpc>
              <a:spcAft>
                <a:spcPts val="400"/>
              </a:spcAft>
              <a:buClr>
                <a:srgbClr val="0B6E4F"/>
              </a:buClr>
              <a:buFont typeface="Arial"/>
              <a:buChar char="•"/>
              <a:defRPr sz="1150"/>
            </a:pPr>
            <a:r>
              <a:rPr sz="1150" b="1" i="0">
                <a:solidFill>
                  <a:srgbClr val="1F2A2E"/>
                </a:solidFill>
                <a:latin typeface="Calibri"/>
              </a:rPr>
              <a:t>Reproducible: </a:t>
            </a:r>
            <a:r>
              <a:rPr sz="1150" b="0" i="0">
                <a:solidFill>
                  <a:srgbClr val="1F2A2E"/>
                </a:solidFill>
                <a:latin typeface="Calibri"/>
              </a:rPr>
              <a:t>cambia el dataset y el gráfico se regenera con el informe.</a:t>
            </a:r>
          </a:p>
        </p:txBody>
      </p:sp>
      <p:sp>
        <p:nvSpPr>
          <p:cNvPr id="11" name="TextBox 10"/>
          <p:cNvSpPr txBox="1"/>
          <p:nvPr/>
        </p:nvSpPr>
        <p:spPr>
          <a:xfrm>
            <a:off x="548640" y="5623560"/>
            <a:ext cx="5166360" cy="685800"/>
          </a:xfrm>
          <a:prstGeom prst="rect">
            <a:avLst/>
          </a:prstGeom>
          <a:noFill/>
        </p:spPr>
        <p:txBody>
          <a:bodyPr wrap="square" lIns="0" tIns="0" rIns="0" bIns="0" anchor="t">
            <a:noAutofit/>
          </a:bodyPr>
          <a:lstStyle/>
          <a:p>
            <a:pPr algn="l">
              <a:lnSpc>
                <a:spcPct val="110000"/>
              </a:lnSpc>
              <a:spcAft>
                <a:spcPts val="0"/>
              </a:spcAft>
              <a:defRPr sz="1100"/>
            </a:pPr>
            <a:r>
              <a:rPr sz="1100" b="0" i="1">
                <a:solidFill>
                  <a:srgbClr val="5B6B6F"/>
                </a:solidFill>
                <a:latin typeface="Calibri"/>
              </a:rPr>
              <a:t>Los dos operadores conviven: |&gt; transforma datos, + construye el gráfico. El cuaderno desarrolla este caso en las cinco fases: pregunta, limpieza, exploración, modelo lineal y gráfico final.</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6446520"/>
            <a:ext cx="7315200" cy="274320"/>
          </a:xfrm>
          <a:prstGeom prst="rect">
            <a:avLst/>
          </a:prstGeom>
          <a:noFill/>
        </p:spPr>
        <p:txBody>
          <a:bodyPr wrap="square" lIns="0" tIns="0" rIns="0" bIns="0" anchor="t">
            <a:noAutofit/>
          </a:bodyPr>
          <a:lstStyle/>
          <a:p>
            <a:pPr algn="l">
              <a:lnSpc>
                <a:spcPct val="110000"/>
              </a:lnSpc>
              <a:spcAft>
                <a:spcPts val="0"/>
              </a:spcAft>
              <a:defRPr sz="900"/>
            </a:pPr>
            <a:r>
              <a:rPr sz="900" b="0" i="0">
                <a:solidFill>
                  <a:srgbClr val="9AA7AB"/>
                </a:solidFill>
                <a:latin typeface="Calibri"/>
              </a:rPr>
              <a:t>Visualización de Datos · Clase 18 · R y visualización de datos</a:t>
            </a:r>
          </a:p>
        </p:txBody>
      </p:sp>
      <p:sp>
        <p:nvSpPr>
          <p:cNvPr id="4" name="TextBox 3"/>
          <p:cNvSpPr txBox="1"/>
          <p:nvPr/>
        </p:nvSpPr>
        <p:spPr>
          <a:xfrm>
            <a:off x="10972800" y="6446520"/>
            <a:ext cx="667512" cy="274320"/>
          </a:xfrm>
          <a:prstGeom prst="rect">
            <a:avLst/>
          </a:prstGeom>
          <a:noFill/>
        </p:spPr>
        <p:txBody>
          <a:bodyPr wrap="square" lIns="0" tIns="0" rIns="0" bIns="0" anchor="t">
            <a:noAutofit/>
          </a:bodyPr>
          <a:lstStyle/>
          <a:p>
            <a:pPr algn="r">
              <a:lnSpc>
                <a:spcPct val="110000"/>
              </a:lnSpc>
              <a:spcAft>
                <a:spcPts val="0"/>
              </a:spcAft>
              <a:defRPr sz="900"/>
            </a:pPr>
            <a:r>
              <a:rPr sz="900" b="0" i="0">
                <a:solidFill>
                  <a:srgbClr val="9AA7AB"/>
                </a:solidFill>
                <a:latin typeface="Calibri"/>
              </a:rPr>
              <a:t>27</a:t>
            </a:r>
          </a:p>
        </p:txBody>
      </p:sp>
      <p:pic>
        <p:nvPicPr>
          <p:cNvPr id="5" name="Picture 4" descr="img-010.png"/>
          <p:cNvPicPr>
            <a:picLocks noChangeAspect="1"/>
          </p:cNvPicPr>
          <p:nvPr/>
        </p:nvPicPr>
        <p:blipFill>
          <a:blip r:embed="rId3"/>
          <a:srcRect l="19333" r="19333"/>
          <a:stretch>
            <a:fillRect/>
          </a:stretch>
        </p:blipFill>
        <p:spPr>
          <a:xfrm>
            <a:off x="0" y="0"/>
            <a:ext cx="4206240" cy="6858000"/>
          </a:xfrm>
          <a:prstGeom prst="rect">
            <a:avLst/>
          </a:prstGeom>
        </p:spPr>
      </p:pic>
      <p:sp>
        <p:nvSpPr>
          <p:cNvPr id="6" name="TextBox 5"/>
          <p:cNvSpPr txBox="1"/>
          <p:nvPr/>
        </p:nvSpPr>
        <p:spPr>
          <a:xfrm>
            <a:off x="4663440" y="457200"/>
            <a:ext cx="6949440" cy="731520"/>
          </a:xfrm>
          <a:prstGeom prst="rect">
            <a:avLst/>
          </a:prstGeom>
          <a:noFill/>
        </p:spPr>
        <p:txBody>
          <a:bodyPr wrap="square" lIns="0" tIns="0" rIns="0" bIns="0" anchor="t">
            <a:noAutofit/>
          </a:bodyPr>
          <a:lstStyle/>
          <a:p>
            <a:pPr algn="l">
              <a:lnSpc>
                <a:spcPct val="110000"/>
              </a:lnSpc>
              <a:spcAft>
                <a:spcPts val="0"/>
              </a:spcAft>
              <a:defRPr sz="2600"/>
            </a:pPr>
            <a:r>
              <a:rPr sz="2600" b="1" i="0">
                <a:solidFill>
                  <a:srgbClr val="0B6E4F"/>
                </a:solidFill>
                <a:latin typeface="Cambria"/>
              </a:rPr>
              <a:t>Caso de uso: indicadores socioeconómicos</a:t>
            </a:r>
          </a:p>
        </p:txBody>
      </p:sp>
      <p:sp>
        <p:nvSpPr>
          <p:cNvPr id="7" name="TextBox 6"/>
          <p:cNvSpPr txBox="1"/>
          <p:nvPr/>
        </p:nvSpPr>
        <p:spPr>
          <a:xfrm>
            <a:off x="4663440" y="1280160"/>
            <a:ext cx="6949440" cy="822960"/>
          </a:xfrm>
          <a:prstGeom prst="rect">
            <a:avLst/>
          </a:prstGeom>
          <a:noFill/>
        </p:spPr>
        <p:txBody>
          <a:bodyPr wrap="square" lIns="0" tIns="0" rIns="0" bIns="0" anchor="t">
            <a:noAutofit/>
          </a:bodyPr>
          <a:lstStyle/>
          <a:p>
            <a:pPr algn="l">
              <a:lnSpc>
                <a:spcPct val="115000"/>
              </a:lnSpc>
              <a:spcAft>
                <a:spcPts val="0"/>
              </a:spcAft>
              <a:defRPr sz="1250"/>
            </a:pPr>
            <a:r>
              <a:rPr sz="1250" b="0" i="0">
                <a:solidFill>
                  <a:srgbClr val="1F2A2E"/>
                </a:solidFill>
                <a:latin typeface="Calibri"/>
              </a:rPr>
              <a:t>Imagina analizar indicadores de desarrollo humano (IDH, educación, salud, ingreso) de distintos países a lo largo de décadas. Con R puedes recorrer el ciclo completo:</a:t>
            </a:r>
          </a:p>
        </p:txBody>
      </p:sp>
      <p:sp>
        <p:nvSpPr>
          <p:cNvPr id="8" name="TextBox 7"/>
          <p:cNvSpPr txBox="1"/>
          <p:nvPr/>
        </p:nvSpPr>
        <p:spPr>
          <a:xfrm>
            <a:off x="4663440" y="2194560"/>
            <a:ext cx="6949440" cy="2834640"/>
          </a:xfrm>
          <a:prstGeom prst="rect">
            <a:avLst/>
          </a:prstGeom>
          <a:noFill/>
        </p:spPr>
        <p:txBody>
          <a:bodyPr wrap="square" lIns="0" tIns="0" rIns="0" bIns="0" anchor="t">
            <a:noAutofit/>
          </a:bodyPr>
          <a:lstStyle/>
          <a:p>
            <a:pPr marL="274320" indent="-274320">
              <a:lnSpc>
                <a:spcPct val="108000"/>
              </a:lnSpc>
              <a:spcAft>
                <a:spcPts val="600"/>
              </a:spcAft>
              <a:buClr>
                <a:srgbClr val="0B6E4F"/>
              </a:buClr>
              <a:buFont typeface="Calibri"/>
              <a:buAutoNum type="arabicPeriod"/>
              <a:defRPr sz="1200"/>
            </a:pPr>
            <a:r>
              <a:rPr sz="1200" b="1" i="0">
                <a:solidFill>
                  <a:srgbClr val="1F2A2E"/>
                </a:solidFill>
                <a:latin typeface="Calibri"/>
              </a:rPr>
              <a:t>Cargar datos del Banco Mundial mediante su API  </a:t>
            </a:r>
            <a:r>
              <a:rPr sz="1100" b="0" i="0">
                <a:solidFill>
                  <a:srgbClr val="0B6E4F"/>
                </a:solidFill>
                <a:latin typeface="Consolas"/>
              </a:rPr>
              <a:t>WDI, wbstats</a:t>
            </a:r>
          </a:p>
          <a:p>
            <a:pPr marL="274320" indent="-274320">
              <a:lnSpc>
                <a:spcPct val="108000"/>
              </a:lnSpc>
              <a:spcAft>
                <a:spcPts val="600"/>
              </a:spcAft>
              <a:buClr>
                <a:srgbClr val="0B6E4F"/>
              </a:buClr>
              <a:buFont typeface="Calibri"/>
              <a:buAutoNum type="arabicPeriod"/>
              <a:defRPr sz="1200"/>
            </a:pPr>
            <a:r>
              <a:rPr sz="1200" b="1" i="0">
                <a:solidFill>
                  <a:srgbClr val="1F2A2E"/>
                </a:solidFill>
                <a:latin typeface="Calibri"/>
              </a:rPr>
              <a:t>Limpiar y unificar formatos de distintos años  </a:t>
            </a:r>
            <a:r>
              <a:rPr sz="1100" b="0" i="0">
                <a:solidFill>
                  <a:srgbClr val="0B6E4F"/>
                </a:solidFill>
                <a:latin typeface="Consolas"/>
              </a:rPr>
              <a:t>dplyr, tidyr</a:t>
            </a:r>
          </a:p>
          <a:p>
            <a:pPr marL="274320" indent="-274320">
              <a:lnSpc>
                <a:spcPct val="108000"/>
              </a:lnSpc>
              <a:spcAft>
                <a:spcPts val="600"/>
              </a:spcAft>
              <a:buClr>
                <a:srgbClr val="0B6E4F"/>
              </a:buClr>
              <a:buFont typeface="Calibri"/>
              <a:buAutoNum type="arabicPeriod"/>
              <a:defRPr sz="1200"/>
            </a:pPr>
            <a:r>
              <a:rPr sz="1200" b="1" i="0">
                <a:solidFill>
                  <a:srgbClr val="1F2A2E"/>
                </a:solidFill>
                <a:latin typeface="Calibri"/>
              </a:rPr>
              <a:t>Mostrar la evolución temporal por país y región  </a:t>
            </a:r>
            <a:r>
              <a:rPr sz="1100" b="0" i="0">
                <a:solidFill>
                  <a:srgbClr val="0B6E4F"/>
                </a:solidFill>
                <a:latin typeface="Consolas"/>
              </a:rPr>
              <a:t>ggplot2, gganimate</a:t>
            </a:r>
          </a:p>
          <a:p>
            <a:pPr marL="274320" indent="-274320">
              <a:lnSpc>
                <a:spcPct val="108000"/>
              </a:lnSpc>
              <a:spcAft>
                <a:spcPts val="600"/>
              </a:spcAft>
              <a:buClr>
                <a:srgbClr val="0B6E4F"/>
              </a:buClr>
              <a:buFont typeface="Calibri"/>
              <a:buAutoNum type="arabicPeriod"/>
              <a:defRPr sz="1200"/>
            </a:pPr>
            <a:r>
              <a:rPr sz="1200" b="1" i="0">
                <a:solidFill>
                  <a:srgbClr val="1F2A2E"/>
                </a:solidFill>
                <a:latin typeface="Calibri"/>
              </a:rPr>
              <a:t>Identificar clusters de países con perfiles similares  </a:t>
            </a:r>
            <a:r>
              <a:rPr sz="1100" b="0" i="0">
                <a:solidFill>
                  <a:srgbClr val="0B6E4F"/>
                </a:solidFill>
                <a:latin typeface="Consolas"/>
              </a:rPr>
              <a:t>kmeans, factoextra</a:t>
            </a:r>
          </a:p>
          <a:p>
            <a:pPr marL="274320" indent="-274320">
              <a:lnSpc>
                <a:spcPct val="108000"/>
              </a:lnSpc>
              <a:spcAft>
                <a:spcPts val="600"/>
              </a:spcAft>
              <a:buClr>
                <a:srgbClr val="0B6E4F"/>
              </a:buClr>
              <a:buFont typeface="Calibri"/>
              <a:buAutoNum type="arabicPeriod"/>
              <a:defRPr sz="1200"/>
            </a:pPr>
            <a:r>
              <a:rPr sz="1200" b="1" i="0">
                <a:solidFill>
                  <a:srgbClr val="1F2A2E"/>
                </a:solidFill>
                <a:latin typeface="Calibri"/>
              </a:rPr>
              <a:t>Predecir tendencias con modelos estadísticos  </a:t>
            </a:r>
            <a:r>
              <a:rPr sz="1100" b="0" i="0">
                <a:solidFill>
                  <a:srgbClr val="0B6E4F"/>
                </a:solidFill>
                <a:latin typeface="Consolas"/>
              </a:rPr>
              <a:t>lm, forecast</a:t>
            </a:r>
          </a:p>
          <a:p>
            <a:pPr marL="274320" indent="-274320">
              <a:lnSpc>
                <a:spcPct val="108000"/>
              </a:lnSpc>
              <a:spcAft>
                <a:spcPts val="600"/>
              </a:spcAft>
              <a:buClr>
                <a:srgbClr val="0B6E4F"/>
              </a:buClr>
              <a:buFont typeface="Calibri"/>
              <a:buAutoNum type="arabicPeriod"/>
              <a:defRPr sz="1200"/>
            </a:pPr>
            <a:r>
              <a:rPr sz="1200" b="1" i="0">
                <a:solidFill>
                  <a:srgbClr val="1F2A2E"/>
                </a:solidFill>
                <a:latin typeface="Calibri"/>
              </a:rPr>
              <a:t>Presentar los hallazgos en un dashboard interactivo  </a:t>
            </a:r>
            <a:r>
              <a:rPr sz="1100" b="0" i="0">
                <a:solidFill>
                  <a:srgbClr val="0B6E4F"/>
                </a:solidFill>
                <a:latin typeface="Consolas"/>
              </a:rPr>
              <a:t>shiny, flexdashboard</a:t>
            </a:r>
          </a:p>
        </p:txBody>
      </p:sp>
      <p:sp>
        <p:nvSpPr>
          <p:cNvPr id="9" name="Rounded Rectangle 8"/>
          <p:cNvSpPr/>
          <p:nvPr/>
        </p:nvSpPr>
        <p:spPr>
          <a:xfrm>
            <a:off x="4663440" y="5120640"/>
            <a:ext cx="6976872" cy="1188720"/>
          </a:xfrm>
          <a:prstGeom prst="roundRect">
            <a:avLst>
              <a:gd name="adj" fmla="val 6000"/>
            </a:avLst>
          </a:prstGeom>
          <a:solidFill>
            <a:srgbClr val="FFF3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892040" y="5120640"/>
            <a:ext cx="6583680" cy="1188720"/>
          </a:xfrm>
          <a:prstGeom prst="rect">
            <a:avLst/>
          </a:prstGeom>
          <a:noFill/>
        </p:spPr>
        <p:txBody>
          <a:bodyPr wrap="square" lIns="0" tIns="0" rIns="0" bIns="0" anchor="ctr">
            <a:noAutofit/>
          </a:bodyPr>
          <a:lstStyle/>
          <a:p>
            <a:pPr algn="l">
              <a:lnSpc>
                <a:spcPct val="112000"/>
              </a:lnSpc>
              <a:spcAft>
                <a:spcPts val="600"/>
              </a:spcAft>
              <a:defRPr sz="1200"/>
            </a:pPr>
            <a:r>
              <a:rPr sz="1200" b="1" i="0">
                <a:solidFill>
                  <a:srgbClr val="B7791F"/>
                </a:solidFill>
                <a:latin typeface="Calibri"/>
              </a:rPr>
              <a:t>Conexión con el proyecto del corte: </a:t>
            </a:r>
            <a:r>
              <a:rPr sz="1200" b="0" i="0">
                <a:solidFill>
                  <a:srgbClr val="1F2A2E"/>
                </a:solidFill>
                <a:latin typeface="Calibri"/>
              </a:rPr>
              <a:t>el mismo flujo aplica a los datos de tu equipo. Reproduce en R uno de los gráficos del prototipo que presentaste en Python y compara el esfuerzo y el resultado.</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6446520"/>
            <a:ext cx="7315200" cy="274320"/>
          </a:xfrm>
          <a:prstGeom prst="rect">
            <a:avLst/>
          </a:prstGeom>
          <a:noFill/>
        </p:spPr>
        <p:txBody>
          <a:bodyPr wrap="square" lIns="0" tIns="0" rIns="0" bIns="0" anchor="t">
            <a:noAutofit/>
          </a:bodyPr>
          <a:lstStyle/>
          <a:p>
            <a:pPr algn="l">
              <a:lnSpc>
                <a:spcPct val="110000"/>
              </a:lnSpc>
              <a:spcAft>
                <a:spcPts val="0"/>
              </a:spcAft>
              <a:defRPr sz="900"/>
            </a:pPr>
            <a:r>
              <a:rPr sz="900" b="0" i="0">
                <a:solidFill>
                  <a:srgbClr val="9AA7AB"/>
                </a:solidFill>
                <a:latin typeface="Calibri"/>
              </a:rPr>
              <a:t>Visualización de Datos · Clase 18 · R y visualización de datos</a:t>
            </a:r>
          </a:p>
        </p:txBody>
      </p:sp>
      <p:sp>
        <p:nvSpPr>
          <p:cNvPr id="4" name="TextBox 3"/>
          <p:cNvSpPr txBox="1"/>
          <p:nvPr/>
        </p:nvSpPr>
        <p:spPr>
          <a:xfrm>
            <a:off x="10972800" y="6446520"/>
            <a:ext cx="667512" cy="274320"/>
          </a:xfrm>
          <a:prstGeom prst="rect">
            <a:avLst/>
          </a:prstGeom>
          <a:noFill/>
        </p:spPr>
        <p:txBody>
          <a:bodyPr wrap="square" lIns="0" tIns="0" rIns="0" bIns="0" anchor="t">
            <a:noAutofit/>
          </a:bodyPr>
          <a:lstStyle/>
          <a:p>
            <a:pPr algn="r">
              <a:lnSpc>
                <a:spcPct val="110000"/>
              </a:lnSpc>
              <a:spcAft>
                <a:spcPts val="0"/>
              </a:spcAft>
              <a:defRPr sz="900"/>
            </a:pPr>
            <a:r>
              <a:rPr sz="900" b="0" i="0">
                <a:solidFill>
                  <a:srgbClr val="9AA7AB"/>
                </a:solidFill>
                <a:latin typeface="Calibri"/>
              </a:rPr>
              <a:t>28</a:t>
            </a:r>
          </a:p>
        </p:txBody>
      </p:sp>
      <p:sp>
        <p:nvSpPr>
          <p:cNvPr id="5" name="TextBox 4"/>
          <p:cNvSpPr txBox="1"/>
          <p:nvPr/>
        </p:nvSpPr>
        <p:spPr>
          <a:xfrm>
            <a:off x="548640" y="457200"/>
            <a:ext cx="11091672" cy="731520"/>
          </a:xfrm>
          <a:prstGeom prst="rect">
            <a:avLst/>
          </a:prstGeom>
          <a:noFill/>
        </p:spPr>
        <p:txBody>
          <a:bodyPr wrap="square" lIns="0" tIns="0" rIns="0" bIns="0" anchor="t">
            <a:noAutofit/>
          </a:bodyPr>
          <a:lstStyle/>
          <a:p>
            <a:pPr algn="l">
              <a:lnSpc>
                <a:spcPct val="110000"/>
              </a:lnSpc>
              <a:spcAft>
                <a:spcPts val="0"/>
              </a:spcAft>
              <a:defRPr sz="3000"/>
            </a:pPr>
            <a:r>
              <a:rPr sz="3000" b="1" i="0">
                <a:solidFill>
                  <a:srgbClr val="0B6E4F"/>
                </a:solidFill>
                <a:latin typeface="Cambria"/>
              </a:rPr>
              <a:t>Antes de publicar un gráfico: lista de chequeo</a:t>
            </a:r>
          </a:p>
        </p:txBody>
      </p:sp>
      <p:sp>
        <p:nvSpPr>
          <p:cNvPr id="6" name="Oval 5"/>
          <p:cNvSpPr/>
          <p:nvPr/>
        </p:nvSpPr>
        <p:spPr>
          <a:xfrm>
            <a:off x="548640" y="1417320"/>
            <a:ext cx="457200" cy="457200"/>
          </a:xfrm>
          <a:prstGeom prst="ellipse">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i="0">
                <a:solidFill>
                  <a:srgbClr val="FFFFFF"/>
                </a:solidFill>
                <a:latin typeface="Segoe UI Symbol"/>
              </a:rPr>
              <a:t>✓</a:t>
            </a:r>
          </a:p>
        </p:txBody>
      </p:sp>
      <p:sp>
        <p:nvSpPr>
          <p:cNvPr id="7" name="TextBox 6"/>
          <p:cNvSpPr txBox="1"/>
          <p:nvPr/>
        </p:nvSpPr>
        <p:spPr>
          <a:xfrm>
            <a:off x="1188719" y="1371600"/>
            <a:ext cx="4846320" cy="365760"/>
          </a:xfrm>
          <a:prstGeom prst="rect">
            <a:avLst/>
          </a:prstGeom>
          <a:noFill/>
        </p:spPr>
        <p:txBody>
          <a:bodyPr wrap="square" lIns="0" tIns="0" rIns="0" bIns="0" anchor="t">
            <a:noAutofit/>
          </a:bodyPr>
          <a:lstStyle/>
          <a:p>
            <a:pPr algn="l">
              <a:lnSpc>
                <a:spcPct val="110000"/>
              </a:lnSpc>
              <a:spcAft>
                <a:spcPts val="0"/>
              </a:spcAft>
              <a:defRPr sz="1400"/>
            </a:pPr>
            <a:r>
              <a:rPr sz="1400" b="1" i="0">
                <a:solidFill>
                  <a:srgbClr val="0B6E4F"/>
                </a:solidFill>
                <a:latin typeface="Cambria"/>
              </a:rPr>
              <a:t>El título afirma el hallazgo</a:t>
            </a:r>
          </a:p>
        </p:txBody>
      </p:sp>
      <p:sp>
        <p:nvSpPr>
          <p:cNvPr id="8" name="TextBox 7"/>
          <p:cNvSpPr txBox="1"/>
          <p:nvPr/>
        </p:nvSpPr>
        <p:spPr>
          <a:xfrm>
            <a:off x="1188719" y="1737360"/>
            <a:ext cx="4846320" cy="640080"/>
          </a:xfrm>
          <a:prstGeom prst="rect">
            <a:avLst/>
          </a:prstGeom>
          <a:noFill/>
        </p:spPr>
        <p:txBody>
          <a:bodyPr wrap="square" lIns="0" tIns="0" rIns="0" bIns="0" anchor="t">
            <a:noAutofit/>
          </a:bodyPr>
          <a:lstStyle/>
          <a:p>
            <a:pPr algn="l">
              <a:lnSpc>
                <a:spcPct val="110000"/>
              </a:lnSpc>
              <a:spcAft>
                <a:spcPts val="0"/>
              </a:spcAft>
              <a:defRPr sz="1150"/>
            </a:pPr>
            <a:r>
              <a:rPr sz="1150" b="0" i="0">
                <a:solidFill>
                  <a:srgbClr val="1F2A2E"/>
                </a:solidFill>
                <a:latin typeface="Calibri"/>
              </a:rPr>
              <a:t>No 'Ventas por año' sino 'Las ventas se duplicaron desde 2011'.</a:t>
            </a:r>
          </a:p>
        </p:txBody>
      </p:sp>
      <p:sp>
        <p:nvSpPr>
          <p:cNvPr id="9" name="Oval 8"/>
          <p:cNvSpPr/>
          <p:nvPr/>
        </p:nvSpPr>
        <p:spPr>
          <a:xfrm>
            <a:off x="548640" y="2496311"/>
            <a:ext cx="457200" cy="457200"/>
          </a:xfrm>
          <a:prstGeom prst="ellipse">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i="0">
                <a:solidFill>
                  <a:srgbClr val="FFFFFF"/>
                </a:solidFill>
                <a:latin typeface="Segoe UI Symbol"/>
              </a:rPr>
              <a:t>✓</a:t>
            </a:r>
          </a:p>
        </p:txBody>
      </p:sp>
      <p:sp>
        <p:nvSpPr>
          <p:cNvPr id="10" name="TextBox 9"/>
          <p:cNvSpPr txBox="1"/>
          <p:nvPr/>
        </p:nvSpPr>
        <p:spPr>
          <a:xfrm>
            <a:off x="1188719" y="2450591"/>
            <a:ext cx="4846320" cy="365760"/>
          </a:xfrm>
          <a:prstGeom prst="rect">
            <a:avLst/>
          </a:prstGeom>
          <a:noFill/>
        </p:spPr>
        <p:txBody>
          <a:bodyPr wrap="square" lIns="0" tIns="0" rIns="0" bIns="0" anchor="t">
            <a:noAutofit/>
          </a:bodyPr>
          <a:lstStyle/>
          <a:p>
            <a:pPr algn="l">
              <a:lnSpc>
                <a:spcPct val="110000"/>
              </a:lnSpc>
              <a:spcAft>
                <a:spcPts val="0"/>
              </a:spcAft>
              <a:defRPr sz="1400"/>
            </a:pPr>
            <a:r>
              <a:rPr sz="1400" b="1" i="0">
                <a:solidFill>
                  <a:srgbClr val="0B6E4F"/>
                </a:solidFill>
                <a:latin typeface="Cambria"/>
              </a:rPr>
              <a:t>Ejes con nombre y unidades</a:t>
            </a:r>
          </a:p>
        </p:txBody>
      </p:sp>
      <p:sp>
        <p:nvSpPr>
          <p:cNvPr id="11" name="TextBox 10"/>
          <p:cNvSpPr txBox="1"/>
          <p:nvPr/>
        </p:nvSpPr>
        <p:spPr>
          <a:xfrm>
            <a:off x="1188719" y="2816351"/>
            <a:ext cx="4846320" cy="640080"/>
          </a:xfrm>
          <a:prstGeom prst="rect">
            <a:avLst/>
          </a:prstGeom>
          <a:noFill/>
        </p:spPr>
        <p:txBody>
          <a:bodyPr wrap="square" lIns="0" tIns="0" rIns="0" bIns="0" anchor="t">
            <a:noAutofit/>
          </a:bodyPr>
          <a:lstStyle/>
          <a:p>
            <a:pPr algn="l">
              <a:lnSpc>
                <a:spcPct val="110000"/>
              </a:lnSpc>
              <a:spcAft>
                <a:spcPts val="0"/>
              </a:spcAft>
              <a:defRPr sz="1150"/>
            </a:pPr>
            <a:r>
              <a:rPr sz="1150" b="0" i="0">
                <a:solidFill>
                  <a:srgbClr val="1F2A2E"/>
                </a:solidFill>
                <a:latin typeface="Calibri"/>
              </a:rPr>
              <a:t>Separadores de miles y porcentajes con scales::label_*().</a:t>
            </a:r>
          </a:p>
        </p:txBody>
      </p:sp>
      <p:sp>
        <p:nvSpPr>
          <p:cNvPr id="12" name="Oval 11"/>
          <p:cNvSpPr/>
          <p:nvPr/>
        </p:nvSpPr>
        <p:spPr>
          <a:xfrm>
            <a:off x="548640" y="3575303"/>
            <a:ext cx="457200" cy="457200"/>
          </a:xfrm>
          <a:prstGeom prst="ellipse">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i="0">
                <a:solidFill>
                  <a:srgbClr val="FFFFFF"/>
                </a:solidFill>
                <a:latin typeface="Segoe UI Symbol"/>
              </a:rPr>
              <a:t>✓</a:t>
            </a:r>
          </a:p>
        </p:txBody>
      </p:sp>
      <p:sp>
        <p:nvSpPr>
          <p:cNvPr id="13" name="TextBox 12"/>
          <p:cNvSpPr txBox="1"/>
          <p:nvPr/>
        </p:nvSpPr>
        <p:spPr>
          <a:xfrm>
            <a:off x="1188719" y="3529584"/>
            <a:ext cx="4846320" cy="365760"/>
          </a:xfrm>
          <a:prstGeom prst="rect">
            <a:avLst/>
          </a:prstGeom>
          <a:noFill/>
        </p:spPr>
        <p:txBody>
          <a:bodyPr wrap="square" lIns="0" tIns="0" rIns="0" bIns="0" anchor="t">
            <a:noAutofit/>
          </a:bodyPr>
          <a:lstStyle/>
          <a:p>
            <a:pPr algn="l">
              <a:lnSpc>
                <a:spcPct val="110000"/>
              </a:lnSpc>
              <a:spcAft>
                <a:spcPts val="0"/>
              </a:spcAft>
              <a:defRPr sz="1400"/>
            </a:pPr>
            <a:r>
              <a:rPr sz="1400" b="1" i="0">
                <a:solidFill>
                  <a:srgbClr val="0B6E4F"/>
                </a:solidFill>
                <a:latin typeface="Cambria"/>
              </a:rPr>
              <a:t>El color tiene un propósito</a:t>
            </a:r>
          </a:p>
        </p:txBody>
      </p:sp>
      <p:sp>
        <p:nvSpPr>
          <p:cNvPr id="14" name="TextBox 13"/>
          <p:cNvSpPr txBox="1"/>
          <p:nvPr/>
        </p:nvSpPr>
        <p:spPr>
          <a:xfrm>
            <a:off x="1188719" y="3895344"/>
            <a:ext cx="4846320" cy="640080"/>
          </a:xfrm>
          <a:prstGeom prst="rect">
            <a:avLst/>
          </a:prstGeom>
          <a:noFill/>
        </p:spPr>
        <p:txBody>
          <a:bodyPr wrap="square" lIns="0" tIns="0" rIns="0" bIns="0" anchor="t">
            <a:noAutofit/>
          </a:bodyPr>
          <a:lstStyle/>
          <a:p>
            <a:pPr algn="l">
              <a:lnSpc>
                <a:spcPct val="110000"/>
              </a:lnSpc>
              <a:spcAft>
                <a:spcPts val="0"/>
              </a:spcAft>
              <a:defRPr sz="1150"/>
            </a:pPr>
            <a:r>
              <a:rPr sz="1150" b="0" i="0">
                <a:solidFill>
                  <a:srgbClr val="1F2A2E"/>
                </a:solidFill>
                <a:latin typeface="Calibri"/>
              </a:rPr>
              <a:t>Categórico, secuencial o divergente; paleta accesible.</a:t>
            </a:r>
          </a:p>
        </p:txBody>
      </p:sp>
      <p:sp>
        <p:nvSpPr>
          <p:cNvPr id="15" name="Oval 14"/>
          <p:cNvSpPr/>
          <p:nvPr/>
        </p:nvSpPr>
        <p:spPr>
          <a:xfrm>
            <a:off x="548640" y="4654296"/>
            <a:ext cx="457200" cy="457200"/>
          </a:xfrm>
          <a:prstGeom prst="ellipse">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i="0">
                <a:solidFill>
                  <a:srgbClr val="FFFFFF"/>
                </a:solidFill>
                <a:latin typeface="Segoe UI Symbol"/>
              </a:rPr>
              <a:t>✓</a:t>
            </a:r>
          </a:p>
        </p:txBody>
      </p:sp>
      <p:sp>
        <p:nvSpPr>
          <p:cNvPr id="16" name="TextBox 15"/>
          <p:cNvSpPr txBox="1"/>
          <p:nvPr/>
        </p:nvSpPr>
        <p:spPr>
          <a:xfrm>
            <a:off x="1188719" y="4608576"/>
            <a:ext cx="4846320" cy="365760"/>
          </a:xfrm>
          <a:prstGeom prst="rect">
            <a:avLst/>
          </a:prstGeom>
          <a:noFill/>
        </p:spPr>
        <p:txBody>
          <a:bodyPr wrap="square" lIns="0" tIns="0" rIns="0" bIns="0" anchor="t">
            <a:noAutofit/>
          </a:bodyPr>
          <a:lstStyle/>
          <a:p>
            <a:pPr algn="l">
              <a:lnSpc>
                <a:spcPct val="110000"/>
              </a:lnSpc>
              <a:spcAft>
                <a:spcPts val="0"/>
              </a:spcAft>
              <a:defRPr sz="1400"/>
            </a:pPr>
            <a:r>
              <a:rPr sz="1400" b="1" i="0">
                <a:solidFill>
                  <a:srgbClr val="0B6E4F"/>
                </a:solidFill>
                <a:latin typeface="Cambria"/>
              </a:rPr>
              <a:t>Un mensaje por gráfico</a:t>
            </a:r>
          </a:p>
        </p:txBody>
      </p:sp>
      <p:sp>
        <p:nvSpPr>
          <p:cNvPr id="17" name="TextBox 16"/>
          <p:cNvSpPr txBox="1"/>
          <p:nvPr/>
        </p:nvSpPr>
        <p:spPr>
          <a:xfrm>
            <a:off x="1188719" y="4974336"/>
            <a:ext cx="4846320" cy="640080"/>
          </a:xfrm>
          <a:prstGeom prst="rect">
            <a:avLst/>
          </a:prstGeom>
          <a:noFill/>
        </p:spPr>
        <p:txBody>
          <a:bodyPr wrap="square" lIns="0" tIns="0" rIns="0" bIns="0" anchor="t">
            <a:noAutofit/>
          </a:bodyPr>
          <a:lstStyle/>
          <a:p>
            <a:pPr algn="l">
              <a:lnSpc>
                <a:spcPct val="110000"/>
              </a:lnSpc>
              <a:spcAft>
                <a:spcPts val="0"/>
              </a:spcAft>
              <a:defRPr sz="1150"/>
            </a:pPr>
            <a:r>
              <a:rPr sz="1150" b="0" i="0">
                <a:solidFill>
                  <a:srgbClr val="1F2A2E"/>
                </a:solidFill>
                <a:latin typeface="Calibri"/>
              </a:rPr>
              <a:t>Si hay muchos grupos, usa facetas o resalta solo uno.</a:t>
            </a:r>
          </a:p>
        </p:txBody>
      </p:sp>
      <p:sp>
        <p:nvSpPr>
          <p:cNvPr id="18" name="Oval 17"/>
          <p:cNvSpPr/>
          <p:nvPr/>
        </p:nvSpPr>
        <p:spPr>
          <a:xfrm>
            <a:off x="6263640" y="1417320"/>
            <a:ext cx="457200" cy="457200"/>
          </a:xfrm>
          <a:prstGeom prst="ellipse">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i="0">
                <a:solidFill>
                  <a:srgbClr val="FFFFFF"/>
                </a:solidFill>
                <a:latin typeface="Segoe UI Symbol"/>
              </a:rPr>
              <a:t>✓</a:t>
            </a:r>
          </a:p>
        </p:txBody>
      </p:sp>
      <p:sp>
        <p:nvSpPr>
          <p:cNvPr id="19" name="TextBox 18"/>
          <p:cNvSpPr txBox="1"/>
          <p:nvPr/>
        </p:nvSpPr>
        <p:spPr>
          <a:xfrm>
            <a:off x="6903720" y="1371600"/>
            <a:ext cx="4846320" cy="365760"/>
          </a:xfrm>
          <a:prstGeom prst="rect">
            <a:avLst/>
          </a:prstGeom>
          <a:noFill/>
        </p:spPr>
        <p:txBody>
          <a:bodyPr wrap="square" lIns="0" tIns="0" rIns="0" bIns="0" anchor="t">
            <a:noAutofit/>
          </a:bodyPr>
          <a:lstStyle/>
          <a:p>
            <a:pPr algn="l">
              <a:lnSpc>
                <a:spcPct val="110000"/>
              </a:lnSpc>
              <a:spcAft>
                <a:spcPts val="0"/>
              </a:spcAft>
              <a:defRPr sz="1400"/>
            </a:pPr>
            <a:r>
              <a:rPr sz="1400" b="1" i="0">
                <a:solidFill>
                  <a:srgbClr val="0B6E4F"/>
                </a:solidFill>
                <a:latin typeface="Cambria"/>
              </a:rPr>
              <a:t>Fuente y fecha visibles</a:t>
            </a:r>
          </a:p>
        </p:txBody>
      </p:sp>
      <p:sp>
        <p:nvSpPr>
          <p:cNvPr id="20" name="TextBox 19"/>
          <p:cNvSpPr txBox="1"/>
          <p:nvPr/>
        </p:nvSpPr>
        <p:spPr>
          <a:xfrm>
            <a:off x="6903720" y="1737360"/>
            <a:ext cx="4846320" cy="640080"/>
          </a:xfrm>
          <a:prstGeom prst="rect">
            <a:avLst/>
          </a:prstGeom>
          <a:noFill/>
        </p:spPr>
        <p:txBody>
          <a:bodyPr wrap="square" lIns="0" tIns="0" rIns="0" bIns="0" anchor="t">
            <a:noAutofit/>
          </a:bodyPr>
          <a:lstStyle/>
          <a:p>
            <a:pPr algn="l">
              <a:lnSpc>
                <a:spcPct val="110000"/>
              </a:lnSpc>
              <a:spcAft>
                <a:spcPts val="0"/>
              </a:spcAft>
              <a:defRPr sz="1150"/>
            </a:pPr>
            <a:r>
              <a:rPr sz="1150" b="0" i="0">
                <a:solidFill>
                  <a:srgbClr val="1F2A2E"/>
                </a:solidFill>
                <a:latin typeface="Calibri"/>
              </a:rPr>
              <a:t>En el caption: de dónde salen los datos y cuándo.</a:t>
            </a:r>
          </a:p>
        </p:txBody>
      </p:sp>
      <p:sp>
        <p:nvSpPr>
          <p:cNvPr id="21" name="Oval 20"/>
          <p:cNvSpPr/>
          <p:nvPr/>
        </p:nvSpPr>
        <p:spPr>
          <a:xfrm>
            <a:off x="6263640" y="2496311"/>
            <a:ext cx="457200" cy="457200"/>
          </a:xfrm>
          <a:prstGeom prst="ellipse">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i="0">
                <a:solidFill>
                  <a:srgbClr val="FFFFFF"/>
                </a:solidFill>
                <a:latin typeface="Segoe UI Symbol"/>
              </a:rPr>
              <a:t>✓</a:t>
            </a:r>
          </a:p>
        </p:txBody>
      </p:sp>
      <p:sp>
        <p:nvSpPr>
          <p:cNvPr id="22" name="TextBox 21"/>
          <p:cNvSpPr txBox="1"/>
          <p:nvPr/>
        </p:nvSpPr>
        <p:spPr>
          <a:xfrm>
            <a:off x="6903720" y="2450591"/>
            <a:ext cx="4846320" cy="365760"/>
          </a:xfrm>
          <a:prstGeom prst="rect">
            <a:avLst/>
          </a:prstGeom>
          <a:noFill/>
        </p:spPr>
        <p:txBody>
          <a:bodyPr wrap="square" lIns="0" tIns="0" rIns="0" bIns="0" anchor="t">
            <a:noAutofit/>
          </a:bodyPr>
          <a:lstStyle/>
          <a:p>
            <a:pPr algn="l">
              <a:lnSpc>
                <a:spcPct val="110000"/>
              </a:lnSpc>
              <a:spcAft>
                <a:spcPts val="0"/>
              </a:spcAft>
              <a:defRPr sz="1400"/>
            </a:pPr>
            <a:r>
              <a:rPr sz="1400" b="1" i="0">
                <a:solidFill>
                  <a:srgbClr val="0B6E4F"/>
                </a:solidFill>
                <a:latin typeface="Cambria"/>
              </a:rPr>
              <a:t>Sin chartjunk</a:t>
            </a:r>
          </a:p>
        </p:txBody>
      </p:sp>
      <p:sp>
        <p:nvSpPr>
          <p:cNvPr id="23" name="TextBox 22"/>
          <p:cNvSpPr txBox="1"/>
          <p:nvPr/>
        </p:nvSpPr>
        <p:spPr>
          <a:xfrm>
            <a:off x="6903720" y="2816351"/>
            <a:ext cx="4846320" cy="640080"/>
          </a:xfrm>
          <a:prstGeom prst="rect">
            <a:avLst/>
          </a:prstGeom>
          <a:noFill/>
        </p:spPr>
        <p:txBody>
          <a:bodyPr wrap="square" lIns="0" tIns="0" rIns="0" bIns="0" anchor="t">
            <a:noAutofit/>
          </a:bodyPr>
          <a:lstStyle/>
          <a:p>
            <a:pPr algn="l">
              <a:lnSpc>
                <a:spcPct val="110000"/>
              </a:lnSpc>
              <a:spcAft>
                <a:spcPts val="0"/>
              </a:spcAft>
              <a:defRPr sz="1150"/>
            </a:pPr>
            <a:r>
              <a:rPr sz="1150" b="0" i="0">
                <a:solidFill>
                  <a:srgbClr val="1F2A2E"/>
                </a:solidFill>
                <a:latin typeface="Calibri"/>
              </a:rPr>
              <a:t>Sin 3D, fondos ni rejillas innecesarias; theme_minimal() ayuda.</a:t>
            </a:r>
          </a:p>
        </p:txBody>
      </p:sp>
      <p:sp>
        <p:nvSpPr>
          <p:cNvPr id="24" name="Oval 23"/>
          <p:cNvSpPr/>
          <p:nvPr/>
        </p:nvSpPr>
        <p:spPr>
          <a:xfrm>
            <a:off x="6263640" y="3575303"/>
            <a:ext cx="457200" cy="457200"/>
          </a:xfrm>
          <a:prstGeom prst="ellipse">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i="0">
                <a:solidFill>
                  <a:srgbClr val="FFFFFF"/>
                </a:solidFill>
                <a:latin typeface="Segoe UI Symbol"/>
              </a:rPr>
              <a:t>✓</a:t>
            </a:r>
          </a:p>
        </p:txBody>
      </p:sp>
      <p:sp>
        <p:nvSpPr>
          <p:cNvPr id="25" name="TextBox 24"/>
          <p:cNvSpPr txBox="1"/>
          <p:nvPr/>
        </p:nvSpPr>
        <p:spPr>
          <a:xfrm>
            <a:off x="6903720" y="3529584"/>
            <a:ext cx="4846320" cy="365760"/>
          </a:xfrm>
          <a:prstGeom prst="rect">
            <a:avLst/>
          </a:prstGeom>
          <a:noFill/>
        </p:spPr>
        <p:txBody>
          <a:bodyPr wrap="square" lIns="0" tIns="0" rIns="0" bIns="0" anchor="t">
            <a:noAutofit/>
          </a:bodyPr>
          <a:lstStyle/>
          <a:p>
            <a:pPr algn="l">
              <a:lnSpc>
                <a:spcPct val="110000"/>
              </a:lnSpc>
              <a:spcAft>
                <a:spcPts val="0"/>
              </a:spcAft>
              <a:defRPr sz="1400"/>
            </a:pPr>
            <a:r>
              <a:rPr sz="1400" b="1" i="0">
                <a:solidFill>
                  <a:srgbClr val="0B6E4F"/>
                </a:solidFill>
                <a:latin typeface="Cambria"/>
              </a:rPr>
              <a:t>Barras desde cero, escalas anunciadas</a:t>
            </a:r>
          </a:p>
        </p:txBody>
      </p:sp>
      <p:sp>
        <p:nvSpPr>
          <p:cNvPr id="26" name="TextBox 25"/>
          <p:cNvSpPr txBox="1"/>
          <p:nvPr/>
        </p:nvSpPr>
        <p:spPr>
          <a:xfrm>
            <a:off x="6903720" y="3895344"/>
            <a:ext cx="4846320" cy="640080"/>
          </a:xfrm>
          <a:prstGeom prst="rect">
            <a:avLst/>
          </a:prstGeom>
          <a:noFill/>
        </p:spPr>
        <p:txBody>
          <a:bodyPr wrap="square" lIns="0" tIns="0" rIns="0" bIns="0" anchor="t">
            <a:noAutofit/>
          </a:bodyPr>
          <a:lstStyle/>
          <a:p>
            <a:pPr algn="l">
              <a:lnSpc>
                <a:spcPct val="110000"/>
              </a:lnSpc>
              <a:spcAft>
                <a:spcPts val="0"/>
              </a:spcAft>
              <a:defRPr sz="1150"/>
            </a:pPr>
            <a:r>
              <a:rPr sz="1150" b="0" i="0">
                <a:solidFill>
                  <a:srgbClr val="1F2A2E"/>
                </a:solidFill>
                <a:latin typeface="Calibri"/>
              </a:rPr>
              <a:t>Nunca truncar el eje de una barra; avisar si es logarítmico.</a:t>
            </a:r>
          </a:p>
        </p:txBody>
      </p:sp>
      <p:sp>
        <p:nvSpPr>
          <p:cNvPr id="27" name="Oval 26"/>
          <p:cNvSpPr/>
          <p:nvPr/>
        </p:nvSpPr>
        <p:spPr>
          <a:xfrm>
            <a:off x="6263640" y="4654296"/>
            <a:ext cx="457200" cy="457200"/>
          </a:xfrm>
          <a:prstGeom prst="ellipse">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i="0">
                <a:solidFill>
                  <a:srgbClr val="FFFFFF"/>
                </a:solidFill>
                <a:latin typeface="Segoe UI Symbol"/>
              </a:rPr>
              <a:t>✓</a:t>
            </a:r>
          </a:p>
        </p:txBody>
      </p:sp>
      <p:sp>
        <p:nvSpPr>
          <p:cNvPr id="28" name="TextBox 27"/>
          <p:cNvSpPr txBox="1"/>
          <p:nvPr/>
        </p:nvSpPr>
        <p:spPr>
          <a:xfrm>
            <a:off x="6903720" y="4608576"/>
            <a:ext cx="4846320" cy="365760"/>
          </a:xfrm>
          <a:prstGeom prst="rect">
            <a:avLst/>
          </a:prstGeom>
          <a:noFill/>
        </p:spPr>
        <p:txBody>
          <a:bodyPr wrap="square" lIns="0" tIns="0" rIns="0" bIns="0" anchor="t">
            <a:noAutofit/>
          </a:bodyPr>
          <a:lstStyle/>
          <a:p>
            <a:pPr algn="l">
              <a:lnSpc>
                <a:spcPct val="110000"/>
              </a:lnSpc>
              <a:spcAft>
                <a:spcPts val="0"/>
              </a:spcAft>
              <a:defRPr sz="1400"/>
            </a:pPr>
            <a:r>
              <a:rPr sz="1400" b="1" i="0">
                <a:solidFill>
                  <a:srgbClr val="0B6E4F"/>
                </a:solidFill>
                <a:latin typeface="Cambria"/>
              </a:rPr>
              <a:t>Exportado al tamaño del medio</a:t>
            </a:r>
          </a:p>
        </p:txBody>
      </p:sp>
      <p:sp>
        <p:nvSpPr>
          <p:cNvPr id="29" name="TextBox 28"/>
          <p:cNvSpPr txBox="1"/>
          <p:nvPr/>
        </p:nvSpPr>
        <p:spPr>
          <a:xfrm>
            <a:off x="6903720" y="4974336"/>
            <a:ext cx="4846320" cy="640080"/>
          </a:xfrm>
          <a:prstGeom prst="rect">
            <a:avLst/>
          </a:prstGeom>
          <a:noFill/>
        </p:spPr>
        <p:txBody>
          <a:bodyPr wrap="square" lIns="0" tIns="0" rIns="0" bIns="0" anchor="t">
            <a:noAutofit/>
          </a:bodyPr>
          <a:lstStyle/>
          <a:p>
            <a:pPr algn="l">
              <a:lnSpc>
                <a:spcPct val="110000"/>
              </a:lnSpc>
              <a:spcAft>
                <a:spcPts val="0"/>
              </a:spcAft>
              <a:defRPr sz="1150"/>
            </a:pPr>
            <a:r>
              <a:rPr sz="1150" b="0" i="0">
                <a:solidFill>
                  <a:srgbClr val="1F2A2E"/>
                </a:solidFill>
                <a:latin typeface="Calibri"/>
              </a:rPr>
              <a:t>ggsave() con ancho, alto y dpi correctos.</a:t>
            </a:r>
          </a:p>
        </p:txBody>
      </p:sp>
      <p:sp>
        <p:nvSpPr>
          <p:cNvPr id="30" name="TextBox 29"/>
          <p:cNvSpPr txBox="1"/>
          <p:nvPr/>
        </p:nvSpPr>
        <p:spPr>
          <a:xfrm>
            <a:off x="548640" y="5806440"/>
            <a:ext cx="11091672" cy="457200"/>
          </a:xfrm>
          <a:prstGeom prst="rect">
            <a:avLst/>
          </a:prstGeom>
          <a:noFill/>
        </p:spPr>
        <p:txBody>
          <a:bodyPr wrap="square" lIns="0" tIns="0" rIns="0" bIns="0" anchor="t">
            <a:noAutofit/>
          </a:bodyPr>
          <a:lstStyle/>
          <a:p>
            <a:pPr algn="l">
              <a:lnSpc>
                <a:spcPct val="110000"/>
              </a:lnSpc>
              <a:spcAft>
                <a:spcPts val="0"/>
              </a:spcAft>
              <a:defRPr sz="1150"/>
            </a:pPr>
            <a:r>
              <a:rPr sz="1150" b="0" i="1">
                <a:solidFill>
                  <a:srgbClr val="5B6B6F"/>
                </a:solidFill>
                <a:latin typeface="Calibri"/>
              </a:rPr>
              <a:t>Basada en la Guía de títulos, gráficos y color del curso. La misma lista está al final del cuaderno de R para revisar cada gráfico del taller.</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6446520"/>
            <a:ext cx="7315200" cy="274320"/>
          </a:xfrm>
          <a:prstGeom prst="rect">
            <a:avLst/>
          </a:prstGeom>
          <a:noFill/>
        </p:spPr>
        <p:txBody>
          <a:bodyPr wrap="square" lIns="0" tIns="0" rIns="0" bIns="0" anchor="t">
            <a:noAutofit/>
          </a:bodyPr>
          <a:lstStyle/>
          <a:p>
            <a:pPr algn="l">
              <a:lnSpc>
                <a:spcPct val="110000"/>
              </a:lnSpc>
              <a:spcAft>
                <a:spcPts val="0"/>
              </a:spcAft>
              <a:defRPr sz="900"/>
            </a:pPr>
            <a:r>
              <a:rPr sz="900" b="0" i="0">
                <a:solidFill>
                  <a:srgbClr val="9AA7AB"/>
                </a:solidFill>
                <a:latin typeface="Calibri"/>
              </a:rPr>
              <a:t>Visualización de Datos · Clase 18 · R y visualización de datos</a:t>
            </a:r>
          </a:p>
        </p:txBody>
      </p:sp>
      <p:sp>
        <p:nvSpPr>
          <p:cNvPr id="4" name="TextBox 3"/>
          <p:cNvSpPr txBox="1"/>
          <p:nvPr/>
        </p:nvSpPr>
        <p:spPr>
          <a:xfrm>
            <a:off x="10972800" y="6446520"/>
            <a:ext cx="667512" cy="274320"/>
          </a:xfrm>
          <a:prstGeom prst="rect">
            <a:avLst/>
          </a:prstGeom>
          <a:noFill/>
        </p:spPr>
        <p:txBody>
          <a:bodyPr wrap="square" lIns="0" tIns="0" rIns="0" bIns="0" anchor="t">
            <a:noAutofit/>
          </a:bodyPr>
          <a:lstStyle/>
          <a:p>
            <a:pPr algn="r">
              <a:lnSpc>
                <a:spcPct val="110000"/>
              </a:lnSpc>
              <a:spcAft>
                <a:spcPts val="0"/>
              </a:spcAft>
              <a:defRPr sz="900"/>
            </a:pPr>
            <a:r>
              <a:rPr sz="900" b="0" i="0">
                <a:solidFill>
                  <a:srgbClr val="9AA7AB"/>
                </a:solidFill>
                <a:latin typeface="Calibri"/>
              </a:rPr>
              <a:t>29</a:t>
            </a:r>
          </a:p>
        </p:txBody>
      </p:sp>
      <p:sp>
        <p:nvSpPr>
          <p:cNvPr id="5" name="TextBox 4"/>
          <p:cNvSpPr txBox="1"/>
          <p:nvPr/>
        </p:nvSpPr>
        <p:spPr>
          <a:xfrm>
            <a:off x="548640" y="457200"/>
            <a:ext cx="11091672" cy="731520"/>
          </a:xfrm>
          <a:prstGeom prst="rect">
            <a:avLst/>
          </a:prstGeom>
          <a:noFill/>
        </p:spPr>
        <p:txBody>
          <a:bodyPr wrap="square" lIns="0" tIns="0" rIns="0" bIns="0" anchor="t">
            <a:noAutofit/>
          </a:bodyPr>
          <a:lstStyle/>
          <a:p>
            <a:pPr algn="l">
              <a:lnSpc>
                <a:spcPct val="110000"/>
              </a:lnSpc>
              <a:spcAft>
                <a:spcPts val="0"/>
              </a:spcAft>
              <a:defRPr sz="3000"/>
            </a:pPr>
            <a:r>
              <a:rPr sz="3000" b="1" i="0">
                <a:solidFill>
                  <a:srgbClr val="0B6E4F"/>
                </a:solidFill>
                <a:latin typeface="Cambria"/>
              </a:rPr>
              <a:t>Taller en clase: manos al cuaderno de R</a:t>
            </a:r>
          </a:p>
        </p:txBody>
      </p:sp>
      <p:sp>
        <p:nvSpPr>
          <p:cNvPr id="6" name="TextBox 5"/>
          <p:cNvSpPr txBox="1"/>
          <p:nvPr/>
        </p:nvSpPr>
        <p:spPr>
          <a:xfrm>
            <a:off x="548640" y="1115568"/>
            <a:ext cx="11091672" cy="411480"/>
          </a:xfrm>
          <a:prstGeom prst="rect">
            <a:avLst/>
          </a:prstGeom>
          <a:noFill/>
        </p:spPr>
        <p:txBody>
          <a:bodyPr wrap="square" lIns="0" tIns="0" rIns="0" bIns="0" anchor="t">
            <a:noAutofit/>
          </a:bodyPr>
          <a:lstStyle/>
          <a:p>
            <a:pPr algn="l">
              <a:lnSpc>
                <a:spcPct val="110000"/>
              </a:lnSpc>
              <a:spcAft>
                <a:spcPts val="0"/>
              </a:spcAft>
              <a:defRPr sz="1400"/>
            </a:pPr>
            <a:r>
              <a:rPr sz="1400" b="0" i="0">
                <a:solidFill>
                  <a:srgbClr val="5B6B6F"/>
                </a:solidFill>
                <a:latin typeface="Calibri"/>
              </a:rPr>
              <a:t>Abre Clase18_Cuaderno_R_Visualizacion_de_Datos.Rmd en RStudio (o la versión .ipynb en Google Colab con entorno R)</a:t>
            </a:r>
          </a:p>
        </p:txBody>
      </p:sp>
      <p:sp>
        <p:nvSpPr>
          <p:cNvPr id="7" name="Rounded Rectangle 6"/>
          <p:cNvSpPr/>
          <p:nvPr/>
        </p:nvSpPr>
        <p:spPr>
          <a:xfrm>
            <a:off x="548640" y="1691640"/>
            <a:ext cx="3593592" cy="2971800"/>
          </a:xfrm>
          <a:prstGeom prst="roundRect">
            <a:avLst>
              <a:gd name="adj" fmla="val 6000"/>
            </a:avLst>
          </a:prstGeom>
          <a:solidFill>
            <a:srgbClr val="EE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777240" y="1901952"/>
            <a:ext cx="502920" cy="502920"/>
          </a:xfrm>
          <a:prstGeom prst="ellipse">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i="0">
                <a:solidFill>
                  <a:srgbClr val="FFFFFF"/>
                </a:solidFill>
                <a:latin typeface="Cambria"/>
              </a:rPr>
              <a:t>1</a:t>
            </a:r>
          </a:p>
        </p:txBody>
      </p:sp>
      <p:sp>
        <p:nvSpPr>
          <p:cNvPr id="9" name="TextBox 8"/>
          <p:cNvSpPr txBox="1"/>
          <p:nvPr/>
        </p:nvSpPr>
        <p:spPr>
          <a:xfrm>
            <a:off x="1417319" y="1920240"/>
            <a:ext cx="2560320" cy="320040"/>
          </a:xfrm>
          <a:prstGeom prst="rect">
            <a:avLst/>
          </a:prstGeom>
          <a:noFill/>
        </p:spPr>
        <p:txBody>
          <a:bodyPr wrap="square" lIns="0" tIns="0" rIns="0" bIns="0" anchor="t">
            <a:noAutofit/>
          </a:bodyPr>
          <a:lstStyle/>
          <a:p>
            <a:pPr algn="l">
              <a:lnSpc>
                <a:spcPct val="110000"/>
              </a:lnSpc>
              <a:spcAft>
                <a:spcPts val="0"/>
              </a:spcAft>
              <a:defRPr sz="1500"/>
            </a:pPr>
            <a:r>
              <a:rPr sz="1500" b="1" i="0">
                <a:solidFill>
                  <a:srgbClr val="0B6E4F"/>
                </a:solidFill>
                <a:latin typeface="Cambria"/>
              </a:rPr>
              <a:t>Reto 1 · Replicar</a:t>
            </a:r>
          </a:p>
        </p:txBody>
      </p:sp>
      <p:sp>
        <p:nvSpPr>
          <p:cNvPr id="10" name="TextBox 9"/>
          <p:cNvSpPr txBox="1"/>
          <p:nvPr/>
        </p:nvSpPr>
        <p:spPr>
          <a:xfrm>
            <a:off x="1417319" y="2240280"/>
            <a:ext cx="2560320" cy="274320"/>
          </a:xfrm>
          <a:prstGeom prst="rect">
            <a:avLst/>
          </a:prstGeom>
          <a:noFill/>
        </p:spPr>
        <p:txBody>
          <a:bodyPr wrap="square" lIns="0" tIns="0" rIns="0" bIns="0" anchor="t">
            <a:noAutofit/>
          </a:bodyPr>
          <a:lstStyle/>
          <a:p>
            <a:pPr algn="l">
              <a:lnSpc>
                <a:spcPct val="110000"/>
              </a:lnSpc>
              <a:spcAft>
                <a:spcPts val="0"/>
              </a:spcAft>
              <a:defRPr sz="1100"/>
            </a:pPr>
            <a:r>
              <a:rPr sz="1100" b="1" i="0">
                <a:solidFill>
                  <a:srgbClr val="B7791F"/>
                </a:solidFill>
                <a:latin typeface="Calibri"/>
              </a:rPr>
              <a:t>15 min</a:t>
            </a:r>
          </a:p>
        </p:txBody>
      </p:sp>
      <p:sp>
        <p:nvSpPr>
          <p:cNvPr id="11" name="TextBox 10"/>
          <p:cNvSpPr txBox="1"/>
          <p:nvPr/>
        </p:nvSpPr>
        <p:spPr>
          <a:xfrm>
            <a:off x="777240" y="2697480"/>
            <a:ext cx="3154680" cy="1920240"/>
          </a:xfrm>
          <a:prstGeom prst="rect">
            <a:avLst/>
          </a:prstGeom>
          <a:noFill/>
        </p:spPr>
        <p:txBody>
          <a:bodyPr wrap="square" lIns="0" tIns="0" rIns="0" bIns="0" anchor="t">
            <a:noAutofit/>
          </a:bodyPr>
          <a:lstStyle/>
          <a:p>
            <a:pPr algn="l">
              <a:lnSpc>
                <a:spcPct val="115000"/>
              </a:lnSpc>
              <a:spcAft>
                <a:spcPts val="0"/>
              </a:spcAft>
              <a:defRPr sz="1150"/>
            </a:pPr>
            <a:r>
              <a:rPr sz="1150" b="0" i="0">
                <a:solidFill>
                  <a:srgbClr val="1F2A2E"/>
                </a:solidFill>
                <a:latin typeface="Calibri"/>
              </a:rPr>
              <a:t>Ejecuta el Capítulo 2 del cuaderno y construye, capa por capa, el gráfico de cilindrada vs rendimiento. Cambia la geometría (geom_jitter, geom_hex) y observa qué pasa.</a:t>
            </a:r>
          </a:p>
        </p:txBody>
      </p:sp>
      <p:sp>
        <p:nvSpPr>
          <p:cNvPr id="12" name="Rounded Rectangle 11"/>
          <p:cNvSpPr/>
          <p:nvPr/>
        </p:nvSpPr>
        <p:spPr>
          <a:xfrm>
            <a:off x="4297679" y="1691640"/>
            <a:ext cx="3593592" cy="2971800"/>
          </a:xfrm>
          <a:prstGeom prst="roundRect">
            <a:avLst>
              <a:gd name="adj" fmla="val 6000"/>
            </a:avLst>
          </a:prstGeom>
          <a:solidFill>
            <a:srgbClr val="EE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4526279" y="1901952"/>
            <a:ext cx="502920" cy="502920"/>
          </a:xfrm>
          <a:prstGeom prst="ellipse">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i="0">
                <a:solidFill>
                  <a:srgbClr val="FFFFFF"/>
                </a:solidFill>
                <a:latin typeface="Cambria"/>
              </a:rPr>
              <a:t>2</a:t>
            </a:r>
          </a:p>
        </p:txBody>
      </p:sp>
      <p:sp>
        <p:nvSpPr>
          <p:cNvPr id="14" name="TextBox 13"/>
          <p:cNvSpPr txBox="1"/>
          <p:nvPr/>
        </p:nvSpPr>
        <p:spPr>
          <a:xfrm>
            <a:off x="5166359" y="1920240"/>
            <a:ext cx="2560320" cy="320040"/>
          </a:xfrm>
          <a:prstGeom prst="rect">
            <a:avLst/>
          </a:prstGeom>
          <a:noFill/>
        </p:spPr>
        <p:txBody>
          <a:bodyPr wrap="square" lIns="0" tIns="0" rIns="0" bIns="0" anchor="t">
            <a:noAutofit/>
          </a:bodyPr>
          <a:lstStyle/>
          <a:p>
            <a:pPr algn="l">
              <a:lnSpc>
                <a:spcPct val="110000"/>
              </a:lnSpc>
              <a:spcAft>
                <a:spcPts val="0"/>
              </a:spcAft>
              <a:defRPr sz="1500"/>
            </a:pPr>
            <a:r>
              <a:rPr sz="1500" b="1" i="0">
                <a:solidFill>
                  <a:srgbClr val="0B6E4F"/>
                </a:solidFill>
                <a:latin typeface="Cambria"/>
              </a:rPr>
              <a:t>Reto 2 · Personalizar</a:t>
            </a:r>
          </a:p>
        </p:txBody>
      </p:sp>
      <p:sp>
        <p:nvSpPr>
          <p:cNvPr id="15" name="TextBox 14"/>
          <p:cNvSpPr txBox="1"/>
          <p:nvPr/>
        </p:nvSpPr>
        <p:spPr>
          <a:xfrm>
            <a:off x="5166359" y="2240280"/>
            <a:ext cx="2560320" cy="274320"/>
          </a:xfrm>
          <a:prstGeom prst="rect">
            <a:avLst/>
          </a:prstGeom>
          <a:noFill/>
        </p:spPr>
        <p:txBody>
          <a:bodyPr wrap="square" lIns="0" tIns="0" rIns="0" bIns="0" anchor="t">
            <a:noAutofit/>
          </a:bodyPr>
          <a:lstStyle/>
          <a:p>
            <a:pPr algn="l">
              <a:lnSpc>
                <a:spcPct val="110000"/>
              </a:lnSpc>
              <a:spcAft>
                <a:spcPts val="0"/>
              </a:spcAft>
              <a:defRPr sz="1100"/>
            </a:pPr>
            <a:r>
              <a:rPr sz="1100" b="1" i="0">
                <a:solidFill>
                  <a:srgbClr val="B7791F"/>
                </a:solidFill>
                <a:latin typeface="Calibri"/>
              </a:rPr>
              <a:t>15 min</a:t>
            </a:r>
          </a:p>
        </p:txBody>
      </p:sp>
      <p:sp>
        <p:nvSpPr>
          <p:cNvPr id="16" name="TextBox 15"/>
          <p:cNvSpPr txBox="1"/>
          <p:nvPr/>
        </p:nvSpPr>
        <p:spPr>
          <a:xfrm>
            <a:off x="4526279" y="2697480"/>
            <a:ext cx="3154680" cy="1920240"/>
          </a:xfrm>
          <a:prstGeom prst="rect">
            <a:avLst/>
          </a:prstGeom>
          <a:noFill/>
        </p:spPr>
        <p:txBody>
          <a:bodyPr wrap="square" lIns="0" tIns="0" rIns="0" bIns="0" anchor="t">
            <a:noAutofit/>
          </a:bodyPr>
          <a:lstStyle/>
          <a:p>
            <a:pPr algn="l">
              <a:lnSpc>
                <a:spcPct val="115000"/>
              </a:lnSpc>
              <a:spcAft>
                <a:spcPts val="0"/>
              </a:spcAft>
              <a:defRPr sz="1150"/>
            </a:pPr>
            <a:r>
              <a:rPr sz="1150" b="0" i="0">
                <a:solidFill>
                  <a:srgbClr val="1F2A2E"/>
                </a:solidFill>
                <a:latin typeface="Calibri"/>
              </a:rPr>
              <a:t>Aplica escalas, un tema propio (tema_ean()), un título que afirme el hallazgo, la fuente en el caption y una anotación que guíe la mirada.</a:t>
            </a:r>
          </a:p>
        </p:txBody>
      </p:sp>
      <p:sp>
        <p:nvSpPr>
          <p:cNvPr id="17" name="Rounded Rectangle 16"/>
          <p:cNvSpPr/>
          <p:nvPr/>
        </p:nvSpPr>
        <p:spPr>
          <a:xfrm>
            <a:off x="8046719" y="1691640"/>
            <a:ext cx="3593592" cy="2971800"/>
          </a:xfrm>
          <a:prstGeom prst="roundRect">
            <a:avLst>
              <a:gd name="adj" fmla="val 6000"/>
            </a:avLst>
          </a:prstGeom>
          <a:solidFill>
            <a:srgbClr val="EE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8275319" y="1901952"/>
            <a:ext cx="502920" cy="502920"/>
          </a:xfrm>
          <a:prstGeom prst="ellipse">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i="0">
                <a:solidFill>
                  <a:srgbClr val="FFFFFF"/>
                </a:solidFill>
                <a:latin typeface="Cambria"/>
              </a:rPr>
              <a:t>3</a:t>
            </a:r>
          </a:p>
        </p:txBody>
      </p:sp>
      <p:sp>
        <p:nvSpPr>
          <p:cNvPr id="19" name="TextBox 18"/>
          <p:cNvSpPr txBox="1"/>
          <p:nvPr/>
        </p:nvSpPr>
        <p:spPr>
          <a:xfrm>
            <a:off x="8915399" y="1920240"/>
            <a:ext cx="2560320" cy="320040"/>
          </a:xfrm>
          <a:prstGeom prst="rect">
            <a:avLst/>
          </a:prstGeom>
          <a:noFill/>
        </p:spPr>
        <p:txBody>
          <a:bodyPr wrap="square" lIns="0" tIns="0" rIns="0" bIns="0" anchor="t">
            <a:noAutofit/>
          </a:bodyPr>
          <a:lstStyle/>
          <a:p>
            <a:pPr algn="l">
              <a:lnSpc>
                <a:spcPct val="110000"/>
              </a:lnSpc>
              <a:spcAft>
                <a:spcPts val="0"/>
              </a:spcAft>
              <a:defRPr sz="1500"/>
            </a:pPr>
            <a:r>
              <a:rPr sz="1500" b="1" i="0">
                <a:solidFill>
                  <a:srgbClr val="0B6E4F"/>
                </a:solidFill>
                <a:latin typeface="Cambria"/>
              </a:rPr>
              <a:t>Reto 3 · Interactivo</a:t>
            </a:r>
          </a:p>
        </p:txBody>
      </p:sp>
      <p:sp>
        <p:nvSpPr>
          <p:cNvPr id="20" name="TextBox 19"/>
          <p:cNvSpPr txBox="1"/>
          <p:nvPr/>
        </p:nvSpPr>
        <p:spPr>
          <a:xfrm>
            <a:off x="8915399" y="2240280"/>
            <a:ext cx="2560320" cy="274320"/>
          </a:xfrm>
          <a:prstGeom prst="rect">
            <a:avLst/>
          </a:prstGeom>
          <a:noFill/>
        </p:spPr>
        <p:txBody>
          <a:bodyPr wrap="square" lIns="0" tIns="0" rIns="0" bIns="0" anchor="t">
            <a:noAutofit/>
          </a:bodyPr>
          <a:lstStyle/>
          <a:p>
            <a:pPr algn="l">
              <a:lnSpc>
                <a:spcPct val="110000"/>
              </a:lnSpc>
              <a:spcAft>
                <a:spcPts val="0"/>
              </a:spcAft>
              <a:defRPr sz="1100"/>
            </a:pPr>
            <a:r>
              <a:rPr sz="1100" b="1" i="0">
                <a:solidFill>
                  <a:srgbClr val="B7791F"/>
                </a:solidFill>
                <a:latin typeface="Calibri"/>
              </a:rPr>
              <a:t>10 min</a:t>
            </a:r>
          </a:p>
        </p:txBody>
      </p:sp>
      <p:sp>
        <p:nvSpPr>
          <p:cNvPr id="21" name="TextBox 20"/>
          <p:cNvSpPr txBox="1"/>
          <p:nvPr/>
        </p:nvSpPr>
        <p:spPr>
          <a:xfrm>
            <a:off x="8275319" y="2697480"/>
            <a:ext cx="3154680" cy="1920240"/>
          </a:xfrm>
          <a:prstGeom prst="rect">
            <a:avLst/>
          </a:prstGeom>
          <a:noFill/>
        </p:spPr>
        <p:txBody>
          <a:bodyPr wrap="square" lIns="0" tIns="0" rIns="0" bIns="0" anchor="t">
            <a:noAutofit/>
          </a:bodyPr>
          <a:lstStyle/>
          <a:p>
            <a:pPr algn="l">
              <a:lnSpc>
                <a:spcPct val="115000"/>
              </a:lnSpc>
              <a:spcAft>
                <a:spcPts val="0"/>
              </a:spcAft>
              <a:defRPr sz="1150"/>
            </a:pPr>
            <a:r>
              <a:rPr sz="1150" b="0" i="0">
                <a:solidFill>
                  <a:srgbClr val="1F2A2E"/>
                </a:solidFill>
                <a:latin typeface="Calibri"/>
              </a:rPr>
              <a:t>Convierte tu gráfico con ggplotly(), añade un tooltip con aes(text = ...) y acompáñalo de una tabla DT::datatable() con los datos filtrados.</a:t>
            </a:r>
          </a:p>
        </p:txBody>
      </p:sp>
      <p:sp>
        <p:nvSpPr>
          <p:cNvPr id="22" name="Rounded Rectangle 21"/>
          <p:cNvSpPr/>
          <p:nvPr/>
        </p:nvSpPr>
        <p:spPr>
          <a:xfrm>
            <a:off x="548640" y="4892040"/>
            <a:ext cx="11091672" cy="1417320"/>
          </a:xfrm>
          <a:prstGeom prst="roundRect">
            <a:avLst>
              <a:gd name="adj" fmla="val 6000"/>
            </a:avLst>
          </a:prstGeom>
          <a:solidFill>
            <a:srgbClr val="FFF3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77240" y="4983480"/>
            <a:ext cx="10698480" cy="1280160"/>
          </a:xfrm>
          <a:prstGeom prst="rect">
            <a:avLst/>
          </a:prstGeom>
          <a:noFill/>
        </p:spPr>
        <p:txBody>
          <a:bodyPr wrap="square" lIns="0" tIns="0" rIns="0" bIns="0" anchor="t">
            <a:noAutofit/>
          </a:bodyPr>
          <a:lstStyle/>
          <a:p>
            <a:pPr algn="l">
              <a:lnSpc>
                <a:spcPct val="112000"/>
              </a:lnSpc>
              <a:spcAft>
                <a:spcPts val="500"/>
              </a:spcAft>
              <a:defRPr sz="1200"/>
            </a:pPr>
            <a:r>
              <a:rPr sz="1200" b="1" i="0">
                <a:solidFill>
                  <a:srgbClr val="B7791F"/>
                </a:solidFill>
                <a:latin typeface="Calibri"/>
              </a:rPr>
              <a:t>Entregable: </a:t>
            </a:r>
            <a:r>
              <a:rPr sz="1200" b="0" i="0">
                <a:solidFill>
                  <a:srgbClr val="1F2A2E"/>
                </a:solidFill>
                <a:latin typeface="Calibri"/>
              </a:rPr>
              <a:t>tres gráficos exportados con ggsave() más un párrafo con el hallazgo principal de cada uno.</a:t>
            </a:r>
          </a:p>
          <a:p>
            <a:pPr algn="l">
              <a:lnSpc>
                <a:spcPct val="112000"/>
              </a:lnSpc>
              <a:spcAft>
                <a:spcPts val="500"/>
              </a:spcAft>
              <a:defRPr sz="1200"/>
            </a:pPr>
            <a:r>
              <a:rPr sz="1200" b="1" i="0">
                <a:solidFill>
                  <a:srgbClr val="B7791F"/>
                </a:solidFill>
                <a:latin typeface="Calibri"/>
              </a:rPr>
              <a:t>Rúbrica sugerida: </a:t>
            </a:r>
            <a:r>
              <a:rPr sz="1200" b="0" i="0">
                <a:solidFill>
                  <a:srgbClr val="1F2A2E"/>
                </a:solidFill>
                <a:latin typeface="Calibri"/>
              </a:rPr>
              <a:t>claridad del mensaje (40 %), uso correcto de la gramática de gráficos (40 %), acabado visual y accesibilidad del color (20 %). Coevaluación en parejas con la lista de chequeo.</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6446520"/>
            <a:ext cx="7315200" cy="274320"/>
          </a:xfrm>
          <a:prstGeom prst="rect">
            <a:avLst/>
          </a:prstGeom>
          <a:noFill/>
        </p:spPr>
        <p:txBody>
          <a:bodyPr wrap="square" lIns="0" tIns="0" rIns="0" bIns="0" anchor="t">
            <a:noAutofit/>
          </a:bodyPr>
          <a:lstStyle/>
          <a:p>
            <a:pPr algn="l">
              <a:lnSpc>
                <a:spcPct val="110000"/>
              </a:lnSpc>
              <a:spcAft>
                <a:spcPts val="0"/>
              </a:spcAft>
              <a:defRPr sz="900"/>
            </a:pPr>
            <a:r>
              <a:rPr sz="900" b="0" i="0">
                <a:solidFill>
                  <a:srgbClr val="9AA7AB"/>
                </a:solidFill>
                <a:latin typeface="Calibri"/>
              </a:rPr>
              <a:t>Visualización de Datos · Clase 18 · R y visualización de datos</a:t>
            </a:r>
          </a:p>
        </p:txBody>
      </p:sp>
      <p:sp>
        <p:nvSpPr>
          <p:cNvPr id="4" name="TextBox 3"/>
          <p:cNvSpPr txBox="1"/>
          <p:nvPr/>
        </p:nvSpPr>
        <p:spPr>
          <a:xfrm>
            <a:off x="10972800" y="6446520"/>
            <a:ext cx="667512" cy="274320"/>
          </a:xfrm>
          <a:prstGeom prst="rect">
            <a:avLst/>
          </a:prstGeom>
          <a:noFill/>
        </p:spPr>
        <p:txBody>
          <a:bodyPr wrap="square" lIns="0" tIns="0" rIns="0" bIns="0" anchor="t">
            <a:noAutofit/>
          </a:bodyPr>
          <a:lstStyle/>
          <a:p>
            <a:pPr algn="r">
              <a:lnSpc>
                <a:spcPct val="110000"/>
              </a:lnSpc>
              <a:spcAft>
                <a:spcPts val="0"/>
              </a:spcAft>
              <a:defRPr sz="900"/>
            </a:pPr>
            <a:r>
              <a:rPr sz="900" b="0" i="0">
                <a:solidFill>
                  <a:srgbClr val="9AA7AB"/>
                </a:solidFill>
                <a:latin typeface="Calibri"/>
              </a:rPr>
              <a:t>30</a:t>
            </a:r>
          </a:p>
        </p:txBody>
      </p:sp>
      <p:sp>
        <p:nvSpPr>
          <p:cNvPr id="5" name="TextBox 4"/>
          <p:cNvSpPr txBox="1"/>
          <p:nvPr/>
        </p:nvSpPr>
        <p:spPr>
          <a:xfrm>
            <a:off x="548640" y="457200"/>
            <a:ext cx="11091672" cy="731520"/>
          </a:xfrm>
          <a:prstGeom prst="rect">
            <a:avLst/>
          </a:prstGeom>
          <a:noFill/>
        </p:spPr>
        <p:txBody>
          <a:bodyPr wrap="square" lIns="0" tIns="0" rIns="0" bIns="0" anchor="t">
            <a:noAutofit/>
          </a:bodyPr>
          <a:lstStyle/>
          <a:p>
            <a:pPr algn="l">
              <a:lnSpc>
                <a:spcPct val="110000"/>
              </a:lnSpc>
              <a:spcAft>
                <a:spcPts val="0"/>
              </a:spcAft>
              <a:defRPr sz="3000"/>
            </a:pPr>
            <a:r>
              <a:rPr sz="3000" b="1" i="0">
                <a:solidFill>
                  <a:srgbClr val="0B6E4F"/>
                </a:solidFill>
                <a:latin typeface="Cambria"/>
              </a:rPr>
              <a:t>Recursos para aprender y profundizar en visualización con R</a:t>
            </a:r>
          </a:p>
        </p:txBody>
      </p:sp>
      <p:sp>
        <p:nvSpPr>
          <p:cNvPr id="6" name="Rounded Rectangle 5"/>
          <p:cNvSpPr/>
          <p:nvPr/>
        </p:nvSpPr>
        <p:spPr>
          <a:xfrm>
            <a:off x="548640" y="1325880"/>
            <a:ext cx="3593592" cy="2011680"/>
          </a:xfrm>
          <a:prstGeom prst="roundRect">
            <a:avLst>
              <a:gd name="adj" fmla="val 6000"/>
            </a:avLst>
          </a:prstGeom>
          <a:solidFill>
            <a:srgbClr val="EE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49808" y="1463039"/>
            <a:ext cx="3246120" cy="640080"/>
          </a:xfrm>
          <a:prstGeom prst="rect">
            <a:avLst/>
          </a:prstGeom>
          <a:noFill/>
        </p:spPr>
        <p:txBody>
          <a:bodyPr wrap="square" lIns="0" tIns="0" rIns="0" bIns="0" anchor="t">
            <a:noAutofit/>
          </a:bodyPr>
          <a:lstStyle/>
          <a:p>
            <a:pPr algn="l">
              <a:lnSpc>
                <a:spcPct val="100000"/>
              </a:lnSpc>
              <a:spcAft>
                <a:spcPts val="0"/>
              </a:spcAft>
              <a:defRPr sz="1350"/>
            </a:pPr>
            <a:r>
              <a:rPr sz="1350" b="1" i="0">
                <a:solidFill>
                  <a:srgbClr val="0B6E4F"/>
                </a:solidFill>
                <a:latin typeface="Cambria"/>
              </a:rPr>
              <a:t>R for Data Science (2.ª ed.)</a:t>
            </a:r>
          </a:p>
        </p:txBody>
      </p:sp>
      <p:sp>
        <p:nvSpPr>
          <p:cNvPr id="8" name="TextBox 7"/>
          <p:cNvSpPr txBox="1"/>
          <p:nvPr/>
        </p:nvSpPr>
        <p:spPr>
          <a:xfrm>
            <a:off x="749808" y="2103120"/>
            <a:ext cx="3246120" cy="868680"/>
          </a:xfrm>
          <a:prstGeom prst="rect">
            <a:avLst/>
          </a:prstGeom>
          <a:noFill/>
        </p:spPr>
        <p:txBody>
          <a:bodyPr wrap="square" lIns="0" tIns="0" rIns="0" bIns="0" anchor="t">
            <a:noAutofit/>
          </a:bodyPr>
          <a:lstStyle/>
          <a:p>
            <a:pPr algn="l">
              <a:lnSpc>
                <a:spcPct val="110000"/>
              </a:lnSpc>
              <a:spcAft>
                <a:spcPts val="0"/>
              </a:spcAft>
              <a:defRPr sz="1050"/>
            </a:pPr>
            <a:r>
              <a:rPr sz="1050" b="0" i="0">
                <a:solidFill>
                  <a:srgbClr val="1F2A2E"/>
                </a:solidFill>
                <a:latin typeface="Calibri"/>
              </a:rPr>
              <a:t>Wickham, Çetinkaya-Rundel y Grolemund. Gratuito en línea; capítulos de visualización y comunicación.</a:t>
            </a:r>
          </a:p>
        </p:txBody>
      </p:sp>
      <p:sp>
        <p:nvSpPr>
          <p:cNvPr id="9" name="TextBox 8"/>
          <p:cNvSpPr txBox="1"/>
          <p:nvPr/>
        </p:nvSpPr>
        <p:spPr>
          <a:xfrm>
            <a:off x="749808" y="2971800"/>
            <a:ext cx="3246120" cy="274320"/>
          </a:xfrm>
          <a:prstGeom prst="rect">
            <a:avLst/>
          </a:prstGeom>
          <a:noFill/>
        </p:spPr>
        <p:txBody>
          <a:bodyPr wrap="square" lIns="0" tIns="0" rIns="0" bIns="0" anchor="t">
            <a:noAutofit/>
          </a:bodyPr>
          <a:lstStyle/>
          <a:p>
            <a:pPr algn="l">
              <a:lnSpc>
                <a:spcPct val="110000"/>
              </a:lnSpc>
              <a:spcAft>
                <a:spcPts val="0"/>
              </a:spcAft>
              <a:defRPr sz="950"/>
            </a:pPr>
            <a:r>
              <a:rPr sz="950" b="0" i="0">
                <a:solidFill>
                  <a:srgbClr val="B7791F"/>
                </a:solidFill>
                <a:latin typeface="Consolas"/>
              </a:rPr>
              <a:t>r4ds.hadley.nz</a:t>
            </a:r>
          </a:p>
        </p:txBody>
      </p:sp>
      <p:sp>
        <p:nvSpPr>
          <p:cNvPr id="10" name="Rounded Rectangle 9"/>
          <p:cNvSpPr/>
          <p:nvPr/>
        </p:nvSpPr>
        <p:spPr>
          <a:xfrm>
            <a:off x="4297679" y="1325880"/>
            <a:ext cx="3593592" cy="2011680"/>
          </a:xfrm>
          <a:prstGeom prst="roundRect">
            <a:avLst>
              <a:gd name="adj" fmla="val 6000"/>
            </a:avLst>
          </a:prstGeom>
          <a:solidFill>
            <a:srgbClr val="EE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498847" y="1463039"/>
            <a:ext cx="3246120" cy="640080"/>
          </a:xfrm>
          <a:prstGeom prst="rect">
            <a:avLst/>
          </a:prstGeom>
          <a:noFill/>
        </p:spPr>
        <p:txBody>
          <a:bodyPr wrap="square" lIns="0" tIns="0" rIns="0" bIns="0" anchor="t">
            <a:noAutofit/>
          </a:bodyPr>
          <a:lstStyle/>
          <a:p>
            <a:pPr algn="l">
              <a:lnSpc>
                <a:spcPct val="100000"/>
              </a:lnSpc>
              <a:spcAft>
                <a:spcPts val="0"/>
              </a:spcAft>
              <a:defRPr sz="1350"/>
            </a:pPr>
            <a:r>
              <a:rPr sz="1350" b="1" i="0">
                <a:solidFill>
                  <a:srgbClr val="0B6E4F"/>
                </a:solidFill>
                <a:latin typeface="Cambria"/>
              </a:rPr>
              <a:t>ggplot2: Elegant Graphics for Data Analysis</a:t>
            </a:r>
          </a:p>
        </p:txBody>
      </p:sp>
      <p:sp>
        <p:nvSpPr>
          <p:cNvPr id="12" name="TextBox 11"/>
          <p:cNvSpPr txBox="1"/>
          <p:nvPr/>
        </p:nvSpPr>
        <p:spPr>
          <a:xfrm>
            <a:off x="4498847" y="2103120"/>
            <a:ext cx="3246120" cy="868680"/>
          </a:xfrm>
          <a:prstGeom prst="rect">
            <a:avLst/>
          </a:prstGeom>
          <a:noFill/>
        </p:spPr>
        <p:txBody>
          <a:bodyPr wrap="square" lIns="0" tIns="0" rIns="0" bIns="0" anchor="t">
            <a:noAutofit/>
          </a:bodyPr>
          <a:lstStyle/>
          <a:p>
            <a:pPr algn="l">
              <a:lnSpc>
                <a:spcPct val="110000"/>
              </a:lnSpc>
              <a:spcAft>
                <a:spcPts val="0"/>
              </a:spcAft>
              <a:defRPr sz="1050"/>
            </a:pPr>
            <a:r>
              <a:rPr sz="1050" b="0" i="0">
                <a:solidFill>
                  <a:srgbClr val="1F2A2E"/>
                </a:solidFill>
                <a:latin typeface="Calibri"/>
              </a:rPr>
              <a:t>La referencia definitiva del creador de ggplot2, en línea y gratuita (3.ª ed.).</a:t>
            </a:r>
          </a:p>
        </p:txBody>
      </p:sp>
      <p:sp>
        <p:nvSpPr>
          <p:cNvPr id="13" name="TextBox 12"/>
          <p:cNvSpPr txBox="1"/>
          <p:nvPr/>
        </p:nvSpPr>
        <p:spPr>
          <a:xfrm>
            <a:off x="4498847" y="2971800"/>
            <a:ext cx="3246120" cy="274320"/>
          </a:xfrm>
          <a:prstGeom prst="rect">
            <a:avLst/>
          </a:prstGeom>
          <a:noFill/>
        </p:spPr>
        <p:txBody>
          <a:bodyPr wrap="square" lIns="0" tIns="0" rIns="0" bIns="0" anchor="t">
            <a:noAutofit/>
          </a:bodyPr>
          <a:lstStyle/>
          <a:p>
            <a:pPr algn="l">
              <a:lnSpc>
                <a:spcPct val="110000"/>
              </a:lnSpc>
              <a:spcAft>
                <a:spcPts val="0"/>
              </a:spcAft>
              <a:defRPr sz="950"/>
            </a:pPr>
            <a:r>
              <a:rPr sz="950" b="0" i="0">
                <a:solidFill>
                  <a:srgbClr val="B7791F"/>
                </a:solidFill>
                <a:latin typeface="Consolas"/>
              </a:rPr>
              <a:t>ggplot2-book.org</a:t>
            </a:r>
          </a:p>
        </p:txBody>
      </p:sp>
      <p:sp>
        <p:nvSpPr>
          <p:cNvPr id="14" name="Rounded Rectangle 13"/>
          <p:cNvSpPr/>
          <p:nvPr/>
        </p:nvSpPr>
        <p:spPr>
          <a:xfrm>
            <a:off x="8046719" y="1325880"/>
            <a:ext cx="3593592" cy="2011680"/>
          </a:xfrm>
          <a:prstGeom prst="roundRect">
            <a:avLst>
              <a:gd name="adj" fmla="val 6000"/>
            </a:avLst>
          </a:prstGeom>
          <a:solidFill>
            <a:srgbClr val="EE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247888" y="1463039"/>
            <a:ext cx="3246120" cy="640080"/>
          </a:xfrm>
          <a:prstGeom prst="rect">
            <a:avLst/>
          </a:prstGeom>
          <a:noFill/>
        </p:spPr>
        <p:txBody>
          <a:bodyPr wrap="square" lIns="0" tIns="0" rIns="0" bIns="0" anchor="t">
            <a:noAutofit/>
          </a:bodyPr>
          <a:lstStyle/>
          <a:p>
            <a:pPr algn="l">
              <a:lnSpc>
                <a:spcPct val="100000"/>
              </a:lnSpc>
              <a:spcAft>
                <a:spcPts val="0"/>
              </a:spcAft>
              <a:defRPr sz="1350"/>
            </a:pPr>
            <a:r>
              <a:rPr sz="1350" b="1" i="0">
                <a:solidFill>
                  <a:srgbClr val="0B6E4F"/>
                </a:solidFill>
                <a:latin typeface="Cambria"/>
              </a:rPr>
              <a:t>The R Graph Gallery</a:t>
            </a:r>
          </a:p>
        </p:txBody>
      </p:sp>
      <p:sp>
        <p:nvSpPr>
          <p:cNvPr id="16" name="TextBox 15"/>
          <p:cNvSpPr txBox="1"/>
          <p:nvPr/>
        </p:nvSpPr>
        <p:spPr>
          <a:xfrm>
            <a:off x="8247888" y="2103120"/>
            <a:ext cx="3246120" cy="868680"/>
          </a:xfrm>
          <a:prstGeom prst="rect">
            <a:avLst/>
          </a:prstGeom>
          <a:noFill/>
        </p:spPr>
        <p:txBody>
          <a:bodyPr wrap="square" lIns="0" tIns="0" rIns="0" bIns="0" anchor="t">
            <a:noAutofit/>
          </a:bodyPr>
          <a:lstStyle/>
          <a:p>
            <a:pPr algn="l">
              <a:lnSpc>
                <a:spcPct val="110000"/>
              </a:lnSpc>
              <a:spcAft>
                <a:spcPts val="0"/>
              </a:spcAft>
              <a:defRPr sz="1050"/>
            </a:pPr>
            <a:r>
              <a:rPr sz="1050" b="0" i="0">
                <a:solidFill>
                  <a:srgbClr val="1F2A2E"/>
                </a:solidFill>
                <a:latin typeface="Calibri"/>
              </a:rPr>
              <a:t>Cientos de gráficos con su código, listos para copiar y adaptar.</a:t>
            </a:r>
          </a:p>
        </p:txBody>
      </p:sp>
      <p:sp>
        <p:nvSpPr>
          <p:cNvPr id="17" name="TextBox 16"/>
          <p:cNvSpPr txBox="1"/>
          <p:nvPr/>
        </p:nvSpPr>
        <p:spPr>
          <a:xfrm>
            <a:off x="8247888" y="2971800"/>
            <a:ext cx="3246120" cy="274320"/>
          </a:xfrm>
          <a:prstGeom prst="rect">
            <a:avLst/>
          </a:prstGeom>
          <a:noFill/>
        </p:spPr>
        <p:txBody>
          <a:bodyPr wrap="square" lIns="0" tIns="0" rIns="0" bIns="0" anchor="t">
            <a:noAutofit/>
          </a:bodyPr>
          <a:lstStyle/>
          <a:p>
            <a:pPr algn="l">
              <a:lnSpc>
                <a:spcPct val="110000"/>
              </a:lnSpc>
              <a:spcAft>
                <a:spcPts val="0"/>
              </a:spcAft>
              <a:defRPr sz="950"/>
            </a:pPr>
            <a:r>
              <a:rPr sz="950" b="0" i="0">
                <a:solidFill>
                  <a:srgbClr val="B7791F"/>
                </a:solidFill>
                <a:latin typeface="Consolas"/>
              </a:rPr>
              <a:t>r-graph-gallery.com</a:t>
            </a:r>
          </a:p>
        </p:txBody>
      </p:sp>
      <p:sp>
        <p:nvSpPr>
          <p:cNvPr id="18" name="Rounded Rectangle 17"/>
          <p:cNvSpPr/>
          <p:nvPr/>
        </p:nvSpPr>
        <p:spPr>
          <a:xfrm>
            <a:off x="548640" y="3474720"/>
            <a:ext cx="3593592" cy="2011680"/>
          </a:xfrm>
          <a:prstGeom prst="roundRect">
            <a:avLst>
              <a:gd name="adj" fmla="val 6000"/>
            </a:avLst>
          </a:prstGeom>
          <a:solidFill>
            <a:srgbClr val="EE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49808" y="3611879"/>
            <a:ext cx="3246120" cy="640080"/>
          </a:xfrm>
          <a:prstGeom prst="rect">
            <a:avLst/>
          </a:prstGeom>
          <a:noFill/>
        </p:spPr>
        <p:txBody>
          <a:bodyPr wrap="square" lIns="0" tIns="0" rIns="0" bIns="0" anchor="t">
            <a:noAutofit/>
          </a:bodyPr>
          <a:lstStyle/>
          <a:p>
            <a:pPr algn="l">
              <a:lnSpc>
                <a:spcPct val="100000"/>
              </a:lnSpc>
              <a:spcAft>
                <a:spcPts val="0"/>
              </a:spcAft>
              <a:defRPr sz="1350"/>
            </a:pPr>
            <a:r>
              <a:rPr sz="1350" b="1" i="0">
                <a:solidFill>
                  <a:srgbClr val="0B6E4F"/>
                </a:solidFill>
                <a:latin typeface="Cambria"/>
              </a:rPr>
              <a:t>Cheatsheets de Posit</a:t>
            </a:r>
          </a:p>
        </p:txBody>
      </p:sp>
      <p:sp>
        <p:nvSpPr>
          <p:cNvPr id="20" name="TextBox 19"/>
          <p:cNvSpPr txBox="1"/>
          <p:nvPr/>
        </p:nvSpPr>
        <p:spPr>
          <a:xfrm>
            <a:off x="749808" y="4251959"/>
            <a:ext cx="3246120" cy="868680"/>
          </a:xfrm>
          <a:prstGeom prst="rect">
            <a:avLst/>
          </a:prstGeom>
          <a:noFill/>
        </p:spPr>
        <p:txBody>
          <a:bodyPr wrap="square" lIns="0" tIns="0" rIns="0" bIns="0" anchor="t">
            <a:noAutofit/>
          </a:bodyPr>
          <a:lstStyle/>
          <a:p>
            <a:pPr algn="l">
              <a:lnSpc>
                <a:spcPct val="110000"/>
              </a:lnSpc>
              <a:spcAft>
                <a:spcPts val="0"/>
              </a:spcAft>
              <a:defRPr sz="1050"/>
            </a:pPr>
            <a:r>
              <a:rPr sz="1050" b="0" i="0">
                <a:solidFill>
                  <a:srgbClr val="1F2A2E"/>
                </a:solidFill>
                <a:latin typeface="Calibri"/>
              </a:rPr>
              <a:t>ggplot2, dplyr, Shiny y R Markdown resumidos en una hoja.</a:t>
            </a:r>
          </a:p>
        </p:txBody>
      </p:sp>
      <p:sp>
        <p:nvSpPr>
          <p:cNvPr id="21" name="TextBox 20"/>
          <p:cNvSpPr txBox="1"/>
          <p:nvPr/>
        </p:nvSpPr>
        <p:spPr>
          <a:xfrm>
            <a:off x="749808" y="5120640"/>
            <a:ext cx="3246120" cy="274320"/>
          </a:xfrm>
          <a:prstGeom prst="rect">
            <a:avLst/>
          </a:prstGeom>
          <a:noFill/>
        </p:spPr>
        <p:txBody>
          <a:bodyPr wrap="square" lIns="0" tIns="0" rIns="0" bIns="0" anchor="t">
            <a:noAutofit/>
          </a:bodyPr>
          <a:lstStyle/>
          <a:p>
            <a:pPr algn="l">
              <a:lnSpc>
                <a:spcPct val="110000"/>
              </a:lnSpc>
              <a:spcAft>
                <a:spcPts val="0"/>
              </a:spcAft>
              <a:defRPr sz="950"/>
            </a:pPr>
            <a:r>
              <a:rPr sz="950" b="0" i="0">
                <a:solidFill>
                  <a:srgbClr val="B7791F"/>
                </a:solidFill>
                <a:latin typeface="Consolas"/>
              </a:rPr>
              <a:t>posit.co/resources/cheatsheets</a:t>
            </a:r>
          </a:p>
        </p:txBody>
      </p:sp>
      <p:sp>
        <p:nvSpPr>
          <p:cNvPr id="22" name="Rounded Rectangle 21"/>
          <p:cNvSpPr/>
          <p:nvPr/>
        </p:nvSpPr>
        <p:spPr>
          <a:xfrm>
            <a:off x="4297679" y="3474720"/>
            <a:ext cx="3593592" cy="2011680"/>
          </a:xfrm>
          <a:prstGeom prst="roundRect">
            <a:avLst>
              <a:gd name="adj" fmla="val 6000"/>
            </a:avLst>
          </a:prstGeom>
          <a:solidFill>
            <a:srgbClr val="EE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498847" y="3611879"/>
            <a:ext cx="3246120" cy="640080"/>
          </a:xfrm>
          <a:prstGeom prst="rect">
            <a:avLst/>
          </a:prstGeom>
          <a:noFill/>
        </p:spPr>
        <p:txBody>
          <a:bodyPr wrap="square" lIns="0" tIns="0" rIns="0" bIns="0" anchor="t">
            <a:noAutofit/>
          </a:bodyPr>
          <a:lstStyle/>
          <a:p>
            <a:pPr algn="l">
              <a:lnSpc>
                <a:spcPct val="100000"/>
              </a:lnSpc>
              <a:spcAft>
                <a:spcPts val="0"/>
              </a:spcAft>
              <a:defRPr sz="1350"/>
            </a:pPr>
            <a:r>
              <a:rPr sz="1350" b="1" i="0">
                <a:solidFill>
                  <a:srgbClr val="0B6E4F"/>
                </a:solidFill>
                <a:latin typeface="Cambria"/>
              </a:rPr>
              <a:t>TidyTuesday</a:t>
            </a:r>
          </a:p>
        </p:txBody>
      </p:sp>
      <p:sp>
        <p:nvSpPr>
          <p:cNvPr id="24" name="TextBox 23"/>
          <p:cNvSpPr txBox="1"/>
          <p:nvPr/>
        </p:nvSpPr>
        <p:spPr>
          <a:xfrm>
            <a:off x="4498847" y="4251959"/>
            <a:ext cx="3246120" cy="868680"/>
          </a:xfrm>
          <a:prstGeom prst="rect">
            <a:avLst/>
          </a:prstGeom>
          <a:noFill/>
        </p:spPr>
        <p:txBody>
          <a:bodyPr wrap="square" lIns="0" tIns="0" rIns="0" bIns="0" anchor="t">
            <a:noAutofit/>
          </a:bodyPr>
          <a:lstStyle/>
          <a:p>
            <a:pPr algn="l">
              <a:lnSpc>
                <a:spcPct val="110000"/>
              </a:lnSpc>
              <a:spcAft>
                <a:spcPts val="0"/>
              </a:spcAft>
              <a:defRPr sz="1050"/>
            </a:pPr>
            <a:r>
              <a:rPr sz="1050" b="0" i="0">
                <a:solidFill>
                  <a:srgbClr val="1F2A2E"/>
                </a:solidFill>
                <a:latin typeface="Calibri"/>
              </a:rPr>
              <a:t>Un dataset nuevo cada semana; comparte tu gráfico con #TidyTuesday y #rstats.</a:t>
            </a:r>
          </a:p>
        </p:txBody>
      </p:sp>
      <p:sp>
        <p:nvSpPr>
          <p:cNvPr id="25" name="TextBox 24"/>
          <p:cNvSpPr txBox="1"/>
          <p:nvPr/>
        </p:nvSpPr>
        <p:spPr>
          <a:xfrm>
            <a:off x="4498847" y="5120640"/>
            <a:ext cx="3246120" cy="274320"/>
          </a:xfrm>
          <a:prstGeom prst="rect">
            <a:avLst/>
          </a:prstGeom>
          <a:noFill/>
        </p:spPr>
        <p:txBody>
          <a:bodyPr wrap="square" lIns="0" tIns="0" rIns="0" bIns="0" anchor="t">
            <a:noAutofit/>
          </a:bodyPr>
          <a:lstStyle/>
          <a:p>
            <a:pPr algn="l">
              <a:lnSpc>
                <a:spcPct val="110000"/>
              </a:lnSpc>
              <a:spcAft>
                <a:spcPts val="0"/>
              </a:spcAft>
              <a:defRPr sz="950"/>
            </a:pPr>
            <a:r>
              <a:rPr sz="950" b="0" i="0">
                <a:solidFill>
                  <a:srgbClr val="B7791F"/>
                </a:solidFill>
                <a:latin typeface="Consolas"/>
              </a:rPr>
              <a:t>github.com/rfordatascience/tidytuesday</a:t>
            </a:r>
          </a:p>
        </p:txBody>
      </p:sp>
      <p:sp>
        <p:nvSpPr>
          <p:cNvPr id="26" name="Rounded Rectangle 25"/>
          <p:cNvSpPr/>
          <p:nvPr/>
        </p:nvSpPr>
        <p:spPr>
          <a:xfrm>
            <a:off x="8046719" y="3474720"/>
            <a:ext cx="3593592" cy="2011680"/>
          </a:xfrm>
          <a:prstGeom prst="roundRect">
            <a:avLst>
              <a:gd name="adj" fmla="val 6000"/>
            </a:avLst>
          </a:prstGeom>
          <a:solidFill>
            <a:srgbClr val="EE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247888" y="3611879"/>
            <a:ext cx="3246120" cy="640080"/>
          </a:xfrm>
          <a:prstGeom prst="rect">
            <a:avLst/>
          </a:prstGeom>
          <a:noFill/>
        </p:spPr>
        <p:txBody>
          <a:bodyPr wrap="square" lIns="0" tIns="0" rIns="0" bIns="0" anchor="t">
            <a:noAutofit/>
          </a:bodyPr>
          <a:lstStyle/>
          <a:p>
            <a:pPr algn="l">
              <a:lnSpc>
                <a:spcPct val="100000"/>
              </a:lnSpc>
              <a:spcAft>
                <a:spcPts val="0"/>
              </a:spcAft>
              <a:defRPr sz="1350"/>
            </a:pPr>
            <a:r>
              <a:rPr sz="1350" b="1" i="0">
                <a:solidFill>
                  <a:srgbClr val="0B6E4F"/>
                </a:solidFill>
                <a:latin typeface="Cambria"/>
              </a:rPr>
              <a:t>Manual de Francisco Charte y curso de Luis Álvarez</a:t>
            </a:r>
          </a:p>
        </p:txBody>
      </p:sp>
      <p:sp>
        <p:nvSpPr>
          <p:cNvPr id="28" name="TextBox 27"/>
          <p:cNvSpPr txBox="1"/>
          <p:nvPr/>
        </p:nvSpPr>
        <p:spPr>
          <a:xfrm>
            <a:off x="8247888" y="4251959"/>
            <a:ext cx="3246120" cy="868680"/>
          </a:xfrm>
          <a:prstGeom prst="rect">
            <a:avLst/>
          </a:prstGeom>
          <a:noFill/>
        </p:spPr>
        <p:txBody>
          <a:bodyPr wrap="square" lIns="0" tIns="0" rIns="0" bIns="0" anchor="t">
            <a:noAutofit/>
          </a:bodyPr>
          <a:lstStyle/>
          <a:p>
            <a:pPr algn="l">
              <a:lnSpc>
                <a:spcPct val="110000"/>
              </a:lnSpc>
              <a:spcAft>
                <a:spcPts val="0"/>
              </a:spcAft>
              <a:defRPr sz="1050"/>
            </a:pPr>
            <a:r>
              <a:rPr sz="1050" b="0" i="0">
                <a:solidFill>
                  <a:srgbClr val="1F2A2E"/>
                </a:solidFill>
                <a:latin typeface="Calibri"/>
              </a:rPr>
              <a:t>Guía gratuita con ejercicios paso a paso y programa centrado en EDA y visualización efectiva. También: R-bloggers y Stack Overflow.</a:t>
            </a:r>
          </a:p>
        </p:txBody>
      </p:sp>
      <p:sp>
        <p:nvSpPr>
          <p:cNvPr id="29" name="TextBox 28"/>
          <p:cNvSpPr txBox="1"/>
          <p:nvPr/>
        </p:nvSpPr>
        <p:spPr>
          <a:xfrm>
            <a:off x="8247888" y="5120640"/>
            <a:ext cx="3246120" cy="274320"/>
          </a:xfrm>
          <a:prstGeom prst="rect">
            <a:avLst/>
          </a:prstGeom>
          <a:noFill/>
        </p:spPr>
        <p:txBody>
          <a:bodyPr wrap="square" lIns="0" tIns="0" rIns="0" bIns="0" anchor="t">
            <a:noAutofit/>
          </a:bodyPr>
          <a:lstStyle/>
          <a:p>
            <a:pPr algn="l">
              <a:lnSpc>
                <a:spcPct val="110000"/>
              </a:lnSpc>
              <a:spcAft>
                <a:spcPts val="0"/>
              </a:spcAft>
              <a:defRPr sz="950"/>
            </a:pPr>
            <a:r>
              <a:rPr sz="950" b="0" i="0">
                <a:solidFill>
                  <a:srgbClr val="B7791F"/>
                </a:solidFill>
                <a:latin typeface="Consolas"/>
              </a:rPr>
              <a:t>r-bloggers.com · stackoverflow.com</a:t>
            </a:r>
          </a:p>
        </p:txBody>
      </p:sp>
      <p:sp>
        <p:nvSpPr>
          <p:cNvPr id="30" name="Rounded Rectangle 29"/>
          <p:cNvSpPr/>
          <p:nvPr/>
        </p:nvSpPr>
        <p:spPr>
          <a:xfrm>
            <a:off x="548640" y="5715000"/>
            <a:ext cx="11091672" cy="640080"/>
          </a:xfrm>
          <a:prstGeom prst="roundRect">
            <a:avLst>
              <a:gd name="adj" fmla="val 6000"/>
            </a:avLst>
          </a:prstGeom>
          <a:solidFill>
            <a:srgbClr val="FFF3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77240" y="5715000"/>
            <a:ext cx="10698480" cy="640080"/>
          </a:xfrm>
          <a:prstGeom prst="rect">
            <a:avLst/>
          </a:prstGeom>
          <a:noFill/>
        </p:spPr>
        <p:txBody>
          <a:bodyPr wrap="square" lIns="0" tIns="0" rIns="0" bIns="0" anchor="ctr">
            <a:noAutofit/>
          </a:bodyPr>
          <a:lstStyle/>
          <a:p>
            <a:pPr algn="l">
              <a:lnSpc>
                <a:spcPct val="110000"/>
              </a:lnSpc>
              <a:spcAft>
                <a:spcPts val="600"/>
              </a:spcAft>
              <a:defRPr sz="1200"/>
            </a:pPr>
            <a:r>
              <a:rPr sz="1200" b="1" i="0">
                <a:solidFill>
                  <a:srgbClr val="B7791F"/>
                </a:solidFill>
                <a:latin typeface="Calibri"/>
              </a:rPr>
              <a:t>Consejo de aprendizaje: </a:t>
            </a:r>
            <a:r>
              <a:rPr sz="1200" b="0" i="0">
                <a:solidFill>
                  <a:srgbClr val="1F2A2E"/>
                </a:solidFill>
                <a:latin typeface="Calibri"/>
              </a:rPr>
              <a:t>replica gráficos que te gusten y luego cámbialos con tus propios datos. La comunidad R comparte su código con generosidad.</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3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6446520"/>
            <a:ext cx="7315200" cy="274320"/>
          </a:xfrm>
          <a:prstGeom prst="rect">
            <a:avLst/>
          </a:prstGeom>
          <a:noFill/>
        </p:spPr>
        <p:txBody>
          <a:bodyPr wrap="square" lIns="0" tIns="0" rIns="0" bIns="0" anchor="t">
            <a:noAutofit/>
          </a:bodyPr>
          <a:lstStyle/>
          <a:p>
            <a:pPr algn="l">
              <a:lnSpc>
                <a:spcPct val="110000"/>
              </a:lnSpc>
              <a:spcAft>
                <a:spcPts val="0"/>
              </a:spcAft>
              <a:defRPr sz="900"/>
            </a:pPr>
            <a:r>
              <a:rPr sz="900" b="0" i="0">
                <a:solidFill>
                  <a:srgbClr val="9CC4B4"/>
                </a:solidFill>
                <a:latin typeface="Calibri"/>
              </a:rPr>
              <a:t>Visualización de Datos · Clase 18 · R y visualización de datos</a:t>
            </a:r>
          </a:p>
        </p:txBody>
      </p:sp>
      <p:sp>
        <p:nvSpPr>
          <p:cNvPr id="4" name="TextBox 3"/>
          <p:cNvSpPr txBox="1"/>
          <p:nvPr/>
        </p:nvSpPr>
        <p:spPr>
          <a:xfrm>
            <a:off x="10972800" y="6446520"/>
            <a:ext cx="667512" cy="274320"/>
          </a:xfrm>
          <a:prstGeom prst="rect">
            <a:avLst/>
          </a:prstGeom>
          <a:noFill/>
        </p:spPr>
        <p:txBody>
          <a:bodyPr wrap="square" lIns="0" tIns="0" rIns="0" bIns="0" anchor="t">
            <a:noAutofit/>
          </a:bodyPr>
          <a:lstStyle/>
          <a:p>
            <a:pPr algn="r">
              <a:lnSpc>
                <a:spcPct val="110000"/>
              </a:lnSpc>
              <a:spcAft>
                <a:spcPts val="0"/>
              </a:spcAft>
              <a:defRPr sz="900"/>
            </a:pPr>
            <a:r>
              <a:rPr sz="900" b="0" i="0">
                <a:solidFill>
                  <a:srgbClr val="9CC4B4"/>
                </a:solidFill>
                <a:latin typeface="Calibri"/>
              </a:rPr>
              <a:t>31</a:t>
            </a:r>
          </a:p>
        </p:txBody>
      </p:sp>
      <p:pic>
        <p:nvPicPr>
          <p:cNvPr id="5" name="Picture 4" descr="img-011.png"/>
          <p:cNvPicPr>
            <a:picLocks noChangeAspect="1"/>
          </p:cNvPicPr>
          <p:nvPr/>
        </p:nvPicPr>
        <p:blipFill>
          <a:blip r:embed="rId3"/>
          <a:srcRect t="5357" b="5357"/>
          <a:stretch>
            <a:fillRect/>
          </a:stretch>
        </p:blipFill>
        <p:spPr>
          <a:xfrm>
            <a:off x="7071055" y="0"/>
            <a:ext cx="5120640" cy="6858000"/>
          </a:xfrm>
          <a:prstGeom prst="rect">
            <a:avLst/>
          </a:prstGeom>
        </p:spPr>
      </p:pic>
      <p:sp>
        <p:nvSpPr>
          <p:cNvPr id="6" name="TextBox 5"/>
          <p:cNvSpPr txBox="1"/>
          <p:nvPr/>
        </p:nvSpPr>
        <p:spPr>
          <a:xfrm>
            <a:off x="640080" y="1005840"/>
            <a:ext cx="6035040" cy="1737360"/>
          </a:xfrm>
          <a:prstGeom prst="rect">
            <a:avLst/>
          </a:prstGeom>
          <a:noFill/>
        </p:spPr>
        <p:txBody>
          <a:bodyPr wrap="square" lIns="0" tIns="0" rIns="0" bIns="0" anchor="t">
            <a:noAutofit/>
          </a:bodyPr>
          <a:lstStyle/>
          <a:p>
            <a:pPr algn="l">
              <a:lnSpc>
                <a:spcPct val="105000"/>
              </a:lnSpc>
              <a:spcAft>
                <a:spcPts val="0"/>
              </a:spcAft>
              <a:defRPr sz="3200"/>
            </a:pPr>
            <a:r>
              <a:rPr sz="3200" b="1" i="0">
                <a:solidFill>
                  <a:srgbClr val="FFFFFF"/>
                </a:solidFill>
                <a:latin typeface="Cambria"/>
              </a:rPr>
              <a:t>¡Empieza hoy a transformar datos en historias visuales con R!</a:t>
            </a:r>
          </a:p>
        </p:txBody>
      </p:sp>
      <p:sp>
        <p:nvSpPr>
          <p:cNvPr id="7" name="Oval 6"/>
          <p:cNvSpPr/>
          <p:nvPr/>
        </p:nvSpPr>
        <p:spPr>
          <a:xfrm>
            <a:off x="640080" y="2926079"/>
            <a:ext cx="411480" cy="411480"/>
          </a:xfrm>
          <a:prstGeom prst="ellipse">
            <a:avLst/>
          </a:prstGeom>
          <a:solidFill>
            <a:srgbClr val="F2A93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a:solidFill>
                  <a:srgbClr val="0A3D2E"/>
                </a:solidFill>
                <a:latin typeface="Calibri"/>
              </a:rPr>
              <a:t>01</a:t>
            </a:r>
          </a:p>
        </p:txBody>
      </p:sp>
      <p:sp>
        <p:nvSpPr>
          <p:cNvPr id="8" name="TextBox 7"/>
          <p:cNvSpPr txBox="1"/>
          <p:nvPr/>
        </p:nvSpPr>
        <p:spPr>
          <a:xfrm>
            <a:off x="1188720" y="2880360"/>
            <a:ext cx="5394960" cy="320040"/>
          </a:xfrm>
          <a:prstGeom prst="rect">
            <a:avLst/>
          </a:prstGeom>
          <a:noFill/>
        </p:spPr>
        <p:txBody>
          <a:bodyPr wrap="square" lIns="0" tIns="0" rIns="0" bIns="0" anchor="t">
            <a:noAutofit/>
          </a:bodyPr>
          <a:lstStyle/>
          <a:p>
            <a:pPr algn="l">
              <a:lnSpc>
                <a:spcPct val="110000"/>
              </a:lnSpc>
              <a:spcAft>
                <a:spcPts val="0"/>
              </a:spcAft>
              <a:defRPr sz="1400"/>
            </a:pPr>
            <a:r>
              <a:rPr sz="1400" b="1" i="0">
                <a:solidFill>
                  <a:srgbClr val="F2A93B"/>
                </a:solidFill>
                <a:latin typeface="Cambria"/>
              </a:rPr>
              <a:t>Potencia estadística</a:t>
            </a:r>
          </a:p>
        </p:txBody>
      </p:sp>
      <p:sp>
        <p:nvSpPr>
          <p:cNvPr id="9" name="TextBox 8"/>
          <p:cNvSpPr txBox="1"/>
          <p:nvPr/>
        </p:nvSpPr>
        <p:spPr>
          <a:xfrm>
            <a:off x="1188720" y="3200400"/>
            <a:ext cx="5394960" cy="548640"/>
          </a:xfrm>
          <a:prstGeom prst="rect">
            <a:avLst/>
          </a:prstGeom>
          <a:noFill/>
        </p:spPr>
        <p:txBody>
          <a:bodyPr wrap="square" lIns="0" tIns="0" rIns="0" bIns="0" anchor="t">
            <a:noAutofit/>
          </a:bodyPr>
          <a:lstStyle/>
          <a:p>
            <a:pPr algn="l">
              <a:lnSpc>
                <a:spcPct val="110000"/>
              </a:lnSpc>
              <a:spcAft>
                <a:spcPts val="0"/>
              </a:spcAft>
              <a:defRPr sz="1150"/>
            </a:pPr>
            <a:r>
              <a:rPr sz="1150" b="0" i="0">
                <a:solidFill>
                  <a:srgbClr val="D7E9E1"/>
                </a:solidFill>
                <a:latin typeface="Calibri"/>
              </a:rPr>
              <a:t>Rigor matemático y visualizaciones que convierten análisis complejos en narrativas comprensibles.</a:t>
            </a:r>
          </a:p>
        </p:txBody>
      </p:sp>
      <p:sp>
        <p:nvSpPr>
          <p:cNvPr id="10" name="Oval 9"/>
          <p:cNvSpPr/>
          <p:nvPr/>
        </p:nvSpPr>
        <p:spPr>
          <a:xfrm>
            <a:off x="640080" y="3794759"/>
            <a:ext cx="411480" cy="411480"/>
          </a:xfrm>
          <a:prstGeom prst="ellipse">
            <a:avLst/>
          </a:prstGeom>
          <a:solidFill>
            <a:srgbClr val="F2A93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a:solidFill>
                  <a:srgbClr val="0A3D2E"/>
                </a:solidFill>
                <a:latin typeface="Calibri"/>
              </a:rPr>
              <a:t>02</a:t>
            </a:r>
          </a:p>
        </p:txBody>
      </p:sp>
      <p:sp>
        <p:nvSpPr>
          <p:cNvPr id="11" name="TextBox 10"/>
          <p:cNvSpPr txBox="1"/>
          <p:nvPr/>
        </p:nvSpPr>
        <p:spPr>
          <a:xfrm>
            <a:off x="1188720" y="3749039"/>
            <a:ext cx="5394960" cy="320040"/>
          </a:xfrm>
          <a:prstGeom prst="rect">
            <a:avLst/>
          </a:prstGeom>
          <a:noFill/>
        </p:spPr>
        <p:txBody>
          <a:bodyPr wrap="square" lIns="0" tIns="0" rIns="0" bIns="0" anchor="t">
            <a:noAutofit/>
          </a:bodyPr>
          <a:lstStyle/>
          <a:p>
            <a:pPr algn="l">
              <a:lnSpc>
                <a:spcPct val="110000"/>
              </a:lnSpc>
              <a:spcAft>
                <a:spcPts val="0"/>
              </a:spcAft>
              <a:defRPr sz="1400"/>
            </a:pPr>
            <a:r>
              <a:rPr sz="1400" b="1" i="0">
                <a:solidFill>
                  <a:srgbClr val="F2A93B"/>
                </a:solidFill>
                <a:latin typeface="Cambria"/>
              </a:rPr>
              <a:t>Ecosistema completo</a:t>
            </a:r>
          </a:p>
        </p:txBody>
      </p:sp>
      <p:sp>
        <p:nvSpPr>
          <p:cNvPr id="12" name="TextBox 11"/>
          <p:cNvSpPr txBox="1"/>
          <p:nvPr/>
        </p:nvSpPr>
        <p:spPr>
          <a:xfrm>
            <a:off x="1188720" y="4069079"/>
            <a:ext cx="5394960" cy="548640"/>
          </a:xfrm>
          <a:prstGeom prst="rect">
            <a:avLst/>
          </a:prstGeom>
          <a:noFill/>
        </p:spPr>
        <p:txBody>
          <a:bodyPr wrap="square" lIns="0" tIns="0" rIns="0" bIns="0" anchor="t">
            <a:noAutofit/>
          </a:bodyPr>
          <a:lstStyle/>
          <a:p>
            <a:pPr algn="l">
              <a:lnSpc>
                <a:spcPct val="110000"/>
              </a:lnSpc>
              <a:spcAft>
                <a:spcPts val="0"/>
              </a:spcAft>
              <a:defRPr sz="1150"/>
            </a:pPr>
            <a:r>
              <a:rPr sz="1150" b="0" i="0">
                <a:solidFill>
                  <a:srgbClr val="D7E9E1"/>
                </a:solidFill>
                <a:latin typeface="Calibri"/>
              </a:rPr>
              <a:t>De un gráfico estático a un dashboard interactivo sin salir del mismo entorno.</a:t>
            </a:r>
          </a:p>
        </p:txBody>
      </p:sp>
      <p:sp>
        <p:nvSpPr>
          <p:cNvPr id="13" name="Oval 12"/>
          <p:cNvSpPr/>
          <p:nvPr/>
        </p:nvSpPr>
        <p:spPr>
          <a:xfrm>
            <a:off x="640080" y="4663440"/>
            <a:ext cx="411480" cy="411480"/>
          </a:xfrm>
          <a:prstGeom prst="ellipse">
            <a:avLst/>
          </a:prstGeom>
          <a:solidFill>
            <a:srgbClr val="F2A93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a:solidFill>
                  <a:srgbClr val="0A3D2E"/>
                </a:solidFill>
                <a:latin typeface="Calibri"/>
              </a:rPr>
              <a:t>03</a:t>
            </a:r>
          </a:p>
        </p:txBody>
      </p:sp>
      <p:sp>
        <p:nvSpPr>
          <p:cNvPr id="14" name="TextBox 13"/>
          <p:cNvSpPr txBox="1"/>
          <p:nvPr/>
        </p:nvSpPr>
        <p:spPr>
          <a:xfrm>
            <a:off x="1188720" y="4617720"/>
            <a:ext cx="5394960" cy="320040"/>
          </a:xfrm>
          <a:prstGeom prst="rect">
            <a:avLst/>
          </a:prstGeom>
          <a:noFill/>
        </p:spPr>
        <p:txBody>
          <a:bodyPr wrap="square" lIns="0" tIns="0" rIns="0" bIns="0" anchor="t">
            <a:noAutofit/>
          </a:bodyPr>
          <a:lstStyle/>
          <a:p>
            <a:pPr algn="l">
              <a:lnSpc>
                <a:spcPct val="110000"/>
              </a:lnSpc>
              <a:spcAft>
                <a:spcPts val="0"/>
              </a:spcAft>
              <a:defRPr sz="1400"/>
            </a:pPr>
            <a:r>
              <a:rPr sz="1400" b="1" i="0">
                <a:solidFill>
                  <a:srgbClr val="F2A93B"/>
                </a:solidFill>
                <a:latin typeface="Cambria"/>
              </a:rPr>
              <a:t>Oportunidades profesionales</a:t>
            </a:r>
          </a:p>
        </p:txBody>
      </p:sp>
      <p:sp>
        <p:nvSpPr>
          <p:cNvPr id="15" name="TextBox 14"/>
          <p:cNvSpPr txBox="1"/>
          <p:nvPr/>
        </p:nvSpPr>
        <p:spPr>
          <a:xfrm>
            <a:off x="1188720" y="4937759"/>
            <a:ext cx="5394960" cy="548640"/>
          </a:xfrm>
          <a:prstGeom prst="rect">
            <a:avLst/>
          </a:prstGeom>
          <a:noFill/>
        </p:spPr>
        <p:txBody>
          <a:bodyPr wrap="square" lIns="0" tIns="0" rIns="0" bIns="0" anchor="t">
            <a:noAutofit/>
          </a:bodyPr>
          <a:lstStyle/>
          <a:p>
            <a:pPr algn="l">
              <a:lnSpc>
                <a:spcPct val="110000"/>
              </a:lnSpc>
              <a:spcAft>
                <a:spcPts val="0"/>
              </a:spcAft>
              <a:defRPr sz="1150"/>
            </a:pPr>
            <a:r>
              <a:rPr sz="1150" b="0" i="0">
                <a:solidFill>
                  <a:srgbClr val="D7E9E1"/>
                </a:solidFill>
                <a:latin typeface="Calibri"/>
              </a:rPr>
              <a:t>Ciencia de datos, investigación académica, consultoría y análisis de negocios.</a:t>
            </a:r>
          </a:p>
        </p:txBody>
      </p:sp>
      <p:sp>
        <p:nvSpPr>
          <p:cNvPr id="16" name="TextBox 15"/>
          <p:cNvSpPr txBox="1"/>
          <p:nvPr/>
        </p:nvSpPr>
        <p:spPr>
          <a:xfrm>
            <a:off x="640080" y="5532120"/>
            <a:ext cx="6035040" cy="685800"/>
          </a:xfrm>
          <a:prstGeom prst="rect">
            <a:avLst/>
          </a:prstGeom>
          <a:noFill/>
        </p:spPr>
        <p:txBody>
          <a:bodyPr wrap="square" lIns="0" tIns="0" rIns="0" bIns="0" anchor="t">
            <a:noAutofit/>
          </a:bodyPr>
          <a:lstStyle/>
          <a:p>
            <a:pPr algn="l">
              <a:lnSpc>
                <a:spcPct val="115000"/>
              </a:lnSpc>
              <a:spcAft>
                <a:spcPts val="0"/>
              </a:spcAft>
              <a:defRPr sz="1200"/>
            </a:pPr>
            <a:r>
              <a:rPr sz="1200" b="0" i="1">
                <a:solidFill>
                  <a:srgbClr val="9CC4B4"/>
                </a:solidFill>
                <a:latin typeface="Calibri"/>
              </a:rPr>
              <a:t>Instala R y RStudio, carga tu primer dataset y crea tu primer gráfico. Los datos esperan ser descubiertos y las historias, contadas.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TotalTime>
  <Words>5670</Words>
  <Application>Microsoft Office PowerPoint</Application>
  <PresentationFormat>Panorámica</PresentationFormat>
  <Paragraphs>612</Paragraphs>
  <Slides>31</Slides>
  <Notes>31</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31</vt:i4>
      </vt:variant>
    </vt:vector>
  </HeadingPairs>
  <TitlesOfParts>
    <vt:vector size="37" baseType="lpstr">
      <vt:lpstr>Arial</vt:lpstr>
      <vt:lpstr>Calibri</vt:lpstr>
      <vt:lpstr>Cambria</vt:lpstr>
      <vt:lpstr>Consolas</vt:lpstr>
      <vt:lpstr>Segoe UI Symbol</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CAMILA SILVA GOMEZ</cp:lastModifiedBy>
  <cp:revision>1</cp:revision>
  <dcterms:created xsi:type="dcterms:W3CDTF">2013-01-27T09:14:16Z</dcterms:created>
  <dcterms:modified xsi:type="dcterms:W3CDTF">2026-09-08T17:16:06Z</dcterms:modified>
  <cp:category/>
</cp:coreProperties>
</file>