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A SILVA GOMEZ" userId="744ea9ce-8dfe-4211-8140-fe1f94158012" providerId="ADAL" clId="{F6734866-47BA-4315-9C26-16D5EE2AF1F0}"/>
    <pc:docChg chg="undo custSel modSld sldOrd">
      <pc:chgData name="CAMILA SILVA GOMEZ" userId="744ea9ce-8dfe-4211-8140-fe1f94158012" providerId="ADAL" clId="{F6734866-47BA-4315-9C26-16D5EE2AF1F0}" dt="2026-09-22T20:17:02.764" v="50"/>
      <pc:docMkLst>
        <pc:docMk/>
      </pc:docMkLst>
      <pc:sldChg chg="modSp mod">
        <pc:chgData name="CAMILA SILVA GOMEZ" userId="744ea9ce-8dfe-4211-8140-fe1f94158012" providerId="ADAL" clId="{F6734866-47BA-4315-9C26-16D5EE2AF1F0}" dt="2026-09-22T17:19:00.184" v="16" actId="1035"/>
        <pc:sldMkLst>
          <pc:docMk/>
          <pc:sldMk cId="0" sldId="258"/>
        </pc:sldMkLst>
        <pc:picChg chg="mod">
          <ac:chgData name="CAMILA SILVA GOMEZ" userId="744ea9ce-8dfe-4211-8140-fe1f94158012" providerId="ADAL" clId="{F6734866-47BA-4315-9C26-16D5EE2AF1F0}" dt="2026-09-22T17:19:00.184" v="16" actId="1035"/>
          <ac:picMkLst>
            <pc:docMk/>
            <pc:sldMk cId="0" sldId="258"/>
            <ac:picMk id="6" creationId="{00000000-0000-0000-0000-000000000000}"/>
          </ac:picMkLst>
        </pc:picChg>
      </pc:sldChg>
      <pc:sldChg chg="modSp mod">
        <pc:chgData name="CAMILA SILVA GOMEZ" userId="744ea9ce-8dfe-4211-8140-fe1f94158012" providerId="ADAL" clId="{F6734866-47BA-4315-9C26-16D5EE2AF1F0}" dt="2026-09-22T19:48:40.135" v="46" actId="20577"/>
        <pc:sldMkLst>
          <pc:docMk/>
          <pc:sldMk cId="0" sldId="260"/>
        </pc:sldMkLst>
        <pc:spChg chg="mod">
          <ac:chgData name="CAMILA SILVA GOMEZ" userId="744ea9ce-8dfe-4211-8140-fe1f94158012" providerId="ADAL" clId="{F6734866-47BA-4315-9C26-16D5EE2AF1F0}" dt="2026-09-22T19:48:40.135" v="46" actId="20577"/>
          <ac:spMkLst>
            <pc:docMk/>
            <pc:sldMk cId="0" sldId="260"/>
            <ac:spMk id="24" creationId="{00000000-0000-0000-0000-000000000000}"/>
          </ac:spMkLst>
        </pc:spChg>
      </pc:sldChg>
      <pc:sldChg chg="addSp modSp mod">
        <pc:chgData name="CAMILA SILVA GOMEZ" userId="744ea9ce-8dfe-4211-8140-fe1f94158012" providerId="ADAL" clId="{F6734866-47BA-4315-9C26-16D5EE2AF1F0}" dt="2026-09-22T18:14:54.352" v="44" actId="167"/>
        <pc:sldMkLst>
          <pc:docMk/>
          <pc:sldMk cId="0" sldId="262"/>
        </pc:sldMkLst>
        <pc:spChg chg="mod">
          <ac:chgData name="CAMILA SILVA GOMEZ" userId="744ea9ce-8dfe-4211-8140-fe1f94158012" providerId="ADAL" clId="{F6734866-47BA-4315-9C26-16D5EE2AF1F0}" dt="2026-09-22T18:14:43.405" v="42" actId="13926"/>
          <ac:spMkLst>
            <pc:docMk/>
            <pc:sldMk cId="0" sldId="262"/>
            <ac:spMk id="5" creationId="{00000000-0000-0000-0000-000000000000}"/>
          </ac:spMkLst>
        </pc:spChg>
        <pc:spChg chg="add ord">
          <ac:chgData name="CAMILA SILVA GOMEZ" userId="744ea9ce-8dfe-4211-8140-fe1f94158012" providerId="ADAL" clId="{F6734866-47BA-4315-9C26-16D5EE2AF1F0}" dt="2026-09-22T18:14:54.352" v="44" actId="167"/>
          <ac:spMkLst>
            <pc:docMk/>
            <pc:sldMk cId="0" sldId="262"/>
            <ac:spMk id="15" creationId="{3F491003-BA85-981E-CB71-8E7382C8901B}"/>
          </ac:spMkLst>
        </pc:spChg>
      </pc:sldChg>
      <pc:sldChg chg="ord">
        <pc:chgData name="CAMILA SILVA GOMEZ" userId="744ea9ce-8dfe-4211-8140-fe1f94158012" providerId="ADAL" clId="{F6734866-47BA-4315-9C26-16D5EE2AF1F0}" dt="2026-09-22T20:13:18.786" v="48"/>
        <pc:sldMkLst>
          <pc:docMk/>
          <pc:sldMk cId="0" sldId="264"/>
        </pc:sldMkLst>
      </pc:sldChg>
      <pc:sldChg chg="ord">
        <pc:chgData name="CAMILA SILVA GOMEZ" userId="744ea9ce-8dfe-4211-8140-fe1f94158012" providerId="ADAL" clId="{F6734866-47BA-4315-9C26-16D5EE2AF1F0}" dt="2026-09-22T20:17:02.764" v="50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60AD9-84A8-4096-9DAE-FDCE07ACF576}" type="datetimeFigureOut">
              <a:rPr lang="es-CO" smtClean="0"/>
              <a:t>22/09/2026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A0529-0D81-4B12-83C6-A1338057E4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4154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A0529-0D81-4B12-83C6-A1338057E4FC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1314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Abrir con la carpeta real de algún estudiante si se anima. El dolor es el gancho. La gráfica es ficticia pero todos se reconocen.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Insistir en la analogía de la foto: un commit no es 'guardar', es 'guardar y etiquetar este momento'.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Hacerlo todos al tiempo. Este es el primer punto donde alguien se queda atrás: no seguir hasta que todos vean git --version.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Dibujarlo en el tablero también. 'Working → staging → repo' es el 80 % de la confusión de los primeros días.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en vivo con un script de pandas de 5 líneas. Editar, status, add, status, commit, status. Que vean los colores rojo → verde → limpio.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Aquí es donde todos se traban: la autenticación. Ver la siguiente diapositiva antes de que empiecen a escribir contraseñas.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hash es la 'huella' del commit. Con 7 caracteres basta.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Crear el .gitignore ANTES del primer commit de datos. Deshacer un commit con un CSV de 500 MB es una pesadilla.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Reservar 10 minutos reales para esto. Ir puesto por puesto.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README.md se renderiza solo en GitHub. Es la portada del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Los últimos 10 minutos. Recorrer los puestos: quien no tenga push, se queda 5 minutos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2C39A"/>
                </a:solidFill>
                <a:latin typeface="Consolas"/>
              </a:rPr>
              <a:t>GIT Y GITHUB PARA CIENCIA DE DATOS  ·  SESIÓN 1 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600" b="1" i="0">
                <a:solidFill>
                  <a:srgbClr val="FFFFFF"/>
                </a:solidFill>
                <a:latin typeface="Cambria"/>
              </a:rPr>
              <a:t>Mi primer repositorio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 i="1">
                <a:solidFill>
                  <a:srgbClr val="BFEAE4"/>
                </a:solidFill>
                <a:latin typeface="Calibri"/>
              </a:rPr>
              <a:t>De la carpeta de tu computador a GitHub, en dos horas.</a:t>
            </a:r>
          </a:p>
        </p:txBody>
      </p:sp>
      <p:pic>
        <p:nvPicPr>
          <p:cNvPr id="7" name="Picture 6" descr="calendar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77639"/>
            <a:ext cx="10881360" cy="166532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5806440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012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La pregunta de hoy:  ¿cómo dejo de tener dashboard_final_v3_AHORA_SI.py?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B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937822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LAS PRÓXIMAS DOS HORAS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Agenda de la sesión</a:t>
            </a:r>
          </a:p>
        </p:txBody>
      </p:sp>
      <p:pic>
        <p:nvPicPr>
          <p:cNvPr id="5" name="Picture 4" descr="agend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0240"/>
            <a:ext cx="11155680" cy="2459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01474F"/>
                </a:solidFill>
                <a:latin typeface="Calibri"/>
              </a:rPr>
              <a:t>Al terminar, se llevan:  un repositorio publicado en GitHub y el hábito status → add → commit → push.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1875645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1  ·  MI PRIMER REPOSITORIO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2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 dirty="0" err="1">
                <a:solidFill>
                  <a:srgbClr val="1C2B2E"/>
                </a:solidFill>
                <a:latin typeface="Cambria"/>
              </a:rPr>
              <a:t>Esto</a:t>
            </a:r>
            <a:r>
              <a:rPr sz="4000" b="1" i="0" dirty="0">
                <a:solidFill>
                  <a:srgbClr val="1C2B2E"/>
                </a:solidFill>
                <a:latin typeface="Cambria"/>
              </a:rPr>
              <a:t> les ha </a:t>
            </a:r>
            <a:r>
              <a:rPr sz="4000" b="1" i="0" dirty="0" err="1">
                <a:solidFill>
                  <a:srgbClr val="1C2B2E"/>
                </a:solidFill>
                <a:latin typeface="Cambria"/>
              </a:rPr>
              <a:t>pasado</a:t>
            </a:r>
            <a:r>
              <a:rPr sz="4000" b="1" i="0" dirty="0">
                <a:solidFill>
                  <a:srgbClr val="1C2B2E"/>
                </a:solidFill>
                <a:latin typeface="Cambria"/>
              </a:rPr>
              <a:t> a </a:t>
            </a:r>
            <a:r>
              <a:rPr sz="4000" b="1" i="0" dirty="0" err="1">
                <a:solidFill>
                  <a:srgbClr val="1C2B2E"/>
                </a:solidFill>
                <a:latin typeface="Cambria"/>
              </a:rPr>
              <a:t>todos</a:t>
            </a:r>
            <a:endParaRPr sz="4000" b="1" i="0" dirty="0">
              <a:solidFill>
                <a:srgbClr val="1C2B2E"/>
              </a:solidFill>
              <a:latin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9496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0" dirty="0">
                <a:solidFill>
                  <a:srgbClr val="1C2B2E"/>
                </a:solidFill>
                <a:latin typeface="Calibri"/>
              </a:rPr>
              <a:t>●  ¿</a:t>
            </a:r>
            <a:r>
              <a:rPr sz="1900" b="0" dirty="0" err="1">
                <a:solidFill>
                  <a:srgbClr val="1C2B2E"/>
                </a:solidFill>
                <a:latin typeface="Calibri"/>
              </a:rPr>
              <a:t>Cuál</a:t>
            </a:r>
            <a:r>
              <a:rPr sz="1900" b="0" dirty="0">
                <a:solidFill>
                  <a:srgbClr val="1C2B2E"/>
                </a:solidFill>
                <a:latin typeface="Calibri"/>
              </a:rPr>
              <a:t> es la </a:t>
            </a:r>
            <a:r>
              <a:rPr sz="1900" b="0" dirty="0" err="1">
                <a:solidFill>
                  <a:srgbClr val="1C2B2E"/>
                </a:solidFill>
                <a:latin typeface="Calibri"/>
              </a:rPr>
              <a:t>versión</a:t>
            </a:r>
            <a:r>
              <a:rPr sz="1900" b="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C2B2E"/>
                </a:solidFill>
                <a:latin typeface="Calibri"/>
              </a:rPr>
              <a:t>buena</a:t>
            </a:r>
            <a:r>
              <a:rPr sz="1900" b="0" dirty="0">
                <a:solidFill>
                  <a:srgbClr val="1C2B2E"/>
                </a:solidFill>
                <a:latin typeface="Calibri"/>
              </a:rPr>
              <a:t>?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0" dirty="0">
                <a:solidFill>
                  <a:srgbClr val="1C2B2E"/>
                </a:solidFill>
                <a:latin typeface="Calibri"/>
              </a:rPr>
              <a:t>●  ¿</a:t>
            </a:r>
            <a:r>
              <a:rPr sz="1900" b="0" dirty="0" err="1">
                <a:solidFill>
                  <a:srgbClr val="1C2B2E"/>
                </a:solidFill>
                <a:latin typeface="Calibri"/>
              </a:rPr>
              <a:t>Qué</a:t>
            </a:r>
            <a:r>
              <a:rPr sz="1900" b="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C2B2E"/>
                </a:solidFill>
                <a:latin typeface="Calibri"/>
              </a:rPr>
              <a:t>cambió</a:t>
            </a:r>
            <a:r>
              <a:rPr sz="1900" b="0" dirty="0">
                <a:solidFill>
                  <a:srgbClr val="1C2B2E"/>
                </a:solidFill>
                <a:latin typeface="Calibri"/>
              </a:rPr>
              <a:t> entre la v2 y la final?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0" dirty="0">
                <a:solidFill>
                  <a:srgbClr val="1C2B2E"/>
                </a:solidFill>
                <a:latin typeface="Calibri"/>
              </a:rPr>
              <a:t>●  ¿</a:t>
            </a:r>
            <a:r>
              <a:rPr sz="1900" b="0" dirty="0" err="1">
                <a:solidFill>
                  <a:srgbClr val="1C2B2E"/>
                </a:solidFill>
                <a:latin typeface="Calibri"/>
              </a:rPr>
              <a:t>Quién</a:t>
            </a:r>
            <a:r>
              <a:rPr sz="1900" b="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C2B2E"/>
                </a:solidFill>
                <a:latin typeface="Calibri"/>
              </a:rPr>
              <a:t>rompió</a:t>
            </a:r>
            <a:r>
              <a:rPr sz="1900" b="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C2B2E"/>
                </a:solidFill>
                <a:latin typeface="Calibri"/>
              </a:rPr>
              <a:t>el</a:t>
            </a:r>
            <a:r>
              <a:rPr sz="1900" b="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C2B2E"/>
                </a:solidFill>
                <a:latin typeface="Calibri"/>
              </a:rPr>
              <a:t>filtro</a:t>
            </a:r>
            <a:r>
              <a:rPr sz="1900" b="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C2B2E"/>
                </a:solidFill>
                <a:latin typeface="Calibri"/>
              </a:rPr>
              <a:t>por</a:t>
            </a:r>
            <a:r>
              <a:rPr sz="1900" b="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C2B2E"/>
                </a:solidFill>
                <a:latin typeface="Calibri"/>
              </a:rPr>
              <a:t>localidad</a:t>
            </a:r>
            <a:r>
              <a:rPr sz="1900" b="0" dirty="0">
                <a:solidFill>
                  <a:srgbClr val="1C2B2E"/>
                </a:solidFill>
                <a:latin typeface="Calibri"/>
              </a:rPr>
              <a:t>, y </a:t>
            </a:r>
            <a:r>
              <a:rPr sz="1900" b="0" dirty="0" err="1">
                <a:solidFill>
                  <a:srgbClr val="1C2B2E"/>
                </a:solidFill>
                <a:latin typeface="Calibri"/>
              </a:rPr>
              <a:t>cuándo</a:t>
            </a:r>
            <a:r>
              <a:rPr sz="1900" b="0" dirty="0">
                <a:solidFill>
                  <a:srgbClr val="1C2B2E"/>
                </a:solidFill>
                <a:latin typeface="Calibri"/>
              </a:rPr>
              <a:t>?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0" dirty="0">
                <a:solidFill>
                  <a:srgbClr val="1C2B2E"/>
                </a:solidFill>
                <a:latin typeface="Calibri"/>
              </a:rPr>
              <a:t>●  ¿</a:t>
            </a:r>
            <a:r>
              <a:rPr sz="1900" b="0" dirty="0" err="1">
                <a:solidFill>
                  <a:srgbClr val="1C2B2E"/>
                </a:solidFill>
                <a:latin typeface="Calibri"/>
              </a:rPr>
              <a:t>Cómo</a:t>
            </a:r>
            <a:r>
              <a:rPr sz="1900" b="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C2B2E"/>
                </a:solidFill>
                <a:latin typeface="Calibri"/>
              </a:rPr>
              <a:t>trabajamos</a:t>
            </a:r>
            <a:r>
              <a:rPr sz="1900" b="0" dirty="0">
                <a:solidFill>
                  <a:srgbClr val="1C2B2E"/>
                </a:solidFill>
                <a:latin typeface="Calibri"/>
              </a:rPr>
              <a:t> cuatro personas sin </a:t>
            </a:r>
            <a:r>
              <a:rPr sz="1900" b="0" dirty="0" err="1">
                <a:solidFill>
                  <a:srgbClr val="1C2B2E"/>
                </a:solidFill>
                <a:latin typeface="Calibri"/>
              </a:rPr>
              <a:t>pisarnos</a:t>
            </a:r>
            <a:r>
              <a:rPr sz="1900" b="0" dirty="0">
                <a:solidFill>
                  <a:srgbClr val="1C2B2E"/>
                </a:solidFill>
                <a:latin typeface="Calibri"/>
              </a:rPr>
              <a:t>?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0" dirty="0">
                <a:solidFill>
                  <a:srgbClr val="1C2B2E"/>
                </a:solidFill>
                <a:latin typeface="Calibri"/>
              </a:rPr>
              <a:t>●  ¿</a:t>
            </a:r>
            <a:r>
              <a:rPr sz="1900" b="0" dirty="0" err="1">
                <a:solidFill>
                  <a:srgbClr val="1C2B2E"/>
                </a:solidFill>
                <a:latin typeface="Calibri"/>
              </a:rPr>
              <a:t>Cómo</a:t>
            </a:r>
            <a:r>
              <a:rPr sz="1900" b="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C2B2E"/>
                </a:solidFill>
                <a:latin typeface="Calibri"/>
              </a:rPr>
              <a:t>vuelvo</a:t>
            </a:r>
            <a:r>
              <a:rPr sz="1900" b="0" dirty="0">
                <a:solidFill>
                  <a:srgbClr val="1C2B2E"/>
                </a:solidFill>
                <a:latin typeface="Calibri"/>
              </a:rPr>
              <a:t> a la </a:t>
            </a:r>
            <a:r>
              <a:rPr sz="1900" b="0" dirty="0" err="1">
                <a:solidFill>
                  <a:srgbClr val="1C2B2E"/>
                </a:solidFill>
                <a:latin typeface="Calibri"/>
              </a:rPr>
              <a:t>versión</a:t>
            </a:r>
            <a:r>
              <a:rPr sz="1900" b="0" dirty="0">
                <a:solidFill>
                  <a:srgbClr val="1C2B2E"/>
                </a:solidFill>
                <a:latin typeface="Calibri"/>
              </a:rPr>
              <a:t> de </a:t>
            </a:r>
            <a:r>
              <a:rPr sz="1900" b="0" dirty="0" err="1">
                <a:solidFill>
                  <a:srgbClr val="1C2B2E"/>
                </a:solidFill>
                <a:latin typeface="Calibri"/>
              </a:rPr>
              <a:t>ayer</a:t>
            </a:r>
            <a:r>
              <a:rPr sz="1900" b="0" dirty="0">
                <a:solidFill>
                  <a:srgbClr val="1C2B2E"/>
                </a:solidFill>
                <a:latin typeface="Calibri"/>
              </a:rPr>
              <a:t>?</a:t>
            </a:r>
          </a:p>
        </p:txBody>
      </p:sp>
      <p:pic>
        <p:nvPicPr>
          <p:cNvPr id="6" name="Picture 5" descr="m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26176"/>
            <a:ext cx="5486400" cy="39221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 dirty="0">
                <a:solidFill>
                  <a:srgbClr val="01474F"/>
                </a:solidFill>
                <a:latin typeface="Cambria"/>
              </a:rPr>
              <a:t>Git </a:t>
            </a:r>
            <a:r>
              <a:rPr sz="1900" b="1" i="0" dirty="0" err="1">
                <a:solidFill>
                  <a:srgbClr val="01474F"/>
                </a:solidFill>
                <a:latin typeface="Cambria"/>
              </a:rPr>
              <a:t>responde</a:t>
            </a:r>
            <a:r>
              <a:rPr sz="1900" b="1" i="0" dirty="0">
                <a:solidFill>
                  <a:srgbClr val="01474F"/>
                </a:solidFill>
                <a:latin typeface="Cambria"/>
              </a:rPr>
              <a:t> las </a:t>
            </a:r>
            <a:r>
              <a:rPr sz="1900" b="1" i="0" dirty="0" err="1">
                <a:solidFill>
                  <a:srgbClr val="01474F"/>
                </a:solidFill>
                <a:latin typeface="Cambria"/>
              </a:rPr>
              <a:t>cinco</a:t>
            </a:r>
            <a:r>
              <a:rPr sz="1900" b="1" i="0" dirty="0">
                <a:solidFill>
                  <a:srgbClr val="01474F"/>
                </a:solidFill>
                <a:latin typeface="Cambria"/>
              </a:rPr>
              <a:t>. Y GitHub </a:t>
            </a:r>
            <a:r>
              <a:rPr sz="1900" b="1" i="0" dirty="0" err="1">
                <a:solidFill>
                  <a:srgbClr val="01474F"/>
                </a:solidFill>
                <a:latin typeface="Cambria"/>
              </a:rPr>
              <a:t>hace</a:t>
            </a:r>
            <a:r>
              <a:rPr sz="1900" b="1" i="0" dirty="0">
                <a:solidFill>
                  <a:srgbClr val="01474F"/>
                </a:solidFill>
                <a:latin typeface="Cambria"/>
              </a:rPr>
              <a:t> que </a:t>
            </a:r>
            <a:r>
              <a:rPr sz="1900" b="1" i="0" dirty="0" err="1">
                <a:solidFill>
                  <a:srgbClr val="01474F"/>
                </a:solidFill>
                <a:latin typeface="Cambria"/>
              </a:rPr>
              <a:t>el</a:t>
            </a:r>
            <a:r>
              <a:rPr sz="1900" b="1" i="0" dirty="0">
                <a:solidFill>
                  <a:srgbClr val="01474F"/>
                </a:solidFill>
                <a:latin typeface="Cambria"/>
              </a:rPr>
              <a:t> </a:t>
            </a:r>
            <a:r>
              <a:rPr sz="1900" b="1" i="0" dirty="0" err="1">
                <a:solidFill>
                  <a:srgbClr val="01474F"/>
                </a:solidFill>
                <a:latin typeface="Cambria"/>
              </a:rPr>
              <a:t>equipo</a:t>
            </a:r>
            <a:r>
              <a:rPr sz="1900" b="1" i="0" dirty="0">
                <a:solidFill>
                  <a:srgbClr val="01474F"/>
                </a:solidFill>
                <a:latin typeface="Cambria"/>
              </a:rPr>
              <a:t> las </a:t>
            </a:r>
            <a:r>
              <a:rPr sz="1900" b="1" i="0" dirty="0" err="1">
                <a:solidFill>
                  <a:srgbClr val="01474F"/>
                </a:solidFill>
                <a:latin typeface="Cambria"/>
              </a:rPr>
              <a:t>responda</a:t>
            </a:r>
            <a:r>
              <a:rPr sz="1900" b="1" i="0" dirty="0">
                <a:solidFill>
                  <a:srgbClr val="01474F"/>
                </a:solidFill>
                <a:latin typeface="Cambria"/>
              </a:rPr>
              <a:t> junto.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2813468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1  ·  MI PRIMER REPOSITORIO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3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1" i="0">
                <a:solidFill>
                  <a:srgbClr val="1C2B2E"/>
                </a:solidFill>
                <a:latin typeface="Cambria"/>
              </a:rPr>
              <a:t>Git no guarda archivos: guarda fotos del proyecto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74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2039112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13055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880360"/>
            <a:ext cx="2962656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1C2B2E"/>
                </a:solidFill>
                <a:latin typeface="Calibri"/>
              </a:rPr>
              <a:t>Una foto completa del proyecto en un momento, con autor, fecha y un mensaje que dice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474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99432" y="2039112"/>
            <a:ext cx="640080" cy="64008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🕰️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13055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Historial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880360"/>
            <a:ext cx="2962656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1C2B2E"/>
                </a:solidFill>
                <a:latin typeface="Calibri"/>
              </a:rPr>
              <a:t>La secuencia de fotos. Puedes ver cualquiera, comparar dos, o volver a una anterior sin perder nada.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474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02752" y="2039112"/>
            <a:ext cx="640080" cy="640080"/>
          </a:xfrm>
          <a:prstGeom prst="ellipse">
            <a:avLst/>
          </a:prstGeom>
          <a:solidFill>
            <a:srgbClr val="01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☁️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13055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Git ≠ 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880360"/>
            <a:ext cx="2962656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 dirty="0">
                <a:solidFill>
                  <a:srgbClr val="1C2B2E"/>
                </a:solidFill>
                <a:latin typeface="Calibri"/>
              </a:rPr>
              <a:t>Git es </a:t>
            </a:r>
            <a:r>
              <a:rPr sz="1700" b="0" i="0" dirty="0" err="1">
                <a:solidFill>
                  <a:srgbClr val="1C2B2E"/>
                </a:solidFill>
                <a:latin typeface="Calibri"/>
              </a:rPr>
              <a:t>el</a:t>
            </a:r>
            <a:r>
              <a:rPr sz="1700" b="0" i="0" dirty="0">
                <a:solidFill>
                  <a:srgbClr val="1C2B2E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1C2B2E"/>
                </a:solidFill>
                <a:latin typeface="Calibri"/>
              </a:rPr>
              <a:t>programa</a:t>
            </a:r>
            <a:r>
              <a:rPr sz="1700" b="0" i="0" dirty="0">
                <a:solidFill>
                  <a:srgbClr val="1C2B2E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1C2B2E"/>
                </a:solidFill>
                <a:latin typeface="Calibri"/>
              </a:rPr>
              <a:t>en</a:t>
            </a:r>
            <a:r>
              <a:rPr sz="1700" b="0" i="0" dirty="0">
                <a:solidFill>
                  <a:srgbClr val="1C2B2E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1C2B2E"/>
                </a:solidFill>
                <a:latin typeface="Calibri"/>
              </a:rPr>
              <a:t>tu</a:t>
            </a:r>
            <a:r>
              <a:rPr sz="1700" b="0" i="0" dirty="0">
                <a:solidFill>
                  <a:srgbClr val="1C2B2E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1C2B2E"/>
                </a:solidFill>
                <a:latin typeface="Calibri"/>
              </a:rPr>
              <a:t>computador</a:t>
            </a:r>
            <a:r>
              <a:rPr sz="1700" b="0" i="0" dirty="0">
                <a:solidFill>
                  <a:srgbClr val="1C2B2E"/>
                </a:solidFill>
                <a:latin typeface="Calibri"/>
              </a:rPr>
              <a:t> que </a:t>
            </a:r>
            <a:r>
              <a:rPr sz="1700" b="0" i="0" dirty="0" err="1">
                <a:solidFill>
                  <a:srgbClr val="1C2B2E"/>
                </a:solidFill>
                <a:latin typeface="Calibri"/>
              </a:rPr>
              <a:t>toma</a:t>
            </a:r>
            <a:r>
              <a:rPr sz="1700" b="0" i="0" dirty="0">
                <a:solidFill>
                  <a:srgbClr val="1C2B2E"/>
                </a:solidFill>
                <a:latin typeface="Calibri"/>
              </a:rPr>
              <a:t> las </a:t>
            </a:r>
            <a:r>
              <a:rPr sz="1700" b="0" i="0" dirty="0" err="1">
                <a:solidFill>
                  <a:srgbClr val="1C2B2E"/>
                </a:solidFill>
                <a:latin typeface="Calibri"/>
              </a:rPr>
              <a:t>fotos</a:t>
            </a:r>
            <a:r>
              <a:rPr sz="1700" b="0" i="0" dirty="0">
                <a:solidFill>
                  <a:srgbClr val="1C2B2E"/>
                </a:solidFill>
                <a:latin typeface="Calibri"/>
              </a:rPr>
              <a:t>. GitHub es </a:t>
            </a:r>
            <a:r>
              <a:rPr sz="1700" b="0" i="0" dirty="0" err="1">
                <a:solidFill>
                  <a:srgbClr val="1C2B2E"/>
                </a:solidFill>
                <a:latin typeface="Calibri"/>
              </a:rPr>
              <a:t>el</a:t>
            </a:r>
            <a:r>
              <a:rPr sz="1700" b="0" i="0" dirty="0">
                <a:solidFill>
                  <a:srgbClr val="1C2B2E"/>
                </a:solidFill>
                <a:latin typeface="Calibri"/>
              </a:rPr>
              <a:t> sitio </a:t>
            </a:r>
            <a:r>
              <a:rPr sz="1700" b="0" i="0" dirty="0" err="1">
                <a:solidFill>
                  <a:srgbClr val="1C2B2E"/>
                </a:solidFill>
                <a:latin typeface="Calibri"/>
              </a:rPr>
              <a:t>donde</a:t>
            </a:r>
            <a:r>
              <a:rPr sz="1700" b="0" i="0" dirty="0">
                <a:solidFill>
                  <a:srgbClr val="1C2B2E"/>
                </a:solidFill>
                <a:latin typeface="Calibri"/>
              </a:rPr>
              <a:t> las </a:t>
            </a:r>
            <a:r>
              <a:rPr sz="1700" b="0" i="0" dirty="0" err="1">
                <a:solidFill>
                  <a:srgbClr val="1C2B2E"/>
                </a:solidFill>
                <a:latin typeface="Calibri"/>
              </a:rPr>
              <a:t>publicas</a:t>
            </a:r>
            <a:r>
              <a:rPr sz="1700" b="0" i="0" dirty="0">
                <a:solidFill>
                  <a:srgbClr val="1C2B2E"/>
                </a:solidFill>
                <a:latin typeface="Calibri"/>
              </a:rPr>
              <a:t> y las </a:t>
            </a:r>
            <a:r>
              <a:rPr sz="1700" b="0" i="0" dirty="0" err="1">
                <a:solidFill>
                  <a:srgbClr val="1C2B2E"/>
                </a:solidFill>
                <a:latin typeface="Calibri"/>
              </a:rPr>
              <a:t>compartes</a:t>
            </a:r>
            <a:r>
              <a:rPr sz="1700" b="0" i="0" dirty="0">
                <a:solidFill>
                  <a:srgbClr val="1C2B2E"/>
                </a:solidFill>
                <a:latin typeface="Calibri"/>
              </a:rPr>
              <a:t> con </a:t>
            </a:r>
            <a:r>
              <a:rPr sz="1700" b="0" i="0" dirty="0" err="1">
                <a:solidFill>
                  <a:srgbClr val="1C2B2E"/>
                </a:solidFill>
                <a:latin typeface="Calibri"/>
              </a:rPr>
              <a:t>el</a:t>
            </a:r>
            <a:r>
              <a:rPr sz="1700" b="0" i="0" dirty="0">
                <a:solidFill>
                  <a:srgbClr val="1C2B2E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1C2B2E"/>
                </a:solidFill>
                <a:latin typeface="Calibri"/>
              </a:rPr>
              <a:t>equipo</a:t>
            </a:r>
            <a:r>
              <a:rPr sz="1700" b="0" i="0" dirty="0">
                <a:solidFill>
                  <a:srgbClr val="1C2B2E"/>
                </a:solidFill>
                <a:latin typeface="Calibri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775704"/>
            <a:ext cx="3751290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1  ·  MI PRIMER REPOSITORIO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4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INSTALACIÓN ·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Antes de escribir un solo comando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55648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Instalar 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67128"/>
            <a:ext cx="4572000" cy="651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 dirty="0">
                <a:solidFill>
                  <a:srgbClr val="1C2B2E"/>
                </a:solidFill>
                <a:latin typeface="Calibri"/>
              </a:rPr>
              <a:t>Windows: git-scm.com → Git for Windows (</a:t>
            </a:r>
            <a:r>
              <a:rPr sz="1400" b="0" i="0" dirty="0" err="1">
                <a:solidFill>
                  <a:srgbClr val="1C2B2E"/>
                </a:solidFill>
                <a:latin typeface="Calibri"/>
              </a:rPr>
              <a:t>incluye</a:t>
            </a:r>
            <a:r>
              <a:rPr sz="1400" b="0" i="0" dirty="0">
                <a:solidFill>
                  <a:srgbClr val="1C2B2E"/>
                </a:solidFill>
                <a:latin typeface="Calibri"/>
              </a:rPr>
              <a:t> Git Bash). macOS: </a:t>
            </a:r>
            <a:r>
              <a:rPr sz="1400" b="0" i="0" dirty="0" err="1">
                <a:solidFill>
                  <a:srgbClr val="1C2B2E"/>
                </a:solidFill>
                <a:latin typeface="Calibri"/>
              </a:rPr>
              <a:t>xcode</a:t>
            </a:r>
            <a:r>
              <a:rPr sz="1400" b="0" i="0" dirty="0">
                <a:solidFill>
                  <a:srgbClr val="1C2B2E"/>
                </a:solidFill>
                <a:latin typeface="Calibri"/>
              </a:rPr>
              <a:t>-select --install o brew install git.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2286000"/>
            <a:ext cx="25400" cy="560070"/>
          </a:xfrm>
          <a:prstGeom prst="rect">
            <a:avLst/>
          </a:prstGeom>
          <a:solidFill>
            <a:srgbClr val="5B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284607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818638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Abrir Git Bash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230118"/>
            <a:ext cx="4572000" cy="651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 dirty="0">
                <a:solidFill>
                  <a:srgbClr val="1C2B2E"/>
                </a:solidFill>
                <a:latin typeface="Calibri"/>
              </a:rPr>
              <a:t>En Windows </a:t>
            </a:r>
            <a:r>
              <a:rPr sz="1400" b="0" i="0" dirty="0" err="1">
                <a:solidFill>
                  <a:srgbClr val="1C2B2E"/>
                </a:solidFill>
                <a:latin typeface="Calibri"/>
              </a:rPr>
              <a:t>usamos</a:t>
            </a:r>
            <a:r>
              <a:rPr sz="1400" b="0" i="0" dirty="0">
                <a:solidFill>
                  <a:srgbClr val="1C2B2E"/>
                </a:solidFill>
                <a:latin typeface="Calibri"/>
              </a:rPr>
              <a:t> Git Bash, no </a:t>
            </a:r>
            <a:r>
              <a:rPr sz="1400" b="0" i="0" dirty="0" err="1">
                <a:solidFill>
                  <a:srgbClr val="1C2B2E"/>
                </a:solidFill>
                <a:latin typeface="Calibri"/>
              </a:rPr>
              <a:t>cmd</a:t>
            </a:r>
            <a:r>
              <a:rPr sz="1400" b="0" i="0" dirty="0">
                <a:solidFill>
                  <a:srgbClr val="1C2B2E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C2B2E"/>
                </a:solidFill>
                <a:latin typeface="Calibri"/>
              </a:rPr>
              <a:t>ni</a:t>
            </a:r>
            <a:r>
              <a:rPr sz="1400" b="0" i="0" dirty="0">
                <a:solidFill>
                  <a:srgbClr val="1C2B2E"/>
                </a:solidFill>
                <a:latin typeface="Calibri"/>
              </a:rPr>
              <a:t> PowerShell. Los </a:t>
            </a:r>
            <a:r>
              <a:rPr sz="1400" b="0" i="0" dirty="0" err="1">
                <a:solidFill>
                  <a:srgbClr val="1C2B2E"/>
                </a:solidFill>
                <a:latin typeface="Calibri"/>
              </a:rPr>
              <a:t>comandos</a:t>
            </a:r>
            <a:r>
              <a:rPr sz="1400" b="0" i="0" dirty="0">
                <a:solidFill>
                  <a:srgbClr val="1C2B2E"/>
                </a:solidFill>
                <a:latin typeface="Calibri"/>
              </a:rPr>
              <a:t> son </a:t>
            </a:r>
            <a:r>
              <a:rPr sz="1400" b="0" i="0" dirty="0" err="1">
                <a:solidFill>
                  <a:srgbClr val="1C2B2E"/>
                </a:solidFill>
                <a:latin typeface="Calibri"/>
              </a:rPr>
              <a:t>los</a:t>
            </a:r>
            <a:r>
              <a:rPr sz="1400" b="0" i="0" dirty="0">
                <a:solidFill>
                  <a:srgbClr val="1C2B2E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C2B2E"/>
                </a:solidFill>
                <a:latin typeface="Calibri"/>
              </a:rPr>
              <a:t>mismos</a:t>
            </a:r>
            <a:r>
              <a:rPr sz="1400" b="0" i="0" dirty="0">
                <a:solidFill>
                  <a:srgbClr val="1C2B2E"/>
                </a:solidFill>
                <a:latin typeface="Calibri"/>
              </a:rPr>
              <a:t> que </a:t>
            </a:r>
            <a:r>
              <a:rPr sz="1400" b="0" i="0" dirty="0" err="1">
                <a:solidFill>
                  <a:srgbClr val="1C2B2E"/>
                </a:solidFill>
                <a:latin typeface="Calibri"/>
              </a:rPr>
              <a:t>en</a:t>
            </a:r>
            <a:r>
              <a:rPr sz="1400" b="0" i="0" dirty="0">
                <a:solidFill>
                  <a:srgbClr val="1C2B2E"/>
                </a:solidFill>
                <a:latin typeface="Calibri"/>
              </a:rPr>
              <a:t> Linux/macOS.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" y="3348990"/>
            <a:ext cx="25400" cy="560070"/>
          </a:xfrm>
          <a:prstGeom prst="rect">
            <a:avLst/>
          </a:prstGeom>
          <a:solidFill>
            <a:srgbClr val="5B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390906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881628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Verificar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293108"/>
            <a:ext cx="4572000" cy="651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git --version debe responder con un número. Si no, la instalación no quedó en el PATH.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4411980"/>
            <a:ext cx="25400" cy="560070"/>
          </a:xfrm>
          <a:prstGeom prst="rect">
            <a:avLst/>
          </a:prstGeom>
          <a:solidFill>
            <a:srgbClr val="5B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0080" y="497205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944618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Presentarse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356098"/>
            <a:ext cx="4572000" cy="651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Git firma cada commit con tu nombre y correo. Usa el mismo correo de tu cuenta GitHub.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783080"/>
            <a:ext cx="5257800" cy="4251960"/>
          </a:xfrm>
          <a:prstGeom prst="roundRect">
            <a:avLst>
              <a:gd name="adj" fmla="val 5000"/>
            </a:avLst>
          </a:prstGeom>
          <a:solidFill>
            <a:srgbClr val="1C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10528" y="1947672"/>
            <a:ext cx="128016" cy="12801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748272" y="1947672"/>
            <a:ext cx="128016" cy="128016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986016" y="1947672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2240280"/>
            <a:ext cx="48006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dirty="0">
                <a:solidFill>
                  <a:srgbClr val="8FE3D3"/>
                </a:solidFill>
                <a:latin typeface="Consolas"/>
              </a:rPr>
              <a:t># 1. </a:t>
            </a:r>
            <a:r>
              <a:rPr sz="1500" dirty="0" err="1">
                <a:solidFill>
                  <a:srgbClr val="8FE3D3"/>
                </a:solidFill>
                <a:latin typeface="Consolas"/>
              </a:rPr>
              <a:t>verificar</a:t>
            </a:r>
            <a:r>
              <a:rPr sz="1500" dirty="0">
                <a:solidFill>
                  <a:srgbClr val="8FE3D3"/>
                </a:solidFill>
                <a:latin typeface="Consolas"/>
              </a:rPr>
              <a:t> la </a:t>
            </a:r>
            <a:r>
              <a:rPr sz="1500" dirty="0" err="1">
                <a:solidFill>
                  <a:srgbClr val="8FE3D3"/>
                </a:solidFill>
                <a:latin typeface="Consolas"/>
              </a:rPr>
              <a:t>instalación</a:t>
            </a:r>
            <a:endParaRPr sz="1500" dirty="0">
              <a:solidFill>
                <a:srgbClr val="8FE3D3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E9F4F2"/>
                </a:solidFill>
                <a:latin typeface="Consolas"/>
              </a:rPr>
              <a:t>git --version</a:t>
            </a:r>
          </a:p>
          <a:p>
            <a:pPr>
              <a:spcAft>
                <a:spcPts val="200"/>
              </a:spcAft>
            </a:pPr>
            <a:endParaRPr sz="1500" dirty="0">
              <a:solidFill>
                <a:srgbClr val="E9F4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8FE3D3"/>
                </a:solidFill>
                <a:latin typeface="Consolas"/>
              </a:rPr>
              <a:t># 2. </a:t>
            </a:r>
            <a:r>
              <a:rPr sz="1500" dirty="0" err="1">
                <a:solidFill>
                  <a:srgbClr val="8FE3D3"/>
                </a:solidFill>
                <a:latin typeface="Consolas"/>
              </a:rPr>
              <a:t>decirle</a:t>
            </a:r>
            <a:r>
              <a:rPr sz="1500" dirty="0">
                <a:solidFill>
                  <a:srgbClr val="8FE3D3"/>
                </a:solidFill>
                <a:latin typeface="Consolas"/>
              </a:rPr>
              <a:t> a Git </a:t>
            </a:r>
            <a:r>
              <a:rPr sz="1500" dirty="0" err="1">
                <a:solidFill>
                  <a:srgbClr val="8FE3D3"/>
                </a:solidFill>
                <a:latin typeface="Consolas"/>
              </a:rPr>
              <a:t>quién</a:t>
            </a:r>
            <a:r>
              <a:rPr sz="1500" dirty="0">
                <a:solidFill>
                  <a:srgbClr val="8FE3D3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8FE3D3"/>
                </a:solidFill>
                <a:latin typeface="Consolas"/>
              </a:rPr>
              <a:t>eres</a:t>
            </a:r>
            <a:r>
              <a:rPr sz="1500" dirty="0">
                <a:solidFill>
                  <a:srgbClr val="8FE3D3"/>
                </a:solidFill>
                <a:latin typeface="Consolas"/>
              </a:rPr>
              <a:t> (</a:t>
            </a:r>
            <a:r>
              <a:rPr sz="1500" dirty="0" err="1">
                <a:solidFill>
                  <a:srgbClr val="8FE3D3"/>
                </a:solidFill>
                <a:latin typeface="Consolas"/>
              </a:rPr>
              <a:t>una</a:t>
            </a:r>
            <a:r>
              <a:rPr sz="1500" dirty="0">
                <a:solidFill>
                  <a:srgbClr val="8FE3D3"/>
                </a:solidFill>
                <a:latin typeface="Consolas"/>
              </a:rPr>
              <a:t> sola </a:t>
            </a:r>
            <a:r>
              <a:rPr sz="1500" dirty="0" err="1">
                <a:solidFill>
                  <a:srgbClr val="8FE3D3"/>
                </a:solidFill>
                <a:latin typeface="Consolas"/>
              </a:rPr>
              <a:t>vez</a:t>
            </a:r>
            <a:r>
              <a:rPr sz="1500" dirty="0">
                <a:solidFill>
                  <a:srgbClr val="8FE3D3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E9F4F2"/>
                </a:solidFill>
                <a:latin typeface="Consolas"/>
              </a:rPr>
              <a:t>git config --global user.name "Ana Pérez"</a:t>
            </a: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E9F4F2"/>
                </a:solidFill>
                <a:latin typeface="Consolas"/>
              </a:rPr>
              <a:t>git config --global </a:t>
            </a:r>
            <a:r>
              <a:rPr sz="1500" dirty="0" err="1">
                <a:solidFill>
                  <a:srgbClr val="E9F4F2"/>
                </a:solidFill>
                <a:latin typeface="Consolas"/>
              </a:rPr>
              <a:t>user.email</a:t>
            </a:r>
            <a:r>
              <a:rPr sz="1500" dirty="0">
                <a:solidFill>
                  <a:srgbClr val="E9F4F2"/>
                </a:solidFill>
                <a:latin typeface="Consolas"/>
              </a:rPr>
              <a:t> "ana@correo.com"</a:t>
            </a:r>
          </a:p>
          <a:p>
            <a:pPr>
              <a:spcAft>
                <a:spcPts val="200"/>
              </a:spcAft>
            </a:pPr>
            <a:endParaRPr sz="1500" dirty="0">
              <a:solidFill>
                <a:srgbClr val="E9F4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8FE3D3"/>
                </a:solidFill>
                <a:latin typeface="Consolas"/>
              </a:rPr>
              <a:t># 3. que la </a:t>
            </a:r>
            <a:r>
              <a:rPr sz="1500" dirty="0" err="1">
                <a:solidFill>
                  <a:srgbClr val="8FE3D3"/>
                </a:solidFill>
                <a:latin typeface="Consolas"/>
              </a:rPr>
              <a:t>rama</a:t>
            </a:r>
            <a:r>
              <a:rPr sz="1500" dirty="0">
                <a:solidFill>
                  <a:srgbClr val="8FE3D3"/>
                </a:solidFill>
                <a:latin typeface="Consolas"/>
              </a:rPr>
              <a:t> principal se </a:t>
            </a:r>
            <a:r>
              <a:rPr sz="1500" dirty="0" err="1">
                <a:solidFill>
                  <a:srgbClr val="8FE3D3"/>
                </a:solidFill>
                <a:latin typeface="Consolas"/>
              </a:rPr>
              <a:t>llame</a:t>
            </a:r>
            <a:r>
              <a:rPr sz="1500" dirty="0">
                <a:solidFill>
                  <a:srgbClr val="8FE3D3"/>
                </a:solidFill>
                <a:latin typeface="Consolas"/>
              </a:rPr>
              <a:t> main</a:t>
            </a:r>
          </a:p>
          <a:p>
            <a:pPr>
              <a:spcAft>
                <a:spcPts val="200"/>
              </a:spcAft>
            </a:pPr>
            <a:r>
              <a:rPr lang="en-US" sz="1500" dirty="0">
                <a:solidFill>
                  <a:srgbClr val="E9F4F2"/>
                </a:solidFill>
                <a:latin typeface="Consolas"/>
              </a:rPr>
              <a:t>git config --global </a:t>
            </a:r>
            <a:r>
              <a:rPr lang="en-US" sz="1500" dirty="0" err="1">
                <a:solidFill>
                  <a:srgbClr val="E9F4F2"/>
                </a:solidFill>
                <a:latin typeface="Consolas"/>
              </a:rPr>
              <a:t>init.defaultBranch</a:t>
            </a:r>
            <a:r>
              <a:rPr lang="en-US" sz="1500" dirty="0">
                <a:solidFill>
                  <a:srgbClr val="E9F4F2"/>
                </a:solidFill>
                <a:latin typeface="Consolas"/>
              </a:rPr>
              <a:t> main</a:t>
            </a:r>
          </a:p>
          <a:p>
            <a:pPr>
              <a:spcAft>
                <a:spcPts val="200"/>
              </a:spcAft>
            </a:pPr>
            <a:endParaRPr sz="1500" dirty="0">
              <a:solidFill>
                <a:srgbClr val="E9F4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8FE3D3"/>
                </a:solidFill>
                <a:latin typeface="Consolas"/>
              </a:rPr>
              <a:t># 4. </a:t>
            </a:r>
            <a:r>
              <a:rPr sz="1500" dirty="0" err="1">
                <a:solidFill>
                  <a:srgbClr val="8FE3D3"/>
                </a:solidFill>
                <a:latin typeface="Consolas"/>
              </a:rPr>
              <a:t>revisar</a:t>
            </a:r>
            <a:endParaRPr sz="1500" dirty="0">
              <a:solidFill>
                <a:srgbClr val="8FE3D3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E9F4F2"/>
                </a:solidFill>
                <a:latin typeface="Consolas"/>
              </a:rPr>
              <a:t>git config --list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775704"/>
            <a:ext cx="4689113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1  ·  MI PRIMER REPOSITORIO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5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2C39A"/>
                </a:solidFill>
                <a:latin typeface="Consolas"/>
              </a:rPr>
              <a:t>EL MODELO 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Tres lugares donde puede estar un cambio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587" y="2743200"/>
            <a:ext cx="3246120" cy="192024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9467" y="301752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Directorio de trabajo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467" y="3749040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Tus archivos, tal como los editas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32707" y="3703320"/>
            <a:ext cx="640080" cy="0"/>
          </a:xfrm>
          <a:prstGeom prst="line">
            <a:avLst/>
          </a:prstGeom>
          <a:ln w="38100">
            <a:solidFill>
              <a:srgbClr val="BFEAE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72787" y="2743200"/>
            <a:ext cx="3246120" cy="1920240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55667" y="301752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Área de preparación (staging)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5667" y="3749040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Lo que vas a incluir en la próxima foto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18907" y="3703320"/>
            <a:ext cx="640080" cy="0"/>
          </a:xfrm>
          <a:prstGeom prst="line">
            <a:avLst/>
          </a:prstGeom>
          <a:ln w="38100">
            <a:solidFill>
              <a:srgbClr val="BFEAE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58987" y="2743200"/>
            <a:ext cx="3246120" cy="1920240"/>
          </a:xfrm>
          <a:prstGeom prst="roundRect">
            <a:avLst>
              <a:gd name="adj" fmla="val 6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1867" y="301752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012E33"/>
                </a:solidFill>
                <a:latin typeface="Cambria"/>
              </a:rPr>
              <a:t>Repositorio (.git)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1867" y="3749040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012E33"/>
                </a:solidFill>
                <a:latin typeface="Calibri"/>
              </a:rPr>
              <a:t>El historial: cada commit es una foto completa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5507" y="21945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BFEAE4"/>
                </a:solidFill>
                <a:latin typeface="Consolas"/>
              </a:rPr>
              <a:t>git add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1707" y="21945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BFEAE4"/>
                </a:solidFill>
                <a:latin typeface="Consolas"/>
              </a:rPr>
              <a:t>git commit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7492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2000" b="0" i="1" dirty="0">
                <a:solidFill>
                  <a:srgbClr val="BFEAE4"/>
                </a:solidFill>
                <a:latin typeface="Calibri"/>
              </a:rPr>
              <a:t>git status </a:t>
            </a:r>
            <a:r>
              <a:rPr sz="2000" b="0" i="1" dirty="0" err="1">
                <a:solidFill>
                  <a:srgbClr val="BFEAE4"/>
                </a:solidFill>
                <a:latin typeface="Calibri"/>
              </a:rPr>
              <a:t>te</a:t>
            </a:r>
            <a:r>
              <a:rPr sz="2000" b="0" i="1" dirty="0">
                <a:solidFill>
                  <a:srgbClr val="BFEAE4"/>
                </a:solidFill>
                <a:latin typeface="Calibri"/>
              </a:rPr>
              <a:t> dice, </a:t>
            </a:r>
            <a:r>
              <a:rPr sz="2000" b="0" i="1" dirty="0" err="1">
                <a:solidFill>
                  <a:srgbClr val="BFEAE4"/>
                </a:solidFill>
                <a:latin typeface="Calibri"/>
              </a:rPr>
              <a:t>en</a:t>
            </a:r>
            <a:r>
              <a:rPr sz="2000" b="0" i="1" dirty="0">
                <a:solidFill>
                  <a:srgbClr val="BFEAE4"/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rgbClr val="BFEAE4"/>
                </a:solidFill>
                <a:latin typeface="Calibri"/>
              </a:rPr>
              <a:t>todo</a:t>
            </a:r>
            <a:r>
              <a:rPr sz="2000" b="0" i="1" dirty="0">
                <a:solidFill>
                  <a:srgbClr val="BFEAE4"/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rgbClr val="BFEAE4"/>
                </a:solidFill>
                <a:latin typeface="Calibri"/>
              </a:rPr>
              <a:t>momento</a:t>
            </a:r>
            <a:r>
              <a:rPr sz="2000" b="0" i="1" dirty="0">
                <a:solidFill>
                  <a:srgbClr val="BFEAE4"/>
                </a:solidFill>
                <a:latin typeface="Calibri"/>
              </a:rPr>
              <a:t>, </a:t>
            </a:r>
            <a:r>
              <a:rPr sz="2000" b="0" i="1" dirty="0" err="1">
                <a:solidFill>
                  <a:srgbClr val="BFEAE4"/>
                </a:solidFill>
                <a:latin typeface="Calibri"/>
              </a:rPr>
              <a:t>en</a:t>
            </a:r>
            <a:r>
              <a:rPr sz="2000" b="0" i="1" dirty="0">
                <a:solidFill>
                  <a:srgbClr val="BFEAE4"/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rgbClr val="BFEAE4"/>
                </a:solidFill>
                <a:latin typeface="Calibri"/>
              </a:rPr>
              <a:t>cuál</a:t>
            </a:r>
            <a:r>
              <a:rPr sz="2000" b="0" i="1" dirty="0">
                <a:solidFill>
                  <a:srgbClr val="BFEAE4"/>
                </a:solidFill>
                <a:latin typeface="Calibri"/>
              </a:rPr>
              <a:t> de </a:t>
            </a:r>
            <a:r>
              <a:rPr sz="2000" b="0" i="1" dirty="0" err="1">
                <a:solidFill>
                  <a:srgbClr val="BFEAE4"/>
                </a:solidFill>
                <a:latin typeface="Calibri"/>
              </a:rPr>
              <a:t>los</a:t>
            </a:r>
            <a:r>
              <a:rPr sz="2000" b="0" i="1" dirty="0">
                <a:solidFill>
                  <a:srgbClr val="BFEAE4"/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rgbClr val="BFEAE4"/>
                </a:solidFill>
                <a:latin typeface="Calibri"/>
              </a:rPr>
              <a:t>tres</a:t>
            </a:r>
            <a:r>
              <a:rPr sz="2000" b="0" i="1" dirty="0">
                <a:solidFill>
                  <a:srgbClr val="BFEAE4"/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rgbClr val="BFEAE4"/>
                </a:solidFill>
                <a:latin typeface="Calibri"/>
              </a:rPr>
              <a:t>está</a:t>
            </a:r>
            <a:r>
              <a:rPr sz="2000" b="0" i="1" dirty="0">
                <a:solidFill>
                  <a:srgbClr val="BFEAE4"/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rgbClr val="BFEAE4"/>
                </a:solidFill>
                <a:latin typeface="Calibri"/>
              </a:rPr>
              <a:t>cada</a:t>
            </a:r>
            <a:r>
              <a:rPr sz="2000" b="0" i="1" dirty="0">
                <a:solidFill>
                  <a:srgbClr val="BFEAE4"/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rgbClr val="BFEAE4"/>
                </a:solidFill>
                <a:latin typeface="Calibri"/>
              </a:rPr>
              <a:t>archivo</a:t>
            </a:r>
            <a:r>
              <a:rPr sz="2000" b="0" i="1" dirty="0">
                <a:solidFill>
                  <a:srgbClr val="BFEAE4"/>
                </a:solidFill>
                <a:latin typeface="Calibri"/>
              </a:rPr>
              <a:t>.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2000" b="0" i="1" dirty="0">
                <a:solidFill>
                  <a:srgbClr val="BFEAE4"/>
                </a:solidFill>
                <a:latin typeface="Calibri"/>
              </a:rPr>
              <a:t>Si solo </a:t>
            </a:r>
            <a:r>
              <a:rPr sz="2000" b="0" i="1" dirty="0" err="1">
                <a:solidFill>
                  <a:srgbClr val="BFEAE4"/>
                </a:solidFill>
                <a:latin typeface="Calibri"/>
              </a:rPr>
              <a:t>aprendes</a:t>
            </a:r>
            <a:r>
              <a:rPr sz="2000" b="0" i="1" dirty="0">
                <a:solidFill>
                  <a:srgbClr val="BFEAE4"/>
                </a:solidFill>
                <a:latin typeface="Calibri"/>
              </a:rPr>
              <a:t> un </a:t>
            </a:r>
            <a:r>
              <a:rPr sz="2000" b="0" i="1" dirty="0" err="1">
                <a:solidFill>
                  <a:srgbClr val="BFEAE4"/>
                </a:solidFill>
                <a:latin typeface="Calibri"/>
              </a:rPr>
              <a:t>comando</a:t>
            </a:r>
            <a:r>
              <a:rPr sz="2000" b="0" i="1" dirty="0">
                <a:solidFill>
                  <a:srgbClr val="BFEAE4"/>
                </a:solidFill>
                <a:latin typeface="Calibri"/>
              </a:rPr>
              <a:t> hoy, que sea ese.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B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6775704"/>
            <a:ext cx="5626936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BFEAE4"/>
                </a:solidFill>
                <a:latin typeface="Consolas"/>
              </a:rPr>
              <a:t>GIT Y GITHUB  ·  SESIÓN 1  ·  MI PRIMER REPOSITORIO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C39A"/>
                </a:solidFill>
                <a:latin typeface="Consolas"/>
              </a:rPr>
              <a:t>6</a:t>
            </a:fld>
            <a:r>
              <a:rPr sz="1600">
                <a:solidFill>
                  <a:srgbClr val="BFEAE4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lipse 14">
            <a:extLst>
              <a:ext uri="{FF2B5EF4-FFF2-40B4-BE49-F238E27FC236}">
                <a16:creationId xmlns:a16="http://schemas.microsoft.com/office/drawing/2014/main" id="{3F491003-BA85-981E-CB71-8E7382C8901B}"/>
              </a:ext>
            </a:extLst>
          </p:cNvPr>
          <p:cNvSpPr/>
          <p:nvPr/>
        </p:nvSpPr>
        <p:spPr>
          <a:xfrm>
            <a:off x="1861457" y="5159829"/>
            <a:ext cx="2960914" cy="73805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EL CICLO BÁSICO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Cuatro comandos que vas a usar toda la vida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94960" cy="3912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 dirty="0">
                <a:solidFill>
                  <a:srgbClr val="028090"/>
                </a:solidFill>
                <a:latin typeface="Calibri"/>
              </a:rPr>
              <a:t>●  git </a:t>
            </a:r>
            <a:r>
              <a:rPr sz="1900" b="1" dirty="0" err="1">
                <a:solidFill>
                  <a:srgbClr val="028090"/>
                </a:solidFill>
                <a:latin typeface="Calibri"/>
              </a:rPr>
              <a:t>init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convierte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una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carpeta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en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repositorio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(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crea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la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carpeta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oculta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.git)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 dirty="0">
                <a:solidFill>
                  <a:srgbClr val="028090"/>
                </a:solidFill>
                <a:latin typeface="Calibri"/>
              </a:rPr>
              <a:t>●  git status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 ¿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qué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ha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cambiado</a:t>
            </a:r>
            <a:r>
              <a:rPr sz="1900" dirty="0">
                <a:solidFill>
                  <a:srgbClr val="1C2B2E"/>
                </a:solidFill>
                <a:latin typeface="Calibri"/>
              </a:rPr>
              <a:t>? ¿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qué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está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preparado</a:t>
            </a:r>
            <a:r>
              <a:rPr sz="1900" dirty="0">
                <a:solidFill>
                  <a:srgbClr val="1C2B2E"/>
                </a:solidFill>
                <a:latin typeface="Calibri"/>
              </a:rPr>
              <a:t>?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Úsalo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antes y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después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de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todo</a:t>
            </a:r>
            <a:endParaRPr sz="1900" dirty="0">
              <a:solidFill>
                <a:srgbClr val="1C2B2E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 dirty="0">
                <a:solidFill>
                  <a:srgbClr val="028090"/>
                </a:solidFill>
                <a:latin typeface="Calibri"/>
              </a:rPr>
              <a:t>●  git add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prepara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archivos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para la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próxima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foto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(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los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pasa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al staging)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 dirty="0">
                <a:solidFill>
                  <a:srgbClr val="028090"/>
                </a:solidFill>
                <a:latin typeface="Calibri"/>
              </a:rPr>
              <a:t>●  git commit -m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toma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la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foto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con un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mensaje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que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explique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el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cambio</a:t>
            </a:r>
            <a:endParaRPr lang="es-CO" sz="1900" dirty="0">
              <a:solidFill>
                <a:srgbClr val="1C2B2E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endParaRPr lang="es-CO" sz="1900" dirty="0">
              <a:solidFill>
                <a:schemeClr val="accent4">
                  <a:lumMod val="75000"/>
                </a:schemeClr>
              </a:solidFill>
              <a:latin typeface="Calibri"/>
            </a:endParaRPr>
          </a:p>
          <a:p>
            <a:pPr algn="ctr">
              <a:lnSpc>
                <a:spcPct val="108000"/>
              </a:lnSpc>
              <a:spcAft>
                <a:spcPts val="1200"/>
              </a:spcAft>
            </a:pPr>
            <a:r>
              <a:rPr lang="es-CO" sz="1900" b="1" dirty="0">
                <a:solidFill>
                  <a:schemeClr val="accent4">
                    <a:lumMod val="75000"/>
                  </a:schemeClr>
                </a:solidFill>
                <a:latin typeface="Calibri"/>
              </a:rPr>
              <a:t>CONVENTIONAL COMMIT</a:t>
            </a:r>
            <a:endParaRPr sz="1900" b="1" dirty="0">
              <a:solidFill>
                <a:schemeClr val="accent4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51960"/>
          </a:xfrm>
          <a:prstGeom prst="roundRect">
            <a:avLst>
              <a:gd name="adj" fmla="val 5000"/>
            </a:avLst>
          </a:prstGeom>
          <a:solidFill>
            <a:srgbClr val="1C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510528" y="1947672"/>
            <a:ext cx="128016" cy="12801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748272" y="1947672"/>
            <a:ext cx="128016" cy="128016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986016" y="1947672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8006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dirty="0">
                <a:solidFill>
                  <a:srgbClr val="E9F4F2"/>
                </a:solidFill>
                <a:latin typeface="Consolas"/>
              </a:rPr>
              <a:t>cd </a:t>
            </a:r>
            <a:r>
              <a:rPr sz="1500" dirty="0" err="1">
                <a:solidFill>
                  <a:srgbClr val="E9F4F2"/>
                </a:solidFill>
                <a:latin typeface="Consolas"/>
              </a:rPr>
              <a:t>mi_proyecto</a:t>
            </a:r>
            <a:endParaRPr sz="1500" dirty="0">
              <a:solidFill>
                <a:srgbClr val="E9F4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E9F4F2"/>
                </a:solidFill>
                <a:latin typeface="Consolas"/>
              </a:rPr>
              <a:t>git </a:t>
            </a:r>
            <a:r>
              <a:rPr sz="1500" dirty="0" err="1">
                <a:solidFill>
                  <a:srgbClr val="E9F4F2"/>
                </a:solidFill>
                <a:latin typeface="Consolas"/>
              </a:rPr>
              <a:t>init</a:t>
            </a:r>
            <a:endParaRPr sz="1500" dirty="0">
              <a:solidFill>
                <a:srgbClr val="E9F4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E9F4F2"/>
                </a:solidFill>
                <a:latin typeface="Consolas"/>
              </a:rPr>
              <a:t>git status</a:t>
            </a:r>
          </a:p>
          <a:p>
            <a:pPr>
              <a:spcAft>
                <a:spcPts val="200"/>
              </a:spcAft>
            </a:pPr>
            <a:endParaRPr sz="1500" dirty="0">
              <a:solidFill>
                <a:srgbClr val="E9F4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8FE3D3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8FE3D3"/>
                </a:solidFill>
                <a:latin typeface="Consolas"/>
              </a:rPr>
              <a:t>creo</a:t>
            </a:r>
            <a:r>
              <a:rPr sz="1500" dirty="0">
                <a:solidFill>
                  <a:srgbClr val="8FE3D3"/>
                </a:solidFill>
                <a:latin typeface="Consolas"/>
              </a:rPr>
              <a:t> o </a:t>
            </a:r>
            <a:r>
              <a:rPr sz="1500" dirty="0" err="1">
                <a:solidFill>
                  <a:srgbClr val="8FE3D3"/>
                </a:solidFill>
                <a:latin typeface="Consolas"/>
              </a:rPr>
              <a:t>edito</a:t>
            </a:r>
            <a:r>
              <a:rPr sz="1500" dirty="0">
                <a:solidFill>
                  <a:srgbClr val="8FE3D3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8FE3D3"/>
                </a:solidFill>
                <a:latin typeface="Consolas"/>
              </a:rPr>
              <a:t>archivos</a:t>
            </a:r>
            <a:r>
              <a:rPr sz="1500" dirty="0">
                <a:solidFill>
                  <a:srgbClr val="8FE3D3"/>
                </a:solidFill>
                <a:latin typeface="Consolas"/>
              </a:rPr>
              <a:t>... y luego:</a:t>
            </a: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E9F4F2"/>
                </a:solidFill>
                <a:latin typeface="Consolas"/>
              </a:rPr>
              <a:t>git add app.py</a:t>
            </a: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E9F4F2"/>
                </a:solidFill>
                <a:latin typeface="Consolas"/>
              </a:rPr>
              <a:t>git add .          # </a:t>
            </a:r>
            <a:r>
              <a:rPr sz="1500" dirty="0" err="1">
                <a:solidFill>
                  <a:srgbClr val="E9F4F2"/>
                </a:solidFill>
                <a:latin typeface="Consolas"/>
              </a:rPr>
              <a:t>todo</a:t>
            </a:r>
            <a:r>
              <a:rPr sz="1500" dirty="0">
                <a:solidFill>
                  <a:srgbClr val="E9F4F2"/>
                </a:solidFill>
                <a:latin typeface="Consolas"/>
              </a:rPr>
              <a:t> lo que </a:t>
            </a:r>
            <a:r>
              <a:rPr sz="1500" dirty="0" err="1">
                <a:solidFill>
                  <a:srgbClr val="E9F4F2"/>
                </a:solidFill>
                <a:latin typeface="Consolas"/>
              </a:rPr>
              <a:t>cambió</a:t>
            </a:r>
            <a:endParaRPr sz="1500" dirty="0">
              <a:solidFill>
                <a:srgbClr val="E9F4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E9F4F2"/>
                </a:solidFill>
                <a:latin typeface="Consolas"/>
              </a:rPr>
              <a:t>git status         # </a:t>
            </a:r>
            <a:r>
              <a:rPr sz="1500" dirty="0" err="1">
                <a:solidFill>
                  <a:srgbClr val="E9F4F2"/>
                </a:solidFill>
                <a:latin typeface="Consolas"/>
              </a:rPr>
              <a:t>ahora</a:t>
            </a:r>
            <a:r>
              <a:rPr sz="1500" dirty="0">
                <a:solidFill>
                  <a:srgbClr val="E9F4F2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E9F4F2"/>
                </a:solidFill>
                <a:latin typeface="Consolas"/>
              </a:rPr>
              <a:t>aparece</a:t>
            </a:r>
            <a:r>
              <a:rPr sz="1500" dirty="0">
                <a:solidFill>
                  <a:srgbClr val="E9F4F2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E9F4F2"/>
                </a:solidFill>
                <a:latin typeface="Consolas"/>
              </a:rPr>
              <a:t>en</a:t>
            </a:r>
            <a:r>
              <a:rPr sz="1500" dirty="0">
                <a:solidFill>
                  <a:srgbClr val="E9F4F2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E9F4F2"/>
                </a:solidFill>
                <a:latin typeface="Consolas"/>
              </a:rPr>
              <a:t>verde</a:t>
            </a:r>
            <a:endParaRPr sz="1500" dirty="0">
              <a:solidFill>
                <a:srgbClr val="E9F4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endParaRPr sz="1500" dirty="0">
              <a:solidFill>
                <a:srgbClr val="E9F4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E9F4F2"/>
                </a:solidFill>
                <a:latin typeface="Consolas"/>
              </a:rPr>
              <a:t>git commit -m "</a:t>
            </a:r>
            <a:r>
              <a:rPr sz="1500" dirty="0" err="1">
                <a:solidFill>
                  <a:srgbClr val="E9F4F2"/>
                </a:solidFill>
                <a:latin typeface="Consolas"/>
              </a:rPr>
              <a:t>Agrega</a:t>
            </a:r>
            <a:r>
              <a:rPr sz="1500" dirty="0">
                <a:solidFill>
                  <a:srgbClr val="E9F4F2"/>
                </a:solidFill>
                <a:latin typeface="Consolas"/>
              </a:rPr>
              <a:t> carga de </a:t>
            </a:r>
            <a:r>
              <a:rPr sz="1500" dirty="0" err="1">
                <a:solidFill>
                  <a:srgbClr val="E9F4F2"/>
                </a:solidFill>
                <a:latin typeface="Consolas"/>
              </a:rPr>
              <a:t>datos</a:t>
            </a:r>
            <a:r>
              <a:rPr sz="1500" dirty="0">
                <a:solidFill>
                  <a:srgbClr val="E9F4F2"/>
                </a:solidFill>
                <a:latin typeface="Consolas"/>
              </a:rPr>
              <a:t> RMCAB"</a:t>
            </a: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E9F4F2"/>
                </a:solidFill>
                <a:latin typeface="Consolas"/>
              </a:rPr>
              <a:t>git status         # </a:t>
            </a:r>
            <a:r>
              <a:rPr sz="1500" dirty="0" err="1">
                <a:solidFill>
                  <a:srgbClr val="E9F4F2"/>
                </a:solidFill>
                <a:latin typeface="Consolas"/>
              </a:rPr>
              <a:t>limpio</a:t>
            </a:r>
            <a:r>
              <a:rPr sz="1500" dirty="0">
                <a:solidFill>
                  <a:srgbClr val="E9F4F2"/>
                </a:solidFill>
                <a:latin typeface="Consolas"/>
              </a:rPr>
              <a:t>: nada </a:t>
            </a:r>
            <a:r>
              <a:rPr sz="1500" dirty="0" err="1">
                <a:solidFill>
                  <a:srgbClr val="E9F4F2"/>
                </a:solidFill>
                <a:latin typeface="Consolas"/>
              </a:rPr>
              <a:t>pendiente</a:t>
            </a:r>
            <a:endParaRPr sz="1500" dirty="0">
              <a:solidFill>
                <a:srgbClr val="E9F4F2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75704"/>
            <a:ext cx="6564758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1  ·  MI PRIMER REPOSITORIO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7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GITHUB · 25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Publicar el repositorio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55648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Cuenta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67128"/>
            <a:ext cx="4572000" cy="651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github.com → Sign up. Usa un nombre de usuario profesional: va a ser tu portafolio.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2286000"/>
            <a:ext cx="25400" cy="560070"/>
          </a:xfrm>
          <a:prstGeom prst="rect">
            <a:avLst/>
          </a:prstGeom>
          <a:solidFill>
            <a:srgbClr val="5B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284607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818638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Repo en la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230118"/>
            <a:ext cx="4572000" cy="651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 dirty="0">
                <a:solidFill>
                  <a:srgbClr val="1C2B2E"/>
                </a:solidFill>
                <a:latin typeface="Calibri"/>
              </a:rPr>
              <a:t>New repository → </a:t>
            </a:r>
            <a:r>
              <a:rPr sz="1400" b="0" i="0" dirty="0" err="1">
                <a:solidFill>
                  <a:srgbClr val="1C2B2E"/>
                </a:solidFill>
                <a:latin typeface="Calibri"/>
              </a:rPr>
              <a:t>nombre</a:t>
            </a:r>
            <a:r>
              <a:rPr sz="1400" b="0" i="0" dirty="0">
                <a:solidFill>
                  <a:srgbClr val="1C2B2E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1C2B2E"/>
                </a:solidFill>
                <a:latin typeface="Calibri"/>
              </a:rPr>
              <a:t>público</a:t>
            </a:r>
            <a:r>
              <a:rPr sz="1400" b="0" i="0" dirty="0">
                <a:solidFill>
                  <a:srgbClr val="1C2B2E"/>
                </a:solidFill>
                <a:latin typeface="Calibri"/>
              </a:rPr>
              <a:t>, SIN </a:t>
            </a:r>
            <a:r>
              <a:rPr sz="1400" b="0" i="0" dirty="0" err="1">
                <a:solidFill>
                  <a:srgbClr val="1C2B2E"/>
                </a:solidFill>
                <a:latin typeface="Calibri"/>
              </a:rPr>
              <a:t>inicializar</a:t>
            </a:r>
            <a:r>
              <a:rPr sz="1400" b="0" i="0" dirty="0">
                <a:solidFill>
                  <a:srgbClr val="1C2B2E"/>
                </a:solidFill>
                <a:latin typeface="Calibri"/>
              </a:rPr>
              <a:t> con README (</a:t>
            </a:r>
            <a:r>
              <a:rPr sz="1400" b="0" i="0" dirty="0" err="1">
                <a:solidFill>
                  <a:srgbClr val="1C2B2E"/>
                </a:solidFill>
                <a:latin typeface="Calibri"/>
              </a:rPr>
              <a:t>ya</a:t>
            </a:r>
            <a:r>
              <a:rPr sz="1400" b="0" i="0" dirty="0">
                <a:solidFill>
                  <a:srgbClr val="1C2B2E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C2B2E"/>
                </a:solidFill>
                <a:latin typeface="Calibri"/>
              </a:rPr>
              <a:t>tenemos</a:t>
            </a:r>
            <a:r>
              <a:rPr sz="1400" b="0" i="0" dirty="0">
                <a:solidFill>
                  <a:srgbClr val="1C2B2E"/>
                </a:solidFill>
                <a:latin typeface="Calibri"/>
              </a:rPr>
              <a:t> uno local).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" y="3348990"/>
            <a:ext cx="25400" cy="560070"/>
          </a:xfrm>
          <a:prstGeom prst="rect">
            <a:avLst/>
          </a:prstGeom>
          <a:solidFill>
            <a:srgbClr val="5B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390906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881628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Conectar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293108"/>
            <a:ext cx="4572000" cy="651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C2B2E"/>
                </a:solidFill>
                <a:latin typeface="Calibri"/>
              </a:rPr>
              <a:t>Copiar</a:t>
            </a:r>
            <a:r>
              <a:rPr sz="1400" b="0" i="0" dirty="0">
                <a:solidFill>
                  <a:srgbClr val="1C2B2E"/>
                </a:solidFill>
                <a:latin typeface="Calibri"/>
              </a:rPr>
              <a:t> la URL HTTPS del repo y </a:t>
            </a:r>
            <a:r>
              <a:rPr sz="1400" b="0" i="0" dirty="0" err="1">
                <a:solidFill>
                  <a:srgbClr val="1C2B2E"/>
                </a:solidFill>
                <a:latin typeface="Calibri"/>
              </a:rPr>
              <a:t>decirle</a:t>
            </a:r>
            <a:r>
              <a:rPr sz="1400" b="0" i="0" dirty="0">
                <a:solidFill>
                  <a:srgbClr val="1C2B2E"/>
                </a:solidFill>
                <a:latin typeface="Calibri"/>
              </a:rPr>
              <a:t> a Git que ese es </a:t>
            </a:r>
            <a:r>
              <a:rPr sz="1400" b="0" i="0" dirty="0" err="1">
                <a:solidFill>
                  <a:srgbClr val="1C2B2E"/>
                </a:solidFill>
                <a:latin typeface="Calibri"/>
              </a:rPr>
              <a:t>el</a:t>
            </a:r>
            <a:r>
              <a:rPr sz="1400" b="0" i="0" dirty="0">
                <a:solidFill>
                  <a:srgbClr val="1C2B2E"/>
                </a:solidFill>
                <a:latin typeface="Calibri"/>
              </a:rPr>
              <a:t> '</a:t>
            </a:r>
            <a:r>
              <a:rPr sz="1400" b="0" i="0" dirty="0" err="1">
                <a:solidFill>
                  <a:srgbClr val="1C2B2E"/>
                </a:solidFill>
                <a:latin typeface="Calibri"/>
              </a:rPr>
              <a:t>origen</a:t>
            </a:r>
            <a:r>
              <a:rPr sz="1400" b="0" i="0" dirty="0">
                <a:solidFill>
                  <a:srgbClr val="1C2B2E"/>
                </a:solidFill>
                <a:latin typeface="Calibri"/>
              </a:rPr>
              <a:t>' </a:t>
            </a:r>
            <a:r>
              <a:rPr sz="1400" b="0" i="0" dirty="0" err="1">
                <a:solidFill>
                  <a:srgbClr val="1C2B2E"/>
                </a:solidFill>
                <a:latin typeface="Calibri"/>
              </a:rPr>
              <a:t>remoto</a:t>
            </a:r>
            <a:r>
              <a:rPr sz="1400" b="0" i="0" dirty="0">
                <a:solidFill>
                  <a:srgbClr val="1C2B2E"/>
                </a:solidFill>
                <a:latin typeface="Calibri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4411980"/>
            <a:ext cx="25400" cy="560070"/>
          </a:xfrm>
          <a:prstGeom prst="rect">
            <a:avLst/>
          </a:prstGeom>
          <a:solidFill>
            <a:srgbClr val="5B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0080" y="497205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944618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1474F"/>
                </a:solidFill>
                <a:latin typeface="Cambria"/>
              </a:rPr>
              <a:t>Subir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356098"/>
            <a:ext cx="4572000" cy="651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1C2B2E"/>
                </a:solidFill>
                <a:latin typeface="Calibri"/>
              </a:rPr>
              <a:t>git push sube tus commits. La primera vez lleva -u para que las siguientes sean solo 'git push'.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783080"/>
            <a:ext cx="5257800" cy="4251960"/>
          </a:xfrm>
          <a:prstGeom prst="roundRect">
            <a:avLst>
              <a:gd name="adj" fmla="val 5000"/>
            </a:avLst>
          </a:prstGeom>
          <a:solidFill>
            <a:srgbClr val="1C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10528" y="1947672"/>
            <a:ext cx="128016" cy="12801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748272" y="1947672"/>
            <a:ext cx="128016" cy="128016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986016" y="1947672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2240280"/>
            <a:ext cx="48006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dirty="0">
                <a:solidFill>
                  <a:srgbClr val="8FE3D3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8FE3D3"/>
                </a:solidFill>
                <a:latin typeface="Consolas"/>
              </a:rPr>
              <a:t>en</a:t>
            </a:r>
            <a:r>
              <a:rPr sz="1500" dirty="0">
                <a:solidFill>
                  <a:srgbClr val="8FE3D3"/>
                </a:solidFill>
                <a:latin typeface="Consolas"/>
              </a:rPr>
              <a:t> la </a:t>
            </a:r>
            <a:r>
              <a:rPr sz="1500" dirty="0" err="1">
                <a:solidFill>
                  <a:srgbClr val="8FE3D3"/>
                </a:solidFill>
                <a:latin typeface="Consolas"/>
              </a:rPr>
              <a:t>carpeta</a:t>
            </a:r>
            <a:r>
              <a:rPr sz="1500" dirty="0">
                <a:solidFill>
                  <a:srgbClr val="8FE3D3"/>
                </a:solidFill>
                <a:latin typeface="Consolas"/>
              </a:rPr>
              <a:t> del </a:t>
            </a:r>
            <a:r>
              <a:rPr sz="1500" dirty="0" err="1">
                <a:solidFill>
                  <a:srgbClr val="8FE3D3"/>
                </a:solidFill>
                <a:latin typeface="Consolas"/>
              </a:rPr>
              <a:t>proyecto</a:t>
            </a:r>
            <a:r>
              <a:rPr sz="1500" dirty="0">
                <a:solidFill>
                  <a:srgbClr val="8FE3D3"/>
                </a:solidFill>
                <a:latin typeface="Consolas"/>
              </a:rPr>
              <a:t>, </a:t>
            </a:r>
            <a:r>
              <a:rPr sz="1500" dirty="0" err="1">
                <a:solidFill>
                  <a:srgbClr val="8FE3D3"/>
                </a:solidFill>
                <a:latin typeface="Consolas"/>
              </a:rPr>
              <a:t>después</a:t>
            </a:r>
            <a:r>
              <a:rPr sz="1500" dirty="0">
                <a:solidFill>
                  <a:srgbClr val="8FE3D3"/>
                </a:solidFill>
                <a:latin typeface="Consolas"/>
              </a:rPr>
              <a:t> del primer commit</a:t>
            </a: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E9F4F2"/>
                </a:solidFill>
                <a:latin typeface="Consolas"/>
              </a:rPr>
              <a:t>git remote add origin https://github.com/usuario/mi-proyecto.git</a:t>
            </a:r>
          </a:p>
          <a:p>
            <a:pPr>
              <a:spcAft>
                <a:spcPts val="200"/>
              </a:spcAft>
            </a:pPr>
            <a:endParaRPr sz="1500" dirty="0">
              <a:solidFill>
                <a:srgbClr val="E9F4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E9F4F2"/>
                </a:solidFill>
                <a:latin typeface="Consolas"/>
              </a:rPr>
              <a:t>git branch -M main</a:t>
            </a: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E9F4F2"/>
                </a:solidFill>
                <a:latin typeface="Consolas"/>
              </a:rPr>
              <a:t>git push -u origin main</a:t>
            </a:r>
          </a:p>
          <a:p>
            <a:pPr>
              <a:spcAft>
                <a:spcPts val="200"/>
              </a:spcAft>
            </a:pPr>
            <a:endParaRPr sz="1500" dirty="0">
              <a:solidFill>
                <a:srgbClr val="E9F4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8FE3D3"/>
                </a:solidFill>
                <a:latin typeface="Consolas"/>
              </a:rPr>
              <a:t># las </a:t>
            </a:r>
            <a:r>
              <a:rPr sz="1500" dirty="0" err="1">
                <a:solidFill>
                  <a:srgbClr val="8FE3D3"/>
                </a:solidFill>
                <a:latin typeface="Consolas"/>
              </a:rPr>
              <a:t>siguientes</a:t>
            </a:r>
            <a:r>
              <a:rPr sz="1500" dirty="0">
                <a:solidFill>
                  <a:srgbClr val="8FE3D3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8FE3D3"/>
                </a:solidFill>
                <a:latin typeface="Consolas"/>
              </a:rPr>
              <a:t>veces</a:t>
            </a:r>
            <a:r>
              <a:rPr sz="1500" dirty="0">
                <a:solidFill>
                  <a:srgbClr val="8FE3D3"/>
                </a:solidFill>
                <a:latin typeface="Consolas"/>
              </a:rPr>
              <a:t>, solo:</a:t>
            </a:r>
          </a:p>
          <a:p>
            <a:pPr>
              <a:spcAft>
                <a:spcPts val="200"/>
              </a:spcAft>
            </a:pPr>
            <a:r>
              <a:rPr sz="1500" dirty="0">
                <a:solidFill>
                  <a:srgbClr val="E9F4F2"/>
                </a:solidFill>
                <a:latin typeface="Consolas"/>
              </a:rPr>
              <a:t>git push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775704"/>
            <a:ext cx="9378226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1  ·  MI PRIMER REPOSITORIO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8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VER LA HISTORIA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Cada commit queda registrado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9496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git log</a:t>
            </a:r>
            <a:r>
              <a:rPr sz="1900">
                <a:solidFill>
                  <a:srgbClr val="1C2B2E"/>
                </a:solidFill>
                <a:latin typeface="Calibri"/>
              </a:rPr>
              <a:t>  la lista de fotos: hash, autor, fecha, mensaje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git log --oneline</a:t>
            </a:r>
            <a:r>
              <a:rPr sz="1900">
                <a:solidFill>
                  <a:srgbClr val="1C2B2E"/>
                </a:solidFill>
                <a:latin typeface="Calibri"/>
              </a:rPr>
              <a:t>  la misma lista, una línea por commit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git diff</a:t>
            </a:r>
            <a:r>
              <a:rPr sz="1900">
                <a:solidFill>
                  <a:srgbClr val="1C2B2E"/>
                </a:solidFill>
                <a:latin typeface="Calibri"/>
              </a:rPr>
              <a:t>  qué cambió desde la última foto, línea por línea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●  git show</a:t>
            </a:r>
            <a:r>
              <a:rPr sz="1900">
                <a:solidFill>
                  <a:srgbClr val="1C2B2E"/>
                </a:solidFill>
                <a:latin typeface="Calibri"/>
              </a:rPr>
              <a:t>  el detalle de un commit específico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51960"/>
          </a:xfrm>
          <a:prstGeom prst="roundRect">
            <a:avLst>
              <a:gd name="adj" fmla="val 5000"/>
            </a:avLst>
          </a:prstGeom>
          <a:solidFill>
            <a:srgbClr val="1C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510528" y="1947672"/>
            <a:ext cx="128016" cy="12801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748272" y="1947672"/>
            <a:ext cx="128016" cy="128016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986016" y="1947672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8006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log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log --oneline</a:t>
            </a:r>
          </a:p>
          <a:p>
            <a:pPr>
              <a:spcAft>
                <a:spcPts val="200"/>
              </a:spcAft>
            </a:pPr>
            <a:endParaRPr sz="1500">
              <a:solidFill>
                <a:srgbClr val="E9F4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qué cambió y todavía no preparé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diff</a:t>
            </a:r>
          </a:p>
          <a:p>
            <a:pPr>
              <a:spcAft>
                <a:spcPts val="200"/>
              </a:spcAft>
            </a:pPr>
            <a:endParaRPr sz="1500">
              <a:solidFill>
                <a:srgbClr val="E9F4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qué está preparado para el próximo commit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diff --staged</a:t>
            </a:r>
          </a:p>
          <a:p>
            <a:pPr>
              <a:spcAft>
                <a:spcPts val="200"/>
              </a:spcAft>
            </a:pPr>
            <a:endParaRPr sz="1500">
              <a:solidFill>
                <a:srgbClr val="E9F4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ver un commit por su hash (bastan 7 caracteres)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git show a1b2c3d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75704"/>
            <a:ext cx="7502581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1  ·  MI PRIMER REPOSITORIO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9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QUÉ NO VA AL REPOSITORIO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El archivo .gitignore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9496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 dirty="0">
                <a:solidFill>
                  <a:srgbClr val="028090"/>
                </a:solidFill>
                <a:latin typeface="Calibri"/>
              </a:rPr>
              <a:t>●  Datos crudos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pesan</a:t>
            </a:r>
            <a:r>
              <a:rPr sz="1900" dirty="0">
                <a:solidFill>
                  <a:srgbClr val="1C2B2E"/>
                </a:solidFill>
                <a:latin typeface="Calibri"/>
              </a:rPr>
              <a:t>,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cambian</a:t>
            </a:r>
            <a:r>
              <a:rPr sz="1900" dirty="0">
                <a:solidFill>
                  <a:srgbClr val="1C2B2E"/>
                </a:solidFill>
                <a:latin typeface="Calibri"/>
              </a:rPr>
              <a:t>, y GitHub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bloquea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archivos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de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más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de 100 MB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 dirty="0">
                <a:solidFill>
                  <a:srgbClr val="028090"/>
                </a:solidFill>
                <a:latin typeface="Calibri"/>
              </a:rPr>
              <a:t>●  </a:t>
            </a:r>
            <a:r>
              <a:rPr sz="1900" b="1" dirty="0" err="1">
                <a:solidFill>
                  <a:srgbClr val="028090"/>
                </a:solidFill>
                <a:latin typeface="Calibri"/>
              </a:rPr>
              <a:t>Credenciales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 .env, tokens,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contraseñas</a:t>
            </a:r>
            <a:r>
              <a:rPr sz="1900" dirty="0">
                <a:solidFill>
                  <a:srgbClr val="1C2B2E"/>
                </a:solidFill>
                <a:latin typeface="Calibri"/>
              </a:rPr>
              <a:t>: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nunca</a:t>
            </a:r>
            <a:r>
              <a:rPr sz="1900" dirty="0">
                <a:solidFill>
                  <a:srgbClr val="1C2B2E"/>
                </a:solidFill>
                <a:latin typeface="Calibri"/>
              </a:rPr>
              <a:t>,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ni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en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repos privados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 dirty="0">
                <a:solidFill>
                  <a:srgbClr val="028090"/>
                </a:solidFill>
                <a:latin typeface="Calibri"/>
              </a:rPr>
              <a:t>●  </a:t>
            </a:r>
            <a:r>
              <a:rPr sz="1900" b="1" dirty="0" err="1">
                <a:solidFill>
                  <a:srgbClr val="028090"/>
                </a:solidFill>
                <a:latin typeface="Calibri"/>
              </a:rPr>
              <a:t>Basura</a:t>
            </a:r>
            <a:r>
              <a:rPr sz="1900" b="1" dirty="0">
                <a:solidFill>
                  <a:srgbClr val="028090"/>
                </a:solidFill>
                <a:latin typeface="Calibri"/>
              </a:rPr>
              <a:t> de Python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 __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pycache</a:t>
            </a:r>
            <a:r>
              <a:rPr sz="1900" dirty="0">
                <a:solidFill>
                  <a:srgbClr val="1C2B2E"/>
                </a:solidFill>
                <a:latin typeface="Calibri"/>
              </a:rPr>
              <a:t>__, .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venv</a:t>
            </a:r>
            <a:r>
              <a:rPr sz="1900" dirty="0">
                <a:solidFill>
                  <a:srgbClr val="1C2B2E"/>
                </a:solidFill>
                <a:latin typeface="Calibri"/>
              </a:rPr>
              <a:t>, .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ipynb_checkpoints</a:t>
            </a:r>
            <a:endParaRPr sz="1900" dirty="0">
              <a:solidFill>
                <a:srgbClr val="1C2B2E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 dirty="0">
                <a:solidFill>
                  <a:srgbClr val="028090"/>
                </a:solidFill>
                <a:latin typeface="Calibri"/>
              </a:rPr>
              <a:t>●  Se escribe </a:t>
            </a:r>
            <a:r>
              <a:rPr sz="1900" b="1" dirty="0" err="1">
                <a:solidFill>
                  <a:srgbClr val="028090"/>
                </a:solidFill>
                <a:latin typeface="Calibri"/>
              </a:rPr>
              <a:t>una</a:t>
            </a:r>
            <a:r>
              <a:rPr sz="1900" b="1" dirty="0">
                <a:solidFill>
                  <a:srgbClr val="028090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028090"/>
                </a:solidFill>
                <a:latin typeface="Calibri"/>
              </a:rPr>
              <a:t>vez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 y Git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ignora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esos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archivos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para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siempre</a:t>
            </a:r>
            <a:endParaRPr sz="1900" dirty="0">
              <a:solidFill>
                <a:srgbClr val="1C2B2E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51960"/>
          </a:xfrm>
          <a:prstGeom prst="roundRect">
            <a:avLst>
              <a:gd name="adj" fmla="val 5000"/>
            </a:avLst>
          </a:prstGeom>
          <a:solidFill>
            <a:srgbClr val="1C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510528" y="1947672"/>
            <a:ext cx="128016" cy="12801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748272" y="1947672"/>
            <a:ext cx="128016" cy="128016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986016" y="1947672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8006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.gitignore  (archivo de texto en la raíz del repo)</a:t>
            </a:r>
          </a:p>
          <a:p>
            <a:pPr>
              <a:spcAft>
                <a:spcPts val="200"/>
              </a:spcAft>
            </a:pPr>
            <a:endParaRPr sz="1500">
              <a:solidFill>
                <a:srgbClr val="8FE3D3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datos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data/raw/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*.parquet</a:t>
            </a:r>
          </a:p>
          <a:p>
            <a:pPr>
              <a:spcAft>
                <a:spcPts val="200"/>
              </a:spcAft>
            </a:pPr>
            <a:endParaRPr sz="1500">
              <a:solidFill>
                <a:srgbClr val="E9F4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secretos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.env</a:t>
            </a:r>
          </a:p>
          <a:p>
            <a:pPr>
              <a:spcAft>
                <a:spcPts val="200"/>
              </a:spcAft>
            </a:pPr>
            <a:endParaRPr sz="1500">
              <a:solidFill>
                <a:srgbClr val="E9F4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python y jupyter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__pycache__/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.venv/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.ipynb_checkpoints/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75704"/>
            <a:ext cx="8440404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1  ·  MI PRIMER REPOSITORIO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10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AUTENTICACIÓN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Git no acepta tu contraseña de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67512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Al primer push</a:t>
            </a:r>
            <a:r>
              <a:rPr sz="1700">
                <a:solidFill>
                  <a:srgbClr val="1C2B2E"/>
                </a:solidFill>
                <a:latin typeface="Calibri"/>
              </a:rPr>
              <a:t>  Git Credential Manager (viene con Git for Windows) abre el navegador para que inicies sesión en GitHub. Una sola vez.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Si la terminal pide 'Password'</a:t>
            </a:r>
            <a:r>
              <a:rPr sz="1700">
                <a:solidFill>
                  <a:srgbClr val="1C2B2E"/>
                </a:solidFill>
                <a:latin typeface="Calibri"/>
              </a:rPr>
              <a:t>  no es tu contraseña: es un token personal (PAT). GitHub → Settings → Developer settings → Personal access tokens.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El token se pega como contraseña</a:t>
            </a:r>
            <a:r>
              <a:rPr sz="1700">
                <a:solidFill>
                  <a:srgbClr val="1C2B2E"/>
                </a:solidFill>
                <a:latin typeface="Calibri"/>
              </a:rPr>
              <a:t>  y el gestor de credenciales lo recuerda.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028090"/>
                </a:solidFill>
                <a:latin typeface="Calibri"/>
              </a:rPr>
              <a:t>●  Alternativa: SSH</a:t>
            </a:r>
            <a:r>
              <a:rPr sz="1700">
                <a:solidFill>
                  <a:srgbClr val="1C2B2E"/>
                </a:solidFill>
                <a:latin typeface="Calibri"/>
              </a:rPr>
              <a:t>  más cómodo a largo plazo; lo vemos si sobra tiempo.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783080"/>
            <a:ext cx="3886200" cy="4160520"/>
          </a:xfrm>
          <a:prstGeom prst="roundRect">
            <a:avLst>
              <a:gd name="adj" fmla="val 6000"/>
            </a:avLst>
          </a:prstGeom>
          <a:solidFill>
            <a:srgbClr val="01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205740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02C39A"/>
                </a:solidFill>
                <a:latin typeface="Cambria"/>
              </a:rPr>
              <a:t>Error típico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651760"/>
            <a:ext cx="338328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remote: Support for password authentication was removed.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600" b="0" i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Significa exactamente eso: contraseña no; token sí.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775704"/>
            <a:ext cx="10316049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1  ·  MI PRIMER REPOSITORIO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11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0A896"/>
                </a:solidFill>
                <a:latin typeface="Consolas"/>
              </a:rPr>
              <a:t>README · EL BUENO LO HACEMOS EN LA SESIÓN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C2B2E"/>
                </a:solidFill>
                <a:latin typeface="Cambria"/>
              </a:rPr>
              <a:t>Tres líneas para empezar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9496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 dirty="0">
                <a:solidFill>
                  <a:srgbClr val="028090"/>
                </a:solidFill>
                <a:latin typeface="Calibri"/>
              </a:rPr>
              <a:t>●  </a:t>
            </a:r>
            <a:r>
              <a:rPr sz="1900" b="1" dirty="0" err="1">
                <a:solidFill>
                  <a:srgbClr val="028090"/>
                </a:solidFill>
                <a:latin typeface="Calibri"/>
              </a:rPr>
              <a:t>Qué</a:t>
            </a:r>
            <a:r>
              <a:rPr sz="1900" b="1" dirty="0">
                <a:solidFill>
                  <a:srgbClr val="028090"/>
                </a:solidFill>
                <a:latin typeface="Calibri"/>
              </a:rPr>
              <a:t> es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una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frase</a:t>
            </a:r>
            <a:r>
              <a:rPr sz="1900" dirty="0">
                <a:solidFill>
                  <a:srgbClr val="1C2B2E"/>
                </a:solidFill>
                <a:latin typeface="Calibri"/>
              </a:rPr>
              <a:t>: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qué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hace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este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proyecto</a:t>
            </a:r>
            <a:endParaRPr sz="1900" dirty="0">
              <a:solidFill>
                <a:srgbClr val="1C2B2E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 dirty="0">
                <a:solidFill>
                  <a:srgbClr val="028090"/>
                </a:solidFill>
                <a:latin typeface="Calibri"/>
              </a:rPr>
              <a:t>●  </a:t>
            </a:r>
            <a:r>
              <a:rPr sz="1900" b="1" dirty="0" err="1">
                <a:solidFill>
                  <a:srgbClr val="028090"/>
                </a:solidFill>
                <a:latin typeface="Calibri"/>
              </a:rPr>
              <a:t>Cómo</a:t>
            </a:r>
            <a:r>
              <a:rPr sz="1900" b="1" dirty="0">
                <a:solidFill>
                  <a:srgbClr val="028090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028090"/>
                </a:solidFill>
                <a:latin typeface="Calibri"/>
              </a:rPr>
              <a:t>correrlo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el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comando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exacto</a:t>
            </a:r>
            <a:endParaRPr sz="1900" dirty="0">
              <a:solidFill>
                <a:srgbClr val="1C2B2E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 dirty="0">
                <a:solidFill>
                  <a:srgbClr val="028090"/>
                </a:solidFill>
                <a:latin typeface="Calibri"/>
              </a:rPr>
              <a:t>●  </a:t>
            </a:r>
            <a:r>
              <a:rPr sz="1900" b="1" dirty="0" err="1">
                <a:solidFill>
                  <a:srgbClr val="028090"/>
                </a:solidFill>
                <a:latin typeface="Calibri"/>
              </a:rPr>
              <a:t>Quién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autor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y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curso</a:t>
            </a:r>
            <a:endParaRPr sz="1900" dirty="0">
              <a:solidFill>
                <a:srgbClr val="1C2B2E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900" b="1" dirty="0">
                <a:solidFill>
                  <a:srgbClr val="028090"/>
                </a:solidFill>
                <a:latin typeface="Calibri"/>
              </a:rPr>
              <a:t>●  Markdown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 #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título</a:t>
            </a:r>
            <a:r>
              <a:rPr sz="1900" dirty="0">
                <a:solidFill>
                  <a:srgbClr val="1C2B2E"/>
                </a:solidFill>
                <a:latin typeface="Calibri"/>
              </a:rPr>
              <a:t>, ##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sección</a:t>
            </a:r>
            <a:r>
              <a:rPr sz="1900" dirty="0">
                <a:solidFill>
                  <a:srgbClr val="1C2B2E"/>
                </a:solidFill>
                <a:latin typeface="Calibri"/>
              </a:rPr>
              <a:t>, `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código</a:t>
            </a:r>
            <a:r>
              <a:rPr sz="1900" dirty="0">
                <a:solidFill>
                  <a:srgbClr val="1C2B2E"/>
                </a:solidFill>
                <a:latin typeface="Calibri"/>
              </a:rPr>
              <a:t>`, </a:t>
            </a:r>
            <a:r>
              <a:rPr sz="1900" dirty="0" err="1">
                <a:solidFill>
                  <a:srgbClr val="1C2B2E"/>
                </a:solidFill>
                <a:latin typeface="Calibri"/>
              </a:rPr>
              <a:t>listas</a:t>
            </a:r>
            <a:r>
              <a:rPr sz="1900" dirty="0">
                <a:solidFill>
                  <a:srgbClr val="1C2B2E"/>
                </a:solidFill>
                <a:latin typeface="Calibri"/>
              </a:rPr>
              <a:t> con -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51960"/>
          </a:xfrm>
          <a:prstGeom prst="roundRect">
            <a:avLst>
              <a:gd name="adj" fmla="val 5000"/>
            </a:avLst>
          </a:prstGeom>
          <a:solidFill>
            <a:srgbClr val="1C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510528" y="1947672"/>
            <a:ext cx="128016" cy="12801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748272" y="1947672"/>
            <a:ext cx="128016" cy="128016"/>
          </a:xfrm>
          <a:prstGeom prst="ellipse">
            <a:avLst/>
          </a:prstGeom>
          <a:solidFill>
            <a:srgbClr val="FFC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986016" y="1947672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8006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 Aire Bogotá — dashboard de calidad del aire</a:t>
            </a:r>
          </a:p>
          <a:p>
            <a:pPr>
              <a:spcAft>
                <a:spcPts val="200"/>
              </a:spcAft>
            </a:pPr>
            <a:endParaRPr sz="1500">
              <a:solidFill>
                <a:srgbClr val="8FE3D3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Dashboard en Streamlit sobre PM2.5 en Bogotá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(datos RMCAB, 2025).</a:t>
            </a:r>
          </a:p>
          <a:p>
            <a:pPr>
              <a:spcAft>
                <a:spcPts val="200"/>
              </a:spcAft>
            </a:pPr>
            <a:endParaRPr sz="1500">
              <a:solidFill>
                <a:srgbClr val="E9F4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8FE3D3"/>
                </a:solidFill>
                <a:latin typeface="Consolas"/>
              </a:rPr>
              <a:t>## Cómo correrlo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pip install -r requirements.txt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streamlit run app.py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```</a:t>
            </a:r>
          </a:p>
          <a:p>
            <a:pPr>
              <a:spcAft>
                <a:spcPts val="200"/>
              </a:spcAft>
            </a:pPr>
            <a:endParaRPr sz="1500">
              <a:solidFill>
                <a:srgbClr val="E9F4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9F4F2"/>
                </a:solidFill>
                <a:latin typeface="Consolas"/>
              </a:rPr>
              <a:t>Ana Pérez · Visualización de Datos · EAN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75704"/>
            <a:ext cx="11253872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5B6E71"/>
                </a:solidFill>
                <a:latin typeface="Consolas"/>
              </a:rPr>
              <a:t>GIT Y GITHUB  ·  SESIÓN 1  ·  MI PRIMER REPOSITORIO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8090"/>
                </a:solidFill>
                <a:latin typeface="Consolas"/>
              </a:rPr>
              <a:t>12</a:t>
            </a:fld>
            <a:r>
              <a:rPr sz="1600">
                <a:solidFill>
                  <a:srgbClr val="5B6E71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2C39A"/>
                </a:solidFill>
                <a:latin typeface="Consolas"/>
              </a:rPr>
              <a:t>RETO DE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Sube el app.py de tu proyecto a GitHub con un README de tres líneas.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10881360" cy="2606040"/>
          </a:xfrm>
          <a:prstGeom prst="roundRect">
            <a:avLst>
              <a:gd name="adj" fmla="val 6000"/>
            </a:avLst>
          </a:prstGeom>
          <a:solidFill>
            <a:srgbClr val="012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2C39A"/>
                </a:solidFill>
                <a:latin typeface="Cambria"/>
              </a:rPr>
              <a:t>Nadie sale sin: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2412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●  ☐  git --version funciona y git config tiene tu nombre y correo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●  ☐  Un repositorio con al menos 2 commits (git log --oneline los muestra)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●  ☐  Un .gitignore que excluya data/ y .env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●  ☐  El repo visible en github.com/tu-usuario, con README</a:t>
            </a:r>
          </a:p>
        </p:txBody>
      </p:sp>
      <p:pic>
        <p:nvPicPr>
          <p:cNvPr id="9" name="Picture 8" descr="calendar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166360"/>
            <a:ext cx="6273511" cy="960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B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33679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BFEAE4"/>
                </a:solidFill>
                <a:latin typeface="Consolas"/>
              </a:rPr>
              <a:t>GIT Y GITHUB  ·  SESIÓN 1  ·  MI PRIMER REPOSITORIO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263640"/>
            <a:ext cx="13716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CA-9D36-3E3D6D6B9F44}" type="slidenum">
              <a:rPr lang="es-CO" sz="1600" b="1">
                <a:solidFill>
                  <a:srgbClr val="02C39A"/>
                </a:solidFill>
                <a:latin typeface="Consolas"/>
              </a:rPr>
              <a:t>13</a:t>
            </a:fld>
            <a:r>
              <a:rPr sz="1600">
                <a:solidFill>
                  <a:srgbClr val="BFEAE4"/>
                </a:solidFill>
                <a:latin typeface="Consolas"/>
              </a:rPr>
              <a:t>  /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2922</TotalTime>
  <Words>1672</Words>
  <Application>Microsoft Office PowerPoint</Application>
  <PresentationFormat>Panorámica</PresentationFormat>
  <Paragraphs>212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CAMILA SILVA GOMEZ</cp:lastModifiedBy>
  <cp:revision>1</cp:revision>
  <dcterms:created xsi:type="dcterms:W3CDTF">2013-01-27T09:14:16Z</dcterms:created>
  <dcterms:modified xsi:type="dcterms:W3CDTF">2026-09-24T16:07:51Z</dcterms:modified>
  <cp:category/>
</cp:coreProperties>
</file>