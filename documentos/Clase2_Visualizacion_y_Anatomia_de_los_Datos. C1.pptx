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77" r:id="rId7"/>
    <p:sldId id="261" r:id="rId8"/>
    <p:sldId id="262" r:id="rId9"/>
    <p:sldId id="285" r:id="rId10"/>
    <p:sldId id="263" r:id="rId11"/>
    <p:sldId id="264" r:id="rId12"/>
    <p:sldId id="265" r:id="rId13"/>
    <p:sldId id="286" r:id="rId14"/>
    <p:sldId id="266" r:id="rId15"/>
    <p:sldId id="287" r:id="rId16"/>
    <p:sldId id="267" r:id="rId17"/>
    <p:sldId id="276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12E33"/>
    <a:srgbClr val="028090"/>
    <a:srgbClr val="02C3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4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MILA SILVA GOMEZ" userId="744ea9ce-8dfe-4211-8140-fe1f94158012" providerId="ADAL" clId="{84A1E64D-658A-4546-8910-DB77A3392AA7}"/>
    <pc:docChg chg="delSld modSld">
      <pc:chgData name="CAMILA SILVA GOMEZ" userId="744ea9ce-8dfe-4211-8140-fe1f94158012" providerId="ADAL" clId="{84A1E64D-658A-4546-8910-DB77A3392AA7}" dt="2026-07-23T21:15:58.173" v="9" actId="47"/>
      <pc:docMkLst>
        <pc:docMk/>
      </pc:docMkLst>
      <pc:sldChg chg="del">
        <pc:chgData name="CAMILA SILVA GOMEZ" userId="744ea9ce-8dfe-4211-8140-fe1f94158012" providerId="ADAL" clId="{84A1E64D-658A-4546-8910-DB77A3392AA7}" dt="2026-07-23T21:15:58.173" v="9" actId="47"/>
        <pc:sldMkLst>
          <pc:docMk/>
          <pc:sldMk cId="0" sldId="268"/>
        </pc:sldMkLst>
      </pc:sldChg>
      <pc:sldChg chg="del">
        <pc:chgData name="CAMILA SILVA GOMEZ" userId="744ea9ce-8dfe-4211-8140-fe1f94158012" providerId="ADAL" clId="{84A1E64D-658A-4546-8910-DB77A3392AA7}" dt="2026-07-23T21:15:58.173" v="9" actId="47"/>
        <pc:sldMkLst>
          <pc:docMk/>
          <pc:sldMk cId="0" sldId="269"/>
        </pc:sldMkLst>
      </pc:sldChg>
      <pc:sldChg chg="del">
        <pc:chgData name="CAMILA SILVA GOMEZ" userId="744ea9ce-8dfe-4211-8140-fe1f94158012" providerId="ADAL" clId="{84A1E64D-658A-4546-8910-DB77A3392AA7}" dt="2026-07-23T21:15:58.173" v="9" actId="47"/>
        <pc:sldMkLst>
          <pc:docMk/>
          <pc:sldMk cId="0" sldId="270"/>
        </pc:sldMkLst>
      </pc:sldChg>
      <pc:sldChg chg="del">
        <pc:chgData name="CAMILA SILVA GOMEZ" userId="744ea9ce-8dfe-4211-8140-fe1f94158012" providerId="ADAL" clId="{84A1E64D-658A-4546-8910-DB77A3392AA7}" dt="2026-07-23T21:15:58.173" v="9" actId="47"/>
        <pc:sldMkLst>
          <pc:docMk/>
          <pc:sldMk cId="0" sldId="271"/>
        </pc:sldMkLst>
      </pc:sldChg>
      <pc:sldChg chg="del">
        <pc:chgData name="CAMILA SILVA GOMEZ" userId="744ea9ce-8dfe-4211-8140-fe1f94158012" providerId="ADAL" clId="{84A1E64D-658A-4546-8910-DB77A3392AA7}" dt="2026-07-23T21:15:58.173" v="9" actId="47"/>
        <pc:sldMkLst>
          <pc:docMk/>
          <pc:sldMk cId="0" sldId="272"/>
        </pc:sldMkLst>
      </pc:sldChg>
      <pc:sldChg chg="del">
        <pc:chgData name="CAMILA SILVA GOMEZ" userId="744ea9ce-8dfe-4211-8140-fe1f94158012" providerId="ADAL" clId="{84A1E64D-658A-4546-8910-DB77A3392AA7}" dt="2026-07-23T21:15:58.173" v="9" actId="47"/>
        <pc:sldMkLst>
          <pc:docMk/>
          <pc:sldMk cId="0" sldId="273"/>
        </pc:sldMkLst>
      </pc:sldChg>
      <pc:sldChg chg="del">
        <pc:chgData name="CAMILA SILVA GOMEZ" userId="744ea9ce-8dfe-4211-8140-fe1f94158012" providerId="ADAL" clId="{84A1E64D-658A-4546-8910-DB77A3392AA7}" dt="2026-07-23T21:15:58.173" v="9" actId="47"/>
        <pc:sldMkLst>
          <pc:docMk/>
          <pc:sldMk cId="0" sldId="274"/>
        </pc:sldMkLst>
      </pc:sldChg>
      <pc:sldChg chg="del">
        <pc:chgData name="CAMILA SILVA GOMEZ" userId="744ea9ce-8dfe-4211-8140-fe1f94158012" providerId="ADAL" clId="{84A1E64D-658A-4546-8910-DB77A3392AA7}" dt="2026-07-23T21:15:58.173" v="9" actId="47"/>
        <pc:sldMkLst>
          <pc:docMk/>
          <pc:sldMk cId="0" sldId="275"/>
        </pc:sldMkLst>
      </pc:sldChg>
      <pc:sldChg chg="modSp mod">
        <pc:chgData name="CAMILA SILVA GOMEZ" userId="744ea9ce-8dfe-4211-8140-fe1f94158012" providerId="ADAL" clId="{84A1E64D-658A-4546-8910-DB77A3392AA7}" dt="2026-07-23T21:15:35.745" v="8" actId="20577"/>
        <pc:sldMkLst>
          <pc:docMk/>
          <pc:sldMk cId="0" sldId="276"/>
        </pc:sldMkLst>
        <pc:spChg chg="mod">
          <ac:chgData name="CAMILA SILVA GOMEZ" userId="744ea9ce-8dfe-4211-8140-fe1f94158012" providerId="ADAL" clId="{84A1E64D-658A-4546-8910-DB77A3392AA7}" dt="2026-07-23T21:15:35.745" v="8" actId="20577"/>
          <ac:spMkLst>
            <pc:docMk/>
            <pc:sldMk cId="0" sldId="276"/>
            <ac:spMk id="9" creationId="{00000000-0000-0000-0000-000000000000}"/>
          </ac:spMkLst>
        </pc:spChg>
      </pc:sldChg>
      <pc:sldChg chg="del">
        <pc:chgData name="CAMILA SILVA GOMEZ" userId="744ea9ce-8dfe-4211-8140-fe1f94158012" providerId="ADAL" clId="{84A1E64D-658A-4546-8910-DB77A3392AA7}" dt="2026-07-23T21:15:58.173" v="9" actId="47"/>
        <pc:sldMkLst>
          <pc:docMk/>
          <pc:sldMk cId="0" sldId="278"/>
        </pc:sldMkLst>
      </pc:sldChg>
      <pc:sldChg chg="del">
        <pc:chgData name="CAMILA SILVA GOMEZ" userId="744ea9ce-8dfe-4211-8140-fe1f94158012" providerId="ADAL" clId="{84A1E64D-658A-4546-8910-DB77A3392AA7}" dt="2026-07-23T21:15:58.173" v="9" actId="47"/>
        <pc:sldMkLst>
          <pc:docMk/>
          <pc:sldMk cId="0" sldId="279"/>
        </pc:sldMkLst>
      </pc:sldChg>
      <pc:sldChg chg="del">
        <pc:chgData name="CAMILA SILVA GOMEZ" userId="744ea9ce-8dfe-4211-8140-fe1f94158012" providerId="ADAL" clId="{84A1E64D-658A-4546-8910-DB77A3392AA7}" dt="2026-07-23T21:15:58.173" v="9" actId="47"/>
        <pc:sldMkLst>
          <pc:docMk/>
          <pc:sldMk cId="0" sldId="280"/>
        </pc:sldMkLst>
      </pc:sldChg>
      <pc:sldChg chg="del">
        <pc:chgData name="CAMILA SILVA GOMEZ" userId="744ea9ce-8dfe-4211-8140-fe1f94158012" providerId="ADAL" clId="{84A1E64D-658A-4546-8910-DB77A3392AA7}" dt="2026-07-23T21:15:58.173" v="9" actId="47"/>
        <pc:sldMkLst>
          <pc:docMk/>
          <pc:sldMk cId="0" sldId="281"/>
        </pc:sldMkLst>
      </pc:sldChg>
      <pc:sldChg chg="del">
        <pc:chgData name="CAMILA SILVA GOMEZ" userId="744ea9ce-8dfe-4211-8140-fe1f94158012" providerId="ADAL" clId="{84A1E64D-658A-4546-8910-DB77A3392AA7}" dt="2026-07-23T21:15:58.173" v="9" actId="47"/>
        <pc:sldMkLst>
          <pc:docMk/>
          <pc:sldMk cId="0" sldId="282"/>
        </pc:sldMkLst>
      </pc:sldChg>
      <pc:sldChg chg="del">
        <pc:chgData name="CAMILA SILVA GOMEZ" userId="744ea9ce-8dfe-4211-8140-fe1f94158012" providerId="ADAL" clId="{84A1E64D-658A-4546-8910-DB77A3392AA7}" dt="2026-07-23T21:15:58.173" v="9" actId="47"/>
        <pc:sldMkLst>
          <pc:docMk/>
          <pc:sldMk cId="0" sldId="283"/>
        </pc:sldMkLst>
      </pc:sldChg>
      <pc:sldChg chg="del">
        <pc:chgData name="CAMILA SILVA GOMEZ" userId="744ea9ce-8dfe-4211-8140-fe1f94158012" providerId="ADAL" clId="{84A1E64D-658A-4546-8910-DB77A3392AA7}" dt="2026-07-23T21:15:58.173" v="9" actId="47"/>
        <pc:sldMkLst>
          <pc:docMk/>
          <pc:sldMk cId="0" sldId="284"/>
        </pc:sldMkLst>
      </pc:sldChg>
      <pc:sldChg chg="del">
        <pc:chgData name="CAMILA SILVA GOMEZ" userId="744ea9ce-8dfe-4211-8140-fe1f94158012" providerId="ADAL" clId="{84A1E64D-658A-4546-8910-DB77A3392AA7}" dt="2026-07-23T21:15:58.173" v="9" actId="47"/>
        <pc:sldMkLst>
          <pc:docMk/>
          <pc:sldMk cId="1144843451" sldId="288"/>
        </pc:sldMkLst>
      </pc:sldChg>
      <pc:sldChg chg="del">
        <pc:chgData name="CAMILA SILVA GOMEZ" userId="744ea9ce-8dfe-4211-8140-fe1f94158012" providerId="ADAL" clId="{84A1E64D-658A-4546-8910-DB77A3392AA7}" dt="2026-07-23T21:15:11.624" v="0" actId="47"/>
        <pc:sldMkLst>
          <pc:docMk/>
          <pc:sldMk cId="3516204135" sldId="28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2673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Apertura. Esta sesión unifica los dos bloques de introducción: por qué visualizamos datos (historia, roles, buenas prácticas) y qué son los datos (tipos, estructura tidy, cómo encontrarlos).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Enmarca el curso. La cifra del 32% justifica por qué este curso existe: hay muchos datos y poca lectura útil de ellos.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Actividad de apertura de 5 minutos. No corrijas todavía: la idea es que hablen desde su intuición y luego contrasten con los criterios de la clase.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dos roles son la columna vertebral del curso. Casi todos los errores de visualización vienen de usar un gráfico de exploración como si fuera de comunicación.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Transición a la parte histórica. Dos casos: Snow y Minard.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punto clave: Snow no tenía datos nuevos. Tenía los mismos datos, representados de otra forma. La representación fue el descubrimiento.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variables en una imagen. Compara con lo que hoy haríamos: probablemente seis gráficos separados. Menos claro, no más.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Vuelvan al gráfico que buscaron en la actividad inicial. ¿En cuál columna cae?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Bisagra de la clase. La parte I fue el porqué; la parte II es la materia prima.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 la jerarquía de arriba hacia abajo. Pide ejemplos al grupo en cada nivel antes de mostrar los siguientes.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Ordinal es el que más se equivoca la gente: se puede ordenar, pero no se puede promediar. Un promedio de tallas no significa nada.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Regla práctica: si preguntas "cuántos" es discreto; si preguntas "cuánto" es continuo.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Recuerda la entrega de la propuesta y la presentación de 60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scielo.cl/scielo.php?pid=S0716-10182007000400014&amp;script=sci_arttext" TargetMode="Externa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7" Type="http://schemas.openxmlformats.org/officeDocument/2006/relationships/hyperlink" Target="https://www.nationalgeographic.com/culture/article/charles-minard-cartography-infographics-history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emf"/><Relationship Id="rId5" Type="http://schemas.openxmlformats.org/officeDocument/2006/relationships/image" Target="../media/image24.emf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0"/>
            <a:ext cx="4510735" cy="6858000"/>
          </a:xfrm>
          <a:prstGeom prst="rect">
            <a:avLst/>
          </a:prstGeom>
          <a:solidFill>
            <a:srgbClr val="01474F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1371600"/>
            <a:ext cx="3383280" cy="3383280"/>
          </a:xfrm>
          <a:prstGeom prst="ellipse">
            <a:avLst/>
          </a:prstGeom>
          <a:solidFill>
            <a:srgbClr val="023B42"/>
          </a:solidFill>
          <a:ln/>
        </p:spPr>
      </p:sp>
      <p:sp>
        <p:nvSpPr>
          <p:cNvPr id="4" name="Shape 2"/>
          <p:cNvSpPr/>
          <p:nvPr/>
        </p:nvSpPr>
        <p:spPr>
          <a:xfrm>
            <a:off x="8915400" y="2057400"/>
            <a:ext cx="2011680" cy="2011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26060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691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1  ·  SESIÓN DE INTRODUCCIÓN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2960" y="210312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Visualización de Datos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la Anatomía de los Datos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822960" y="3977640"/>
            <a:ext cx="1005840" cy="4114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42062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F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visualizar datos? · Tipos, estructuras y la misión de encontrarlos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50749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 y Visualización de Datos   ·   23 de agosto de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1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Más allá de los gráficos bonitos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820095" y="411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BFEA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05968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 err="1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Bienvenidos</a:t>
            </a:r>
            <a:r>
              <a:rPr lang="en-US" sz="160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 Visualización de Datos. Hoy empezamos un viaje para aprender a convertir datos en insights.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81" y="302776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8620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1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Visión del curso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371600" y="315468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4A5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 no es solo dominar herramientas, sino aprender a pensar visualmente.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408736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81" y="4234769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40690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1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qué les sirve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371600" y="4361688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4A5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Adaptarse a innovaciones y usar la visualización para resolver problemas complejos y apoyar decisiones informadas.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529437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81" y="5441777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52760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1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1371600" y="5568696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4A5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Basado en Problemas (ABP) para guiar todo el semestre.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492240" y="1691640"/>
            <a:ext cx="5029200" cy="4434840"/>
          </a:xfrm>
          <a:prstGeom prst="rect">
            <a:avLst/>
          </a:prstGeom>
          <a:solidFill>
            <a:srgbClr val="012E33"/>
          </a:solidFill>
          <a:ln/>
        </p:spPr>
      </p:sp>
      <p:sp>
        <p:nvSpPr>
          <p:cNvPr id="19" name="Text 14"/>
          <p:cNvSpPr/>
          <p:nvPr/>
        </p:nvSpPr>
        <p:spPr>
          <a:xfrm>
            <a:off x="7040880" y="237744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"Solo el 32% de los datos disponibles en las empresas es realmente aprovechado."</a:t>
            </a:r>
            <a:endParaRPr lang="en-US" sz="2400" dirty="0"/>
          </a:p>
        </p:txBody>
      </p:sp>
      <p:sp>
        <p:nvSpPr>
          <p:cNvPr id="20" name="Shape 15"/>
          <p:cNvSpPr/>
          <p:nvPr/>
        </p:nvSpPr>
        <p:spPr>
          <a:xfrm>
            <a:off x="7040880" y="4251960"/>
            <a:ext cx="822960" cy="4114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Text 16"/>
          <p:cNvSpPr/>
          <p:nvPr/>
        </p:nvSpPr>
        <p:spPr>
          <a:xfrm>
            <a:off x="7040880" y="45262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BF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visualización es lo que transforma datos dispersos en insights accionables.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 ·  5 MINUTOS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empezar: a conversar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820095" y="411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0B41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29000" cy="3063240"/>
          </a:xfrm>
          <a:prstGeom prst="roundRect">
            <a:avLst>
              <a:gd name="adj" fmla="val 1791"/>
            </a:avLst>
          </a:prstGeom>
          <a:solidFill>
            <a:srgbClr val="0B3A40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233172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868" y="251002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154680" y="2286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1756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051560" y="3200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Busquen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51560" y="361188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BF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gráfico o visualización que hayan visto esta semana: noticias, redes sociales, un informe.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43400" y="1965960"/>
            <a:ext cx="3429000" cy="3063240"/>
          </a:xfrm>
          <a:prstGeom prst="roundRect">
            <a:avLst>
              <a:gd name="adj" fmla="val 1791"/>
            </a:avLst>
          </a:prstGeom>
          <a:solidFill>
            <a:srgbClr val="0B3A40"/>
          </a:solidFill>
          <a:ln/>
        </p:spPr>
      </p:sp>
      <p:sp>
        <p:nvSpPr>
          <p:cNvPr id="12" name="Shape 9"/>
          <p:cNvSpPr/>
          <p:nvPr/>
        </p:nvSpPr>
        <p:spPr>
          <a:xfrm>
            <a:off x="4754880" y="233172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3188" y="251002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858000" y="2286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1756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4754880" y="3200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Discutan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4754880" y="361188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BF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historia intenta contar? ¿Es efectivo? ¿Por qué sí o por qué no?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046720" y="1965960"/>
            <a:ext cx="3429000" cy="3063240"/>
          </a:xfrm>
          <a:prstGeom prst="roundRect">
            <a:avLst>
              <a:gd name="adj" fmla="val 1791"/>
            </a:avLst>
          </a:prstGeom>
          <a:solidFill>
            <a:srgbClr val="0B3A40"/>
          </a:solidFill>
          <a:ln/>
        </p:spPr>
      </p:sp>
      <p:sp>
        <p:nvSpPr>
          <p:cNvPr id="18" name="Shape 14"/>
          <p:cNvSpPr/>
          <p:nvPr/>
        </p:nvSpPr>
        <p:spPr>
          <a:xfrm>
            <a:off x="8458200" y="233172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508" y="2510028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561320" y="2286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1756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6"/>
          <p:cNvSpPr/>
          <p:nvPr/>
        </p:nvSpPr>
        <p:spPr>
          <a:xfrm>
            <a:off x="8458200" y="3200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Compartan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8458200" y="361188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BF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Preparen una conclusión rápida de una frase para presentar al grupo.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E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Guarden ese gráfico: lo van a volver a mirar al final de la clase con otros ojos.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1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y para qué sirve?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820095" y="411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BFEA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visualización de datos es la representación gráfica de información para aprovechar la capacidad del ojo humano de identificar patrones y tendencias.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5257800" cy="3246120"/>
          </a:xfrm>
          <a:prstGeom prst="roundRect">
            <a:avLst>
              <a:gd name="adj" fmla="val 1408"/>
            </a:avLst>
          </a:prstGeom>
          <a:solidFill>
            <a:srgbClr val="F4F8F8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29260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195" y="3116275"/>
            <a:ext cx="351130" cy="3511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38862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 1: Exploración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143000" y="42976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descubrir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43000" y="466344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5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diálogo con tus datos. Sirve para encontrar patrones, anomalías y relaciones que no conocías. La audiencia eres tú.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63640" y="2514600"/>
            <a:ext cx="5257800" cy="3246120"/>
          </a:xfrm>
          <a:prstGeom prst="roundRect">
            <a:avLst>
              <a:gd name="adj" fmla="val 1408"/>
            </a:avLst>
          </a:prstGeom>
          <a:solidFill>
            <a:srgbClr val="012E33"/>
          </a:solidFill>
          <a:ln/>
        </p:spPr>
      </p:sp>
      <p:sp>
        <p:nvSpPr>
          <p:cNvPr id="13" name="Shape 10"/>
          <p:cNvSpPr/>
          <p:nvPr/>
        </p:nvSpPr>
        <p:spPr>
          <a:xfrm>
            <a:off x="6766560" y="292608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6755" y="3116275"/>
            <a:ext cx="351130" cy="35113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766560" y="38862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 2: Comunicación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6766560" y="42976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explicar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766560" y="466344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BF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contar una historia. Sirve para presentar tus hallazgos de forma clara a una audiencia que no vio los datos crudos.</a:t>
            </a:r>
            <a:endParaRPr lang="en-US" sz="14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0BC0FC6C-037A-EF98-938E-4B9B215379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3322" y="2514601"/>
            <a:ext cx="2184558" cy="1884872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78476FBD-E61E-BC22-B38E-93D9A3FD3E4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6000"/>
          <a:stretch/>
        </p:blipFill>
        <p:spPr>
          <a:xfrm>
            <a:off x="9245293" y="2514600"/>
            <a:ext cx="2276147" cy="13441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1474F"/>
          </a:solidFill>
          <a:ln/>
        </p:spPr>
      </p:sp>
      <p:sp>
        <p:nvSpPr>
          <p:cNvPr id="3" name="Shape 1"/>
          <p:cNvSpPr/>
          <p:nvPr/>
        </p:nvSpPr>
        <p:spPr>
          <a:xfrm>
            <a:off x="1417320" y="2560320"/>
            <a:ext cx="1371600" cy="13716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3936" y="2916936"/>
            <a:ext cx="658368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0" y="23317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0" y="269748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Gigantes que nos enseñaron a ver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029200" y="402336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BF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gráficas clásicas a los dashboards interactivos. Conocer esta evolución nos permite apreciar los principios fundamentales que siguen vigentes hoy, sin importar la tecnología.</a:t>
            </a:r>
            <a:endParaRPr lang="en-US" sz="15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322ED53-5552-718D-BF29-C36E550DE4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8418"/>
          <a:stretch/>
        </p:blipFill>
        <p:spPr>
          <a:xfrm>
            <a:off x="0" y="0"/>
            <a:ext cx="4206240" cy="6858000"/>
          </a:xfrm>
          <a:prstGeom prst="rect">
            <a:avLst/>
          </a:prstGeom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9887EB47-A071-C175-5479-F6A7317C1F91}"/>
              </a:ext>
            </a:extLst>
          </p:cNvPr>
          <p:cNvSpPr/>
          <p:nvPr/>
        </p:nvSpPr>
        <p:spPr>
          <a:xfrm>
            <a:off x="10820095" y="411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BFEA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FD8B2C3-FF62-7BF3-C004-B1CF3B977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87D2FDC2-206F-448A-9C68-369E7700C92B}"/>
              </a:ext>
            </a:extLst>
          </p:cNvPr>
          <p:cNvSpPr/>
          <p:nvPr/>
        </p:nvSpPr>
        <p:spPr>
          <a:xfrm>
            <a:off x="10880480" y="24757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BFEA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439653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670560" y="1639019"/>
            <a:ext cx="4892040" cy="4960189"/>
          </a:xfrm>
          <a:prstGeom prst="rect">
            <a:avLst/>
          </a:prstGeom>
          <a:solidFill>
            <a:srgbClr val="012E33"/>
          </a:solidFill>
          <a:ln/>
        </p:spPr>
      </p:sp>
      <p:sp>
        <p:nvSpPr>
          <p:cNvPr id="2" name="Text 0"/>
          <p:cNvSpPr/>
          <p:nvPr/>
        </p:nvSpPr>
        <p:spPr>
          <a:xfrm>
            <a:off x="64008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1  ·  1854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1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John Snow y la epidemia de cólera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820095" y="411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BFEA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803127" y="1949564"/>
            <a:ext cx="590666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361" y="2104309"/>
            <a:ext cx="341035" cy="3410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60556" y="1820777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pozo de Broad Street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645397" y="5669937"/>
            <a:ext cx="3590838" cy="54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BF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mapa de puntos que cambió la salud pública </a:t>
            </a:r>
            <a:r>
              <a:rPr lang="en-US" sz="1600" dirty="0" err="1">
                <a:solidFill>
                  <a:srgbClr val="BF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moderna</a:t>
            </a:r>
            <a:r>
              <a:rPr lang="en-US" sz="1600" dirty="0">
                <a:solidFill>
                  <a:srgbClr val="BF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(1854)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943600" y="178826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943600" y="2117444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devastadora epidemia de cólera en Londres. La teoría dominante era que la enfermedad se transmitía por el aire.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943600" y="308670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943600" y="3415892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 no solo contó las muertes: las mapeó. Marcó cada caso con un punto y añadió la ubicación de los pozos de agua.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943600" y="438515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poder de ver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943600" y="471434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visualización reveló un patrón espacial innegable: las muertes se agrupaban alrededor del pozo de Broad Street.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865960" y="5892321"/>
            <a:ext cx="5577841" cy="504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visualización puede desafiar teorías establecidas y conducir a nuevos descubrimientos </a:t>
            </a:r>
            <a:r>
              <a:rPr lang="en-US" sz="1600" b="1" i="1" dirty="0" err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científicos</a:t>
            </a:r>
            <a:r>
              <a:rPr lang="en-US" sz="16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(</a:t>
            </a:r>
            <a:r>
              <a:rPr lang="en-US" sz="1600" b="1" i="1" dirty="0" err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Inicios</a:t>
            </a:r>
            <a:r>
              <a:rPr lang="en-US" sz="16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</a:t>
            </a:r>
            <a:r>
              <a:rPr lang="en-US" sz="1600" b="1" i="1" dirty="0" err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Epidemiologia</a:t>
            </a:r>
            <a:r>
              <a:rPr lang="en-US" sz="16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i="1" dirty="0" err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moderna</a:t>
            </a:r>
            <a:r>
              <a:rPr lang="en-US" sz="16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A4DFA85E-1BC6-DC0A-747B-3207373FF5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05" t="5032" r="2144" b="3270"/>
          <a:stretch/>
        </p:blipFill>
        <p:spPr>
          <a:xfrm>
            <a:off x="1645397" y="2274429"/>
            <a:ext cx="3590838" cy="3345267"/>
          </a:xfrm>
          <a:prstGeom prst="rect">
            <a:avLst/>
          </a:prstGeom>
        </p:spPr>
      </p:pic>
      <p:sp>
        <p:nvSpPr>
          <p:cNvPr id="20" name="CuadroTexto 19">
            <a:hlinkClick r:id="rId5"/>
            <a:extLst>
              <a:ext uri="{FF2B5EF4-FFF2-40B4-BE49-F238E27FC236}">
                <a16:creationId xmlns:a16="http://schemas.microsoft.com/office/drawing/2014/main" id="{7879815F-1383-E6A5-AC1C-168EB47E0C07}"/>
              </a:ext>
            </a:extLst>
          </p:cNvPr>
          <p:cNvSpPr txBox="1"/>
          <p:nvPr/>
        </p:nvSpPr>
        <p:spPr>
          <a:xfrm>
            <a:off x="670560" y="6208341"/>
            <a:ext cx="9748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600" dirty="0">
                <a:solidFill>
                  <a:schemeClr val="bg1"/>
                </a:solidFill>
              </a:rPr>
              <a:t>REF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>
            <a:extLst>
              <a:ext uri="{FF2B5EF4-FFF2-40B4-BE49-F238E27FC236}">
                <a16:creationId xmlns:a16="http://schemas.microsoft.com/office/drawing/2014/main" id="{651B109B-753C-1F09-79B5-E481572E0BF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t="48351"/>
          <a:stretch/>
        </p:blipFill>
        <p:spPr>
          <a:xfrm>
            <a:off x="455414" y="2063162"/>
            <a:ext cx="4106779" cy="363281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4008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2  ·  1869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marcha de Napoleón, de Charles Minard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820095" y="411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0B41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FE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Considerado por muchos como "el mejor gráfico estadístico jamás </a:t>
            </a:r>
            <a:r>
              <a:rPr lang="en-US" sz="1500" i="1" dirty="0" err="1">
                <a:solidFill>
                  <a:srgbClr val="8FE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creado</a:t>
            </a:r>
            <a:r>
              <a:rPr lang="en-US" sz="1500" i="1" dirty="0">
                <a:solidFill>
                  <a:srgbClr val="8FE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". (1869)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5229" y="2450445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422.000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65229" y="3000089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soldados iniciaron la campaña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5229" y="4026388"/>
            <a:ext cx="3017520" cy="293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regresaron con vida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23774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4199" y="2508199"/>
            <a:ext cx="241402" cy="24140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349240" y="2359152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obra maestra multidimensional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5349240" y="2651760"/>
            <a:ext cx="6172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BF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imagen codifica seis variables: tamaño del ejército, ubicación, dirección del movimiento, fechas y temperatura durante la retirada.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663440" y="34747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4199" y="3605479"/>
            <a:ext cx="241402" cy="24140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349240" y="3456432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historia en un vistazo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5349240" y="3749040"/>
            <a:ext cx="6172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BF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línea beige (ida) y la negra (vuelta) muestran dramáticamente el colapso del ejército, sin necesidad de una sola tabla.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663440" y="45720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4199" y="4702759"/>
            <a:ext cx="241402" cy="24140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349240" y="4553712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Lecciones para hoy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5349240" y="4846320"/>
            <a:ext cx="6172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BF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tecnología digital, Minard transmitió una historia compleja con claridad y emotividad: principios que siguen vigentes en la era de los datos masivos.</a:t>
            </a:r>
            <a:endParaRPr lang="en-US" sz="1300" dirty="0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777224D5-C54B-6C45-0A3D-21937C7F24E9}"/>
              </a:ext>
            </a:extLst>
          </p:cNvPr>
          <p:cNvSpPr/>
          <p:nvPr/>
        </p:nvSpPr>
        <p:spPr>
          <a:xfrm>
            <a:off x="865229" y="3460020"/>
            <a:ext cx="3017520" cy="724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10.000</a:t>
            </a:r>
            <a:endParaRPr lang="en-US" sz="4400" dirty="0">
              <a:solidFill>
                <a:srgbClr val="02C39A"/>
              </a:solidFill>
            </a:endParaRPr>
          </a:p>
        </p:txBody>
      </p:sp>
      <p:sp>
        <p:nvSpPr>
          <p:cNvPr id="24" name="CuadroTexto 23">
            <a:hlinkClick r:id="rId7"/>
            <a:extLst>
              <a:ext uri="{FF2B5EF4-FFF2-40B4-BE49-F238E27FC236}">
                <a16:creationId xmlns:a16="http://schemas.microsoft.com/office/drawing/2014/main" id="{056425AA-EEA3-1184-C1B8-600A66131A90}"/>
              </a:ext>
            </a:extLst>
          </p:cNvPr>
          <p:cNvSpPr txBox="1"/>
          <p:nvPr/>
        </p:nvSpPr>
        <p:spPr>
          <a:xfrm>
            <a:off x="360841" y="569597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>
                <a:solidFill>
                  <a:schemeClr val="bg1"/>
                </a:solidFill>
              </a:rPr>
              <a:t>REF</a:t>
            </a:r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ABA664B1-1F6D-1EDE-3E23-BCAB6A9CA28B}"/>
              </a:ext>
            </a:extLst>
          </p:cNvPr>
          <p:cNvSpPr/>
          <p:nvPr/>
        </p:nvSpPr>
        <p:spPr>
          <a:xfrm>
            <a:off x="5865960" y="5892321"/>
            <a:ext cx="5577841" cy="504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b="1" i="1" dirty="0">
              <a:solidFill>
                <a:srgbClr val="02C39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D8A550D-E858-944D-0392-A1C8447FE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52" y="17256"/>
            <a:ext cx="10824199" cy="5343592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708B8F4E-7240-3AED-B3B4-07DF096C7B43}"/>
              </a:ext>
            </a:extLst>
          </p:cNvPr>
          <p:cNvSpPr/>
          <p:nvPr/>
        </p:nvSpPr>
        <p:spPr>
          <a:xfrm>
            <a:off x="11185855" y="20444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BFEA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40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048612E-120A-617A-DB78-D2949500AF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685" b="7931"/>
          <a:stretch/>
        </p:blipFill>
        <p:spPr>
          <a:xfrm>
            <a:off x="5009148" y="4934306"/>
            <a:ext cx="7182852" cy="1906438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1168BB84-951D-2045-7267-8BAA776B3632}"/>
              </a:ext>
            </a:extLst>
          </p:cNvPr>
          <p:cNvSpPr/>
          <p:nvPr/>
        </p:nvSpPr>
        <p:spPr>
          <a:xfrm>
            <a:off x="288119" y="5719793"/>
            <a:ext cx="4361519" cy="504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</a:t>
            </a:r>
            <a:r>
              <a:rPr lang="en-US" sz="1600" b="1" i="1" dirty="0" err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</a:t>
            </a:r>
            <a:r>
              <a:rPr lang="en-US" sz="16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i="1" dirty="0" err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</a:t>
            </a:r>
            <a:r>
              <a:rPr lang="en-US" sz="16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i="1" dirty="0" err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</a:t>
            </a:r>
            <a:r>
              <a:rPr lang="en-US" sz="16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i="1" dirty="0" err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visualizar</a:t>
            </a:r>
            <a:r>
              <a:rPr lang="en-US" sz="16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600" b="1" i="1" dirty="0" err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</a:t>
            </a:r>
            <a:r>
              <a:rPr lang="en-US" sz="16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 que </a:t>
            </a:r>
            <a:r>
              <a:rPr lang="en-US" sz="1600" b="1" i="1" dirty="0" err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pasó</a:t>
            </a:r>
            <a:r>
              <a:rPr lang="en-US" sz="16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sin la </a:t>
            </a:r>
            <a:r>
              <a:rPr lang="en-US" sz="1600" b="1" i="1" dirty="0" err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necesidad</a:t>
            </a:r>
            <a:r>
              <a:rPr lang="en-US" sz="16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600" b="1" i="1" dirty="0" err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</a:t>
            </a:r>
            <a:r>
              <a:rPr lang="en-US" sz="16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i="1" dirty="0" err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6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i="1" dirty="0" err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</a:t>
            </a:r>
            <a:r>
              <a:rPr lang="en-US" sz="16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600" b="1" i="1" dirty="0" err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r>
              <a:rPr lang="en-US" sz="16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92064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68680" y="45424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1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mismo dato, dos historias muy diferentes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820095" y="411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BFEA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812800"/>
            <a:ext cx="5257800" cy="3100373"/>
          </a:xfrm>
          <a:prstGeom prst="roundRect">
            <a:avLst>
              <a:gd name="adj" fmla="val 1124"/>
            </a:avLst>
          </a:prstGeom>
          <a:solidFill>
            <a:srgbClr val="F4F8F8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914400"/>
            <a:ext cx="548640" cy="50965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926" y="1057047"/>
            <a:ext cx="263347" cy="2446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1024128"/>
            <a:ext cx="3840480" cy="297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 PRÁCTICA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7280" y="1645920"/>
            <a:ext cx="4434840" cy="339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01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Claro, honesto y fácil de comparar.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97280" y="2148840"/>
            <a:ext cx="4434840" cy="1731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5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que comienza en cero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5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Etiquetas claras y legibles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5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Colores con suficiente contraste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5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directa posible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63640" y="3566160"/>
            <a:ext cx="5257800" cy="3100373"/>
          </a:xfrm>
          <a:prstGeom prst="roundRect">
            <a:avLst>
              <a:gd name="adj" fmla="val 1124"/>
            </a:avLst>
          </a:prstGeom>
          <a:solidFill>
            <a:srgbClr val="012E33"/>
          </a:solidFill>
          <a:ln/>
        </p:spPr>
      </p:sp>
      <p:sp>
        <p:nvSpPr>
          <p:cNvPr id="12" name="Shape 9"/>
          <p:cNvSpPr/>
          <p:nvPr/>
        </p:nvSpPr>
        <p:spPr>
          <a:xfrm>
            <a:off x="6720840" y="3667760"/>
            <a:ext cx="548640" cy="509650"/>
          </a:xfrm>
          <a:prstGeom prst="ellipse">
            <a:avLst/>
          </a:prstGeom>
          <a:solidFill>
            <a:srgbClr val="C25B4E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3486" y="3810407"/>
            <a:ext cx="263347" cy="2446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06640" y="3777488"/>
            <a:ext cx="3840480" cy="297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2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 PRÁCTICA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720840" y="4399280"/>
            <a:ext cx="4434840" cy="339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Confuso, engañoso y difícil de interpretar.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6720840" y="4902200"/>
            <a:ext cx="4434840" cy="154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BF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Perspectiva 3D que distorsiona proporciones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BF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Colores similares dificultan diferenciar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BF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Exceso de efectos visuales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BF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Imposible hacer comparaciones precisas</a:t>
            </a:r>
            <a:endParaRPr lang="en-US" sz="140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44A6BA9D-005D-739B-F48D-96EBDFDD23E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53" b="13938"/>
          <a:stretch/>
        </p:blipFill>
        <p:spPr>
          <a:xfrm>
            <a:off x="1288047" y="3897971"/>
            <a:ext cx="3961865" cy="2503055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F26323AC-7C9F-AD02-754F-CCC35A5AD43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0659" t="27824" r="8349" b="17627"/>
          <a:stretch/>
        </p:blipFill>
        <p:spPr>
          <a:xfrm>
            <a:off x="7155180" y="1212101"/>
            <a:ext cx="3474720" cy="235405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1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85455" y="0"/>
            <a:ext cx="4206240" cy="6858000"/>
          </a:xfrm>
          <a:prstGeom prst="rect">
            <a:avLst/>
          </a:prstGeom>
          <a:solidFill>
            <a:srgbClr val="01474F"/>
          </a:solidFill>
          <a:ln/>
        </p:spPr>
      </p:sp>
      <p:sp>
        <p:nvSpPr>
          <p:cNvPr id="3" name="Shape 1"/>
          <p:cNvSpPr/>
          <p:nvPr/>
        </p:nvSpPr>
        <p:spPr>
          <a:xfrm>
            <a:off x="9400032" y="2560320"/>
            <a:ext cx="1371600" cy="13716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6648" y="2916936"/>
            <a:ext cx="658368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3317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269748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anatomía de los datos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22960" y="40233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 err="1">
                <a:solidFill>
                  <a:srgbClr val="BF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</a:t>
            </a:r>
            <a:r>
              <a:rPr lang="en-US" sz="1500" dirty="0">
                <a:solidFill>
                  <a:srgbClr val="BF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estructuras y la misión de encontrarlos. Antes de visualizar bien, hay que saber qué se tiene entre manos: el tipo de dato determina qué operaciones y qué gráficos son válidos.</a:t>
            </a:r>
            <a:endParaRPr lang="en-US" sz="150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87D8F910-7A8C-87AF-3D79-02C8DBFB3E11}"/>
              </a:ext>
            </a:extLst>
          </p:cNvPr>
          <p:cNvSpPr/>
          <p:nvPr/>
        </p:nvSpPr>
        <p:spPr>
          <a:xfrm>
            <a:off x="10820095" y="411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</a:rPr>
              <a:t>10</a:t>
            </a:r>
            <a:endParaRPr lang="en-US" sz="4000" dirty="0">
              <a:solidFill>
                <a:srgbClr val="02809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1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jerarquía de los datos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820095" y="411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BFEAE4"/>
                </a:solidFill>
                <a:latin typeface="Cambria" pitchFamily="34" charset="0"/>
                <a:ea typeface="Cambria" pitchFamily="34" charset="-122"/>
              </a:rPr>
              <a:t>11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41318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su forma más elemental hasta sus clasificaciones específicas, cada nivel nos permite entender mejor la información con la que trabajamos.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53128" y="1960792"/>
            <a:ext cx="3291840" cy="658368"/>
          </a:xfrm>
          <a:prstGeom prst="roundRect">
            <a:avLst>
              <a:gd name="adj" fmla="val 13889"/>
            </a:avLst>
          </a:prstGeom>
          <a:solidFill>
            <a:srgbClr val="012E33"/>
          </a:solidFill>
          <a:ln/>
        </p:spPr>
      </p:sp>
      <p:sp>
        <p:nvSpPr>
          <p:cNvPr id="7" name="Text 5"/>
          <p:cNvSpPr/>
          <p:nvPr/>
        </p:nvSpPr>
        <p:spPr>
          <a:xfrm>
            <a:off x="4453128" y="1943536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099048" y="2601904"/>
            <a:ext cx="0" cy="146304"/>
          </a:xfrm>
          <a:prstGeom prst="line">
            <a:avLst/>
          </a:prstGeom>
          <a:noFill/>
          <a:ln w="15875">
            <a:solidFill>
              <a:srgbClr val="C9D8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1860" y="2748208"/>
            <a:ext cx="5294376" cy="0"/>
          </a:xfrm>
          <a:prstGeom prst="line">
            <a:avLst/>
          </a:prstGeom>
          <a:noFill/>
          <a:ln w="15875">
            <a:solidFill>
              <a:srgbClr val="C9D8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1860" y="2748208"/>
            <a:ext cx="0" cy="201168"/>
          </a:xfrm>
          <a:prstGeom prst="line">
            <a:avLst/>
          </a:prstGeom>
          <a:noFill/>
          <a:ln w="15875">
            <a:solidFill>
              <a:srgbClr val="C9D8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46236" y="2748208"/>
            <a:ext cx="0" cy="201168"/>
          </a:xfrm>
          <a:prstGeom prst="line">
            <a:avLst/>
          </a:prstGeom>
          <a:noFill/>
          <a:ln w="15875">
            <a:solidFill>
              <a:srgbClr val="C9D8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34440" y="2949376"/>
            <a:ext cx="4434840" cy="914400"/>
          </a:xfrm>
          <a:prstGeom prst="roundRect">
            <a:avLst>
              <a:gd name="adj" fmla="val 6000"/>
            </a:avLst>
          </a:prstGeom>
          <a:solidFill>
            <a:srgbClr val="028090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3177976"/>
            <a:ext cx="457200" cy="457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2148840" y="31048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Cualitativos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2148840" y="3415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Describen cualidades o características.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537960" y="2949376"/>
            <a:ext cx="4434840" cy="914400"/>
          </a:xfrm>
          <a:prstGeom prst="roundRect">
            <a:avLst>
              <a:gd name="adj" fmla="val 6000"/>
            </a:avLst>
          </a:prstGeom>
          <a:solidFill>
            <a:srgbClr val="00A896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3177976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452360" y="31048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Cuantitativos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7452360" y="3415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Representan cantidades o mediciones.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3451860" y="3863776"/>
            <a:ext cx="0" cy="182880"/>
          </a:xfrm>
          <a:prstGeom prst="line">
            <a:avLst/>
          </a:prstGeom>
          <a:noFill/>
          <a:ln w="15875">
            <a:solidFill>
              <a:srgbClr val="C9D8D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331720" y="4046656"/>
            <a:ext cx="2057400" cy="0"/>
          </a:xfrm>
          <a:prstGeom prst="line">
            <a:avLst/>
          </a:prstGeom>
          <a:noFill/>
          <a:ln w="15875">
            <a:solidFill>
              <a:srgbClr val="C9D8D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2331720" y="4046656"/>
            <a:ext cx="0" cy="182880"/>
          </a:xfrm>
          <a:prstGeom prst="line">
            <a:avLst/>
          </a:prstGeom>
          <a:noFill/>
          <a:ln w="15875">
            <a:solidFill>
              <a:srgbClr val="C9D8D8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389120" y="4046656"/>
            <a:ext cx="0" cy="182880"/>
          </a:xfrm>
          <a:prstGeom prst="line">
            <a:avLst/>
          </a:prstGeom>
          <a:noFill/>
          <a:ln w="15875">
            <a:solidFill>
              <a:srgbClr val="C9D8D8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755380" y="3863776"/>
            <a:ext cx="0" cy="182880"/>
          </a:xfrm>
          <a:prstGeom prst="line">
            <a:avLst/>
          </a:prstGeom>
          <a:noFill/>
          <a:ln w="15875">
            <a:solidFill>
              <a:srgbClr val="C9D8D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7635240" y="4046656"/>
            <a:ext cx="2057400" cy="0"/>
          </a:xfrm>
          <a:prstGeom prst="line">
            <a:avLst/>
          </a:prstGeom>
          <a:noFill/>
          <a:ln w="15875">
            <a:solidFill>
              <a:srgbClr val="C9D8D8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635240" y="4046656"/>
            <a:ext cx="0" cy="182880"/>
          </a:xfrm>
          <a:prstGeom prst="line">
            <a:avLst/>
          </a:prstGeom>
          <a:noFill/>
          <a:ln w="15875">
            <a:solidFill>
              <a:srgbClr val="C9D8D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9692640" y="4046656"/>
            <a:ext cx="0" cy="182880"/>
          </a:xfrm>
          <a:prstGeom prst="line">
            <a:avLst/>
          </a:prstGeom>
          <a:noFill/>
          <a:ln w="15875">
            <a:solidFill>
              <a:srgbClr val="C9D8D8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1417320" y="4229536"/>
            <a:ext cx="1828800" cy="960120"/>
          </a:xfrm>
          <a:prstGeom prst="roundRect">
            <a:avLst>
              <a:gd name="adj" fmla="val 5714"/>
            </a:avLst>
          </a:prstGeom>
          <a:solidFill>
            <a:srgbClr val="F4F8F8"/>
          </a:solidFill>
          <a:ln/>
        </p:spPr>
      </p:sp>
      <p:sp>
        <p:nvSpPr>
          <p:cNvPr id="29" name="Text 25"/>
          <p:cNvSpPr/>
          <p:nvPr/>
        </p:nvSpPr>
        <p:spPr>
          <a:xfrm>
            <a:off x="1581912" y="4384984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Nominal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1581912" y="4686736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 sin orden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3474720" y="4229536"/>
            <a:ext cx="1828800" cy="960120"/>
          </a:xfrm>
          <a:prstGeom prst="roundRect">
            <a:avLst>
              <a:gd name="adj" fmla="val 5714"/>
            </a:avLst>
          </a:prstGeom>
          <a:solidFill>
            <a:srgbClr val="F4F8F8"/>
          </a:solidFill>
          <a:ln/>
        </p:spPr>
      </p:sp>
      <p:sp>
        <p:nvSpPr>
          <p:cNvPr id="32" name="Text 28"/>
          <p:cNvSpPr/>
          <p:nvPr/>
        </p:nvSpPr>
        <p:spPr>
          <a:xfrm>
            <a:off x="3639312" y="4384984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Ordinal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3639312" y="4686736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 con orden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6720840" y="4229536"/>
            <a:ext cx="1828800" cy="960120"/>
          </a:xfrm>
          <a:prstGeom prst="roundRect">
            <a:avLst>
              <a:gd name="adj" fmla="val 5714"/>
            </a:avLst>
          </a:prstGeom>
          <a:solidFill>
            <a:srgbClr val="F4F8F8"/>
          </a:solidFill>
          <a:ln/>
        </p:spPr>
      </p:sp>
      <p:sp>
        <p:nvSpPr>
          <p:cNvPr id="35" name="Text 31"/>
          <p:cNvSpPr/>
          <p:nvPr/>
        </p:nvSpPr>
        <p:spPr>
          <a:xfrm>
            <a:off x="6885432" y="4384984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Discreto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6885432" y="4686736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enteros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8778240" y="4229536"/>
            <a:ext cx="1828800" cy="960120"/>
          </a:xfrm>
          <a:prstGeom prst="roundRect">
            <a:avLst>
              <a:gd name="adj" fmla="val 5714"/>
            </a:avLst>
          </a:prstGeom>
          <a:solidFill>
            <a:srgbClr val="F4F8F8"/>
          </a:solidFill>
          <a:ln/>
        </p:spPr>
      </p:sp>
      <p:sp>
        <p:nvSpPr>
          <p:cNvPr id="38" name="Text 34"/>
          <p:cNvSpPr/>
          <p:nvPr/>
        </p:nvSpPr>
        <p:spPr>
          <a:xfrm>
            <a:off x="8942832" y="4384984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</a:t>
            </a:r>
            <a:endParaRPr lang="en-US" sz="1600" dirty="0"/>
          </a:p>
        </p:txBody>
      </p:sp>
      <p:sp>
        <p:nvSpPr>
          <p:cNvPr id="39" name="Text 35"/>
          <p:cNvSpPr/>
          <p:nvPr/>
        </p:nvSpPr>
        <p:spPr>
          <a:xfrm>
            <a:off x="8942832" y="4686736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valor</a:t>
            </a:r>
            <a:endParaRPr lang="en-US" sz="1200" dirty="0"/>
          </a:p>
        </p:txBody>
      </p:sp>
      <p:sp>
        <p:nvSpPr>
          <p:cNvPr id="40" name="Text 36"/>
          <p:cNvSpPr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tipo de dato no es un detalle técnico: define qué puedes calcular y qué gráfico tiene sentido.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0">
            <a:extLst>
              <a:ext uri="{FF2B5EF4-FFF2-40B4-BE49-F238E27FC236}">
                <a16:creationId xmlns:a16="http://schemas.microsoft.com/office/drawing/2014/main" id="{2A6473FB-882C-D80A-CF91-486B98376677}"/>
              </a:ext>
            </a:extLst>
          </p:cNvPr>
          <p:cNvSpPr/>
          <p:nvPr/>
        </p:nvSpPr>
        <p:spPr>
          <a:xfrm>
            <a:off x="0" y="-1"/>
            <a:ext cx="12192000" cy="1514401"/>
          </a:xfrm>
          <a:prstGeom prst="roundRect">
            <a:avLst>
              <a:gd name="adj" fmla="val 6000"/>
            </a:avLst>
          </a:prstGeom>
          <a:solidFill>
            <a:srgbClr val="028090"/>
          </a:solidFill>
          <a:ln/>
        </p:spPr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877F3E00-5572-B3E3-81F5-068892F6A1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088"/>
          <a:stretch/>
        </p:blipFill>
        <p:spPr>
          <a:xfrm>
            <a:off x="0" y="1514400"/>
            <a:ext cx="12186538" cy="5382784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D48F44F0-E728-4860-9F65-ADD6178B0C7F}"/>
              </a:ext>
            </a:extLst>
          </p:cNvPr>
          <p:cNvSpPr/>
          <p:nvPr/>
        </p:nvSpPr>
        <p:spPr>
          <a:xfrm>
            <a:off x="10820095" y="30438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BFEAE4"/>
                </a:solidFill>
                <a:latin typeface="Cambria" pitchFamily="34" charset="0"/>
                <a:ea typeface="Cambria" pitchFamily="34" charset="-122"/>
              </a:rPr>
              <a:t>12</a:t>
            </a:r>
            <a:endParaRPr lang="en-US" sz="4000" dirty="0"/>
          </a:p>
        </p:txBody>
      </p:sp>
      <p:sp>
        <p:nvSpPr>
          <p:cNvPr id="4" name="Text 11">
            <a:extLst>
              <a:ext uri="{FF2B5EF4-FFF2-40B4-BE49-F238E27FC236}">
                <a16:creationId xmlns:a16="http://schemas.microsoft.com/office/drawing/2014/main" id="{37BF5C5B-EB9B-CC46-AC80-A52368A4E6D7}"/>
              </a:ext>
            </a:extLst>
          </p:cNvPr>
          <p:cNvSpPr/>
          <p:nvPr/>
        </p:nvSpPr>
        <p:spPr>
          <a:xfrm>
            <a:off x="914399" y="155448"/>
            <a:ext cx="5181601" cy="697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Cualitativos</a:t>
            </a:r>
            <a:endParaRPr lang="en-US" sz="360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8FE4D94D-B6F8-DF73-1F06-9E192E20D7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75635"/>
            <a:ext cx="457200" cy="4572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F9EDC68-3FAA-032C-C641-467224EFF2E3}"/>
              </a:ext>
            </a:extLst>
          </p:cNvPr>
          <p:cNvSpPr txBox="1"/>
          <p:nvPr/>
        </p:nvSpPr>
        <p:spPr>
          <a:xfrm>
            <a:off x="914399" y="818867"/>
            <a:ext cx="6063449" cy="364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2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</a:t>
            </a:r>
            <a:r>
              <a:rPr lang="en-US" sz="18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cualidades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8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</a:t>
            </a:r>
            <a:r>
              <a:rPr lang="en-US" sz="18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numéricas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8512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1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cualitativos: el arte de clasificar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820095" y="411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BFEAE4"/>
                </a:solidFill>
                <a:latin typeface="Cambria" pitchFamily="34" charset="0"/>
                <a:ea typeface="Cambria" pitchFamily="34" charset="-122"/>
              </a:rPr>
              <a:t>13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57800" cy="4114800"/>
          </a:xfrm>
          <a:prstGeom prst="roundRect">
            <a:avLst>
              <a:gd name="adj" fmla="val 1111"/>
            </a:avLst>
          </a:prstGeom>
          <a:solidFill>
            <a:srgbClr val="F4F8F8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21031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701" y="22695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21762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1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Nominal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87452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 sin ningún orden natural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97280" y="3154680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97280" y="341985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dirty="0">
                <a:solidFill>
                  <a:srgbClr val="01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Contar, Agrupar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97280" y="4050792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97280" y="431596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dirty="0">
                <a:solidFill>
                  <a:srgbClr val="01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(tono), Forma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97280" y="4946904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97280" y="52120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dirty="0">
                <a:solidFill>
                  <a:srgbClr val="01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Países, Marcas, Género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263640" y="1783080"/>
            <a:ext cx="5257800" cy="4114800"/>
          </a:xfrm>
          <a:prstGeom prst="roundRect">
            <a:avLst>
              <a:gd name="adj" fmla="val 1111"/>
            </a:avLst>
          </a:prstGeom>
          <a:solidFill>
            <a:srgbClr val="012E33"/>
          </a:solidFill>
          <a:ln/>
        </p:spPr>
      </p:sp>
      <p:sp>
        <p:nvSpPr>
          <p:cNvPr id="17" name="Shape 14"/>
          <p:cNvSpPr/>
          <p:nvPr/>
        </p:nvSpPr>
        <p:spPr>
          <a:xfrm>
            <a:off x="6720840" y="21031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7261" y="2269541"/>
            <a:ext cx="307238" cy="30723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498080" y="21762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Ordinal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749808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F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 con un orden implícito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720840" y="3154680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720840" y="341985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Ordenar, Mediana, Percentiles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720840" y="4050792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6720840" y="431596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posicional, Escalas de color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6720840" y="4946904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6720840" y="52120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satisfacción, Tallas (S, M, L)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3">
            <a:extLst>
              <a:ext uri="{FF2B5EF4-FFF2-40B4-BE49-F238E27FC236}">
                <a16:creationId xmlns:a16="http://schemas.microsoft.com/office/drawing/2014/main" id="{C02CA1C6-1E19-CAE7-8D53-E44F3F4C2C42}"/>
              </a:ext>
            </a:extLst>
          </p:cNvPr>
          <p:cNvSpPr/>
          <p:nvPr/>
        </p:nvSpPr>
        <p:spPr>
          <a:xfrm>
            <a:off x="0" y="0"/>
            <a:ext cx="12192000" cy="1654304"/>
          </a:xfrm>
          <a:prstGeom prst="roundRect">
            <a:avLst>
              <a:gd name="adj" fmla="val 6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s-CO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A559850-9F78-63DD-DEA5-E2AE17084A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713"/>
          <a:stretch/>
        </p:blipFill>
        <p:spPr>
          <a:xfrm>
            <a:off x="0" y="1654304"/>
            <a:ext cx="12192000" cy="5476682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23965AA8-9B16-F299-50C2-3CA1F4FB5877}"/>
              </a:ext>
            </a:extLst>
          </p:cNvPr>
          <p:cNvSpPr/>
          <p:nvPr/>
        </p:nvSpPr>
        <p:spPr>
          <a:xfrm>
            <a:off x="10820095" y="18155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BFEAE4"/>
                </a:solidFill>
                <a:latin typeface="Cambria" pitchFamily="34" charset="0"/>
                <a:ea typeface="Cambria" pitchFamily="34" charset="-122"/>
              </a:rPr>
              <a:t>14</a:t>
            </a:r>
            <a:endParaRPr lang="en-US" sz="4000" dirty="0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FB68627A-949E-77C6-6567-A4B121886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28600"/>
            <a:ext cx="457200" cy="457200"/>
          </a:xfrm>
          <a:prstGeom prst="rect">
            <a:avLst/>
          </a:prstGeom>
        </p:spPr>
      </p:pic>
      <p:sp>
        <p:nvSpPr>
          <p:cNvPr id="7" name="Text 14">
            <a:extLst>
              <a:ext uri="{FF2B5EF4-FFF2-40B4-BE49-F238E27FC236}">
                <a16:creationId xmlns:a16="http://schemas.microsoft.com/office/drawing/2014/main" id="{0F8C8861-D8D1-A6E1-DC07-C44D3620B8DE}"/>
              </a:ext>
            </a:extLst>
          </p:cNvPr>
          <p:cNvSpPr/>
          <p:nvPr/>
        </p:nvSpPr>
        <p:spPr>
          <a:xfrm>
            <a:off x="1005840" y="30175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Cuantitativos</a:t>
            </a:r>
            <a:endParaRPr lang="en-US" sz="19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29DBF96-C814-3143-DE23-AE0F4000344A}"/>
              </a:ext>
            </a:extLst>
          </p:cNvPr>
          <p:cNvSpPr txBox="1"/>
          <p:nvPr/>
        </p:nvSpPr>
        <p:spPr>
          <a:xfrm>
            <a:off x="914399" y="818867"/>
            <a:ext cx="6063449" cy="364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200"/>
              </a:lnSpc>
              <a:buNone/>
            </a:pPr>
            <a:r>
              <a:rPr lang="en-US" sz="18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Representan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cantidades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matemáticas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8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mediciones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precisas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DCFDF42D-252E-4446-C622-BF92E954C372}"/>
                  </a:ext>
                </a:extLst>
              </p:cNvPr>
              <p:cNvSpPr txBox="1"/>
              <p:nvPr/>
            </p:nvSpPr>
            <p:spPr>
              <a:xfrm>
                <a:off x="7795135" y="200738"/>
                <a:ext cx="1668405" cy="5927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CO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CO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s-CO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s-CO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s-CO" i="1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CO" i="1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s-CO" i="1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s-CO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a:rPr lang="es-CO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𝑎𝑐</m:t>
                              </m:r>
                            </m:e>
                          </m:rad>
                        </m:num>
                        <m:den>
                          <m:r>
                            <a:rPr lang="es-CO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CO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s-CO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DCFDF42D-252E-4446-C622-BF92E954C3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5135" y="200738"/>
                <a:ext cx="1668405" cy="59279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15028B7E-65AB-5F6E-6FD6-9023CBED2CAD}"/>
                  </a:ext>
                </a:extLst>
              </p:cNvPr>
              <p:cNvSpPr txBox="1"/>
              <p:nvPr/>
            </p:nvSpPr>
            <p:spPr>
              <a:xfrm>
                <a:off x="9924691" y="181550"/>
                <a:ext cx="895404" cy="8638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∭"/>
                          <m:limLoc m:val="undOvr"/>
                          <m:ctrlPr>
                            <a:rPr lang="es-CO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15028B7E-65AB-5F6E-6FD6-9023CBED2C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4691" y="181550"/>
                <a:ext cx="895404" cy="8638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9A9BA28C-B360-A77A-20C8-0489E4A81DB6}"/>
                  </a:ext>
                </a:extLst>
              </p:cNvPr>
              <p:cNvSpPr txBox="1"/>
              <p:nvPr/>
            </p:nvSpPr>
            <p:spPr>
              <a:xfrm>
                <a:off x="9214661" y="856867"/>
                <a:ext cx="472256" cy="67076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CO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9A9BA28C-B360-A77A-20C8-0489E4A81D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4661" y="856867"/>
                <a:ext cx="472256" cy="67076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77329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1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cuantitativos: el poder de medir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820095" y="411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BFEAE4"/>
                </a:solidFill>
                <a:latin typeface="Cambria" pitchFamily="34" charset="0"/>
                <a:ea typeface="Cambria" pitchFamily="34" charset="-122"/>
              </a:rPr>
              <a:t>15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57800" cy="4114800"/>
          </a:xfrm>
          <a:prstGeom prst="roundRect">
            <a:avLst>
              <a:gd name="adj" fmla="val 1111"/>
            </a:avLst>
          </a:prstGeom>
          <a:solidFill>
            <a:srgbClr val="012E33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21031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701" y="22695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21762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Discreto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87452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F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enteros, se cuentan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97280" y="3154680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97280" y="341985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Suma, Promedio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97280" y="4050792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97280" y="431596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de barras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97280" y="4946904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97280" y="52120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de hijos, # de productos vendidos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263640" y="1783080"/>
            <a:ext cx="5257800" cy="4114800"/>
          </a:xfrm>
          <a:prstGeom prst="roundRect">
            <a:avLst>
              <a:gd name="adj" fmla="val 1111"/>
            </a:avLst>
          </a:prstGeom>
          <a:solidFill>
            <a:srgbClr val="F4F8F8"/>
          </a:solidFill>
          <a:ln/>
        </p:spPr>
      </p:sp>
      <p:sp>
        <p:nvSpPr>
          <p:cNvPr id="17" name="Shape 14"/>
          <p:cNvSpPr/>
          <p:nvPr/>
        </p:nvSpPr>
        <p:spPr>
          <a:xfrm>
            <a:off x="6720840" y="21031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7261" y="2269541"/>
            <a:ext cx="307238" cy="30723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498080" y="21762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1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749808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valor dentro de un rango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720840" y="3154680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720840" y="341985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dirty="0">
                <a:solidFill>
                  <a:srgbClr val="01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720840" y="4050792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6720840" y="431596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dirty="0">
                <a:solidFill>
                  <a:srgbClr val="01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Ejes X/Y, Histogramas, Líneas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6720840" y="4946904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6720840" y="52120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dirty="0">
                <a:solidFill>
                  <a:srgbClr val="01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Ingresos, Altura, Temperatura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1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754880" cy="4754880"/>
          </a:xfrm>
          <a:prstGeom prst="ellipse">
            <a:avLst/>
          </a:prstGeom>
          <a:solidFill>
            <a:srgbClr val="01474F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4023360"/>
            <a:ext cx="4206240" cy="4206240"/>
          </a:xfrm>
          <a:prstGeom prst="ellipse">
            <a:avLst/>
          </a:prstGeom>
          <a:solidFill>
            <a:srgbClr val="01474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774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¿Preguntas?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868680" y="3703320"/>
            <a:ext cx="109728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977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F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Estoy aquí para resolver cualquier duda.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46177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" y="4760366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4709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E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Contacto: Por Canvas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1071</TotalTime>
  <Words>1290</Words>
  <Application>Microsoft Office PowerPoint</Application>
  <PresentationFormat>Panorámica</PresentationFormat>
  <Paragraphs>187</Paragraphs>
  <Slides>17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Cambria Math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CAMILA SILVA GOMEZ</cp:lastModifiedBy>
  <cp:revision>4</cp:revision>
  <dcterms:created xsi:type="dcterms:W3CDTF">2026-07-23T00:45:44Z</dcterms:created>
  <dcterms:modified xsi:type="dcterms:W3CDTF">2026-07-23T21:16:06Z</dcterms:modified>
</cp:coreProperties>
</file>