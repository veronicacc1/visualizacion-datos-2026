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1CF0A-436E-ECF9-55B5-8C20CC7A46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A3DF6B-F464-8AF3-3914-F9D281F7D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322209-E1AF-EE69-9CB1-968E1CB8E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9536-4F0B-482D-9EF6-649B5655146F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A302DE-D2EE-25C4-48CF-5C5387E1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1497AE-6A85-596C-E73C-5C2017612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1173-D185-4342-A2F2-E970EE16CE3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8864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B8074-C45C-678B-0ADA-21FAAB3F8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F8FCE7-C5C9-F42F-890B-C77D0D9DC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F29057-4911-B5C5-43BD-ADF46E6A5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9536-4F0B-482D-9EF6-649B5655146F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3A5055-AC5D-3BA9-291B-5CA65405F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E0A4C1-6B56-9EBA-6404-545EC793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1173-D185-4342-A2F2-E970EE16CE3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04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BD19E-9BC6-CAC8-65A4-85F141FB5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8AC24D-2742-E4DC-7A0F-97A00A56E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B5C24D-64F0-E58C-CD48-972539A35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9536-4F0B-482D-9EF6-649B5655146F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6323A5-6310-77BD-23C1-D62123A26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466FF4-1406-DCA2-5D03-45B08654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1173-D185-4342-A2F2-E970EE16CE3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7589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EC26D-AA1B-6F47-6AB1-64245F10B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7E9C28-CAB1-9EA6-0F86-F5AFD75447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278854-6840-BD7A-4BEE-F1D9F37E1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E5205ED-FBC5-CDEA-9389-88B4F43BD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9536-4F0B-482D-9EF6-649B5655146F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63EFA7-8C3B-14B2-7B3D-7B0AD13CC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AAA246-8B53-B103-C9A3-7EF828F62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1173-D185-4342-A2F2-E970EE16CE3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4648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03609-E01E-2E63-144E-C16874984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6B76CE-F14B-DB48-CB37-8C4BBA2AF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59C4A92-CEA4-73B0-65C7-5046A3FA1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2FBF63E-174F-1E50-D763-1791F6D6E2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0047614-7817-756F-21C1-C2638494D8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9E27C16-C9DD-DE68-DB20-4A8516D2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9536-4F0B-482D-9EF6-649B5655146F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C4958D5-53EB-9D76-10F1-869257846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F471EE5-B3EB-530A-C63E-2880D83C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1173-D185-4342-A2F2-E970EE16CE3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548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74532-7C4E-2D10-A912-508CD639A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4A4EE0A-C764-A155-C885-14636E198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9536-4F0B-482D-9EF6-649B5655146F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B6A612C-D0C4-2DA4-6DB4-D6CF3D1EE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CBA45B-AFF4-1718-9176-ABFA82EF2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1173-D185-4342-A2F2-E970EE16CE3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6228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C7417C0-8998-F371-6F17-CB7780D11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9536-4F0B-482D-9EF6-649B5655146F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F69B9E8-04AC-6A7A-B254-3A46B3ABA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2A6BF1-A1EC-4F9D-97DA-C19F41A1F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1173-D185-4342-A2F2-E970EE16CE3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7477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E50DF-36AD-C993-6359-C2C56A122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95AC35-C71C-1AF9-36AB-2CCFB750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3C5B45-2BA5-EACF-063E-221707242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B3FDD4-73CD-6546-F440-A1F145049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9536-4F0B-482D-9EF6-649B5655146F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A3F76B-304F-6283-FA6A-E56479973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304E90-C561-AE42-4AD8-EAE4AE6B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1173-D185-4342-A2F2-E970EE16CE3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405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445E53-164E-7EE2-5C86-625A56AD7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084E42-7E2F-4BA2-1FC7-0DF9EBABBF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3681EE-8704-A95D-F94D-C5F4C0298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1FB8EC-D74A-E1FB-6300-B7192B1F0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9536-4F0B-482D-9EF6-649B5655146F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012155-1F35-B7C9-F979-378821A8C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DFD2ED-73C6-7539-B93F-EE0C2304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1173-D185-4342-A2F2-E970EE16CE3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5680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A72D09-04EE-0104-52AA-651A7E70D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0DF081-4801-3D12-C79F-F0F803F2C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82EBCD-8E35-6C90-B65E-52262A7B3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9536-4F0B-482D-9EF6-649B5655146F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379CF9-0196-6D84-602F-8BB195234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F754EA-BD4A-91F2-1411-6C8F11CAC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1173-D185-4342-A2F2-E970EE16CE3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9634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CBF71D-53D7-8C68-51EA-D76EE8B8F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40F71AF-C5B6-346B-5AE0-A72C52C89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7104FC-5383-ED42-9B72-D4A589D04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9536-4F0B-482D-9EF6-649B5655146F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57098C-92E0-2442-4777-0679BC25A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903030-A149-98BC-7A21-C80D251B5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1173-D185-4342-A2F2-E970EE16CE3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7677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DA294C1-BF00-A63B-84D7-B3A93321B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F9C1E6-B624-4228-9D56-5E03BE591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F6A64C-0AD3-5926-673F-613F4ED7B6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99536-4F0B-482D-9EF6-649B5655146F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81476B-4D00-3F8E-7BF1-032D733022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DF3971-3848-A1BA-B808-4B4EF1471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2A1173-D185-4342-A2F2-E970EE16CE3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9947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6B5D6E6-8699-1BA2-CE51-670DD416027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800" y="0"/>
            <a:ext cx="45212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D1F914F-8400-7E2A-5B7E-7B1639047ECF}"/>
              </a:ext>
            </a:extLst>
          </p:cNvPr>
          <p:cNvSpPr txBox="1"/>
          <p:nvPr/>
        </p:nvSpPr>
        <p:spPr>
          <a:xfrm>
            <a:off x="812800" y="18161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C L A S E   4     ·     P A R T E   2   D E   2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0C59BB0-3FEB-C0AF-373C-9958737A7057}"/>
              </a:ext>
            </a:extLst>
          </p:cNvPr>
          <p:cNvSpPr txBox="1"/>
          <p:nvPr/>
        </p:nvSpPr>
        <p:spPr>
          <a:xfrm>
            <a:off x="812800" y="21844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4000" b="1">
                <a:solidFill>
                  <a:srgbClr val="FFFFFF"/>
                </a:solidFill>
                <a:latin typeface="Cambria" panose="02040503050406030204" pitchFamily="18" charset="0"/>
              </a:rPr>
              <a:t>El Ciclo de Vida</a:t>
            </a:r>
          </a:p>
          <a:p>
            <a:pPr>
              <a:lnSpc>
                <a:spcPct val="115000"/>
              </a:lnSpc>
            </a:pPr>
            <a:r>
              <a:rPr lang="es-MX" sz="4000" b="1">
                <a:solidFill>
                  <a:srgbClr val="FFFFFF"/>
                </a:solidFill>
                <a:latin typeface="Cambria" panose="02040503050406030204" pitchFamily="18" charset="0"/>
              </a:rPr>
              <a:t>de los Datos</a:t>
            </a:r>
            <a:endParaRPr lang="es-CO" sz="40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0F738A9-4DD0-14B0-4B00-7687EA5DBDA9}"/>
              </a:ext>
            </a:extLst>
          </p:cNvPr>
          <p:cNvSpPr/>
          <p:nvPr/>
        </p:nvSpPr>
        <p:spPr>
          <a:xfrm>
            <a:off x="812800" y="3962400"/>
            <a:ext cx="1016000" cy="50800"/>
          </a:xfrm>
          <a:prstGeom prst="rect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E128F4E-850F-28A8-3905-8FCD9D038244}"/>
              </a:ext>
            </a:extLst>
          </p:cNvPr>
          <p:cNvSpPr txBox="1"/>
          <p:nvPr/>
        </p:nvSpPr>
        <p:spPr>
          <a:xfrm>
            <a:off x="812800" y="42545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>
                <a:solidFill>
                  <a:srgbClr val="C3D6D8"/>
                </a:solidFill>
                <a:latin typeface="Calibri" panose="020F0502020204030204" pitchFamily="34" charset="0"/>
              </a:rPr>
              <a:t>Del análisis a la decisión · Etapas 4 a 8 del ciclo</a:t>
            </a:r>
            <a:endParaRPr lang="es-CO" sz="14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3BD6C47-DB8B-E7EF-B65D-7EC189F674B1}"/>
              </a:ext>
            </a:extLst>
          </p:cNvPr>
          <p:cNvSpPr txBox="1"/>
          <p:nvPr/>
        </p:nvSpPr>
        <p:spPr>
          <a:xfrm>
            <a:off x="812800" y="52070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00">
                <a:solidFill>
                  <a:srgbClr val="BFEAE4"/>
                </a:solidFill>
                <a:latin typeface="Calibri" panose="020F0502020204030204" pitchFamily="34" charset="0"/>
              </a:rPr>
              <a:t>Visualización de Datos  ·  Universidad EAN</a:t>
            </a:r>
            <a:endParaRPr lang="es-CO" sz="1100">
              <a:solidFill>
                <a:srgbClr val="BFEAE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744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3D08C22-6BB5-6A1A-E73B-632675606CB0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R E P A S O   R E L A M P A G O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EABB4CE-51DB-CF31-10E2-0DFB9360600F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¿Dónde quedamos?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2F6EFAE-9A0A-40F7-2AA2-8585DB67E370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02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4AD73B-D8B6-572A-983F-CA9C96C685B7}"/>
              </a:ext>
            </a:extLst>
          </p:cNvPr>
          <p:cNvSpPr txBox="1"/>
          <p:nvPr/>
        </p:nvSpPr>
        <p:spPr>
          <a:xfrm>
            <a:off x="850900" y="16256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>
                <a:solidFill>
                  <a:srgbClr val="5C6C6E"/>
                </a:solidFill>
                <a:latin typeface="Calibri" panose="020F0502020204030204" pitchFamily="34" charset="0"/>
              </a:rPr>
              <a:t>La sesión pasada dejamos los datos listos para trabajar. Estas fueron las tres etapas que recorrimos:</a:t>
            </a:r>
            <a:endParaRPr lang="es-CO" sz="14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F9EEBFB-42E9-0591-C948-D913F2984612}"/>
              </a:ext>
            </a:extLst>
          </p:cNvPr>
          <p:cNvSpPr/>
          <p:nvPr/>
        </p:nvSpPr>
        <p:spPr>
          <a:xfrm>
            <a:off x="850900" y="2184400"/>
            <a:ext cx="3403600" cy="20955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48E7EFA-12AC-C606-264C-5D2F0AFE699A}"/>
              </a:ext>
            </a:extLst>
          </p:cNvPr>
          <p:cNvSpPr/>
          <p:nvPr/>
        </p:nvSpPr>
        <p:spPr>
          <a:xfrm>
            <a:off x="1130300" y="2438400"/>
            <a:ext cx="431800" cy="4318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BBABF22-B27C-6773-584B-67BFB3BE0376}"/>
              </a:ext>
            </a:extLst>
          </p:cNvPr>
          <p:cNvSpPr txBox="1"/>
          <p:nvPr/>
        </p:nvSpPr>
        <p:spPr>
          <a:xfrm>
            <a:off x="1130300" y="3022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600" b="1">
                <a:solidFill>
                  <a:srgbClr val="012E33"/>
                </a:solidFill>
                <a:latin typeface="Cambria" panose="02040503050406030204" pitchFamily="18" charset="0"/>
              </a:rPr>
              <a:t>El problema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AFA8A5B-5D5E-06BC-08EC-89E8853EC100}"/>
              </a:ext>
            </a:extLst>
          </p:cNvPr>
          <p:cNvSpPr txBox="1"/>
          <p:nvPr/>
        </p:nvSpPr>
        <p:spPr>
          <a:xfrm>
            <a:off x="1130300" y="34290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Cuatro preguntas antes de tocar los datos. Y la pregunta buena: medible, acotada, comparable.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81D29C1-0754-A52D-578C-40BA5BD6BEC0}"/>
              </a:ext>
            </a:extLst>
          </p:cNvPr>
          <p:cNvSpPr/>
          <p:nvPr/>
        </p:nvSpPr>
        <p:spPr>
          <a:xfrm>
            <a:off x="4470400" y="2184400"/>
            <a:ext cx="3403600" cy="20955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578D985-5F43-85B9-16E0-63F4A6C96A11}"/>
              </a:ext>
            </a:extLst>
          </p:cNvPr>
          <p:cNvSpPr/>
          <p:nvPr/>
        </p:nvSpPr>
        <p:spPr>
          <a:xfrm>
            <a:off x="4749800" y="2438400"/>
            <a:ext cx="431800" cy="4318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8E1DBA5-7161-E268-9AE5-FCCF6747D713}"/>
              </a:ext>
            </a:extLst>
          </p:cNvPr>
          <p:cNvSpPr txBox="1"/>
          <p:nvPr/>
        </p:nvSpPr>
        <p:spPr>
          <a:xfrm>
            <a:off x="4749800" y="3022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600" b="1">
                <a:solidFill>
                  <a:srgbClr val="012E33"/>
                </a:solidFill>
                <a:latin typeface="Cambria" panose="02040503050406030204" pitchFamily="18" charset="0"/>
              </a:rPr>
              <a:t>Los datos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CC6A128-46FB-A048-3333-07161CD2BC6E}"/>
              </a:ext>
            </a:extLst>
          </p:cNvPr>
          <p:cNvSpPr txBox="1"/>
          <p:nvPr/>
        </p:nvSpPr>
        <p:spPr>
          <a:xfrm>
            <a:off x="4749800" y="34290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Cada fuente con su suciedad típica. Licencia, actualización, diccionario y cobertura.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5A69147-067F-A42E-B836-2459AC640DC0}"/>
              </a:ext>
            </a:extLst>
          </p:cNvPr>
          <p:cNvSpPr/>
          <p:nvPr/>
        </p:nvSpPr>
        <p:spPr>
          <a:xfrm>
            <a:off x="8089900" y="2184400"/>
            <a:ext cx="3403600" cy="20955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51F6F23-424A-369E-805E-B19349DA49AB}"/>
              </a:ext>
            </a:extLst>
          </p:cNvPr>
          <p:cNvSpPr/>
          <p:nvPr/>
        </p:nvSpPr>
        <p:spPr>
          <a:xfrm>
            <a:off x="8369300" y="2438400"/>
            <a:ext cx="431800" cy="4318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25BE118-4A22-0E5D-3E39-E3D88756AFC9}"/>
              </a:ext>
            </a:extLst>
          </p:cNvPr>
          <p:cNvSpPr txBox="1"/>
          <p:nvPr/>
        </p:nvSpPr>
        <p:spPr>
          <a:xfrm>
            <a:off x="8369300" y="3022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600" b="1">
                <a:solidFill>
                  <a:srgbClr val="012E33"/>
                </a:solidFill>
                <a:latin typeface="Cambria" panose="02040503050406030204" pitchFamily="18" charset="0"/>
              </a:rPr>
              <a:t>La limpieza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39678E3-E1F8-695D-965C-5670E6A4ED09}"/>
              </a:ext>
            </a:extLst>
          </p:cNvPr>
          <p:cNvSpPr txBox="1"/>
          <p:nvPr/>
        </p:nvSpPr>
        <p:spPr>
          <a:xfrm>
            <a:off x="8369300" y="34290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Duplicados, nulos, formatos e imposibles. Y la estructura tidy: una variable por columna.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BAD5FF2-F46D-03DB-E96D-E13F77C5EABF}"/>
              </a:ext>
            </a:extLst>
          </p:cNvPr>
          <p:cNvSpPr/>
          <p:nvPr/>
        </p:nvSpPr>
        <p:spPr>
          <a:xfrm>
            <a:off x="850900" y="4521200"/>
            <a:ext cx="10490200" cy="965200"/>
          </a:xfrm>
          <a:prstGeom prst="rect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37EE074-365E-4C8E-8E2C-2691D33D2431}"/>
              </a:ext>
            </a:extLst>
          </p:cNvPr>
          <p:cNvSpPr txBox="1"/>
          <p:nvPr/>
        </p:nvSpPr>
        <p:spPr>
          <a:xfrm>
            <a:off x="1168400" y="47244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00" b="1">
                <a:solidFill>
                  <a:srgbClr val="02C39A"/>
                </a:solidFill>
                <a:latin typeface="Cambria" panose="02040503050406030204" pitchFamily="18" charset="0"/>
              </a:rPr>
              <a:t>Hoy empezamos aquí: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CC0074D-C376-3821-00A7-B2A080D97730}"/>
              </a:ext>
            </a:extLst>
          </p:cNvPr>
          <p:cNvSpPr txBox="1"/>
          <p:nvPr/>
        </p:nvSpPr>
        <p:spPr>
          <a:xfrm>
            <a:off x="1168400" y="50292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500">
                <a:solidFill>
                  <a:srgbClr val="FFFFFF"/>
                </a:solidFill>
                <a:latin typeface="Calibri" panose="020F0502020204030204" pitchFamily="34" charset="0"/>
              </a:rPr>
              <a:t>Ya tenemos una tabla limpia y ordenada. ¿Y ahora qué? ¿Cómo pasamos de una tabla a una decisión?</a:t>
            </a:r>
            <a:endParaRPr lang="es-CO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385998E-7C0D-EB2F-905C-90CE61C8E90D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Si alguien no alcanzó a limpiar su dataset: no importa para hoy, pero sí para el Hito 1.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162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B27ED2A-5730-7D00-516D-34CC8940E92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23D9A9F-4DF3-9EF7-A092-77E25FBE1557}"/>
              </a:ext>
            </a:extLst>
          </p:cNvPr>
          <p:cNvSpPr txBox="1"/>
          <p:nvPr/>
        </p:nvSpPr>
        <p:spPr>
          <a:xfrm>
            <a:off x="5715000" y="3048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E T A P A   4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37F562-429A-D84D-5AB7-CD3469940D2F}"/>
              </a:ext>
            </a:extLst>
          </p:cNvPr>
          <p:cNvSpPr txBox="1"/>
          <p:nvPr/>
        </p:nvSpPr>
        <p:spPr>
          <a:xfrm>
            <a:off x="5715000" y="33274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300" b="1">
                <a:solidFill>
                  <a:srgbClr val="FFFFFF"/>
                </a:solidFill>
                <a:latin typeface="Cambria" panose="02040503050406030204" pitchFamily="18" charset="0"/>
              </a:rPr>
              <a:t>Análisis exploratorio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AB582B0-B765-8949-9C6A-4977B1F24816}"/>
              </a:ext>
            </a:extLst>
          </p:cNvPr>
          <p:cNvSpPr txBox="1"/>
          <p:nvPr/>
        </p:nvSpPr>
        <p:spPr>
          <a:xfrm>
            <a:off x="5715000" y="45720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C3D6D8"/>
                </a:solidFill>
                <a:latin typeface="Calibri" panose="020F0502020204030204" pitchFamily="34" charset="0"/>
              </a:rPr>
              <a:t>Antes de predecir hay que comprender. Y comprender, en datos, casi siempre significa graficar.</a:t>
            </a:r>
            <a:endParaRPr lang="es-CO" sz="13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D50514D-980A-20E0-782B-7B5018EDEBD0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75496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4C0FC4F-3BA7-0DF3-CB05-5CADFD2386F3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b="1">
                <a:solidFill>
                  <a:srgbClr val="028090"/>
                </a:solidFill>
                <a:latin typeface="Calibri" panose="020F0502020204030204" pitchFamily="34" charset="0"/>
              </a:rPr>
              <a:t>E T A P A   4   D E   8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F9A9743-6CAF-A297-169C-CD9C7271B861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012E33"/>
                </a:solidFill>
                <a:latin typeface="Cambria" panose="02040503050406030204" pitchFamily="18" charset="0"/>
              </a:rPr>
              <a:t>Las cuatro preguntas del EDA</a:t>
            </a:r>
            <a:endParaRPr lang="es-CO" sz="31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2EF20A3-24E2-5024-9CD0-28472E4A665E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04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2C650BB-3719-EB8A-0592-CEF96CEE13F2}"/>
              </a:ext>
            </a:extLst>
          </p:cNvPr>
          <p:cNvSpPr txBox="1"/>
          <p:nvPr/>
        </p:nvSpPr>
        <p:spPr>
          <a:xfrm>
            <a:off x="850900" y="16256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5C6C6E"/>
                </a:solidFill>
                <a:latin typeface="Calibri" panose="020F0502020204030204" pitchFamily="34" charset="0"/>
              </a:rPr>
              <a:t>El análisis exploratorio es un diálogo con los datos: no busca confirmar una hipótesis, busca entender qué hay. Se hace sobre todo con gráficos, y responde cuatro preguntas:</a:t>
            </a:r>
            <a:endParaRPr lang="es-CO" sz="13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05519D3-B308-3873-80A9-00462A40A81A}"/>
              </a:ext>
            </a:extLst>
          </p:cNvPr>
          <p:cNvSpPr/>
          <p:nvPr/>
        </p:nvSpPr>
        <p:spPr>
          <a:xfrm>
            <a:off x="850900" y="2349500"/>
            <a:ext cx="10490200" cy="787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609B1BC-CFC1-9D71-4DF5-01FB48F3CA3E}"/>
              </a:ext>
            </a:extLst>
          </p:cNvPr>
          <p:cNvSpPr txBox="1"/>
          <p:nvPr/>
        </p:nvSpPr>
        <p:spPr>
          <a:xfrm>
            <a:off x="1168400" y="25781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28090"/>
                </a:solidFill>
                <a:latin typeface="Cambria" panose="02040503050406030204" pitchFamily="18" charset="0"/>
              </a:rPr>
              <a:t>Distribución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A41C2A7-4A7C-DA9B-5A6E-61B893067ABA}"/>
              </a:ext>
            </a:extLst>
          </p:cNvPr>
          <p:cNvSpPr txBox="1"/>
          <p:nvPr/>
        </p:nvSpPr>
        <p:spPr>
          <a:xfrm>
            <a:off x="3175000" y="25527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¿Cómo se reparten los valores de cada variable? ¿Hay concentraciones o vacíos?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9DE2CD1-040E-CF4A-0186-BA50CB41B65A}"/>
              </a:ext>
            </a:extLst>
          </p:cNvPr>
          <p:cNvSpPr txBox="1"/>
          <p:nvPr/>
        </p:nvSpPr>
        <p:spPr>
          <a:xfrm>
            <a:off x="8890000" y="26035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100" b="1" i="1">
                <a:solidFill>
                  <a:srgbClr val="00A896"/>
                </a:solidFill>
                <a:latin typeface="Calibri" panose="020F0502020204030204" pitchFamily="34" charset="0"/>
              </a:rPr>
              <a:t>Histograma, boxplot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668D9CC-6C4A-178D-12F5-9DAEFFB376E5}"/>
              </a:ext>
            </a:extLst>
          </p:cNvPr>
          <p:cNvSpPr/>
          <p:nvPr/>
        </p:nvSpPr>
        <p:spPr>
          <a:xfrm>
            <a:off x="850900" y="3238500"/>
            <a:ext cx="10490200" cy="787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E10D5A4-2019-ED1E-F905-221BF3BCB809}"/>
              </a:ext>
            </a:extLst>
          </p:cNvPr>
          <p:cNvSpPr txBox="1"/>
          <p:nvPr/>
        </p:nvSpPr>
        <p:spPr>
          <a:xfrm>
            <a:off x="1168400" y="34671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28090"/>
                </a:solidFill>
                <a:latin typeface="Cambria" panose="02040503050406030204" pitchFamily="18" charset="0"/>
              </a:rPr>
              <a:t>Atípicos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91F7C5F-1111-3F40-674A-3543C08A047C}"/>
              </a:ext>
            </a:extLst>
          </p:cNvPr>
          <p:cNvSpPr txBox="1"/>
          <p:nvPr/>
        </p:nvSpPr>
        <p:spPr>
          <a:xfrm>
            <a:off x="3175000" y="34417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00">
                <a:solidFill>
                  <a:srgbClr val="5C6C6E"/>
                </a:solidFill>
                <a:latin typeface="Calibri" panose="020F0502020204030204" pitchFamily="34" charset="0"/>
              </a:rPr>
              <a:t>¿Hay valores extremos? ¿Son errores de captura o casos reales importantes?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CBBB04A-8F77-BDAA-6CEA-DAD2C8053C9B}"/>
              </a:ext>
            </a:extLst>
          </p:cNvPr>
          <p:cNvSpPr txBox="1"/>
          <p:nvPr/>
        </p:nvSpPr>
        <p:spPr>
          <a:xfrm>
            <a:off x="8890000" y="34925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100" b="1" i="1">
                <a:solidFill>
                  <a:srgbClr val="00A896"/>
                </a:solidFill>
                <a:latin typeface="Calibri" panose="020F0502020204030204" pitchFamily="34" charset="0"/>
              </a:rPr>
              <a:t>Boxplot, dispersión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33ADA5B-413D-B871-49E3-B0877E921BBC}"/>
              </a:ext>
            </a:extLst>
          </p:cNvPr>
          <p:cNvSpPr/>
          <p:nvPr/>
        </p:nvSpPr>
        <p:spPr>
          <a:xfrm>
            <a:off x="850900" y="4127500"/>
            <a:ext cx="10490200" cy="787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6AA5B28-0DC6-E4EB-D842-957B00C82A60}"/>
              </a:ext>
            </a:extLst>
          </p:cNvPr>
          <p:cNvSpPr txBox="1"/>
          <p:nvPr/>
        </p:nvSpPr>
        <p:spPr>
          <a:xfrm>
            <a:off x="1168400" y="43561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28090"/>
                </a:solidFill>
                <a:latin typeface="Cambria" panose="02040503050406030204" pitchFamily="18" charset="0"/>
              </a:rPr>
              <a:t>Relaciones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8FC1C73-6B39-E734-1812-B0D6EE27A0EB}"/>
              </a:ext>
            </a:extLst>
          </p:cNvPr>
          <p:cNvSpPr txBox="1"/>
          <p:nvPr/>
        </p:nvSpPr>
        <p:spPr>
          <a:xfrm>
            <a:off x="3175000" y="43307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¿Qué variables se mueven juntas? ¿La relación es lineal o de otra forma?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2764FA3-B345-41F9-9D82-F35D9659112A}"/>
              </a:ext>
            </a:extLst>
          </p:cNvPr>
          <p:cNvSpPr txBox="1"/>
          <p:nvPr/>
        </p:nvSpPr>
        <p:spPr>
          <a:xfrm>
            <a:off x="8890000" y="43815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100" b="1" i="1">
                <a:solidFill>
                  <a:srgbClr val="00A896"/>
                </a:solidFill>
                <a:latin typeface="Calibri" panose="020F0502020204030204" pitchFamily="34" charset="0"/>
              </a:rPr>
              <a:t>Dispersión, correlación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D99490A-62F9-94B1-286B-097A8467D580}"/>
              </a:ext>
            </a:extLst>
          </p:cNvPr>
          <p:cNvSpPr/>
          <p:nvPr/>
        </p:nvSpPr>
        <p:spPr>
          <a:xfrm>
            <a:off x="850900" y="5016500"/>
            <a:ext cx="10490200" cy="787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126CCD4-11A9-734D-4115-5CAFAA7C732C}"/>
              </a:ext>
            </a:extLst>
          </p:cNvPr>
          <p:cNvSpPr txBox="1"/>
          <p:nvPr/>
        </p:nvSpPr>
        <p:spPr>
          <a:xfrm>
            <a:off x="1168400" y="52451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28090"/>
                </a:solidFill>
                <a:latin typeface="Cambria" panose="02040503050406030204" pitchFamily="18" charset="0"/>
              </a:rPr>
              <a:t>Grupos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390F3F5-C8D4-99A1-7B68-E1731EADFDDC}"/>
              </a:ext>
            </a:extLst>
          </p:cNvPr>
          <p:cNvSpPr txBox="1"/>
          <p:nvPr/>
        </p:nvSpPr>
        <p:spPr>
          <a:xfrm>
            <a:off x="3175000" y="52197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¿Se repiten patrones? ¿Hay segmentos con comportamiento distinto?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1B7FBAD-10C9-25EE-F1E5-955D1C247456}"/>
              </a:ext>
            </a:extLst>
          </p:cNvPr>
          <p:cNvSpPr txBox="1"/>
          <p:nvPr/>
        </p:nvSpPr>
        <p:spPr>
          <a:xfrm>
            <a:off x="8890000" y="52705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100" b="1" i="1">
                <a:solidFill>
                  <a:srgbClr val="00A896"/>
                </a:solidFill>
                <a:latin typeface="Calibri" panose="020F0502020204030204" pitchFamily="34" charset="0"/>
              </a:rPr>
              <a:t>Dispersión con color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67CE1F4-15C5-132B-CFA9-C833DB0D1242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El EDA evita construir un modelo sofisticado sobre datos que nunca entendimos.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638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E0C9238-7321-981F-AD71-353CCE647A86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E T A P A   4   E N   D E T A L L E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4DB10AA-7696-27E6-9997-A29FC2CBD29D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FFFFFF"/>
                </a:solidFill>
                <a:latin typeface="Cambria" panose="02040503050406030204" pitchFamily="18" charset="0"/>
              </a:rPr>
              <a:t>Por qué el EDA se hace con gráficos</a:t>
            </a:r>
            <a:endParaRPr lang="es-CO" sz="31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E68984D-3ACE-A5D5-533A-830604013DC1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05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64B21C0-DC2F-37CD-D536-B90E43AD2926}"/>
              </a:ext>
            </a:extLst>
          </p:cNvPr>
          <p:cNvSpPr txBox="1"/>
          <p:nvPr/>
        </p:nvSpPr>
        <p:spPr>
          <a:xfrm>
            <a:off x="850900" y="16002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00">
                <a:solidFill>
                  <a:srgbClr val="C3D6D8"/>
                </a:solidFill>
                <a:latin typeface="Calibri" panose="020F0502020204030204" pitchFamily="34" charset="0"/>
              </a:rPr>
              <a:t>Estos cuatro conjuntos de datos tienen la MISMA media, la MISMA varianza, la MISMA correlación y la MISMA recta de regresión. Los números no los distinguen. Los ojos sí.</a:t>
            </a:r>
            <a:endParaRPr lang="es-CO" sz="13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D90595D-FDCE-25B4-C5DC-B477E10A3A37}"/>
              </a:ext>
            </a:extLst>
          </p:cNvPr>
          <p:cNvSpPr/>
          <p:nvPr/>
        </p:nvSpPr>
        <p:spPr>
          <a:xfrm>
            <a:off x="850900" y="2286000"/>
            <a:ext cx="2413000" cy="1905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B12A897-1EB0-0305-3F50-BCF38133DB3C}"/>
              </a:ext>
            </a:extLst>
          </p:cNvPr>
          <p:cNvCxnSpPr/>
          <p:nvPr/>
        </p:nvCxnSpPr>
        <p:spPr>
          <a:xfrm flipV="1">
            <a:off x="1079500" y="2796117"/>
            <a:ext cx="1981200" cy="1043516"/>
          </a:xfrm>
          <a:prstGeom prst="line">
            <a:avLst/>
          </a:prstGeom>
          <a:ln w="19050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3A3868F3-02B8-D1E3-E5E4-75849111743D}"/>
              </a:ext>
            </a:extLst>
          </p:cNvPr>
          <p:cNvSpPr/>
          <p:nvPr/>
        </p:nvSpPr>
        <p:spPr>
          <a:xfrm>
            <a:off x="1844488" y="3170089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2551D97-28F4-AA34-45F1-3CCC3263617A}"/>
              </a:ext>
            </a:extLst>
          </p:cNvPr>
          <p:cNvSpPr/>
          <p:nvPr/>
        </p:nvSpPr>
        <p:spPr>
          <a:xfrm>
            <a:off x="1611406" y="3303905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587B181-903A-372F-700C-F42D98F7F929}"/>
              </a:ext>
            </a:extLst>
          </p:cNvPr>
          <p:cNvSpPr/>
          <p:nvPr/>
        </p:nvSpPr>
        <p:spPr>
          <a:xfrm>
            <a:off x="2194112" y="3226562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20B3532-9373-1828-9B73-6AF5794453D9}"/>
              </a:ext>
            </a:extLst>
          </p:cNvPr>
          <p:cNvSpPr/>
          <p:nvPr/>
        </p:nvSpPr>
        <p:spPr>
          <a:xfrm>
            <a:off x="1727947" y="3075559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EB8EAB0-7062-1ED4-9788-3E8BB83D85DD}"/>
              </a:ext>
            </a:extLst>
          </p:cNvPr>
          <p:cNvSpPr/>
          <p:nvPr/>
        </p:nvSpPr>
        <p:spPr>
          <a:xfrm>
            <a:off x="1961029" y="3134487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DACAADF7-8A82-78E0-27EC-96AA6A7B4163}"/>
              </a:ext>
            </a:extLst>
          </p:cNvPr>
          <p:cNvSpPr/>
          <p:nvPr/>
        </p:nvSpPr>
        <p:spPr>
          <a:xfrm>
            <a:off x="2310653" y="2934377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F46B3F1-4CF3-A6ED-54C6-CEEAC15DA048}"/>
              </a:ext>
            </a:extLst>
          </p:cNvPr>
          <p:cNvSpPr/>
          <p:nvPr/>
        </p:nvSpPr>
        <p:spPr>
          <a:xfrm>
            <a:off x="1378324" y="3268303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EB0E440-EBB3-70C0-F89F-E9B73744AF71}"/>
              </a:ext>
            </a:extLst>
          </p:cNvPr>
          <p:cNvSpPr/>
          <p:nvPr/>
        </p:nvSpPr>
        <p:spPr>
          <a:xfrm>
            <a:off x="1145241" y="3634147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B3A4B8EC-5F9C-A612-9FE3-53F31A7A5485}"/>
              </a:ext>
            </a:extLst>
          </p:cNvPr>
          <p:cNvSpPr/>
          <p:nvPr/>
        </p:nvSpPr>
        <p:spPr>
          <a:xfrm>
            <a:off x="2077571" y="2826343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58FF007-5B44-1F26-6106-B77582959F5B}"/>
              </a:ext>
            </a:extLst>
          </p:cNvPr>
          <p:cNvSpPr/>
          <p:nvPr/>
        </p:nvSpPr>
        <p:spPr>
          <a:xfrm>
            <a:off x="1494865" y="3565398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FE064DE7-77D5-5539-5EA2-50D67E5429BD}"/>
              </a:ext>
            </a:extLst>
          </p:cNvPr>
          <p:cNvSpPr/>
          <p:nvPr/>
        </p:nvSpPr>
        <p:spPr>
          <a:xfrm>
            <a:off x="1261782" y="3459819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7860849-84CA-A4B3-80F1-A9F6456643BB}"/>
              </a:ext>
            </a:extLst>
          </p:cNvPr>
          <p:cNvSpPr txBox="1"/>
          <p:nvPr/>
        </p:nvSpPr>
        <p:spPr>
          <a:xfrm>
            <a:off x="850900" y="42672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1150" b="1">
                <a:solidFill>
                  <a:srgbClr val="BFEAE4"/>
                </a:solidFill>
                <a:latin typeface="Calibri" panose="020F0502020204030204" pitchFamily="34" charset="0"/>
              </a:rPr>
              <a:t>Conjunto 1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82FCB2C-E629-E812-6A75-2187491B0FA2}"/>
              </a:ext>
            </a:extLst>
          </p:cNvPr>
          <p:cNvSpPr txBox="1"/>
          <p:nvPr/>
        </p:nvSpPr>
        <p:spPr>
          <a:xfrm>
            <a:off x="850900" y="44958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1000" i="1">
                <a:solidFill>
                  <a:srgbClr val="00A896"/>
                </a:solidFill>
                <a:latin typeface="Calibri" panose="020F0502020204030204" pitchFamily="34" charset="0"/>
              </a:rPr>
              <a:t>lineal razonable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FE30D8E-F40B-5652-E8BB-13727387C961}"/>
              </a:ext>
            </a:extLst>
          </p:cNvPr>
          <p:cNvSpPr/>
          <p:nvPr/>
        </p:nvSpPr>
        <p:spPr>
          <a:xfrm>
            <a:off x="3517900" y="2286000"/>
            <a:ext cx="2413000" cy="1905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A699315B-7672-87B8-097C-66DAA837403E}"/>
              </a:ext>
            </a:extLst>
          </p:cNvPr>
          <p:cNvCxnSpPr/>
          <p:nvPr/>
        </p:nvCxnSpPr>
        <p:spPr>
          <a:xfrm flipV="1">
            <a:off x="3746500" y="2796117"/>
            <a:ext cx="1981200" cy="1043516"/>
          </a:xfrm>
          <a:prstGeom prst="line">
            <a:avLst/>
          </a:prstGeom>
          <a:ln w="19050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ipse 22">
            <a:extLst>
              <a:ext uri="{FF2B5EF4-FFF2-40B4-BE49-F238E27FC236}">
                <a16:creationId xmlns:a16="http://schemas.microsoft.com/office/drawing/2014/main" id="{1F81A91E-0B61-468D-6E6C-7A1C3AA7CECF}"/>
              </a:ext>
            </a:extLst>
          </p:cNvPr>
          <p:cNvSpPr/>
          <p:nvPr/>
        </p:nvSpPr>
        <p:spPr>
          <a:xfrm>
            <a:off x="4511488" y="3035046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A0CDEFCE-77EB-1DD7-B32C-130B81B39243}"/>
              </a:ext>
            </a:extLst>
          </p:cNvPr>
          <p:cNvSpPr/>
          <p:nvPr/>
        </p:nvSpPr>
        <p:spPr>
          <a:xfrm>
            <a:off x="4278406" y="3157813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DEEA449E-E079-3C67-CE0F-43511B356A54}"/>
              </a:ext>
            </a:extLst>
          </p:cNvPr>
          <p:cNvSpPr/>
          <p:nvPr/>
        </p:nvSpPr>
        <p:spPr>
          <a:xfrm>
            <a:off x="4861112" y="3084153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C835BBDA-D4F1-CA07-0355-32FDFA17509B}"/>
              </a:ext>
            </a:extLst>
          </p:cNvPr>
          <p:cNvSpPr/>
          <p:nvPr/>
        </p:nvSpPr>
        <p:spPr>
          <a:xfrm>
            <a:off x="4394947" y="3080470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3F27EAB8-0B6C-560B-1472-ABAC23C11F41}"/>
              </a:ext>
            </a:extLst>
          </p:cNvPr>
          <p:cNvSpPr/>
          <p:nvPr/>
        </p:nvSpPr>
        <p:spPr>
          <a:xfrm>
            <a:off x="4628030" y="3020314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FC97865B-AD57-5F05-09C5-56DCCE056920}"/>
              </a:ext>
            </a:extLst>
          </p:cNvPr>
          <p:cNvSpPr/>
          <p:nvPr/>
        </p:nvSpPr>
        <p:spPr>
          <a:xfrm>
            <a:off x="4977653" y="3162723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409C3872-4680-9589-CE2C-402A624926E7}"/>
              </a:ext>
            </a:extLst>
          </p:cNvPr>
          <p:cNvSpPr/>
          <p:nvPr/>
        </p:nvSpPr>
        <p:spPr>
          <a:xfrm>
            <a:off x="4045324" y="3404574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43FF28B0-B9C2-EA3B-E7B9-C0EB73A1EAE9}"/>
              </a:ext>
            </a:extLst>
          </p:cNvPr>
          <p:cNvSpPr/>
          <p:nvPr/>
        </p:nvSpPr>
        <p:spPr>
          <a:xfrm>
            <a:off x="3812241" y="3776557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9F5558E1-F97D-237D-15AB-71D9C68DE53E}"/>
              </a:ext>
            </a:extLst>
          </p:cNvPr>
          <p:cNvSpPr/>
          <p:nvPr/>
        </p:nvSpPr>
        <p:spPr>
          <a:xfrm>
            <a:off x="4744570" y="3036274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2E4462FD-488B-CD4A-DC8F-FF03BE4D3F11}"/>
              </a:ext>
            </a:extLst>
          </p:cNvPr>
          <p:cNvSpPr/>
          <p:nvPr/>
        </p:nvSpPr>
        <p:spPr>
          <a:xfrm>
            <a:off x="4161865" y="3265847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D91D608E-5529-2F11-4DEA-20979515BA43}"/>
              </a:ext>
            </a:extLst>
          </p:cNvPr>
          <p:cNvSpPr/>
          <p:nvPr/>
        </p:nvSpPr>
        <p:spPr>
          <a:xfrm>
            <a:off x="3928782" y="3575219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2704F19-FA87-4780-75D6-847C9D23DBE4}"/>
              </a:ext>
            </a:extLst>
          </p:cNvPr>
          <p:cNvSpPr txBox="1"/>
          <p:nvPr/>
        </p:nvSpPr>
        <p:spPr>
          <a:xfrm>
            <a:off x="3517900" y="42672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1150" b="1">
                <a:solidFill>
                  <a:srgbClr val="BFEAE4"/>
                </a:solidFill>
                <a:latin typeface="Calibri" panose="020F0502020204030204" pitchFamily="34" charset="0"/>
              </a:rPr>
              <a:t>Conjunto 2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AB3BDBC-F61A-2068-9660-4B3C7994E14C}"/>
              </a:ext>
            </a:extLst>
          </p:cNvPr>
          <p:cNvSpPr txBox="1"/>
          <p:nvPr/>
        </p:nvSpPr>
        <p:spPr>
          <a:xfrm>
            <a:off x="3517900" y="44958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1000" i="1">
                <a:solidFill>
                  <a:srgbClr val="00A896"/>
                </a:solidFill>
                <a:latin typeface="Calibri" panose="020F0502020204030204" pitchFamily="34" charset="0"/>
              </a:rPr>
              <a:t>es una curva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42E0BA2-DCFD-E9CB-8337-79635AC0DEB9}"/>
              </a:ext>
            </a:extLst>
          </p:cNvPr>
          <p:cNvSpPr/>
          <p:nvPr/>
        </p:nvSpPr>
        <p:spPr>
          <a:xfrm>
            <a:off x="6184900" y="2286000"/>
            <a:ext cx="2413000" cy="1905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534B7F12-4B70-EC87-51A8-5A4ACE021730}"/>
              </a:ext>
            </a:extLst>
          </p:cNvPr>
          <p:cNvCxnSpPr/>
          <p:nvPr/>
        </p:nvCxnSpPr>
        <p:spPr>
          <a:xfrm flipV="1">
            <a:off x="6413500" y="2796117"/>
            <a:ext cx="1981200" cy="1043516"/>
          </a:xfrm>
          <a:prstGeom prst="line">
            <a:avLst/>
          </a:prstGeom>
          <a:ln w="19050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lipse 37">
            <a:extLst>
              <a:ext uri="{FF2B5EF4-FFF2-40B4-BE49-F238E27FC236}">
                <a16:creationId xmlns:a16="http://schemas.microsoft.com/office/drawing/2014/main" id="{AEF7ED63-1ED8-2E10-C3D4-761809162ABE}"/>
              </a:ext>
            </a:extLst>
          </p:cNvPr>
          <p:cNvSpPr/>
          <p:nvPr/>
        </p:nvSpPr>
        <p:spPr>
          <a:xfrm>
            <a:off x="7178488" y="3241294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D0D40F0F-4257-93FE-13B4-0A12883319C9}"/>
              </a:ext>
            </a:extLst>
          </p:cNvPr>
          <p:cNvSpPr/>
          <p:nvPr/>
        </p:nvSpPr>
        <p:spPr>
          <a:xfrm>
            <a:off x="6945406" y="3326003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59DF183A-2F46-FED7-BC8F-431075DC245A}"/>
              </a:ext>
            </a:extLst>
          </p:cNvPr>
          <p:cNvSpPr/>
          <p:nvPr/>
        </p:nvSpPr>
        <p:spPr>
          <a:xfrm>
            <a:off x="7528112" y="2593086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C8F053B0-5A77-AAEC-AE08-3BB8D9C9BDAC}"/>
              </a:ext>
            </a:extLst>
          </p:cNvPr>
          <p:cNvSpPr/>
          <p:nvPr/>
        </p:nvSpPr>
        <p:spPr>
          <a:xfrm>
            <a:off x="7061947" y="3284262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E6F71CA4-79C0-4E61-00C1-F3A2766D43AF}"/>
              </a:ext>
            </a:extLst>
          </p:cNvPr>
          <p:cNvSpPr/>
          <p:nvPr/>
        </p:nvSpPr>
        <p:spPr>
          <a:xfrm>
            <a:off x="7295029" y="3198326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C0450469-414C-58C3-C42F-D71118A54393}"/>
              </a:ext>
            </a:extLst>
          </p:cNvPr>
          <p:cNvSpPr/>
          <p:nvPr/>
        </p:nvSpPr>
        <p:spPr>
          <a:xfrm>
            <a:off x="7644653" y="3071876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74864CEF-321C-8BDB-3487-86FC7313AA7E}"/>
              </a:ext>
            </a:extLst>
          </p:cNvPr>
          <p:cNvSpPr/>
          <p:nvPr/>
        </p:nvSpPr>
        <p:spPr>
          <a:xfrm>
            <a:off x="6712324" y="3410712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64F57A89-F4D4-0414-B37D-3D5F2C91C1B2}"/>
              </a:ext>
            </a:extLst>
          </p:cNvPr>
          <p:cNvSpPr/>
          <p:nvPr/>
        </p:nvSpPr>
        <p:spPr>
          <a:xfrm>
            <a:off x="6479241" y="3495421"/>
            <a:ext cx="101601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9E15D6DA-E473-125B-E422-64713369322F}"/>
              </a:ext>
            </a:extLst>
          </p:cNvPr>
          <p:cNvSpPr/>
          <p:nvPr/>
        </p:nvSpPr>
        <p:spPr>
          <a:xfrm>
            <a:off x="7411571" y="3156585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2BB066D4-7DAB-CB20-5797-9C964CD910CF}"/>
              </a:ext>
            </a:extLst>
          </p:cNvPr>
          <p:cNvSpPr/>
          <p:nvPr/>
        </p:nvSpPr>
        <p:spPr>
          <a:xfrm>
            <a:off x="6828865" y="3368971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CCD8BCFC-5875-C9D8-93FD-E000B977131A}"/>
              </a:ext>
            </a:extLst>
          </p:cNvPr>
          <p:cNvSpPr/>
          <p:nvPr/>
        </p:nvSpPr>
        <p:spPr>
          <a:xfrm>
            <a:off x="6595783" y="3453680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C0EF51E1-B682-FCED-974E-66EB90E86107}"/>
              </a:ext>
            </a:extLst>
          </p:cNvPr>
          <p:cNvSpPr txBox="1"/>
          <p:nvPr/>
        </p:nvSpPr>
        <p:spPr>
          <a:xfrm>
            <a:off x="6184900" y="42672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1150" b="1">
                <a:solidFill>
                  <a:srgbClr val="BFEAE4"/>
                </a:solidFill>
                <a:latin typeface="Calibri" panose="020F0502020204030204" pitchFamily="34" charset="0"/>
              </a:rPr>
              <a:t>Conjunto 3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A1053AB-CB7E-BB5B-FC0E-BFB6871F9B73}"/>
              </a:ext>
            </a:extLst>
          </p:cNvPr>
          <p:cNvSpPr txBox="1"/>
          <p:nvPr/>
        </p:nvSpPr>
        <p:spPr>
          <a:xfrm>
            <a:off x="6184900" y="44958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1000" i="1">
                <a:solidFill>
                  <a:srgbClr val="00A896"/>
                </a:solidFill>
                <a:latin typeface="Calibri" panose="020F0502020204030204" pitchFamily="34" charset="0"/>
              </a:rPr>
              <a:t>un punto manda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9231521F-6F5E-3DDD-1C48-38F82305BD5E}"/>
              </a:ext>
            </a:extLst>
          </p:cNvPr>
          <p:cNvSpPr/>
          <p:nvPr/>
        </p:nvSpPr>
        <p:spPr>
          <a:xfrm>
            <a:off x="8851900" y="2286000"/>
            <a:ext cx="2413000" cy="1905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7ACCB687-0BCC-9B8B-405E-0B7A2129EDC3}"/>
              </a:ext>
            </a:extLst>
          </p:cNvPr>
          <p:cNvCxnSpPr/>
          <p:nvPr/>
        </p:nvCxnSpPr>
        <p:spPr>
          <a:xfrm flipV="1">
            <a:off x="9080500" y="2796117"/>
            <a:ext cx="1981200" cy="1043516"/>
          </a:xfrm>
          <a:prstGeom prst="line">
            <a:avLst/>
          </a:prstGeom>
          <a:ln w="19050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Elipse 52">
            <a:extLst>
              <a:ext uri="{FF2B5EF4-FFF2-40B4-BE49-F238E27FC236}">
                <a16:creationId xmlns:a16="http://schemas.microsoft.com/office/drawing/2014/main" id="{4ED6208A-0DC6-C8BC-529A-3AFF593B39E3}"/>
              </a:ext>
            </a:extLst>
          </p:cNvPr>
          <p:cNvSpPr/>
          <p:nvPr/>
        </p:nvSpPr>
        <p:spPr>
          <a:xfrm>
            <a:off x="9612406" y="3349329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50A427D8-D291-96B2-D62A-A9A1B3035EFF}"/>
              </a:ext>
            </a:extLst>
          </p:cNvPr>
          <p:cNvSpPr/>
          <p:nvPr/>
        </p:nvSpPr>
        <p:spPr>
          <a:xfrm>
            <a:off x="9612406" y="3449997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85454D39-2ADA-AA33-B2F9-4EB0C9D9EDA9}"/>
              </a:ext>
            </a:extLst>
          </p:cNvPr>
          <p:cNvSpPr/>
          <p:nvPr/>
        </p:nvSpPr>
        <p:spPr>
          <a:xfrm>
            <a:off x="9612406" y="3210602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DF98ACDE-8F72-9D82-D57F-9B7D2100D080}"/>
              </a:ext>
            </a:extLst>
          </p:cNvPr>
          <p:cNvSpPr/>
          <p:nvPr/>
        </p:nvSpPr>
        <p:spPr>
          <a:xfrm>
            <a:off x="9612406" y="3071876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52AEBDB4-246B-99A0-764D-DCA542C23CBB}"/>
              </a:ext>
            </a:extLst>
          </p:cNvPr>
          <p:cNvSpPr/>
          <p:nvPr/>
        </p:nvSpPr>
        <p:spPr>
          <a:xfrm>
            <a:off x="9612406" y="3117300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17DCFDCF-877A-76F9-C626-2E52467F0D91}"/>
              </a:ext>
            </a:extLst>
          </p:cNvPr>
          <p:cNvSpPr/>
          <p:nvPr/>
        </p:nvSpPr>
        <p:spPr>
          <a:xfrm>
            <a:off x="9612406" y="3292856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AA4A0D87-0DFE-49E1-0F8E-0DC660AB00DE}"/>
              </a:ext>
            </a:extLst>
          </p:cNvPr>
          <p:cNvSpPr/>
          <p:nvPr/>
        </p:nvSpPr>
        <p:spPr>
          <a:xfrm>
            <a:off x="9612406" y="3512608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E3054F74-5B61-2C33-C739-95031710FAF8}"/>
              </a:ext>
            </a:extLst>
          </p:cNvPr>
          <p:cNvSpPr/>
          <p:nvPr/>
        </p:nvSpPr>
        <p:spPr>
          <a:xfrm>
            <a:off x="10894359" y="2622550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D989C4EE-C7DD-6642-9AB4-CDF94A754103}"/>
              </a:ext>
            </a:extLst>
          </p:cNvPr>
          <p:cNvSpPr/>
          <p:nvPr/>
        </p:nvSpPr>
        <p:spPr>
          <a:xfrm>
            <a:off x="9612406" y="3474551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D7D741A6-DB8B-77DF-8752-A577CD9C6391}"/>
              </a:ext>
            </a:extLst>
          </p:cNvPr>
          <p:cNvSpPr/>
          <p:nvPr/>
        </p:nvSpPr>
        <p:spPr>
          <a:xfrm>
            <a:off x="9612406" y="3186049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7DB582AF-5FB7-AA01-102F-B3FEF37EB566}"/>
              </a:ext>
            </a:extLst>
          </p:cNvPr>
          <p:cNvSpPr/>
          <p:nvPr/>
        </p:nvSpPr>
        <p:spPr>
          <a:xfrm>
            <a:off x="9612406" y="3311271"/>
            <a:ext cx="101600" cy="101600"/>
          </a:xfrm>
          <a:prstGeom prst="ellipse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F528753-7965-B857-8D49-C0D05679DA1A}"/>
              </a:ext>
            </a:extLst>
          </p:cNvPr>
          <p:cNvSpPr txBox="1"/>
          <p:nvPr/>
        </p:nvSpPr>
        <p:spPr>
          <a:xfrm>
            <a:off x="8851900" y="42672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1150" b="1">
                <a:solidFill>
                  <a:srgbClr val="BFEAE4"/>
                </a:solidFill>
                <a:latin typeface="Calibri" panose="020F0502020204030204" pitchFamily="34" charset="0"/>
              </a:rPr>
              <a:t>Conjunto 4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7CC600A3-E6ED-A727-ABCA-E7A8273B6C23}"/>
              </a:ext>
            </a:extLst>
          </p:cNvPr>
          <p:cNvSpPr txBox="1"/>
          <p:nvPr/>
        </p:nvSpPr>
        <p:spPr>
          <a:xfrm>
            <a:off x="8851900" y="44958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1000" i="1">
                <a:solidFill>
                  <a:srgbClr val="00A896"/>
                </a:solidFill>
                <a:latin typeface="Calibri" panose="020F0502020204030204" pitchFamily="34" charset="0"/>
              </a:rPr>
              <a:t>no hay relación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4AC58370-5510-017B-96EB-3B88C52A158E}"/>
              </a:ext>
            </a:extLst>
          </p:cNvPr>
          <p:cNvSpPr/>
          <p:nvPr/>
        </p:nvSpPr>
        <p:spPr>
          <a:xfrm>
            <a:off x="850900" y="4851400"/>
            <a:ext cx="10490200" cy="6604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C821CAEF-8A2E-DD21-CB50-F36DD221EE95}"/>
              </a:ext>
            </a:extLst>
          </p:cNvPr>
          <p:cNvSpPr txBox="1"/>
          <p:nvPr/>
        </p:nvSpPr>
        <p:spPr>
          <a:xfrm>
            <a:off x="1168400" y="50038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FFFFFF"/>
                </a:solidFill>
                <a:latin typeface="Calibri" panose="020F0502020204030204" pitchFamily="34" charset="0"/>
              </a:rPr>
              <a:t>Cuarteto de Anscombe (1973): resumir con estadísticos y no graficar es la forma más rápida de equivocarse con confianza.</a:t>
            </a:r>
            <a:endParaRPr lang="es-CO" sz="135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F49389A5-97AC-7CA0-DD90-BB2E20039935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BFEAE4"/>
                </a:solidFill>
                <a:latin typeface="Calibri" panose="020F0502020204030204" pitchFamily="34" charset="0"/>
              </a:rPr>
              <a:t>Este es, en una sola lámina, el argumento completo de por qué existe esta unidad de estudio.</a:t>
            </a:r>
            <a:endParaRPr lang="es-CO" sz="1150" i="1">
              <a:solidFill>
                <a:srgbClr val="BFEAE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771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DCAB001-6AF2-9BFC-97BC-54765F6E66F6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b="1">
                <a:solidFill>
                  <a:srgbClr val="028090"/>
                </a:solidFill>
                <a:latin typeface="Calibri" panose="020F0502020204030204" pitchFamily="34" charset="0"/>
              </a:rPr>
              <a:t>E T A P A   5   D E   8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11D160D-1B4F-645B-7C7E-484E1A416C36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Modelado: encontrar el patrón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7F40B5C-CCD6-43BB-6C05-99C220B0A82E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06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095DF6B-0895-BF2B-FA53-124D2304018A}"/>
              </a:ext>
            </a:extLst>
          </p:cNvPr>
          <p:cNvSpPr txBox="1"/>
          <p:nvPr/>
        </p:nvSpPr>
        <p:spPr>
          <a:xfrm>
            <a:off x="850900" y="16256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>
                <a:solidFill>
                  <a:srgbClr val="5C6C6E"/>
                </a:solidFill>
                <a:latin typeface="Calibri" panose="020F0502020204030204" pitchFamily="34" charset="0"/>
              </a:rPr>
              <a:t>Entrenar un modelo significa ajustarlo con datos del pasado para que reconozca patrones y los aplique a datos nuevos.</a:t>
            </a:r>
            <a:endParaRPr lang="es-CO" sz="14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342226A-C887-B512-759B-9EDDF3C3000A}"/>
              </a:ext>
            </a:extLst>
          </p:cNvPr>
          <p:cNvSpPr/>
          <p:nvPr/>
        </p:nvSpPr>
        <p:spPr>
          <a:xfrm>
            <a:off x="850900" y="2133600"/>
            <a:ext cx="2540000" cy="3175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6586B8B-0A8A-AF5E-182E-34B07740A0FD}"/>
              </a:ext>
            </a:extLst>
          </p:cNvPr>
          <p:cNvSpPr txBox="1"/>
          <p:nvPr/>
        </p:nvSpPr>
        <p:spPr>
          <a:xfrm>
            <a:off x="1104900" y="2413000"/>
            <a:ext cx="209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650" b="1">
                <a:solidFill>
                  <a:srgbClr val="028090"/>
                </a:solidFill>
                <a:latin typeface="Cambria" panose="02040503050406030204" pitchFamily="18" charset="0"/>
              </a:rPr>
              <a:t>Regresión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00C5311-BB45-1104-477A-D1612D3F943B}"/>
              </a:ext>
            </a:extLst>
          </p:cNvPr>
          <p:cNvSpPr txBox="1"/>
          <p:nvPr/>
        </p:nvSpPr>
        <p:spPr>
          <a:xfrm>
            <a:off x="1104900" y="2844800"/>
            <a:ext cx="209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b="1">
                <a:solidFill>
                  <a:srgbClr val="00A896"/>
                </a:solidFill>
                <a:latin typeface="Calibri" panose="020F0502020204030204" pitchFamily="34" charset="0"/>
              </a:rPr>
              <a:t>Predecir un NÚMERO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483C5C7-0E37-A547-BA4B-5889BF67C040}"/>
              </a:ext>
            </a:extLst>
          </p:cNvPr>
          <p:cNvSpPr/>
          <p:nvPr/>
        </p:nvSpPr>
        <p:spPr>
          <a:xfrm>
            <a:off x="1104900" y="3175000"/>
            <a:ext cx="431800" cy="50800"/>
          </a:xfrm>
          <a:prstGeom prst="rect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B0E0F87-357B-F35F-D6B2-25354F6B4A3D}"/>
              </a:ext>
            </a:extLst>
          </p:cNvPr>
          <p:cNvSpPr txBox="1"/>
          <p:nvPr/>
        </p:nvSpPr>
        <p:spPr>
          <a:xfrm>
            <a:off x="1104900" y="33782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¿Cuánto costará este apartamento? ¿Cuántas unidades venderemos el próximo mes?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57A91D9-7694-581B-EC86-C15B774F80E9}"/>
              </a:ext>
            </a:extLst>
          </p:cNvPr>
          <p:cNvSpPr/>
          <p:nvPr/>
        </p:nvSpPr>
        <p:spPr>
          <a:xfrm>
            <a:off x="3543300" y="2133600"/>
            <a:ext cx="2540000" cy="3175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12916C7-A484-AD08-8D0F-84498338219B}"/>
              </a:ext>
            </a:extLst>
          </p:cNvPr>
          <p:cNvSpPr txBox="1"/>
          <p:nvPr/>
        </p:nvSpPr>
        <p:spPr>
          <a:xfrm>
            <a:off x="3797300" y="2413000"/>
            <a:ext cx="209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650" b="1">
                <a:solidFill>
                  <a:srgbClr val="028090"/>
                </a:solidFill>
                <a:latin typeface="Cambria" panose="02040503050406030204" pitchFamily="18" charset="0"/>
              </a:rPr>
              <a:t>Clasificación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6934D38-4C81-5AF3-CF79-7FE9B1478263}"/>
              </a:ext>
            </a:extLst>
          </p:cNvPr>
          <p:cNvSpPr txBox="1"/>
          <p:nvPr/>
        </p:nvSpPr>
        <p:spPr>
          <a:xfrm>
            <a:off x="3797300" y="2844800"/>
            <a:ext cx="209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b="1">
                <a:solidFill>
                  <a:srgbClr val="00A896"/>
                </a:solidFill>
                <a:latin typeface="Calibri" panose="020F0502020204030204" pitchFamily="34" charset="0"/>
              </a:rPr>
              <a:t>Predecir una CATEGORÍA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59B12C0-EB38-A44B-3843-008C9DDB5682}"/>
              </a:ext>
            </a:extLst>
          </p:cNvPr>
          <p:cNvSpPr/>
          <p:nvPr/>
        </p:nvSpPr>
        <p:spPr>
          <a:xfrm>
            <a:off x="3797300" y="3175000"/>
            <a:ext cx="431800" cy="50800"/>
          </a:xfrm>
          <a:prstGeom prst="rect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7F780B0-7D59-EF7C-6BDB-C8CEB2CD6C21}"/>
              </a:ext>
            </a:extLst>
          </p:cNvPr>
          <p:cNvSpPr txBox="1"/>
          <p:nvPr/>
        </p:nvSpPr>
        <p:spPr>
          <a:xfrm>
            <a:off x="3797300" y="33782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¿Este correo es spam? ¿Este estudiante está en riesgo de desertar?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2DD7ADC-63E9-713B-D218-C7CA9E7B52EA}"/>
              </a:ext>
            </a:extLst>
          </p:cNvPr>
          <p:cNvSpPr/>
          <p:nvPr/>
        </p:nvSpPr>
        <p:spPr>
          <a:xfrm>
            <a:off x="6235700" y="2133600"/>
            <a:ext cx="2540000" cy="3175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85D4622-41EE-BBA3-0EFC-59BFA434C383}"/>
              </a:ext>
            </a:extLst>
          </p:cNvPr>
          <p:cNvSpPr txBox="1"/>
          <p:nvPr/>
        </p:nvSpPr>
        <p:spPr>
          <a:xfrm>
            <a:off x="6489700" y="2413000"/>
            <a:ext cx="209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650" b="1">
                <a:solidFill>
                  <a:srgbClr val="028090"/>
                </a:solidFill>
                <a:latin typeface="Cambria" panose="02040503050406030204" pitchFamily="18" charset="0"/>
              </a:rPr>
              <a:t>Clustering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56CFC9B-272B-8B2B-B605-E8BAE0203B3B}"/>
              </a:ext>
            </a:extLst>
          </p:cNvPr>
          <p:cNvSpPr txBox="1"/>
          <p:nvPr/>
        </p:nvSpPr>
        <p:spPr>
          <a:xfrm>
            <a:off x="6489700" y="2844800"/>
            <a:ext cx="209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b="1">
                <a:solidFill>
                  <a:srgbClr val="00A896"/>
                </a:solidFill>
                <a:latin typeface="Calibri" panose="020F0502020204030204" pitchFamily="34" charset="0"/>
              </a:rPr>
              <a:t>AGRUPAR sin etiquetas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D580AEC-6074-11A3-36FB-4119DC460F33}"/>
              </a:ext>
            </a:extLst>
          </p:cNvPr>
          <p:cNvSpPr/>
          <p:nvPr/>
        </p:nvSpPr>
        <p:spPr>
          <a:xfrm>
            <a:off x="6489700" y="3175000"/>
            <a:ext cx="431800" cy="50800"/>
          </a:xfrm>
          <a:prstGeom prst="rect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61ACF34-C9CD-773B-0858-09757E161A02}"/>
              </a:ext>
            </a:extLst>
          </p:cNvPr>
          <p:cNvSpPr txBox="1"/>
          <p:nvPr/>
        </p:nvSpPr>
        <p:spPr>
          <a:xfrm>
            <a:off x="6489700" y="33782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¿Qué tipos de usuario existen en mis datos, sin que nadie me los haya definido?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185306F-DBBB-2397-4836-F7273CC4507D}"/>
              </a:ext>
            </a:extLst>
          </p:cNvPr>
          <p:cNvSpPr/>
          <p:nvPr/>
        </p:nvSpPr>
        <p:spPr>
          <a:xfrm>
            <a:off x="8928100" y="2133600"/>
            <a:ext cx="2413000" cy="3175000"/>
          </a:xfrm>
          <a:prstGeom prst="rect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7A086A9-CF69-5826-1437-5AFCF659FD15}"/>
              </a:ext>
            </a:extLst>
          </p:cNvPr>
          <p:cNvSpPr txBox="1"/>
          <p:nvPr/>
        </p:nvSpPr>
        <p:spPr>
          <a:xfrm>
            <a:off x="9182100" y="24130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600" b="1">
                <a:solidFill>
                  <a:srgbClr val="02C39A"/>
                </a:solidFill>
                <a:latin typeface="Cambria" panose="02040503050406030204" pitchFamily="18" charset="0"/>
              </a:rPr>
              <a:t>Ojo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D805875-84BD-0C2A-14E6-6175C407F353}"/>
              </a:ext>
            </a:extLst>
          </p:cNvPr>
          <p:cNvSpPr txBox="1"/>
          <p:nvPr/>
        </p:nvSpPr>
        <p:spPr>
          <a:xfrm>
            <a:off x="9182100" y="2819400"/>
            <a:ext cx="193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C3D6D8"/>
                </a:solidFill>
                <a:latin typeface="Calibri" panose="020F0502020204030204" pitchFamily="34" charset="0"/>
              </a:rPr>
              <a:t>No todo proyecto necesita un modelo.</a:t>
            </a:r>
          </a:p>
          <a:p>
            <a:pPr>
              <a:lnSpc>
                <a:spcPct val="115000"/>
              </a:lnSpc>
            </a:pPr>
            <a:endParaRPr lang="es-MX" sz="1150">
              <a:solidFill>
                <a:srgbClr val="C3D6D8"/>
              </a:solidFill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s-MX" sz="1150">
                <a:solidFill>
                  <a:srgbClr val="C3D6D8"/>
                </a:solidFill>
                <a:latin typeface="Calibri" panose="020F0502020204030204" pitchFamily="34" charset="0"/>
              </a:rPr>
              <a:t>Muchas decisiones se resuelven con un buen análisis exploratorio y una buena visualización.</a:t>
            </a:r>
          </a:p>
          <a:p>
            <a:pPr>
              <a:lnSpc>
                <a:spcPct val="115000"/>
              </a:lnSpc>
            </a:pPr>
            <a:endParaRPr lang="es-MX" sz="1150">
              <a:solidFill>
                <a:srgbClr val="C3D6D8"/>
              </a:solidFill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s-MX" sz="1150">
                <a:solidFill>
                  <a:srgbClr val="C3D6D8"/>
                </a:solidFill>
                <a:latin typeface="Calibri" panose="020F0502020204030204" pitchFamily="34" charset="0"/>
              </a:rPr>
              <a:t>Varios de sus proyectos van a estar en ese caso, y está bien.</a:t>
            </a:r>
            <a:endParaRPr lang="es-CO" sz="11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CC5E431-F075-54D3-D358-ACE6F824FCDF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El modelo no es el objetivo del proyecto: es una herramienta que se usa solo si la pregunta la necesita.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754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173852E-1F97-75A2-BC93-CD5BD99FD327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b="1">
                <a:solidFill>
                  <a:srgbClr val="028090"/>
                </a:solidFill>
                <a:latin typeface="Calibri" panose="020F0502020204030204" pitchFamily="34" charset="0"/>
              </a:rPr>
              <a:t>E T A P A   6   D E   8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A5555C8-6CC6-37BD-DE24-6715C68F4AAA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Evaluación: ¿funciona de verdad?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7D76BEA-C5FC-2869-A6BC-AA13A2578F58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07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726EC4B-6553-C999-D038-20B5471590BF}"/>
              </a:ext>
            </a:extLst>
          </p:cNvPr>
          <p:cNvSpPr txBox="1"/>
          <p:nvPr/>
        </p:nvSpPr>
        <p:spPr>
          <a:xfrm>
            <a:off x="850900" y="16256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>
                <a:solidFill>
                  <a:srgbClr val="5C6C6E"/>
                </a:solidFill>
                <a:latin typeface="Calibri" panose="020F0502020204030204" pitchFamily="34" charset="0"/>
              </a:rPr>
              <a:t>Un modelo no se juzga por lo bien que memorizó los datos de entrenamiento, sino por cómo se comporta con datos que nunca vio.</a:t>
            </a:r>
            <a:endParaRPr lang="es-CO" sz="14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E608BE7-1926-6A07-EC6F-DF64202F4C53}"/>
              </a:ext>
            </a:extLst>
          </p:cNvPr>
          <p:cNvSpPr/>
          <p:nvPr/>
        </p:nvSpPr>
        <p:spPr>
          <a:xfrm>
            <a:off x="850900" y="2159000"/>
            <a:ext cx="5080000" cy="3048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6833405-5649-703B-5975-55FA22B3F153}"/>
              </a:ext>
            </a:extLst>
          </p:cNvPr>
          <p:cNvSpPr txBox="1"/>
          <p:nvPr/>
        </p:nvSpPr>
        <p:spPr>
          <a:xfrm>
            <a:off x="1168400" y="24130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028090"/>
                </a:solidFill>
                <a:latin typeface="Cambria" panose="02040503050406030204" pitchFamily="18" charset="0"/>
              </a:rPr>
              <a:t>Matriz de confusión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9DBD33B-ADFF-DEF8-89D4-DD90B591CC1A}"/>
              </a:ext>
            </a:extLst>
          </p:cNvPr>
          <p:cNvSpPr/>
          <p:nvPr/>
        </p:nvSpPr>
        <p:spPr>
          <a:xfrm>
            <a:off x="1168400" y="2819400"/>
            <a:ext cx="14732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endParaRPr lang="es-CO" sz="1050" b="1">
              <a:solidFill>
                <a:srgbClr val="012E3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9711DD0-3240-63C2-7FDA-66CF7005286A}"/>
              </a:ext>
            </a:extLst>
          </p:cNvPr>
          <p:cNvSpPr/>
          <p:nvPr/>
        </p:nvSpPr>
        <p:spPr>
          <a:xfrm>
            <a:off x="2667000" y="2819400"/>
            <a:ext cx="14732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s-CO" sz="1050" b="1">
                <a:solidFill>
                  <a:srgbClr val="012E33"/>
                </a:solidFill>
                <a:latin typeface="Calibri" panose="020F0502020204030204" pitchFamily="34" charset="0"/>
              </a:rPr>
              <a:t>Predijo SÍ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5ED7FC7-9D57-BBBC-86D2-6264B834752D}"/>
              </a:ext>
            </a:extLst>
          </p:cNvPr>
          <p:cNvSpPr/>
          <p:nvPr/>
        </p:nvSpPr>
        <p:spPr>
          <a:xfrm>
            <a:off x="4165600" y="2819400"/>
            <a:ext cx="14732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s-CO" sz="1050" b="1">
                <a:solidFill>
                  <a:srgbClr val="012E33"/>
                </a:solidFill>
                <a:latin typeface="Calibri" panose="020F0502020204030204" pitchFamily="34" charset="0"/>
              </a:rPr>
              <a:t>Predijo NO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30842CE-9F10-0B2C-A39E-68780DA856CC}"/>
              </a:ext>
            </a:extLst>
          </p:cNvPr>
          <p:cNvSpPr/>
          <p:nvPr/>
        </p:nvSpPr>
        <p:spPr>
          <a:xfrm>
            <a:off x="1168400" y="3403600"/>
            <a:ext cx="14732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s-CO" sz="1050" b="1">
                <a:solidFill>
                  <a:srgbClr val="012E33"/>
                </a:solidFill>
                <a:latin typeface="Calibri" panose="020F0502020204030204" pitchFamily="34" charset="0"/>
              </a:rPr>
              <a:t>Era SÍ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369B1EA-7245-C92F-94AA-824B3234EAD7}"/>
              </a:ext>
            </a:extLst>
          </p:cNvPr>
          <p:cNvSpPr/>
          <p:nvPr/>
        </p:nvSpPr>
        <p:spPr>
          <a:xfrm>
            <a:off x="2667000" y="3403600"/>
            <a:ext cx="1473200" cy="5588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s-CO" sz="1050">
                <a:solidFill>
                  <a:srgbClr val="012E33"/>
                </a:solidFill>
                <a:latin typeface="Calibri" panose="020F0502020204030204" pitchFamily="34" charset="0"/>
              </a:rPr>
              <a:t>Acierto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4985475-670F-356A-479B-B9D5D73F78EB}"/>
              </a:ext>
            </a:extLst>
          </p:cNvPr>
          <p:cNvSpPr/>
          <p:nvPr/>
        </p:nvSpPr>
        <p:spPr>
          <a:xfrm>
            <a:off x="4165600" y="3403600"/>
            <a:ext cx="1473200" cy="558800"/>
          </a:xfrm>
          <a:prstGeom prst="rect">
            <a:avLst/>
          </a:prstGeom>
          <a:solidFill>
            <a:srgbClr val="FBEDEA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s-CO" sz="1050">
                <a:solidFill>
                  <a:srgbClr val="012E33"/>
                </a:solidFill>
                <a:latin typeface="Calibri" panose="020F0502020204030204" pitchFamily="34" charset="0"/>
              </a:rPr>
              <a:t>Falso negativo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4BFDBA8-2F20-03AD-C4F2-CA54C76D5B0D}"/>
              </a:ext>
            </a:extLst>
          </p:cNvPr>
          <p:cNvSpPr/>
          <p:nvPr/>
        </p:nvSpPr>
        <p:spPr>
          <a:xfrm>
            <a:off x="1168400" y="3987800"/>
            <a:ext cx="14732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s-CO" sz="1050" b="1">
                <a:solidFill>
                  <a:srgbClr val="012E33"/>
                </a:solidFill>
                <a:latin typeface="Calibri" panose="020F0502020204030204" pitchFamily="34" charset="0"/>
              </a:rPr>
              <a:t>Era NO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1679C60-AE27-5610-0829-C79A1AAB254E}"/>
              </a:ext>
            </a:extLst>
          </p:cNvPr>
          <p:cNvSpPr/>
          <p:nvPr/>
        </p:nvSpPr>
        <p:spPr>
          <a:xfrm>
            <a:off x="2667000" y="3987800"/>
            <a:ext cx="1473200" cy="558800"/>
          </a:xfrm>
          <a:prstGeom prst="rect">
            <a:avLst/>
          </a:prstGeom>
          <a:solidFill>
            <a:srgbClr val="FBEDEA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s-CO" sz="1050">
                <a:solidFill>
                  <a:srgbClr val="012E33"/>
                </a:solidFill>
                <a:latin typeface="Calibri" panose="020F0502020204030204" pitchFamily="34" charset="0"/>
              </a:rPr>
              <a:t>Falso positivo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C1C727E-BE7D-1072-8CAF-5FA083B90EEB}"/>
              </a:ext>
            </a:extLst>
          </p:cNvPr>
          <p:cNvSpPr/>
          <p:nvPr/>
        </p:nvSpPr>
        <p:spPr>
          <a:xfrm>
            <a:off x="4165600" y="3987800"/>
            <a:ext cx="1473200" cy="5588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s-CO" sz="1050">
                <a:solidFill>
                  <a:srgbClr val="012E33"/>
                </a:solidFill>
                <a:latin typeface="Calibri" panose="020F0502020204030204" pitchFamily="34" charset="0"/>
              </a:rPr>
              <a:t>Acierto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B9C77F5-4B9E-7D47-1CA8-E75B8E73C032}"/>
              </a:ext>
            </a:extLst>
          </p:cNvPr>
          <p:cNvSpPr txBox="1"/>
          <p:nvPr/>
        </p:nvSpPr>
        <p:spPr>
          <a:xfrm>
            <a:off x="1168400" y="46482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5C6C6E"/>
                </a:solidFill>
                <a:latin typeface="Calibri" panose="020F0502020204030204" pitchFamily="34" charset="0"/>
              </a:rPr>
              <a:t>No basta con cuántas veces acierta: importa CÓMO se equivoca.</a:t>
            </a:r>
            <a:endParaRPr lang="es-CO" sz="1150" i="1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B9493CC-BE13-9D2F-6BDE-28E975D87B3F}"/>
              </a:ext>
            </a:extLst>
          </p:cNvPr>
          <p:cNvSpPr/>
          <p:nvPr/>
        </p:nvSpPr>
        <p:spPr>
          <a:xfrm>
            <a:off x="6261100" y="2159000"/>
            <a:ext cx="5080000" cy="939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29604A6-B585-C706-26DC-16024CC64BDD}"/>
              </a:ext>
            </a:extLst>
          </p:cNvPr>
          <p:cNvSpPr txBox="1"/>
          <p:nvPr/>
        </p:nvSpPr>
        <p:spPr>
          <a:xfrm>
            <a:off x="6565900" y="23622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28090"/>
                </a:solidFill>
                <a:latin typeface="Cambria" panose="02040503050406030204" pitchFamily="18" charset="0"/>
              </a:rPr>
              <a:t>Precisión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A83BAF0-D581-5F45-0567-4C5AFF4043F5}"/>
              </a:ext>
            </a:extLst>
          </p:cNvPr>
          <p:cNvSpPr txBox="1"/>
          <p:nvPr/>
        </p:nvSpPr>
        <p:spPr>
          <a:xfrm>
            <a:off x="6565900" y="26924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¿Qué porcentaje de las predicciones fue correcto?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7C6FF40-EFE3-BBA1-9250-65B81917B30B}"/>
              </a:ext>
            </a:extLst>
          </p:cNvPr>
          <p:cNvSpPr/>
          <p:nvPr/>
        </p:nvSpPr>
        <p:spPr>
          <a:xfrm>
            <a:off x="6261100" y="3213100"/>
            <a:ext cx="5080000" cy="939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CB754F6-A5F6-4212-DADE-76AF8D1683BA}"/>
              </a:ext>
            </a:extLst>
          </p:cNvPr>
          <p:cNvSpPr txBox="1"/>
          <p:nvPr/>
        </p:nvSpPr>
        <p:spPr>
          <a:xfrm>
            <a:off x="6565900" y="34163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28090"/>
                </a:solidFill>
                <a:latin typeface="Cambria" panose="02040503050406030204" pitchFamily="18" charset="0"/>
              </a:rPr>
              <a:t>Error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B7FDF61-6149-8F23-99B7-8301999E1A70}"/>
              </a:ext>
            </a:extLst>
          </p:cNvPr>
          <p:cNvSpPr txBox="1"/>
          <p:nvPr/>
        </p:nvSpPr>
        <p:spPr>
          <a:xfrm>
            <a:off x="6565900" y="37465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¿Qué tan lejos quedó la predicción del valor real?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A4BB91F-E588-DF6A-DF0C-4E3058F15AED}"/>
              </a:ext>
            </a:extLst>
          </p:cNvPr>
          <p:cNvSpPr/>
          <p:nvPr/>
        </p:nvSpPr>
        <p:spPr>
          <a:xfrm>
            <a:off x="6261100" y="4267200"/>
            <a:ext cx="5080000" cy="939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69D19C8-E3BA-AFE3-763F-65D0C9319877}"/>
              </a:ext>
            </a:extLst>
          </p:cNvPr>
          <p:cNvSpPr txBox="1"/>
          <p:nvPr/>
        </p:nvSpPr>
        <p:spPr>
          <a:xfrm>
            <a:off x="6565900" y="44704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28090"/>
                </a:solidFill>
                <a:latin typeface="Cambria" panose="02040503050406030204" pitchFamily="18" charset="0"/>
              </a:rPr>
              <a:t>Por grupo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C232D3A-21D6-AA92-94EA-CAB5A149C8EB}"/>
              </a:ext>
            </a:extLst>
          </p:cNvPr>
          <p:cNvSpPr txBox="1"/>
          <p:nvPr/>
        </p:nvSpPr>
        <p:spPr>
          <a:xfrm>
            <a:off x="6565900" y="48006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¿Funciona igual de bien para todos los segmentos, o falla con unos?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9973D05-B5B5-014B-B2E6-A52A1161F4BD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Un modelo con 92% de precisión global puede estar fallando por completo con un grupo específico. La métrica promedio esconde.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853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356DA3C-0F32-EB21-0F07-5130B887C5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26B0132-DCC7-C401-3A6F-CF748499FC73}"/>
              </a:ext>
            </a:extLst>
          </p:cNvPr>
          <p:cNvSpPr txBox="1"/>
          <p:nvPr/>
        </p:nvSpPr>
        <p:spPr>
          <a:xfrm>
            <a:off x="5715000" y="3048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E T A P A S   7   Y   8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5D9F441-FC50-D459-0E99-50EE2CED4D34}"/>
              </a:ext>
            </a:extLst>
          </p:cNvPr>
          <p:cNvSpPr txBox="1"/>
          <p:nvPr/>
        </p:nvSpPr>
        <p:spPr>
          <a:xfrm>
            <a:off x="5715000" y="33274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300" b="1">
                <a:solidFill>
                  <a:srgbClr val="FFFFFF"/>
                </a:solidFill>
                <a:latin typeface="Cambria" panose="02040503050406030204" pitchFamily="18" charset="0"/>
              </a:rPr>
              <a:t>Comunicar y decidir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AF77B70-1DA0-A2D2-503E-F47241DBD949}"/>
              </a:ext>
            </a:extLst>
          </p:cNvPr>
          <p:cNvSpPr txBox="1"/>
          <p:nvPr/>
        </p:nvSpPr>
        <p:spPr>
          <a:xfrm>
            <a:off x="5715000" y="45720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C3D6D8"/>
                </a:solidFill>
                <a:latin typeface="Calibri" panose="020F0502020204030204" pitchFamily="34" charset="0"/>
              </a:rPr>
              <a:t>Las siete etapas anteriores no valen nada si la persona que debe decidir no entiende el resultado.</a:t>
            </a:r>
            <a:endParaRPr lang="es-CO" sz="13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4BBE5FD-207D-EDEA-6F5F-BA81B7A6BDBC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30453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C5C90D5-BE97-472A-D1B6-0B8A6641AEAA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b="1">
                <a:solidFill>
                  <a:srgbClr val="028090"/>
                </a:solidFill>
                <a:latin typeface="Calibri" panose="020F0502020204030204" pitchFamily="34" charset="0"/>
              </a:rPr>
              <a:t>E T A P A   7   D E   8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3C45A05-289D-083A-7E3E-0A85EDDCD47B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012E33"/>
                </a:solidFill>
                <a:latin typeface="Cambria" panose="02040503050406030204" pitchFamily="18" charset="0"/>
              </a:rPr>
              <a:t>Un hallazgo, cuatro formas de contarlo</a:t>
            </a:r>
            <a:endParaRPr lang="es-CO" sz="31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CBC3304-7DDB-E9A0-6CD9-577E79D11A43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09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E2BC9F2-14A4-8A1C-72EB-79AE53BD655F}"/>
              </a:ext>
            </a:extLst>
          </p:cNvPr>
          <p:cNvSpPr txBox="1"/>
          <p:nvPr/>
        </p:nvSpPr>
        <p:spPr>
          <a:xfrm>
            <a:off x="850900" y="16256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>
                <a:solidFill>
                  <a:srgbClr val="5C6C6E"/>
                </a:solidFill>
                <a:latin typeface="Calibri" panose="020F0502020204030204" pitchFamily="34" charset="0"/>
              </a:rPr>
              <a:t>Aquí conecta todo el curso. El mismo hallazgo se comunica de forma distinta según a quién va dirigido:</a:t>
            </a:r>
            <a:endParaRPr lang="es-CO" sz="14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9FBDC76-DA4E-B9D5-B5F5-76319CDC95E5}"/>
              </a:ext>
            </a:extLst>
          </p:cNvPr>
          <p:cNvSpPr/>
          <p:nvPr/>
        </p:nvSpPr>
        <p:spPr>
          <a:xfrm>
            <a:off x="850900" y="2184400"/>
            <a:ext cx="10490200" cy="787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B8D5B0E-ED35-455A-240A-2D16DD90CB75}"/>
              </a:ext>
            </a:extLst>
          </p:cNvPr>
          <p:cNvSpPr txBox="1"/>
          <p:nvPr/>
        </p:nvSpPr>
        <p:spPr>
          <a:xfrm>
            <a:off x="1168400" y="23876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28090"/>
                </a:solidFill>
                <a:latin typeface="Cambria" panose="02040503050406030204" pitchFamily="18" charset="0"/>
              </a:rPr>
              <a:t>Dashboard interactivo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FF8D105-3DB6-35D9-8F13-6BCB382EE4DA}"/>
              </a:ext>
            </a:extLst>
          </p:cNvPr>
          <p:cNvSpPr txBox="1"/>
          <p:nvPr/>
        </p:nvSpPr>
        <p:spPr>
          <a:xfrm>
            <a:off x="4699000" y="24130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Para quien consulta datos seguido y necesita explorar por su cuenta.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1033CE9-34A1-C3A7-7EAB-DC791B2E3B9B}"/>
              </a:ext>
            </a:extLst>
          </p:cNvPr>
          <p:cNvSpPr txBox="1"/>
          <p:nvPr/>
        </p:nvSpPr>
        <p:spPr>
          <a:xfrm>
            <a:off x="9461500" y="24130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1100" b="1" i="1">
                <a:solidFill>
                  <a:srgbClr val="00A896"/>
                </a:solidFill>
                <a:latin typeface="Calibri" panose="020F0502020204030204" pitchFamily="34" charset="0"/>
              </a:rPr>
              <a:t>Con filtros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13DA439-BEE2-A99D-1D5B-EA5E1EA94EA7}"/>
              </a:ext>
            </a:extLst>
          </p:cNvPr>
          <p:cNvSpPr/>
          <p:nvPr/>
        </p:nvSpPr>
        <p:spPr>
          <a:xfrm>
            <a:off x="850900" y="3073400"/>
            <a:ext cx="10490200" cy="787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A5482EC-D2E2-1F0B-BA92-88F23386D893}"/>
              </a:ext>
            </a:extLst>
          </p:cNvPr>
          <p:cNvSpPr txBox="1"/>
          <p:nvPr/>
        </p:nvSpPr>
        <p:spPr>
          <a:xfrm>
            <a:off x="1168400" y="32766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28090"/>
                </a:solidFill>
                <a:latin typeface="Cambria" panose="02040503050406030204" pitchFamily="18" charset="0"/>
              </a:rPr>
              <a:t>Reporte ejecutivo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29911B5-EFFE-3540-880A-A983D12C58CA}"/>
              </a:ext>
            </a:extLst>
          </p:cNvPr>
          <p:cNvSpPr txBox="1"/>
          <p:nvPr/>
        </p:nvSpPr>
        <p:spPr>
          <a:xfrm>
            <a:off x="4699000" y="33020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Para quien decide y tiene tres minutos: una conclusión y una recomendación.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0BCA48A-05F7-7817-60F5-24DA3E34FBF5}"/>
              </a:ext>
            </a:extLst>
          </p:cNvPr>
          <p:cNvSpPr txBox="1"/>
          <p:nvPr/>
        </p:nvSpPr>
        <p:spPr>
          <a:xfrm>
            <a:off x="9461500" y="33020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1100" b="1" i="1">
                <a:solidFill>
                  <a:srgbClr val="00A896"/>
                </a:solidFill>
                <a:latin typeface="Calibri" panose="020F0502020204030204" pitchFamily="34" charset="0"/>
              </a:rPr>
              <a:t>Concluyente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F9B1284-D69D-ADFC-42EA-8E2712437437}"/>
              </a:ext>
            </a:extLst>
          </p:cNvPr>
          <p:cNvSpPr/>
          <p:nvPr/>
        </p:nvSpPr>
        <p:spPr>
          <a:xfrm>
            <a:off x="850900" y="3962400"/>
            <a:ext cx="10490200" cy="787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48ED614-22C2-ACFE-E471-F648994DDEEF}"/>
              </a:ext>
            </a:extLst>
          </p:cNvPr>
          <p:cNvSpPr txBox="1"/>
          <p:nvPr/>
        </p:nvSpPr>
        <p:spPr>
          <a:xfrm>
            <a:off x="1168400" y="41656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28090"/>
                </a:solidFill>
                <a:latin typeface="Cambria" panose="02040503050406030204" pitchFamily="18" charset="0"/>
              </a:rPr>
              <a:t>Gráfico para no expertos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5F0C570-21F7-A42C-80A1-8F6BC4C4E1A0}"/>
              </a:ext>
            </a:extLst>
          </p:cNvPr>
          <p:cNvSpPr txBox="1"/>
          <p:nvPr/>
        </p:nvSpPr>
        <p:spPr>
          <a:xfrm>
            <a:off x="4699000" y="41910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Para público general o prensa. Se entiende sin explicación previa.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C025DB6-0072-C62B-9986-542EBEBCA1AC}"/>
              </a:ext>
            </a:extLst>
          </p:cNvPr>
          <p:cNvSpPr txBox="1"/>
          <p:nvPr/>
        </p:nvSpPr>
        <p:spPr>
          <a:xfrm>
            <a:off x="9461500" y="41910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1100" b="1" i="1">
                <a:solidFill>
                  <a:srgbClr val="00A896"/>
                </a:solidFill>
                <a:latin typeface="Calibri" panose="020F0502020204030204" pitchFamily="34" charset="0"/>
              </a:rPr>
              <a:t>Autoexplicativo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48A35F8-4CA0-0DD7-6513-70B0958A04D0}"/>
              </a:ext>
            </a:extLst>
          </p:cNvPr>
          <p:cNvSpPr/>
          <p:nvPr/>
        </p:nvSpPr>
        <p:spPr>
          <a:xfrm>
            <a:off x="850900" y="4851400"/>
            <a:ext cx="10490200" cy="787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88BF35E-F858-F536-448B-8232A178BA68}"/>
              </a:ext>
            </a:extLst>
          </p:cNvPr>
          <p:cNvSpPr txBox="1"/>
          <p:nvPr/>
        </p:nvSpPr>
        <p:spPr>
          <a:xfrm>
            <a:off x="1168400" y="50546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28090"/>
                </a:solidFill>
                <a:latin typeface="Cambria" panose="02040503050406030204" pitchFamily="18" charset="0"/>
              </a:rPr>
              <a:t>Data storytelling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EC096B4-D82E-CEDA-3E01-1297E9AEEA9B}"/>
              </a:ext>
            </a:extLst>
          </p:cNvPr>
          <p:cNvSpPr txBox="1"/>
          <p:nvPr/>
        </p:nvSpPr>
        <p:spPr>
          <a:xfrm>
            <a:off x="4699000" y="50800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Para persuadir: estructura narrativa con contexto, tensión y desenlace.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36EF34C-9E94-E37F-D14F-881B069D9FDD}"/>
              </a:ext>
            </a:extLst>
          </p:cNvPr>
          <p:cNvSpPr txBox="1"/>
          <p:nvPr/>
        </p:nvSpPr>
        <p:spPr>
          <a:xfrm>
            <a:off x="9461500" y="50800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1100" b="1" i="1">
                <a:solidFill>
                  <a:srgbClr val="00A896"/>
                </a:solidFill>
                <a:latin typeface="Calibri" panose="020F0502020204030204" pitchFamily="34" charset="0"/>
              </a:rPr>
              <a:t>Memorable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51A85BC-4E6A-52EC-8377-CFF30C5D751D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Si nadie entiende el resultado, las seis etapas anteriores no importan.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83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A12B6A1-44DA-9D26-FE03-F7735D5AEE2D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I D E A   C E N T R A L   D E L   C U R S O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6948B14-C522-2F0B-A487-35CFBDB1366D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FFFFFF"/>
                </a:solidFill>
                <a:latin typeface="Cambria" panose="02040503050406030204" pitchFamily="18" charset="0"/>
              </a:rPr>
              <a:t>La visualización no vive solo en la etapa 7</a:t>
            </a:r>
            <a:endParaRPr lang="es-CO" sz="31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318CB6E-F4DE-C622-242C-B51ED26A35B8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10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E1B93A8-60EF-F433-AB4E-09EBB3D3C247}"/>
              </a:ext>
            </a:extLst>
          </p:cNvPr>
          <p:cNvSpPr txBox="1"/>
          <p:nvPr/>
        </p:nvSpPr>
        <p:spPr>
          <a:xfrm>
            <a:off x="850900" y="16002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C3D6D8"/>
                </a:solidFill>
                <a:latin typeface="Calibri" panose="020F0502020204030204" pitchFamily="34" charset="0"/>
              </a:rPr>
              <a:t>Es la etapa que le da nombre, pero se usa a lo largo de todo el ciclo, con propósitos distintos:</a:t>
            </a:r>
            <a:endParaRPr lang="es-CO" sz="13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99050EA-E6EC-3715-9FA8-052508EDE1B3}"/>
              </a:ext>
            </a:extLst>
          </p:cNvPr>
          <p:cNvSpPr/>
          <p:nvPr/>
        </p:nvSpPr>
        <p:spPr>
          <a:xfrm>
            <a:off x="850900" y="2133600"/>
            <a:ext cx="10490200" cy="7874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C5DC4D6-328C-6D94-1D9E-D5E92FE68BE0}"/>
              </a:ext>
            </a:extLst>
          </p:cNvPr>
          <p:cNvSpPr txBox="1"/>
          <p:nvPr/>
        </p:nvSpPr>
        <p:spPr>
          <a:xfrm>
            <a:off x="1168400" y="23876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00" b="1">
                <a:solidFill>
                  <a:srgbClr val="00A896"/>
                </a:solidFill>
                <a:latin typeface="Calibri" panose="020F0502020204030204" pitchFamily="34" charset="0"/>
              </a:rPr>
              <a:t>Etapa 3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8B36F41-C248-7D8C-BFA2-D6256AD81BCA}"/>
              </a:ext>
            </a:extLst>
          </p:cNvPr>
          <p:cNvSpPr txBox="1"/>
          <p:nvPr/>
        </p:nvSpPr>
        <p:spPr>
          <a:xfrm>
            <a:off x="2349500" y="2362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FFFFFF"/>
                </a:solidFill>
                <a:latin typeface="Cambria" panose="02040503050406030204" pitchFamily="18" charset="0"/>
              </a:rPr>
              <a:t>Limpieza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3BBBE95-7E7A-0824-A8BA-2E8F1CFB9008}"/>
              </a:ext>
            </a:extLst>
          </p:cNvPr>
          <p:cNvSpPr txBox="1"/>
          <p:nvPr/>
        </p:nvSpPr>
        <p:spPr>
          <a:xfrm>
            <a:off x="4889500" y="2362200"/>
            <a:ext cx="622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C3D6D8"/>
                </a:solidFill>
                <a:latin typeface="Calibri" panose="020F0502020204030204" pitchFamily="34" charset="0"/>
              </a:rPr>
              <a:t>Un gráfico revela en un segundo los valores imposibles y los vacíos que una tabla esconde.</a:t>
            </a:r>
            <a:endParaRPr lang="es-CO" sz="12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9635925-5866-A174-AA26-D5DE7D8E96BD}"/>
              </a:ext>
            </a:extLst>
          </p:cNvPr>
          <p:cNvSpPr/>
          <p:nvPr/>
        </p:nvSpPr>
        <p:spPr>
          <a:xfrm>
            <a:off x="850900" y="3022600"/>
            <a:ext cx="10490200" cy="7874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721C694-8E4C-FCB9-E4D7-B4BD8BA93B2A}"/>
              </a:ext>
            </a:extLst>
          </p:cNvPr>
          <p:cNvSpPr txBox="1"/>
          <p:nvPr/>
        </p:nvSpPr>
        <p:spPr>
          <a:xfrm>
            <a:off x="1168400" y="32766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00" b="1">
                <a:solidFill>
                  <a:srgbClr val="00A896"/>
                </a:solidFill>
                <a:latin typeface="Calibri" panose="020F0502020204030204" pitchFamily="34" charset="0"/>
              </a:rPr>
              <a:t>Etapa 4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C9DF3E9-9454-A213-2553-154B194BCF14}"/>
              </a:ext>
            </a:extLst>
          </p:cNvPr>
          <p:cNvSpPr txBox="1"/>
          <p:nvPr/>
        </p:nvSpPr>
        <p:spPr>
          <a:xfrm>
            <a:off x="2349500" y="3251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FFFFFF"/>
                </a:solidFill>
                <a:latin typeface="Cambria" panose="02040503050406030204" pitchFamily="18" charset="0"/>
              </a:rPr>
              <a:t>EDA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0ED9CAF-0D4C-DDC6-EB4E-FBC2F6C1B7FE}"/>
              </a:ext>
            </a:extLst>
          </p:cNvPr>
          <p:cNvSpPr txBox="1"/>
          <p:nvPr/>
        </p:nvSpPr>
        <p:spPr>
          <a:xfrm>
            <a:off x="4889500" y="3251200"/>
            <a:ext cx="622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C3D6D8"/>
                </a:solidFill>
                <a:latin typeface="Calibri" panose="020F0502020204030204" pitchFamily="34" charset="0"/>
              </a:rPr>
              <a:t>Es la herramienta principal: distribuciones, atípicos y relaciones se ven, no se calculan.</a:t>
            </a:r>
            <a:endParaRPr lang="es-CO" sz="12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B6336B4-4B48-DBAF-6F47-1335BD98AB3D}"/>
              </a:ext>
            </a:extLst>
          </p:cNvPr>
          <p:cNvSpPr/>
          <p:nvPr/>
        </p:nvSpPr>
        <p:spPr>
          <a:xfrm>
            <a:off x="850900" y="3911600"/>
            <a:ext cx="10490200" cy="7874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B1AD0FE-8274-EAEE-6440-F3E727F6CEA3}"/>
              </a:ext>
            </a:extLst>
          </p:cNvPr>
          <p:cNvSpPr txBox="1"/>
          <p:nvPr/>
        </p:nvSpPr>
        <p:spPr>
          <a:xfrm>
            <a:off x="1168400" y="41656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00" b="1">
                <a:solidFill>
                  <a:srgbClr val="00A896"/>
                </a:solidFill>
                <a:latin typeface="Calibri" panose="020F0502020204030204" pitchFamily="34" charset="0"/>
              </a:rPr>
              <a:t>Etapa 6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498E298-C45E-F72A-5809-80BDADEB892B}"/>
              </a:ext>
            </a:extLst>
          </p:cNvPr>
          <p:cNvSpPr txBox="1"/>
          <p:nvPr/>
        </p:nvSpPr>
        <p:spPr>
          <a:xfrm>
            <a:off x="2349500" y="4140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FFFFFF"/>
                </a:solidFill>
                <a:latin typeface="Cambria" panose="02040503050406030204" pitchFamily="18" charset="0"/>
              </a:rPr>
              <a:t>Evaluación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F4E0D06-E5F8-FEF3-C312-8E80C718F761}"/>
              </a:ext>
            </a:extLst>
          </p:cNvPr>
          <p:cNvSpPr txBox="1"/>
          <p:nvPr/>
        </p:nvSpPr>
        <p:spPr>
          <a:xfrm>
            <a:off x="4889500" y="4140200"/>
            <a:ext cx="622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C3D6D8"/>
                </a:solidFill>
                <a:latin typeface="Calibri" panose="020F0502020204030204" pitchFamily="34" charset="0"/>
              </a:rPr>
              <a:t>Matrices de confusión, curvas ROC e importancia de variables son, todas, visualizaciones.</a:t>
            </a:r>
            <a:endParaRPr lang="es-CO" sz="12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40B6158-E4BB-4407-9895-D43500A16E2D}"/>
              </a:ext>
            </a:extLst>
          </p:cNvPr>
          <p:cNvSpPr/>
          <p:nvPr/>
        </p:nvSpPr>
        <p:spPr>
          <a:xfrm>
            <a:off x="850900" y="4800600"/>
            <a:ext cx="10490200" cy="7874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01B1E3F-6415-D59C-A5DD-B8841D8B941C}"/>
              </a:ext>
            </a:extLst>
          </p:cNvPr>
          <p:cNvSpPr txBox="1"/>
          <p:nvPr/>
        </p:nvSpPr>
        <p:spPr>
          <a:xfrm>
            <a:off x="1168400" y="50546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00" b="1">
                <a:solidFill>
                  <a:srgbClr val="00A896"/>
                </a:solidFill>
                <a:latin typeface="Calibri" panose="020F0502020204030204" pitchFamily="34" charset="0"/>
              </a:rPr>
              <a:t>Etapa 7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A2E41EC-2A9F-57B8-7A32-202F59E3A25C}"/>
              </a:ext>
            </a:extLst>
          </p:cNvPr>
          <p:cNvSpPr txBox="1"/>
          <p:nvPr/>
        </p:nvSpPr>
        <p:spPr>
          <a:xfrm>
            <a:off x="2349500" y="5029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FFFFFF"/>
                </a:solidFill>
                <a:latin typeface="Cambria" panose="02040503050406030204" pitchFamily="18" charset="0"/>
              </a:rPr>
              <a:t>Comunicación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32958A1-FED4-1588-C781-CAA24E2A41CA}"/>
              </a:ext>
            </a:extLst>
          </p:cNvPr>
          <p:cNvSpPr txBox="1"/>
          <p:nvPr/>
        </p:nvSpPr>
        <p:spPr>
          <a:xfrm>
            <a:off x="4889500" y="5029200"/>
            <a:ext cx="622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C3D6D8"/>
                </a:solidFill>
                <a:latin typeface="Calibri" panose="020F0502020204030204" pitchFamily="34" charset="0"/>
              </a:rPr>
              <a:t>Aquí cambia el objetivo: ya no es descubrir, es explicar a alguien más.</a:t>
            </a:r>
            <a:endParaRPr lang="es-CO" sz="12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EE1F906-B731-2D94-308F-FEAFF2CC5E22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BFEAE4"/>
                </a:solidFill>
                <a:latin typeface="Calibri" panose="020F0502020204030204" pitchFamily="34" charset="0"/>
              </a:rPr>
              <a:t>Exploración y comunicación: los dos roles de la clase 1, repartidos a lo largo de todo el ciclo.</a:t>
            </a:r>
            <a:endParaRPr lang="es-CO" sz="1150" i="1">
              <a:solidFill>
                <a:srgbClr val="BFEAE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832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8C1F2EB-1027-7C2E-0BEF-BBA053602255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b="1">
                <a:solidFill>
                  <a:srgbClr val="028090"/>
                </a:solidFill>
                <a:latin typeface="Calibri" panose="020F0502020204030204" pitchFamily="34" charset="0"/>
              </a:rPr>
              <a:t>E T A P A   8   D E   8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B2C534-1B2A-C83C-0FF4-DF60E23FD140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Decisión y monitoreo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A46640-C39B-0F25-42A5-A7D30172B0B8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11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4E71EBD-7AD0-3ADA-76C6-B3AD5B9E7CE9}"/>
              </a:ext>
            </a:extLst>
          </p:cNvPr>
          <p:cNvSpPr/>
          <p:nvPr/>
        </p:nvSpPr>
        <p:spPr>
          <a:xfrm>
            <a:off x="850900" y="1778000"/>
            <a:ext cx="5080000" cy="3175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A9CFF30-6DA7-6981-35D2-3E012C5F86F8}"/>
              </a:ext>
            </a:extLst>
          </p:cNvPr>
          <p:cNvSpPr txBox="1"/>
          <p:nvPr/>
        </p:nvSpPr>
        <p:spPr>
          <a:xfrm>
            <a:off x="1168400" y="20955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600" b="1">
                <a:solidFill>
                  <a:srgbClr val="028090"/>
                </a:solidFill>
                <a:latin typeface="Cambria" panose="02040503050406030204" pitchFamily="18" charset="0"/>
              </a:rPr>
              <a:t>La decisión se toma...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8EFB9A1-1BB9-3775-98C3-99B4C5D35837}"/>
              </a:ext>
            </a:extLst>
          </p:cNvPr>
          <p:cNvSpPr txBox="1"/>
          <p:nvPr/>
        </p:nvSpPr>
        <p:spPr>
          <a:xfrm>
            <a:off x="1168400" y="25400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00">
                <a:solidFill>
                  <a:srgbClr val="5C6C6E"/>
                </a:solidFill>
                <a:latin typeface="Calibri" panose="020F0502020204030204" pitchFamily="34" charset="0"/>
              </a:rPr>
              <a:t>Alguien actúa con base en el análisis: cambia un precio, redistribuye un recurso, prioriza una ruta, lanza una campaña.</a:t>
            </a:r>
          </a:p>
          <a:p>
            <a:pPr>
              <a:lnSpc>
                <a:spcPct val="115000"/>
              </a:lnSpc>
            </a:pPr>
            <a:endParaRPr lang="es-MX" sz="1300">
              <a:solidFill>
                <a:srgbClr val="5C6C6E"/>
              </a:solidFill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s-MX" sz="1300">
                <a:solidFill>
                  <a:srgbClr val="5C6C6E"/>
                </a:solidFill>
                <a:latin typeface="Calibri" panose="020F0502020204030204" pitchFamily="34" charset="0"/>
              </a:rPr>
              <a:t>Ese momento es el único que justifica todo el trabajo anterior.</a:t>
            </a:r>
            <a:endParaRPr lang="es-CO" sz="13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C0CE107-3CBE-7DB6-C901-4697689413A7}"/>
              </a:ext>
            </a:extLst>
          </p:cNvPr>
          <p:cNvSpPr/>
          <p:nvPr/>
        </p:nvSpPr>
        <p:spPr>
          <a:xfrm>
            <a:off x="6261100" y="1778000"/>
            <a:ext cx="2667000" cy="3175000"/>
          </a:xfrm>
          <a:prstGeom prst="rect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7E1F549-C813-E513-15CC-07A7BC930403}"/>
              </a:ext>
            </a:extLst>
          </p:cNvPr>
          <p:cNvSpPr txBox="1"/>
          <p:nvPr/>
        </p:nvSpPr>
        <p:spPr>
          <a:xfrm>
            <a:off x="6515100" y="20955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600" b="1">
                <a:solidFill>
                  <a:srgbClr val="02C39A"/>
                </a:solidFill>
                <a:latin typeface="Cambria" panose="02040503050406030204" pitchFamily="18" charset="0"/>
              </a:rPr>
              <a:t>...y no termina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4516016-85D8-D4C5-C0E9-31AA2E9204C5}"/>
              </a:ext>
            </a:extLst>
          </p:cNvPr>
          <p:cNvSpPr txBox="1"/>
          <p:nvPr/>
        </p:nvSpPr>
        <p:spPr>
          <a:xfrm>
            <a:off x="6515100" y="25400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C3D6D8"/>
                </a:solidFill>
                <a:latin typeface="Calibri" panose="020F0502020204030204" pitchFamily="34" charset="0"/>
              </a:rPr>
              <a:t>El mundo cambia: nuevos usuarios, nuevas condiciones, nuevos datos.</a:t>
            </a:r>
          </a:p>
          <a:p>
            <a:pPr>
              <a:lnSpc>
                <a:spcPct val="115000"/>
              </a:lnSpc>
            </a:pPr>
            <a:endParaRPr lang="es-MX" sz="1200">
              <a:solidFill>
                <a:srgbClr val="C3D6D8"/>
              </a:solidFill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s-MX" sz="1200">
                <a:solidFill>
                  <a:srgbClr val="C3D6D8"/>
                </a:solidFill>
                <a:latin typeface="Calibri" panose="020F0502020204030204" pitchFamily="34" charset="0"/>
              </a:rPr>
              <a:t>Un modelo que funcionaba bien puede dejar de hacerlo sin que nadie se entere.</a:t>
            </a:r>
            <a:endParaRPr lang="es-CO" sz="12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2E39137-52C3-5EFD-8993-AE46A3B7A9A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600" y="1778000"/>
            <a:ext cx="2222500" cy="31750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0692FDF-5387-F787-6D4D-810EB581755F}"/>
              </a:ext>
            </a:extLst>
          </p:cNvPr>
          <p:cNvSpPr txBox="1"/>
          <p:nvPr/>
        </p:nvSpPr>
        <p:spPr>
          <a:xfrm>
            <a:off x="850900" y="5207000"/>
            <a:ext cx="10490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1600" b="1">
                <a:solidFill>
                  <a:srgbClr val="012E33"/>
                </a:solidFill>
                <a:latin typeface="Cambria" panose="02040503050406030204" pitchFamily="18" charset="0"/>
              </a:rPr>
              <a:t>El ciclo no termina. Empieza de nuevo, con preguntas más inteligentes.</a:t>
            </a:r>
            <a:endParaRPr lang="es-CO" sz="16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14640ED-1788-73B1-185F-895DCB52FF6F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A este deterioro silencioso del desempeño se le llama 'deriva del modelo' (model drift).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823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6B4C2D1-2623-0341-1163-5E9D1B753AD7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E N   L A   P R A C T I C A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01FE704-67A8-5979-A4C4-BC5760E1E9D6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012E33"/>
                </a:solidFill>
                <a:latin typeface="Cambria" panose="02040503050406030204" pitchFamily="18" charset="0"/>
              </a:rPr>
              <a:t>Nunca es una línea recta</a:t>
            </a:r>
            <a:endParaRPr lang="es-CO" sz="31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2C15493-B76F-6ADE-7AAA-02883F9DF7C9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12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0A8E95A-E620-5783-B414-5540EE512256}"/>
              </a:ext>
            </a:extLst>
          </p:cNvPr>
          <p:cNvSpPr/>
          <p:nvPr/>
        </p:nvSpPr>
        <p:spPr>
          <a:xfrm>
            <a:off x="850900" y="1841500"/>
            <a:ext cx="10490200" cy="939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BDB1FB2-325B-17F6-D859-2DAAD7C40E32}"/>
              </a:ext>
            </a:extLst>
          </p:cNvPr>
          <p:cNvSpPr txBox="1"/>
          <p:nvPr/>
        </p:nvSpPr>
        <p:spPr>
          <a:xfrm>
            <a:off x="1168400" y="20447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50" b="1">
                <a:solidFill>
                  <a:srgbClr val="012E33"/>
                </a:solidFill>
                <a:latin typeface="Cambria" panose="02040503050406030204" pitchFamily="18" charset="0"/>
              </a:rPr>
              <a:t>Vuelves atrás todo el tiempo</a:t>
            </a:r>
            <a:endParaRPr lang="es-CO" sz="145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2C6FEA3-4F03-4CC4-0B49-574940116121}"/>
              </a:ext>
            </a:extLst>
          </p:cNvPr>
          <p:cNvSpPr txBox="1"/>
          <p:nvPr/>
        </p:nvSpPr>
        <p:spPr>
          <a:xfrm>
            <a:off x="1168400" y="23749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Al explorar descubres que falta una variable y regresas a recolectar.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963328B-9B37-B363-E28E-A9EB7135FB7F}"/>
              </a:ext>
            </a:extLst>
          </p:cNvPr>
          <p:cNvSpPr txBox="1"/>
          <p:nvPr/>
        </p:nvSpPr>
        <p:spPr>
          <a:xfrm>
            <a:off x="7112000" y="2171700"/>
            <a:ext cx="4000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 i="1">
                <a:solidFill>
                  <a:srgbClr val="028090"/>
                </a:solidFill>
                <a:latin typeface="Calibri" panose="020F0502020204030204" pitchFamily="34" charset="0"/>
              </a:rPr>
              <a:t>Es señal de buen trabajo, no de fracaso.</a:t>
            </a:r>
            <a:endParaRPr lang="es-CO" sz="120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0A6BF1C-66EC-3DCF-809B-F532CACD0083}"/>
              </a:ext>
            </a:extLst>
          </p:cNvPr>
          <p:cNvSpPr/>
          <p:nvPr/>
        </p:nvSpPr>
        <p:spPr>
          <a:xfrm>
            <a:off x="850900" y="2908300"/>
            <a:ext cx="10490200" cy="939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315F328-0583-2EC9-61BF-C8276282CF6F}"/>
              </a:ext>
            </a:extLst>
          </p:cNvPr>
          <p:cNvSpPr txBox="1"/>
          <p:nvPr/>
        </p:nvSpPr>
        <p:spPr>
          <a:xfrm>
            <a:off x="1168400" y="31115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12E33"/>
                </a:solidFill>
                <a:latin typeface="Cambria" panose="02040503050406030204" pitchFamily="18" charset="0"/>
              </a:rPr>
              <a:t>La limpieza reaparece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669DEA-F815-166C-A8FE-B7381650ED1B}"/>
              </a:ext>
            </a:extLst>
          </p:cNvPr>
          <p:cNvSpPr txBox="1"/>
          <p:nvPr/>
        </p:nvSpPr>
        <p:spPr>
          <a:xfrm>
            <a:off x="1168400" y="34417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Cada fuente nueva trae sus propios errores de formato y valores faltantes.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E4B6276-D637-1B1A-B1DE-3090EA34C720}"/>
              </a:ext>
            </a:extLst>
          </p:cNvPr>
          <p:cNvSpPr txBox="1"/>
          <p:nvPr/>
        </p:nvSpPr>
        <p:spPr>
          <a:xfrm>
            <a:off x="7112000" y="3238500"/>
            <a:ext cx="4000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 i="1">
                <a:solidFill>
                  <a:srgbClr val="028090"/>
                </a:solidFill>
                <a:latin typeface="Calibri" panose="020F0502020204030204" pitchFamily="34" charset="0"/>
              </a:rPr>
              <a:t>Por eso se lleva el 80% del tiempo.</a:t>
            </a:r>
            <a:endParaRPr lang="es-CO" sz="120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F5E712F-74A6-B3B1-25BA-815C8610CFA0}"/>
              </a:ext>
            </a:extLst>
          </p:cNvPr>
          <p:cNvSpPr/>
          <p:nvPr/>
        </p:nvSpPr>
        <p:spPr>
          <a:xfrm>
            <a:off x="850900" y="3975100"/>
            <a:ext cx="10490200" cy="939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ACA2F61-9781-3852-B90E-5C0057F27E2C}"/>
              </a:ext>
            </a:extLst>
          </p:cNvPr>
          <p:cNvSpPr txBox="1"/>
          <p:nvPr/>
        </p:nvSpPr>
        <p:spPr>
          <a:xfrm>
            <a:off x="1168400" y="41783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12E33"/>
                </a:solidFill>
                <a:latin typeface="Cambria" panose="02040503050406030204" pitchFamily="18" charset="0"/>
              </a:rPr>
              <a:t>El problema se redefine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9C80E67-91F7-89CB-E93E-9DB93E2E6632}"/>
              </a:ext>
            </a:extLst>
          </p:cNvPr>
          <p:cNvSpPr txBox="1"/>
          <p:nvPr/>
        </p:nvSpPr>
        <p:spPr>
          <a:xfrm>
            <a:off x="1168400" y="45085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Los primeros hallazgos suelen cambiar la pregunta original.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84DC6E7-7764-2FC6-4517-85F66B4F6226}"/>
              </a:ext>
            </a:extLst>
          </p:cNvPr>
          <p:cNvSpPr txBox="1"/>
          <p:nvPr/>
        </p:nvSpPr>
        <p:spPr>
          <a:xfrm>
            <a:off x="7112000" y="4305300"/>
            <a:ext cx="4000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 i="1">
                <a:solidFill>
                  <a:srgbClr val="028090"/>
                </a:solidFill>
                <a:latin typeface="Calibri" panose="020F0502020204030204" pitchFamily="34" charset="0"/>
              </a:rPr>
              <a:t>Es parte del método, no un error de planeación.</a:t>
            </a:r>
            <a:endParaRPr lang="es-CO" sz="120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128992A-D1C0-B7AC-2B0D-1CB80E0AEC64}"/>
              </a:ext>
            </a:extLst>
          </p:cNvPr>
          <p:cNvSpPr/>
          <p:nvPr/>
        </p:nvSpPr>
        <p:spPr>
          <a:xfrm>
            <a:off x="850900" y="5041900"/>
            <a:ext cx="10490200" cy="939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B3A1A25-C921-6627-2E27-9A0A383C1F4A}"/>
              </a:ext>
            </a:extLst>
          </p:cNvPr>
          <p:cNvSpPr txBox="1"/>
          <p:nvPr/>
        </p:nvSpPr>
        <p:spPr>
          <a:xfrm>
            <a:off x="1168400" y="52451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12E33"/>
                </a:solidFill>
                <a:latin typeface="Cambria" panose="02040503050406030204" pitchFamily="18" charset="0"/>
              </a:rPr>
              <a:t>Se entrega por versiones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6A5F7E2-680B-2D92-6185-3B4E9ABD604A}"/>
              </a:ext>
            </a:extLst>
          </p:cNvPr>
          <p:cNvSpPr txBox="1"/>
          <p:nvPr/>
        </p:nvSpPr>
        <p:spPr>
          <a:xfrm>
            <a:off x="1168400" y="55753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Un resultado imperfecto hoy vale más que uno perfecto en seis meses.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C231052-A830-084D-9B7F-FC303D9BE24D}"/>
              </a:ext>
            </a:extLst>
          </p:cNvPr>
          <p:cNvSpPr txBox="1"/>
          <p:nvPr/>
        </p:nvSpPr>
        <p:spPr>
          <a:xfrm>
            <a:off x="7112000" y="5372100"/>
            <a:ext cx="4000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 i="1">
                <a:solidFill>
                  <a:srgbClr val="028090"/>
                </a:solidFill>
                <a:latin typeface="Calibri" panose="020F0502020204030204" pitchFamily="34" charset="0"/>
              </a:rPr>
              <a:t>La decisión no espera al análisis perfecto.</a:t>
            </a:r>
            <a:endParaRPr lang="es-CO" sz="120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1AB0C49-1CFA-E116-AAF9-CAD27BA27C47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Su proyecto del semestre va a recorrer este mismo ciclo, con estos mismos retrocesos. Están previstos.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238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F637DAF-FADD-78E6-727F-B00F794B0557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C A S O   I N T E G R A D O R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EA96F3A-C188-5285-4B13-C6339A96B06F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012E33"/>
                </a:solidFill>
                <a:latin typeface="Cambria" panose="02040503050406030204" pitchFamily="18" charset="0"/>
              </a:rPr>
              <a:t>Las ocho etapas en un caso real</a:t>
            </a:r>
            <a:endParaRPr lang="es-CO" sz="31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6D17A9C-A183-433E-7C0C-0F0C2985BD80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13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903AA23-1EF2-D7F2-0ED3-B83D3A0F19FE}"/>
              </a:ext>
            </a:extLst>
          </p:cNvPr>
          <p:cNvSpPr/>
          <p:nvPr/>
        </p:nvSpPr>
        <p:spPr>
          <a:xfrm>
            <a:off x="850900" y="1625600"/>
            <a:ext cx="10490200" cy="584200"/>
          </a:xfrm>
          <a:prstGeom prst="rect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CDD23E3-A718-F447-F7CD-A4910B6D8DD9}"/>
              </a:ext>
            </a:extLst>
          </p:cNvPr>
          <p:cNvSpPr txBox="1"/>
          <p:nvPr/>
        </p:nvSpPr>
        <p:spPr>
          <a:xfrm>
            <a:off x="1143000" y="17780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>
                <a:solidFill>
                  <a:srgbClr val="FFFFFF"/>
                </a:solidFill>
                <a:latin typeface="Calibri" panose="020F0502020204030204" pitchFamily="34" charset="0"/>
              </a:rPr>
              <a:t>Una universidad quiere reducir la deserción estudiantil. Así se ve el ciclo completo:</a:t>
            </a:r>
            <a:endParaRPr lang="es-CO" sz="1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87BEB74-2C1B-3924-4758-84A24637E448}"/>
              </a:ext>
            </a:extLst>
          </p:cNvPr>
          <p:cNvSpPr/>
          <p:nvPr/>
        </p:nvSpPr>
        <p:spPr>
          <a:xfrm>
            <a:off x="850900" y="2362200"/>
            <a:ext cx="5156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88F0F27-D193-5E5E-0C8E-7CD220132D36}"/>
              </a:ext>
            </a:extLst>
          </p:cNvPr>
          <p:cNvSpPr/>
          <p:nvPr/>
        </p:nvSpPr>
        <p:spPr>
          <a:xfrm>
            <a:off x="1054100" y="25908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1A03FC5-2CEB-C4E9-7019-C8A55138AC34}"/>
              </a:ext>
            </a:extLst>
          </p:cNvPr>
          <p:cNvSpPr txBox="1"/>
          <p:nvPr/>
        </p:nvSpPr>
        <p:spPr>
          <a:xfrm>
            <a:off x="1562100" y="2514600"/>
            <a:ext cx="426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050">
                <a:solidFill>
                  <a:srgbClr val="5C6C6E"/>
                </a:solidFill>
                <a:latin typeface="Calibri" panose="020F0502020204030204" pitchFamily="34" charset="0"/>
              </a:rPr>
              <a:t>¿Qué estudiantes están en riesgo de retirarse el próximo semestre, y con qué anticipación podemos saberlo?</a:t>
            </a:r>
            <a:endParaRPr lang="es-CO" sz="10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B7CFC38-827F-222B-83BA-A23E3C7EC331}"/>
              </a:ext>
            </a:extLst>
          </p:cNvPr>
          <p:cNvSpPr/>
          <p:nvPr/>
        </p:nvSpPr>
        <p:spPr>
          <a:xfrm>
            <a:off x="6184900" y="2362200"/>
            <a:ext cx="5156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77DC9EA-C7D9-37E5-1A1A-D74D3096304C}"/>
              </a:ext>
            </a:extLst>
          </p:cNvPr>
          <p:cNvSpPr/>
          <p:nvPr/>
        </p:nvSpPr>
        <p:spPr>
          <a:xfrm>
            <a:off x="6388100" y="25908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3DA83B1-707F-2E3F-DD78-2D1FFBF8D737}"/>
              </a:ext>
            </a:extLst>
          </p:cNvPr>
          <p:cNvSpPr txBox="1"/>
          <p:nvPr/>
        </p:nvSpPr>
        <p:spPr>
          <a:xfrm>
            <a:off x="6896100" y="2514600"/>
            <a:ext cx="426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050">
                <a:solidFill>
                  <a:srgbClr val="5C6C6E"/>
                </a:solidFill>
                <a:latin typeface="Calibri" panose="020F0502020204030204" pitchFamily="34" charset="0"/>
              </a:rPr>
              <a:t>Notas históricas, asistencia, uso de la plataforma virtual, situación socioeconómica y datos de matrícula.</a:t>
            </a:r>
            <a:endParaRPr lang="es-CO" sz="10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D8F6CBE-72F5-82A4-2D7D-B0ECEC4A3046}"/>
              </a:ext>
            </a:extLst>
          </p:cNvPr>
          <p:cNvSpPr/>
          <p:nvPr/>
        </p:nvSpPr>
        <p:spPr>
          <a:xfrm>
            <a:off x="850900" y="3327400"/>
            <a:ext cx="5156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8182BC4-1FFC-A16B-583E-FE5A757CDB3D}"/>
              </a:ext>
            </a:extLst>
          </p:cNvPr>
          <p:cNvSpPr/>
          <p:nvPr/>
        </p:nvSpPr>
        <p:spPr>
          <a:xfrm>
            <a:off x="1054100" y="35560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F992F9E-D213-383A-3EF9-2A1E976F3034}"/>
              </a:ext>
            </a:extLst>
          </p:cNvPr>
          <p:cNvSpPr txBox="1"/>
          <p:nvPr/>
        </p:nvSpPr>
        <p:spPr>
          <a:xfrm>
            <a:off x="1562100" y="3479800"/>
            <a:ext cx="426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050">
                <a:solidFill>
                  <a:srgbClr val="5C6C6E"/>
                </a:solidFill>
                <a:latin typeface="Calibri" panose="020F0502020204030204" pitchFamily="34" charset="0"/>
              </a:rPr>
              <a:t>Se detectan 340 registros duplicados, 12% de asistencias vacías y tres formas de escribir cada programa.</a:t>
            </a:r>
            <a:endParaRPr lang="es-CO" sz="10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2B86707-4F7C-5C4C-3CE6-5CB6F44C7237}"/>
              </a:ext>
            </a:extLst>
          </p:cNvPr>
          <p:cNvSpPr/>
          <p:nvPr/>
        </p:nvSpPr>
        <p:spPr>
          <a:xfrm>
            <a:off x="6184900" y="3327400"/>
            <a:ext cx="5156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F77AB84F-53B0-6F38-0AA6-C6D6BB81F2E8}"/>
              </a:ext>
            </a:extLst>
          </p:cNvPr>
          <p:cNvSpPr/>
          <p:nvPr/>
        </p:nvSpPr>
        <p:spPr>
          <a:xfrm>
            <a:off x="6388100" y="35560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2AB05B2-D831-CEF9-6862-AC479E95A46F}"/>
              </a:ext>
            </a:extLst>
          </p:cNvPr>
          <p:cNvSpPr txBox="1"/>
          <p:nvPr/>
        </p:nvSpPr>
        <p:spPr>
          <a:xfrm>
            <a:off x="6896100" y="3479800"/>
            <a:ext cx="426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050">
                <a:solidFill>
                  <a:srgbClr val="5C6C6E"/>
                </a:solidFill>
                <a:latin typeface="Calibri" panose="020F0502020204030204" pitchFamily="34" charset="0"/>
              </a:rPr>
              <a:t>Al graficar aparece el patrón: la caída en el uso de la plataforma antecede al retiro en unas seis semanas.</a:t>
            </a:r>
            <a:endParaRPr lang="es-CO" sz="10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D20BBFC-9DE2-CA84-56DF-0FD4B9520B3E}"/>
              </a:ext>
            </a:extLst>
          </p:cNvPr>
          <p:cNvSpPr/>
          <p:nvPr/>
        </p:nvSpPr>
        <p:spPr>
          <a:xfrm>
            <a:off x="850900" y="4292600"/>
            <a:ext cx="5156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9DECD971-E9EC-8BD7-DD36-DCF1C8A1AB8B}"/>
              </a:ext>
            </a:extLst>
          </p:cNvPr>
          <p:cNvSpPr/>
          <p:nvPr/>
        </p:nvSpPr>
        <p:spPr>
          <a:xfrm>
            <a:off x="1054100" y="45212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5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EE4763A-4944-7F31-5C30-6ADD59EF86E1}"/>
              </a:ext>
            </a:extLst>
          </p:cNvPr>
          <p:cNvSpPr txBox="1"/>
          <p:nvPr/>
        </p:nvSpPr>
        <p:spPr>
          <a:xfrm>
            <a:off x="1562100" y="4445000"/>
            <a:ext cx="426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050">
                <a:solidFill>
                  <a:srgbClr val="5C6C6E"/>
                </a:solidFill>
                <a:latin typeface="Calibri" panose="020F0502020204030204" pitchFamily="34" charset="0"/>
              </a:rPr>
              <a:t>Un modelo de clasificación estima la probabilidad de retiro de cada estudiante para el siguiente periodo.</a:t>
            </a:r>
            <a:endParaRPr lang="es-CO" sz="10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F9DE67E-FB1B-1378-AF09-554E0C565649}"/>
              </a:ext>
            </a:extLst>
          </p:cNvPr>
          <p:cNvSpPr/>
          <p:nvPr/>
        </p:nvSpPr>
        <p:spPr>
          <a:xfrm>
            <a:off x="6184900" y="4292600"/>
            <a:ext cx="5156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77AEBF03-F2C9-0C7B-9439-95C3C9D33E8C}"/>
              </a:ext>
            </a:extLst>
          </p:cNvPr>
          <p:cNvSpPr/>
          <p:nvPr/>
        </p:nvSpPr>
        <p:spPr>
          <a:xfrm>
            <a:off x="6388100" y="45212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6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F87653E-9258-75D0-C158-9696C53A8175}"/>
              </a:ext>
            </a:extLst>
          </p:cNvPr>
          <p:cNvSpPr txBox="1"/>
          <p:nvPr/>
        </p:nvSpPr>
        <p:spPr>
          <a:xfrm>
            <a:off x="6896100" y="4445000"/>
            <a:ext cx="426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050">
                <a:solidFill>
                  <a:srgbClr val="5C6C6E"/>
                </a:solidFill>
                <a:latin typeface="Calibri" panose="020F0502020204030204" pitchFamily="34" charset="0"/>
              </a:rPr>
              <a:t>78% de precisión global... pero falla con los estudiantes nocturnos. Se ajusta antes de usarlo.</a:t>
            </a:r>
            <a:endParaRPr lang="es-CO" sz="10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88D017D-A5D4-E326-A19A-EA2602ADE2ED}"/>
              </a:ext>
            </a:extLst>
          </p:cNvPr>
          <p:cNvSpPr/>
          <p:nvPr/>
        </p:nvSpPr>
        <p:spPr>
          <a:xfrm>
            <a:off x="850900" y="5257800"/>
            <a:ext cx="5156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A184EEA0-1181-672F-0C70-20B79CC54FA7}"/>
              </a:ext>
            </a:extLst>
          </p:cNvPr>
          <p:cNvSpPr/>
          <p:nvPr/>
        </p:nvSpPr>
        <p:spPr>
          <a:xfrm>
            <a:off x="1054100" y="54864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7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4245523-8FD3-D2C3-73F1-25704EB4776A}"/>
              </a:ext>
            </a:extLst>
          </p:cNvPr>
          <p:cNvSpPr txBox="1"/>
          <p:nvPr/>
        </p:nvSpPr>
        <p:spPr>
          <a:xfrm>
            <a:off x="1562100" y="5410200"/>
            <a:ext cx="426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050">
                <a:solidFill>
                  <a:srgbClr val="5C6C6E"/>
                </a:solidFill>
                <a:latin typeface="Calibri" panose="020F0502020204030204" pitchFamily="34" charset="0"/>
              </a:rPr>
              <a:t>Un tablero para bienestar universitario con la lista priorizada y el motivo principal de cada alerta.</a:t>
            </a:r>
            <a:endParaRPr lang="es-CO" sz="10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8BD8962-4026-30B3-B1DD-F293CC6A5374}"/>
              </a:ext>
            </a:extLst>
          </p:cNvPr>
          <p:cNvSpPr/>
          <p:nvPr/>
        </p:nvSpPr>
        <p:spPr>
          <a:xfrm>
            <a:off x="6184900" y="5257800"/>
            <a:ext cx="5156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E2142714-52DB-51B2-972E-B12DA9BC2342}"/>
              </a:ext>
            </a:extLst>
          </p:cNvPr>
          <p:cNvSpPr/>
          <p:nvPr/>
        </p:nvSpPr>
        <p:spPr>
          <a:xfrm>
            <a:off x="6388100" y="54864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8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3E55DAA-558E-A24B-E19C-1C3D62D01E62}"/>
              </a:ext>
            </a:extLst>
          </p:cNvPr>
          <p:cNvSpPr txBox="1"/>
          <p:nvPr/>
        </p:nvSpPr>
        <p:spPr>
          <a:xfrm>
            <a:off x="6896100" y="5410200"/>
            <a:ext cx="426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050">
                <a:solidFill>
                  <a:srgbClr val="5C6C6E"/>
                </a:solidFill>
                <a:latin typeface="Calibri" panose="020F0502020204030204" pitchFamily="34" charset="0"/>
              </a:rPr>
              <a:t>Bienestar contacta a los 50 casos más críticos. Al semestre siguiente se mide si la intervención funcionó.</a:t>
            </a:r>
            <a:endParaRPr lang="es-CO" sz="10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56759FD-47F4-8C65-B901-2BD20A96E65C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Ninguna etapa sobra. Y la etapa 7 es la única que la universidad ve: por eso decide si todo lo demás sirvió.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276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B897906-4260-67C0-C1E7-B9A1A6CCE913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S E N A L E S   D E   A L A R M A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5CDC45-DB8E-6B9D-E626-00F29DE6E928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FFFFFF"/>
                </a:solidFill>
                <a:latin typeface="Cambria" panose="02040503050406030204" pitchFamily="18" charset="0"/>
              </a:rPr>
              <a:t>El error típico de cada etapa</a:t>
            </a:r>
            <a:endParaRPr lang="es-CO" sz="31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99F72B6-9F32-9B32-EB26-FAD4E90B9DA3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14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C16F99B-7366-4337-58A8-C0D154A3B170}"/>
              </a:ext>
            </a:extLst>
          </p:cNvPr>
          <p:cNvSpPr/>
          <p:nvPr/>
        </p:nvSpPr>
        <p:spPr>
          <a:xfrm>
            <a:off x="850900" y="1676400"/>
            <a:ext cx="10490200" cy="5842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69F33FD-AC23-9760-402D-D646C0D198F2}"/>
              </a:ext>
            </a:extLst>
          </p:cNvPr>
          <p:cNvSpPr/>
          <p:nvPr/>
        </p:nvSpPr>
        <p:spPr>
          <a:xfrm>
            <a:off x="1117600" y="1790700"/>
            <a:ext cx="355600" cy="3556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100" b="1">
                <a:solidFill>
                  <a:srgbClr val="012E33"/>
                </a:solidFill>
                <a:latin typeface="Cambria" panose="02040503050406030204" pitchFamily="18" charset="0"/>
              </a:rPr>
              <a:t>1-2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FD2069F-6A54-15B7-5176-6E12A11EBF3D}"/>
              </a:ext>
            </a:extLst>
          </p:cNvPr>
          <p:cNvSpPr txBox="1"/>
          <p:nvPr/>
        </p:nvSpPr>
        <p:spPr>
          <a:xfrm>
            <a:off x="1676400" y="1854200"/>
            <a:ext cx="939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50">
                <a:solidFill>
                  <a:srgbClr val="C3D6D8"/>
                </a:solidFill>
                <a:latin typeface="Calibri" panose="020F0502020204030204" pitchFamily="34" charset="0"/>
              </a:rPr>
              <a:t>Empezar por los datos que se tienen, en vez de por la pregunta que importa.</a:t>
            </a:r>
            <a:endParaRPr lang="es-CO" sz="12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044726C-24CC-456F-0C9E-7241F93FD421}"/>
              </a:ext>
            </a:extLst>
          </p:cNvPr>
          <p:cNvSpPr/>
          <p:nvPr/>
        </p:nvSpPr>
        <p:spPr>
          <a:xfrm>
            <a:off x="850900" y="2336800"/>
            <a:ext cx="10490200" cy="5842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BE99C02A-701D-B79F-5FA3-C3A505760B8C}"/>
              </a:ext>
            </a:extLst>
          </p:cNvPr>
          <p:cNvSpPr/>
          <p:nvPr/>
        </p:nvSpPr>
        <p:spPr>
          <a:xfrm>
            <a:off x="1117600" y="2451100"/>
            <a:ext cx="355600" cy="3556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100" b="1">
                <a:solidFill>
                  <a:srgbClr val="012E33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06E6E82-E02A-3661-53EE-3ABF186DC73F}"/>
              </a:ext>
            </a:extLst>
          </p:cNvPr>
          <p:cNvSpPr txBox="1"/>
          <p:nvPr/>
        </p:nvSpPr>
        <p:spPr>
          <a:xfrm>
            <a:off x="1676400" y="2514600"/>
            <a:ext cx="939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50">
                <a:solidFill>
                  <a:srgbClr val="C3D6D8"/>
                </a:solidFill>
                <a:latin typeface="Calibri" panose="020F0502020204030204" pitchFamily="34" charset="0"/>
              </a:rPr>
              <a:t>Usar los datos 'tal como vinieron' porque limpiar da pereza.</a:t>
            </a:r>
            <a:endParaRPr lang="es-CO" sz="12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78369CB-F41E-272C-3623-7FEF2CCB67A2}"/>
              </a:ext>
            </a:extLst>
          </p:cNvPr>
          <p:cNvSpPr/>
          <p:nvPr/>
        </p:nvSpPr>
        <p:spPr>
          <a:xfrm>
            <a:off x="850900" y="2997200"/>
            <a:ext cx="10490200" cy="5842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C649C43-E0DF-B5A0-3537-D47D998A8E42}"/>
              </a:ext>
            </a:extLst>
          </p:cNvPr>
          <p:cNvSpPr/>
          <p:nvPr/>
        </p:nvSpPr>
        <p:spPr>
          <a:xfrm>
            <a:off x="1117600" y="3111500"/>
            <a:ext cx="355600" cy="3556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100" b="1">
                <a:solidFill>
                  <a:srgbClr val="012E33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3CC420C-EB5B-D0E1-D08E-AD35D7833A9E}"/>
              </a:ext>
            </a:extLst>
          </p:cNvPr>
          <p:cNvSpPr txBox="1"/>
          <p:nvPr/>
        </p:nvSpPr>
        <p:spPr>
          <a:xfrm>
            <a:off x="1676400" y="3175000"/>
            <a:ext cx="939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50">
                <a:solidFill>
                  <a:srgbClr val="C3D6D8"/>
                </a:solidFill>
                <a:latin typeface="Calibri" panose="020F0502020204030204" pitchFamily="34" charset="0"/>
              </a:rPr>
              <a:t>Saltarse el EDA y correr un modelo sobre datos que nunca se miraron.</a:t>
            </a:r>
            <a:endParaRPr lang="es-CO" sz="12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FE7049B-642B-2D93-6885-AF39D824E2A3}"/>
              </a:ext>
            </a:extLst>
          </p:cNvPr>
          <p:cNvSpPr/>
          <p:nvPr/>
        </p:nvSpPr>
        <p:spPr>
          <a:xfrm>
            <a:off x="850900" y="3657600"/>
            <a:ext cx="10490200" cy="5842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987DA741-E5FC-2FC7-38A3-7AC833869529}"/>
              </a:ext>
            </a:extLst>
          </p:cNvPr>
          <p:cNvSpPr/>
          <p:nvPr/>
        </p:nvSpPr>
        <p:spPr>
          <a:xfrm>
            <a:off x="1117600" y="3771900"/>
            <a:ext cx="355600" cy="3556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100" b="1">
                <a:solidFill>
                  <a:srgbClr val="012E33"/>
                </a:solidFill>
                <a:latin typeface="Cambria" panose="02040503050406030204" pitchFamily="18" charset="0"/>
              </a:rPr>
              <a:t>5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A76CAE1-46CC-897A-E848-37CB6CC0A5AE}"/>
              </a:ext>
            </a:extLst>
          </p:cNvPr>
          <p:cNvSpPr txBox="1"/>
          <p:nvPr/>
        </p:nvSpPr>
        <p:spPr>
          <a:xfrm>
            <a:off x="1676400" y="3835400"/>
            <a:ext cx="939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50">
                <a:solidFill>
                  <a:srgbClr val="C3D6D8"/>
                </a:solidFill>
                <a:latin typeface="Calibri" panose="020F0502020204030204" pitchFamily="34" charset="0"/>
              </a:rPr>
              <a:t>Elegir el modelo más sofisticado en vez del que responde la pregunta.</a:t>
            </a:r>
            <a:endParaRPr lang="es-CO" sz="12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717BF59-4BC4-2A2F-D1B5-A376DED71C7E}"/>
              </a:ext>
            </a:extLst>
          </p:cNvPr>
          <p:cNvSpPr/>
          <p:nvPr/>
        </p:nvSpPr>
        <p:spPr>
          <a:xfrm>
            <a:off x="850900" y="4318000"/>
            <a:ext cx="10490200" cy="5842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D50B725-DAB4-6C91-80F6-BBED5C4649F6}"/>
              </a:ext>
            </a:extLst>
          </p:cNvPr>
          <p:cNvSpPr/>
          <p:nvPr/>
        </p:nvSpPr>
        <p:spPr>
          <a:xfrm>
            <a:off x="1117600" y="4432300"/>
            <a:ext cx="355600" cy="3556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100" b="1">
                <a:solidFill>
                  <a:srgbClr val="012E33"/>
                </a:solidFill>
                <a:latin typeface="Cambria" panose="02040503050406030204" pitchFamily="18" charset="0"/>
              </a:rPr>
              <a:t>6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D778411-6A40-D469-9979-75E3D9C14D08}"/>
              </a:ext>
            </a:extLst>
          </p:cNvPr>
          <p:cNvSpPr txBox="1"/>
          <p:nvPr/>
        </p:nvSpPr>
        <p:spPr>
          <a:xfrm>
            <a:off x="1676400" y="4495800"/>
            <a:ext cx="939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50">
                <a:solidFill>
                  <a:srgbClr val="C3D6D8"/>
                </a:solidFill>
                <a:latin typeface="Calibri" panose="020F0502020204030204" pitchFamily="34" charset="0"/>
              </a:rPr>
              <a:t>Celebrar una precisión global alta sin revisar cómo se comporta por grupo.</a:t>
            </a:r>
            <a:endParaRPr lang="es-CO" sz="12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E3B39EC-860F-1741-5C23-6C63F916A88E}"/>
              </a:ext>
            </a:extLst>
          </p:cNvPr>
          <p:cNvSpPr/>
          <p:nvPr/>
        </p:nvSpPr>
        <p:spPr>
          <a:xfrm>
            <a:off x="850900" y="4978400"/>
            <a:ext cx="10490200" cy="5842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F25ED68-9CEE-F517-4CAA-577F6C8E0128}"/>
              </a:ext>
            </a:extLst>
          </p:cNvPr>
          <p:cNvSpPr/>
          <p:nvPr/>
        </p:nvSpPr>
        <p:spPr>
          <a:xfrm>
            <a:off x="1117600" y="5092700"/>
            <a:ext cx="355600" cy="3556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100" b="1">
                <a:solidFill>
                  <a:srgbClr val="012E33"/>
                </a:solidFill>
                <a:latin typeface="Cambria" panose="02040503050406030204" pitchFamily="18" charset="0"/>
              </a:rPr>
              <a:t>7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53EB7B0-589A-F4D6-7838-B34BA720C9AA}"/>
              </a:ext>
            </a:extLst>
          </p:cNvPr>
          <p:cNvSpPr txBox="1"/>
          <p:nvPr/>
        </p:nvSpPr>
        <p:spPr>
          <a:xfrm>
            <a:off x="1676400" y="5156200"/>
            <a:ext cx="939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50">
                <a:solidFill>
                  <a:srgbClr val="C3D6D8"/>
                </a:solidFill>
                <a:latin typeface="Calibri" panose="020F0502020204030204" pitchFamily="34" charset="0"/>
              </a:rPr>
              <a:t>Presentar el gráfico que le gusta al analista, no el que entiende quien decide.</a:t>
            </a:r>
            <a:endParaRPr lang="es-CO" sz="12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F1F29A1-801A-1181-BCF3-5792DE096A39}"/>
              </a:ext>
            </a:extLst>
          </p:cNvPr>
          <p:cNvSpPr/>
          <p:nvPr/>
        </p:nvSpPr>
        <p:spPr>
          <a:xfrm>
            <a:off x="850900" y="5638800"/>
            <a:ext cx="10490200" cy="5842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AD1CFF24-FF2E-BDE7-DBFC-1009C082BF7B}"/>
              </a:ext>
            </a:extLst>
          </p:cNvPr>
          <p:cNvSpPr/>
          <p:nvPr/>
        </p:nvSpPr>
        <p:spPr>
          <a:xfrm>
            <a:off x="1117600" y="5753100"/>
            <a:ext cx="355600" cy="3556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100" b="1">
                <a:solidFill>
                  <a:srgbClr val="012E33"/>
                </a:solidFill>
                <a:latin typeface="Cambria" panose="02040503050406030204" pitchFamily="18" charset="0"/>
              </a:rPr>
              <a:t>8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4573B76-6841-2655-08B4-DDD942737F9D}"/>
              </a:ext>
            </a:extLst>
          </p:cNvPr>
          <p:cNvSpPr txBox="1"/>
          <p:nvPr/>
        </p:nvSpPr>
        <p:spPr>
          <a:xfrm>
            <a:off x="1676400" y="5816600"/>
            <a:ext cx="939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50">
                <a:solidFill>
                  <a:srgbClr val="C3D6D8"/>
                </a:solidFill>
                <a:latin typeface="Calibri" panose="020F0502020204030204" pitchFamily="34" charset="0"/>
              </a:rPr>
              <a:t>Entregar el informe y desaparecer: nadie vuelve a mirar si el modelo sigue sirviendo.</a:t>
            </a:r>
            <a:endParaRPr lang="es-CO" sz="12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CFAF7FA-A2C6-C745-9AA9-D5D6947B5CCE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BFEAE4"/>
                </a:solidFill>
                <a:latin typeface="Calibri" panose="020F0502020204030204" pitchFamily="34" charset="0"/>
              </a:rPr>
              <a:t>Guarden esta lámina: es la lista de chequeo para revisar su propio proyecto antes de cada hito.</a:t>
            </a:r>
            <a:endParaRPr lang="es-CO" sz="1150" i="1">
              <a:solidFill>
                <a:srgbClr val="BFEAE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213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AED288E-19F6-3640-8154-FC66713C4E4D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S U   P R O Y E C T O   D E L   S E M E S T R E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E5F9B92-F76E-7FD0-9578-679509760F81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012E33"/>
                </a:solidFill>
                <a:latin typeface="Cambria" panose="02040503050406030204" pitchFamily="18" charset="0"/>
              </a:rPr>
              <a:t>El mismo ciclo, repartido en cuatro hitos</a:t>
            </a:r>
            <a:endParaRPr lang="es-CO" sz="31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DF25FDF-4552-4DC1-69B2-D69A2511C492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15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C39FF84-65DB-0156-AFBA-60448044549A}"/>
              </a:ext>
            </a:extLst>
          </p:cNvPr>
          <p:cNvSpPr txBox="1"/>
          <p:nvPr/>
        </p:nvSpPr>
        <p:spPr>
          <a:xfrm>
            <a:off x="850900" y="16256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5C6C6E"/>
                </a:solidFill>
                <a:latin typeface="Calibri" panose="020F0502020204030204" pitchFamily="34" charset="0"/>
              </a:rPr>
              <a:t>Esto no es contenido teórico: es el cronograma de su proyecto ABP. Cada hito cierra un tramo del ciclo.</a:t>
            </a:r>
            <a:endParaRPr lang="es-CO" sz="13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13258DB-BC1E-03AD-1ED8-A0D0DE316A53}"/>
              </a:ext>
            </a:extLst>
          </p:cNvPr>
          <p:cNvSpPr/>
          <p:nvPr/>
        </p:nvSpPr>
        <p:spPr>
          <a:xfrm>
            <a:off x="850900" y="2133600"/>
            <a:ext cx="10490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ACE85D0-C77E-F38A-2C58-ABFEBA0B6528}"/>
              </a:ext>
            </a:extLst>
          </p:cNvPr>
          <p:cNvSpPr txBox="1"/>
          <p:nvPr/>
        </p:nvSpPr>
        <p:spPr>
          <a:xfrm>
            <a:off x="1143000" y="23876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028090"/>
                </a:solidFill>
                <a:latin typeface="Cambria" panose="02040503050406030204" pitchFamily="18" charset="0"/>
              </a:rPr>
              <a:t>Hito 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212C271-11B8-A68D-55AB-9F544A80752D}"/>
              </a:ext>
            </a:extLst>
          </p:cNvPr>
          <p:cNvSpPr txBox="1"/>
          <p:nvPr/>
        </p:nvSpPr>
        <p:spPr>
          <a:xfrm>
            <a:off x="2413000" y="24130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00" b="1">
                <a:solidFill>
                  <a:srgbClr val="012E33"/>
                </a:solidFill>
                <a:latin typeface="Calibri" panose="020F0502020204030204" pitchFamily="34" charset="0"/>
              </a:rPr>
              <a:t>Semana 5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DB11D1E-B62A-23C7-3D93-756D8B0EEE65}"/>
              </a:ext>
            </a:extLst>
          </p:cNvPr>
          <p:cNvSpPr txBox="1"/>
          <p:nvPr/>
        </p:nvSpPr>
        <p:spPr>
          <a:xfrm>
            <a:off x="3873500" y="24130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150" b="1" i="1">
                <a:solidFill>
                  <a:srgbClr val="00A896"/>
                </a:solidFill>
                <a:latin typeface="Calibri" panose="020F0502020204030204" pitchFamily="34" charset="0"/>
              </a:rPr>
              <a:t>Etapas 1 a 4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A7BF69B-D38B-D0D1-9136-18FFD794288A}"/>
              </a:ext>
            </a:extLst>
          </p:cNvPr>
          <p:cNvSpPr txBox="1"/>
          <p:nvPr/>
        </p:nvSpPr>
        <p:spPr>
          <a:xfrm>
            <a:off x="5842000" y="2362200"/>
            <a:ext cx="5270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Pregunta definida, dataset elegido y limpio, análisis exploratorio y primeras visualizaciones.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E95D56D-41B0-6016-80C7-FA2D28A1B070}"/>
              </a:ext>
            </a:extLst>
          </p:cNvPr>
          <p:cNvSpPr/>
          <p:nvPr/>
        </p:nvSpPr>
        <p:spPr>
          <a:xfrm>
            <a:off x="850900" y="3073400"/>
            <a:ext cx="10490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21FED78-A586-D748-208A-5AF2E8E5094F}"/>
              </a:ext>
            </a:extLst>
          </p:cNvPr>
          <p:cNvSpPr txBox="1"/>
          <p:nvPr/>
        </p:nvSpPr>
        <p:spPr>
          <a:xfrm>
            <a:off x="1143000" y="33274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028090"/>
                </a:solidFill>
                <a:latin typeface="Cambria" panose="02040503050406030204" pitchFamily="18" charset="0"/>
              </a:rPr>
              <a:t>Hito 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1BE1713-BD9E-A243-212B-03D2528515D9}"/>
              </a:ext>
            </a:extLst>
          </p:cNvPr>
          <p:cNvSpPr txBox="1"/>
          <p:nvPr/>
        </p:nvSpPr>
        <p:spPr>
          <a:xfrm>
            <a:off x="2413000" y="33528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00" b="1">
                <a:solidFill>
                  <a:srgbClr val="012E33"/>
                </a:solidFill>
                <a:latin typeface="Calibri" panose="020F0502020204030204" pitchFamily="34" charset="0"/>
              </a:rPr>
              <a:t>Semana 9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CA5C9A9-9202-6621-95A0-56DFB7608A58}"/>
              </a:ext>
            </a:extLst>
          </p:cNvPr>
          <p:cNvSpPr txBox="1"/>
          <p:nvPr/>
        </p:nvSpPr>
        <p:spPr>
          <a:xfrm>
            <a:off x="3873500" y="33528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150" b="1" i="1">
                <a:solidFill>
                  <a:srgbClr val="00A896"/>
                </a:solidFill>
                <a:latin typeface="Calibri" panose="020F0502020204030204" pitchFamily="34" charset="0"/>
              </a:rPr>
              <a:t>Etapa 7 (borrador)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439B3E2-CA27-7993-837C-6CA3A9679E8D}"/>
              </a:ext>
            </a:extLst>
          </p:cNvPr>
          <p:cNvSpPr txBox="1"/>
          <p:nvPr/>
        </p:nvSpPr>
        <p:spPr>
          <a:xfrm>
            <a:off x="5842000" y="3302000"/>
            <a:ext cx="5270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Storytelling del proyecto y propuesta de dashboard: qué van a mostrar y a quién.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922B6E8-3D31-FE40-1E05-7846A4CA3F39}"/>
              </a:ext>
            </a:extLst>
          </p:cNvPr>
          <p:cNvSpPr/>
          <p:nvPr/>
        </p:nvSpPr>
        <p:spPr>
          <a:xfrm>
            <a:off x="850900" y="4013200"/>
            <a:ext cx="10490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967BD97-8151-A979-93B4-3AAED0B49E98}"/>
              </a:ext>
            </a:extLst>
          </p:cNvPr>
          <p:cNvSpPr txBox="1"/>
          <p:nvPr/>
        </p:nvSpPr>
        <p:spPr>
          <a:xfrm>
            <a:off x="1143000" y="42672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028090"/>
                </a:solidFill>
                <a:latin typeface="Cambria" panose="02040503050406030204" pitchFamily="18" charset="0"/>
              </a:rPr>
              <a:t>Hito 3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7DED0D1-0D7B-3FEC-19C9-D79C7C500725}"/>
              </a:ext>
            </a:extLst>
          </p:cNvPr>
          <p:cNvSpPr txBox="1"/>
          <p:nvPr/>
        </p:nvSpPr>
        <p:spPr>
          <a:xfrm>
            <a:off x="2413000" y="42926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00" b="1">
                <a:solidFill>
                  <a:srgbClr val="012E33"/>
                </a:solidFill>
                <a:latin typeface="Calibri" panose="020F0502020204030204" pitchFamily="34" charset="0"/>
              </a:rPr>
              <a:t>Semana 13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E8E6693-E600-08DD-8F18-0C59FD44936C}"/>
              </a:ext>
            </a:extLst>
          </p:cNvPr>
          <p:cNvSpPr txBox="1"/>
          <p:nvPr/>
        </p:nvSpPr>
        <p:spPr>
          <a:xfrm>
            <a:off x="3873500" y="42926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150" b="1" i="1">
                <a:solidFill>
                  <a:srgbClr val="00A896"/>
                </a:solidFill>
                <a:latin typeface="Calibri" panose="020F0502020204030204" pitchFamily="34" charset="0"/>
              </a:rPr>
              <a:t>Etapas 5 a 7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829581B-D3A6-BB59-AB1F-4566D7D4000F}"/>
              </a:ext>
            </a:extLst>
          </p:cNvPr>
          <p:cNvSpPr txBox="1"/>
          <p:nvPr/>
        </p:nvSpPr>
        <p:spPr>
          <a:xfrm>
            <a:off x="5842000" y="4241800"/>
            <a:ext cx="5270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Dashboard funcional con los hallazgos, revisado por pares.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B076EE7-5B4A-9959-4F33-5148F6F742E3}"/>
              </a:ext>
            </a:extLst>
          </p:cNvPr>
          <p:cNvSpPr/>
          <p:nvPr/>
        </p:nvSpPr>
        <p:spPr>
          <a:xfrm>
            <a:off x="850900" y="4953000"/>
            <a:ext cx="10490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060A528-E6BC-EE57-6941-DB0124B099B2}"/>
              </a:ext>
            </a:extLst>
          </p:cNvPr>
          <p:cNvSpPr txBox="1"/>
          <p:nvPr/>
        </p:nvSpPr>
        <p:spPr>
          <a:xfrm>
            <a:off x="1143000" y="52070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028090"/>
                </a:solidFill>
                <a:latin typeface="Cambria" panose="02040503050406030204" pitchFamily="18" charset="0"/>
              </a:rPr>
              <a:t>Final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4E44824-CA1B-CB08-5F0C-5384CE38AEB0}"/>
              </a:ext>
            </a:extLst>
          </p:cNvPr>
          <p:cNvSpPr txBox="1"/>
          <p:nvPr/>
        </p:nvSpPr>
        <p:spPr>
          <a:xfrm>
            <a:off x="2413000" y="52324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00" b="1">
                <a:solidFill>
                  <a:srgbClr val="012E33"/>
                </a:solidFill>
                <a:latin typeface="Calibri" panose="020F0502020204030204" pitchFamily="34" charset="0"/>
              </a:rPr>
              <a:t>Semana 16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BE20ABD-B69A-A62E-591B-BACD91E1959F}"/>
              </a:ext>
            </a:extLst>
          </p:cNvPr>
          <p:cNvSpPr txBox="1"/>
          <p:nvPr/>
        </p:nvSpPr>
        <p:spPr>
          <a:xfrm>
            <a:off x="3873500" y="52324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150" b="1" i="1">
                <a:solidFill>
                  <a:srgbClr val="00A896"/>
                </a:solidFill>
                <a:latin typeface="Calibri" panose="020F0502020204030204" pitchFamily="34" charset="0"/>
              </a:rPr>
              <a:t>Ciclo completo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FA99E42-C775-14DB-D368-1069885529C6}"/>
              </a:ext>
            </a:extLst>
          </p:cNvPr>
          <p:cNvSpPr txBox="1"/>
          <p:nvPr/>
        </p:nvSpPr>
        <p:spPr>
          <a:xfrm>
            <a:off x="5842000" y="5181600"/>
            <a:ext cx="5270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Presentación del proyecto: del problema a la decisión, ante audiencia.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59597AD-F68F-7E32-AB23-99B6F4FC2237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Si entienden el ciclo, ya saben qué tienen que entregar en cada corte del semestre.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580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03C9557-6019-27DA-ACF5-B3D7D1DAA97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C7C8F76-45BD-53F2-E801-305B89DC7909}"/>
              </a:ext>
            </a:extLst>
          </p:cNvPr>
          <p:cNvSpPr txBox="1"/>
          <p:nvPr/>
        </p:nvSpPr>
        <p:spPr>
          <a:xfrm>
            <a:off x="5715000" y="19050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A C T I V I D A D   D E   C I E R R E     ·     3 0   M I N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940D3B7-29FB-A864-C0AC-99327FFFD360}"/>
              </a:ext>
            </a:extLst>
          </p:cNvPr>
          <p:cNvSpPr txBox="1"/>
          <p:nvPr/>
        </p:nvSpPr>
        <p:spPr>
          <a:xfrm>
            <a:off x="5715000" y="22352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600" b="1">
                <a:solidFill>
                  <a:srgbClr val="FFFFFF"/>
                </a:solidFill>
                <a:latin typeface="Cambria" panose="02040503050406030204" pitchFamily="18" charset="0"/>
              </a:rPr>
              <a:t>Los Rescatistas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5A92BE9-4875-12C1-3109-FA0E55B9AABA}"/>
              </a:ext>
            </a:extLst>
          </p:cNvPr>
          <p:cNvSpPr txBox="1"/>
          <p:nvPr/>
        </p:nvSpPr>
        <p:spPr>
          <a:xfrm>
            <a:off x="5715000" y="29464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900" i="1">
                <a:solidFill>
                  <a:srgbClr val="02C39A"/>
                </a:solidFill>
                <a:latin typeface="Cambria" panose="02040503050406030204" pitchFamily="18" charset="0"/>
              </a:rPr>
              <a:t>Autopsia de un proyecto fallido</a:t>
            </a:r>
            <a:endParaRPr lang="es-CO" sz="1900" i="1">
              <a:solidFill>
                <a:srgbClr val="02C39A"/>
              </a:solidFill>
              <a:latin typeface="Cambria" panose="02040503050406030204" pitchFamily="18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9106542-0147-EDAB-AF7E-C7DCCEE9264A}"/>
              </a:ext>
            </a:extLst>
          </p:cNvPr>
          <p:cNvSpPr/>
          <p:nvPr/>
        </p:nvSpPr>
        <p:spPr>
          <a:xfrm>
            <a:off x="5715000" y="3657600"/>
            <a:ext cx="1016000" cy="50800"/>
          </a:xfrm>
          <a:prstGeom prst="rect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302FE42-BD8A-AC2E-8A69-7DFFAA5C077C}"/>
              </a:ext>
            </a:extLst>
          </p:cNvPr>
          <p:cNvSpPr txBox="1"/>
          <p:nvPr/>
        </p:nvSpPr>
        <p:spPr>
          <a:xfrm>
            <a:off x="5715000" y="39624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C3D6D8"/>
                </a:solidFill>
                <a:latin typeface="Calibri" panose="020F0502020204030204" pitchFamily="34" charset="0"/>
              </a:rPr>
              <a:t>Cuatro proyectos de datos fracasaron. Nadie sabe por qué: todos tenían buen equipo, buenos datos y buenas herramientas.</a:t>
            </a:r>
          </a:p>
          <a:p>
            <a:pPr>
              <a:lnSpc>
                <a:spcPct val="115000"/>
              </a:lnSpc>
            </a:pPr>
            <a:endParaRPr lang="es-MX" sz="1350">
              <a:solidFill>
                <a:srgbClr val="C3D6D8"/>
              </a:solidFill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s-MX" sz="1350">
                <a:solidFill>
                  <a:srgbClr val="C3D6D8"/>
                </a:solidFill>
                <a:latin typeface="Calibri" panose="020F0502020204030204" pitchFamily="34" charset="0"/>
              </a:rPr>
              <a:t>Ustedes son el comité de auditoría. Su misión: encontrar en qué etapa del ciclo estuvo el error.</a:t>
            </a:r>
            <a:endParaRPr lang="es-CO" sz="13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A181125-2E8B-799D-A006-AF728EA2A17A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35605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192EE14-649F-DD10-6832-F4638B220EE8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L O S   R E S C A T I S T A S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9745FFB-105C-1C06-04F2-267CE75A2706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Cómo funciona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1059998-9277-3A75-234D-AD2548F166B3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17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802C414-C5A4-AC63-663B-F42795F31DDD}"/>
              </a:ext>
            </a:extLst>
          </p:cNvPr>
          <p:cNvSpPr/>
          <p:nvPr/>
        </p:nvSpPr>
        <p:spPr>
          <a:xfrm>
            <a:off x="850900" y="1676400"/>
            <a:ext cx="10490200" cy="812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4174E9B-8ED1-AA75-F7B3-C608861DC460}"/>
              </a:ext>
            </a:extLst>
          </p:cNvPr>
          <p:cNvSpPr/>
          <p:nvPr/>
        </p:nvSpPr>
        <p:spPr>
          <a:xfrm>
            <a:off x="1117600" y="18923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739D959-6802-932A-EBCB-C63EEAB93FCB}"/>
              </a:ext>
            </a:extLst>
          </p:cNvPr>
          <p:cNvSpPr txBox="1"/>
          <p:nvPr/>
        </p:nvSpPr>
        <p:spPr>
          <a:xfrm>
            <a:off x="1676400" y="1854200"/>
            <a:ext cx="266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Reparto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C4C8DA4-3DCD-1938-4982-1625733238C0}"/>
              </a:ext>
            </a:extLst>
          </p:cNvPr>
          <p:cNvSpPr txBox="1"/>
          <p:nvPr/>
        </p:nvSpPr>
        <p:spPr>
          <a:xfrm>
            <a:off x="4508500" y="18796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Cada equipo recibe UN caso. Nadie sabe cuál le tocó a los demás: eso hace divertida la socialización.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CFD7AD1-E23E-ED5C-0241-911E91B672A8}"/>
              </a:ext>
            </a:extLst>
          </p:cNvPr>
          <p:cNvSpPr/>
          <p:nvPr/>
        </p:nvSpPr>
        <p:spPr>
          <a:xfrm>
            <a:off x="850900" y="2590800"/>
            <a:ext cx="10490200" cy="812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96CFA9F-7821-FC49-4581-1A263567E00E}"/>
              </a:ext>
            </a:extLst>
          </p:cNvPr>
          <p:cNvSpPr/>
          <p:nvPr/>
        </p:nvSpPr>
        <p:spPr>
          <a:xfrm>
            <a:off x="1117600" y="28067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6FD676A-C8DF-CA62-467E-72A3047C9415}"/>
              </a:ext>
            </a:extLst>
          </p:cNvPr>
          <p:cNvSpPr txBox="1"/>
          <p:nvPr/>
        </p:nvSpPr>
        <p:spPr>
          <a:xfrm>
            <a:off x="1676400" y="2768600"/>
            <a:ext cx="266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Diagnóstico (12 min)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776E79F-9C46-7BC8-1D5D-D99AF488B24E}"/>
              </a:ext>
            </a:extLst>
          </p:cNvPr>
          <p:cNvSpPr txBox="1"/>
          <p:nvPr/>
        </p:nvSpPr>
        <p:spPr>
          <a:xfrm>
            <a:off x="4508500" y="2794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Identifiquen la etapa o etapas donde estuvo la falla y expliquen por qué. Puede ser más de una.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DFCABC4-BFD3-DAD3-145C-C6DD4F8201F1}"/>
              </a:ext>
            </a:extLst>
          </p:cNvPr>
          <p:cNvSpPr/>
          <p:nvPr/>
        </p:nvSpPr>
        <p:spPr>
          <a:xfrm>
            <a:off x="850900" y="3505200"/>
            <a:ext cx="10490200" cy="812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CC307BD-BB3B-4829-770D-4208A35BD2E4}"/>
              </a:ext>
            </a:extLst>
          </p:cNvPr>
          <p:cNvSpPr/>
          <p:nvPr/>
        </p:nvSpPr>
        <p:spPr>
          <a:xfrm>
            <a:off x="1117600" y="37211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84B3516-268F-D715-07DF-C839450D3E29}"/>
              </a:ext>
            </a:extLst>
          </p:cNvPr>
          <p:cNvSpPr txBox="1"/>
          <p:nvPr/>
        </p:nvSpPr>
        <p:spPr>
          <a:xfrm>
            <a:off x="1676400" y="3683000"/>
            <a:ext cx="266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El rescate (5 min)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3732174-98F5-5B97-9F23-3D92E7FE9F0D}"/>
              </a:ext>
            </a:extLst>
          </p:cNvPr>
          <p:cNvSpPr txBox="1"/>
          <p:nvPr/>
        </p:nvSpPr>
        <p:spPr>
          <a:xfrm>
            <a:off x="4508500" y="37084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¿Qué debió hacerse en esa etapa? Propongan la corrección concreta.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140FBBC-5887-4AD5-AF28-D328291BACEB}"/>
              </a:ext>
            </a:extLst>
          </p:cNvPr>
          <p:cNvSpPr/>
          <p:nvPr/>
        </p:nvSpPr>
        <p:spPr>
          <a:xfrm>
            <a:off x="850900" y="4419600"/>
            <a:ext cx="10490200" cy="812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1F0B98F9-3029-2DC2-1CA5-FE066FAE90C6}"/>
              </a:ext>
            </a:extLst>
          </p:cNvPr>
          <p:cNvSpPr/>
          <p:nvPr/>
        </p:nvSpPr>
        <p:spPr>
          <a:xfrm>
            <a:off x="1117600" y="46355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20E9204-9F4C-F2F2-4B48-14CF53B8A4FC}"/>
              </a:ext>
            </a:extLst>
          </p:cNvPr>
          <p:cNvSpPr txBox="1"/>
          <p:nvPr/>
        </p:nvSpPr>
        <p:spPr>
          <a:xfrm>
            <a:off x="1676400" y="4597400"/>
            <a:ext cx="266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La regla (3 min)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8982B80-9FC0-5BFA-60DD-D3C296051984}"/>
              </a:ext>
            </a:extLst>
          </p:cNvPr>
          <p:cNvSpPr txBox="1"/>
          <p:nvPr/>
        </p:nvSpPr>
        <p:spPr>
          <a:xfrm>
            <a:off x="4508500" y="46228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Escriban una regla preventiva en una frase, aplicable a SU propio proyecto.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9AAEB0A-DD29-7FAA-E33E-1ED7B4080688}"/>
              </a:ext>
            </a:extLst>
          </p:cNvPr>
          <p:cNvSpPr/>
          <p:nvPr/>
        </p:nvSpPr>
        <p:spPr>
          <a:xfrm>
            <a:off x="850900" y="5334000"/>
            <a:ext cx="10490200" cy="812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971F2F9-E8C7-22AA-3EF4-D935E22A626C}"/>
              </a:ext>
            </a:extLst>
          </p:cNvPr>
          <p:cNvSpPr/>
          <p:nvPr/>
        </p:nvSpPr>
        <p:spPr>
          <a:xfrm>
            <a:off x="1117600" y="55499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5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3A2ABCB-1A9E-F45D-15CF-CEFBD11ABC73}"/>
              </a:ext>
            </a:extLst>
          </p:cNvPr>
          <p:cNvSpPr txBox="1"/>
          <p:nvPr/>
        </p:nvSpPr>
        <p:spPr>
          <a:xfrm>
            <a:off x="1676400" y="5511800"/>
            <a:ext cx="266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Socialización (10 min)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AF99A44-E86A-1C84-65AE-7A0DCE7AB35F}"/>
              </a:ext>
            </a:extLst>
          </p:cNvPr>
          <p:cNvSpPr txBox="1"/>
          <p:nvPr/>
        </p:nvSpPr>
        <p:spPr>
          <a:xfrm>
            <a:off x="4508500" y="55372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Cada equipo presenta su caso en 2 minutos. Los demás adivinan la etapa antes del veredicto.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79FE42A-AE88-2389-0C40-18F1D9C163AB}"/>
              </a:ext>
            </a:extLst>
          </p:cNvPr>
          <p:cNvSpPr/>
          <p:nvPr/>
        </p:nvSpPr>
        <p:spPr>
          <a:xfrm>
            <a:off x="850900" y="6248400"/>
            <a:ext cx="10490200" cy="482600"/>
          </a:xfrm>
          <a:prstGeom prst="rect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B89184C-BE2F-AEFE-8B3A-AFE09A731FF0}"/>
              </a:ext>
            </a:extLst>
          </p:cNvPr>
          <p:cNvSpPr txBox="1"/>
          <p:nvPr/>
        </p:nvSpPr>
        <p:spPr>
          <a:xfrm>
            <a:off x="1168400" y="63627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 i="1">
                <a:solidFill>
                  <a:srgbClr val="02C39A"/>
                </a:solidFill>
                <a:latin typeface="Calibri" panose="020F0502020204030204" pitchFamily="34" charset="0"/>
              </a:rPr>
              <a:t>Pista del auditor: relean la lámina de señales de alarma. Cada caso corresponde a por lo menos una de esas siete.</a:t>
            </a:r>
            <a:endParaRPr lang="es-CO" sz="1200" i="1">
              <a:solidFill>
                <a:srgbClr val="02C39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585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BDF6059-80F2-2304-989B-0E6160494A28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L O S   E X P E D I E N T E S     ·     1   D E   2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F572453-8A81-E3CC-E11B-E26C0475301A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Casos 1 y 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C27BD70-D223-3D33-B5C3-BF635582A7AC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18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43C7ABC-B804-BAC0-9423-AF8616BE7655}"/>
              </a:ext>
            </a:extLst>
          </p:cNvPr>
          <p:cNvSpPr/>
          <p:nvPr/>
        </p:nvSpPr>
        <p:spPr>
          <a:xfrm>
            <a:off x="850900" y="1752600"/>
            <a:ext cx="5156200" cy="3810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DC44527-0033-33B5-E29F-A3D9858A2D56}"/>
              </a:ext>
            </a:extLst>
          </p:cNvPr>
          <p:cNvSpPr txBox="1"/>
          <p:nvPr/>
        </p:nvSpPr>
        <p:spPr>
          <a:xfrm>
            <a:off x="1181100" y="20320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950" b="1">
                <a:solidFill>
                  <a:srgbClr val="00A896"/>
                </a:solidFill>
                <a:latin typeface="Calibri" panose="020F0502020204030204" pitchFamily="34" charset="0"/>
              </a:rPr>
              <a:t>C A S O   1</a:t>
            </a:r>
            <a:endParaRPr lang="es-CO" sz="95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B4FE569-16AA-5412-B4B4-14B58A071C31}"/>
              </a:ext>
            </a:extLst>
          </p:cNvPr>
          <p:cNvSpPr txBox="1"/>
          <p:nvPr/>
        </p:nvSpPr>
        <p:spPr>
          <a:xfrm>
            <a:off x="1181100" y="23114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2000" b="1">
                <a:solidFill>
                  <a:srgbClr val="012E33"/>
                </a:solidFill>
                <a:latin typeface="Cambria" panose="02040503050406030204" pitchFamily="18" charset="0"/>
              </a:rPr>
              <a:t>El dashboard que nadie abrió</a:t>
            </a:r>
            <a:endParaRPr lang="es-CO" sz="20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B854B35-9B41-0027-E1D5-4E85C5ED684D}"/>
              </a:ext>
            </a:extLst>
          </p:cNvPr>
          <p:cNvSpPr/>
          <p:nvPr/>
        </p:nvSpPr>
        <p:spPr>
          <a:xfrm>
            <a:off x="1181100" y="3175000"/>
            <a:ext cx="508000" cy="50800"/>
          </a:xfrm>
          <a:prstGeom prst="rect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40B0222-CB5C-2D83-F2E7-4A69E00D8E83}"/>
              </a:ext>
            </a:extLst>
          </p:cNvPr>
          <p:cNvSpPr txBox="1"/>
          <p:nvPr/>
        </p:nvSpPr>
        <p:spPr>
          <a:xfrm>
            <a:off x="1181100" y="3403600"/>
            <a:ext cx="447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Un equipo construyó un tablero con 47 indicadores para la gerencia. Técnicamente impecable, datos actualizados cada hora, diseño premiado internamente.</a:t>
            </a:r>
          </a:p>
          <a:p>
            <a:pPr>
              <a:lnSpc>
                <a:spcPct val="115000"/>
              </a:lnSpc>
            </a:pPr>
            <a:endParaRPr lang="es-MX" sz="1200">
              <a:solidFill>
                <a:srgbClr val="5C6C6E"/>
              </a:solidFill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A los tres meses, las estadísticas de uso mostraban 4 visitas en total: todas del propio equipo que lo construyó.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F595FBF-182C-9CF3-A12F-A6785BBB0287}"/>
              </a:ext>
            </a:extLst>
          </p:cNvPr>
          <p:cNvSpPr/>
          <p:nvPr/>
        </p:nvSpPr>
        <p:spPr>
          <a:xfrm>
            <a:off x="6184900" y="1752600"/>
            <a:ext cx="5156200" cy="3810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2F37CD-4429-DA3D-7C2A-92DF1EA6D6E1}"/>
              </a:ext>
            </a:extLst>
          </p:cNvPr>
          <p:cNvSpPr txBox="1"/>
          <p:nvPr/>
        </p:nvSpPr>
        <p:spPr>
          <a:xfrm>
            <a:off x="6515100" y="20320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950" b="1">
                <a:solidFill>
                  <a:srgbClr val="00A896"/>
                </a:solidFill>
                <a:latin typeface="Calibri" panose="020F0502020204030204" pitchFamily="34" charset="0"/>
              </a:rPr>
              <a:t>C A S O   2</a:t>
            </a:r>
            <a:endParaRPr lang="es-CO" sz="95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35EC621-1207-7023-C3ED-AC18CBA8A753}"/>
              </a:ext>
            </a:extLst>
          </p:cNvPr>
          <p:cNvSpPr txBox="1"/>
          <p:nvPr/>
        </p:nvSpPr>
        <p:spPr>
          <a:xfrm>
            <a:off x="6515100" y="23114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2000" b="1">
                <a:solidFill>
                  <a:srgbClr val="012E33"/>
                </a:solidFill>
                <a:latin typeface="Cambria" panose="02040503050406030204" pitchFamily="18" charset="0"/>
              </a:rPr>
              <a:t>El modelo perfecto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F0493AB-7ECA-07FA-76C0-7911F63AC964}"/>
              </a:ext>
            </a:extLst>
          </p:cNvPr>
          <p:cNvSpPr/>
          <p:nvPr/>
        </p:nvSpPr>
        <p:spPr>
          <a:xfrm>
            <a:off x="6515100" y="3175000"/>
            <a:ext cx="508000" cy="50800"/>
          </a:xfrm>
          <a:prstGeom prst="rect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A9930B7-EA6E-8C71-3FF1-749F485AE222}"/>
              </a:ext>
            </a:extLst>
          </p:cNvPr>
          <p:cNvSpPr txBox="1"/>
          <p:nvPr/>
        </p:nvSpPr>
        <p:spPr>
          <a:xfrm>
            <a:off x="6515100" y="3403600"/>
            <a:ext cx="447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Un modelo de predicción de demanda alcanzó 96% de precisión en las pruebas. El equipo celebró y lo puso en producción.</a:t>
            </a:r>
          </a:p>
          <a:p>
            <a:pPr>
              <a:lnSpc>
                <a:spcPct val="115000"/>
              </a:lnSpc>
            </a:pPr>
            <a:endParaRPr lang="es-MX" sz="1200">
              <a:solidFill>
                <a:srgbClr val="5C6C6E"/>
              </a:solidFill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Fallaba sistemáticamente los lunes y durante toda la temporada escolar. La bodega quedó sin inventario dos veces.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A283ACE-0C31-759F-2B4E-8C1B76C535B4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Cada equipo recibe uno solo. No lo comenten con los otros equipos hasta la socialización.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912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581A0B2-D697-1951-DB78-5E583F38B74E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L O S   E X P E D I E N T E S     ·     2   D E   2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9D27961-FC54-1F05-8400-85C6871E3FC9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Casos 3 y 4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B401B18-B602-DB7F-FBFA-B5F6B6B21CE4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19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00D577-7EA7-C420-3EA1-08F2A583FE4E}"/>
              </a:ext>
            </a:extLst>
          </p:cNvPr>
          <p:cNvSpPr/>
          <p:nvPr/>
        </p:nvSpPr>
        <p:spPr>
          <a:xfrm>
            <a:off x="850900" y="1752600"/>
            <a:ext cx="5156200" cy="3810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A51A579-7CB6-AF36-8E18-988895688CCF}"/>
              </a:ext>
            </a:extLst>
          </p:cNvPr>
          <p:cNvSpPr txBox="1"/>
          <p:nvPr/>
        </p:nvSpPr>
        <p:spPr>
          <a:xfrm>
            <a:off x="1181100" y="20320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950" b="1">
                <a:solidFill>
                  <a:srgbClr val="00A896"/>
                </a:solidFill>
                <a:latin typeface="Calibri" panose="020F0502020204030204" pitchFamily="34" charset="0"/>
              </a:rPr>
              <a:t>C A S O   3</a:t>
            </a:r>
            <a:endParaRPr lang="es-CO" sz="95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726152F-36C5-C9E8-5D4E-423F5A681934}"/>
              </a:ext>
            </a:extLst>
          </p:cNvPr>
          <p:cNvSpPr txBox="1"/>
          <p:nvPr/>
        </p:nvSpPr>
        <p:spPr>
          <a:xfrm>
            <a:off x="1181100" y="23114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2000" b="1">
                <a:solidFill>
                  <a:srgbClr val="012E33"/>
                </a:solidFill>
                <a:latin typeface="Cambria" panose="02040503050406030204" pitchFamily="18" charset="0"/>
              </a:rPr>
              <a:t>La ciudad fantasma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90545-14CF-D136-127C-DFFE8FE1E3A5}"/>
              </a:ext>
            </a:extLst>
          </p:cNvPr>
          <p:cNvSpPr/>
          <p:nvPr/>
        </p:nvSpPr>
        <p:spPr>
          <a:xfrm>
            <a:off x="1181100" y="3175000"/>
            <a:ext cx="508000" cy="50800"/>
          </a:xfrm>
          <a:prstGeom prst="rect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2EBB80B-D94C-245B-D8C1-20E681CF9B66}"/>
              </a:ext>
            </a:extLst>
          </p:cNvPr>
          <p:cNvSpPr txBox="1"/>
          <p:nvPr/>
        </p:nvSpPr>
        <p:spPr>
          <a:xfrm>
            <a:off x="1181100" y="3403600"/>
            <a:ext cx="447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Un análisis concluyó que Bogotá era apenas el tercer mercado del país, detrás de dos ciudades intermedias. La empresa redujo su fuerza comercial en la capital.</a:t>
            </a:r>
          </a:p>
          <a:p>
            <a:pPr>
              <a:lnSpc>
                <a:spcPct val="115000"/>
              </a:lnSpc>
            </a:pPr>
            <a:endParaRPr lang="es-MX" sz="1200">
              <a:solidFill>
                <a:srgbClr val="5C6C6E"/>
              </a:solidFill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Seis meses después alguien revisó la tabla: 'Bogotá', 'BOGOTA' y 'Bta' se habían contado como tres ciudades distintas.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4C43C1C-CABC-EAA2-12D5-A1462E60C59A}"/>
              </a:ext>
            </a:extLst>
          </p:cNvPr>
          <p:cNvSpPr/>
          <p:nvPr/>
        </p:nvSpPr>
        <p:spPr>
          <a:xfrm>
            <a:off x="6184900" y="1752600"/>
            <a:ext cx="5156200" cy="3810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51BC6A5-1610-4821-B045-08D863111045}"/>
              </a:ext>
            </a:extLst>
          </p:cNvPr>
          <p:cNvSpPr txBox="1"/>
          <p:nvPr/>
        </p:nvSpPr>
        <p:spPr>
          <a:xfrm>
            <a:off x="6515100" y="20320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950" b="1">
                <a:solidFill>
                  <a:srgbClr val="00A896"/>
                </a:solidFill>
                <a:latin typeface="Calibri" panose="020F0502020204030204" pitchFamily="34" charset="0"/>
              </a:rPr>
              <a:t>C A S O   4</a:t>
            </a:r>
            <a:endParaRPr lang="es-CO" sz="95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7219C27-AA04-E68E-274C-22C64142B3DD}"/>
              </a:ext>
            </a:extLst>
          </p:cNvPr>
          <p:cNvSpPr txBox="1"/>
          <p:nvPr/>
        </p:nvSpPr>
        <p:spPr>
          <a:xfrm>
            <a:off x="6515100" y="23114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2000" b="1">
                <a:solidFill>
                  <a:srgbClr val="012E33"/>
                </a:solidFill>
                <a:latin typeface="Cambria" panose="02040503050406030204" pitchFamily="18" charset="0"/>
              </a:rPr>
              <a:t>El hallazgo que envejeció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B204C3A-AAA6-EAE8-6607-F2C475BDB3D0}"/>
              </a:ext>
            </a:extLst>
          </p:cNvPr>
          <p:cNvSpPr/>
          <p:nvPr/>
        </p:nvSpPr>
        <p:spPr>
          <a:xfrm>
            <a:off x="6515100" y="3175000"/>
            <a:ext cx="508000" cy="50800"/>
          </a:xfrm>
          <a:prstGeom prst="rect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5082A36-E288-BBC7-66EC-52C7F7D27D9D}"/>
              </a:ext>
            </a:extLst>
          </p:cNvPr>
          <p:cNvSpPr txBox="1"/>
          <p:nvPr/>
        </p:nvSpPr>
        <p:spPr>
          <a:xfrm>
            <a:off x="6515100" y="3403600"/>
            <a:ext cx="447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Un estudio recomendó reforzar el canal telefónico porque el 61% de los clientes lo prefería. La empresa contrató 40 asesores.</a:t>
            </a:r>
          </a:p>
          <a:p>
            <a:pPr>
              <a:lnSpc>
                <a:spcPct val="115000"/>
              </a:lnSpc>
            </a:pPr>
            <a:endParaRPr lang="es-MX" sz="1200">
              <a:solidFill>
                <a:srgbClr val="5C6C6E"/>
              </a:solidFill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Los resultados fueron nulos. El estudio se había hecho con datos de 2019 y se implementó en 2025.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FB622AC-EFE3-5FA5-51FF-4A7BFBD4C52E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Los cuatro expedientes están también en Canvas, por si prefieren leerlos desde el portátil.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163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DB4A2ED-06A6-B648-7086-DDC1EEB8EC32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E N T R E G A   E N   C A N V A S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5678A56-F076-2AD6-4A5A-8911E286A865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El informe de autopsia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F9DEB7F-96D7-8358-DC17-F9EFE4ABD1B8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20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411810B-D00C-95F3-FA14-9E3D39CEDF4A}"/>
              </a:ext>
            </a:extLst>
          </p:cNvPr>
          <p:cNvSpPr txBox="1"/>
          <p:nvPr/>
        </p:nvSpPr>
        <p:spPr>
          <a:xfrm>
            <a:off x="850900" y="16256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>
                <a:solidFill>
                  <a:srgbClr val="5C6C6E"/>
                </a:solidFill>
                <a:latin typeface="Calibri" panose="020F0502020204030204" pitchFamily="34" charset="0"/>
              </a:rPr>
              <a:t>Al terminar la socialización, cada equipo sube un documento de una página con estos cuatro puntos:</a:t>
            </a:r>
            <a:endParaRPr lang="es-CO" sz="14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0F6D1F0-F9C7-F974-49D1-4CE74B3CA720}"/>
              </a:ext>
            </a:extLst>
          </p:cNvPr>
          <p:cNvSpPr/>
          <p:nvPr/>
        </p:nvSpPr>
        <p:spPr>
          <a:xfrm>
            <a:off x="850900" y="2184400"/>
            <a:ext cx="10490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C425660-36DB-47B5-0B3C-14C7C360EED6}"/>
              </a:ext>
            </a:extLst>
          </p:cNvPr>
          <p:cNvSpPr/>
          <p:nvPr/>
        </p:nvSpPr>
        <p:spPr>
          <a:xfrm>
            <a:off x="1117600" y="24257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A3D161A-AFAE-A774-F2BA-1A5EA8298C21}"/>
              </a:ext>
            </a:extLst>
          </p:cNvPr>
          <p:cNvSpPr txBox="1"/>
          <p:nvPr/>
        </p:nvSpPr>
        <p:spPr>
          <a:xfrm>
            <a:off x="1676400" y="23876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Etapa(s) donde falló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56A789-F4CC-D52A-86D2-7A723C6CC404}"/>
              </a:ext>
            </a:extLst>
          </p:cNvPr>
          <p:cNvSpPr txBox="1"/>
          <p:nvPr/>
        </p:nvSpPr>
        <p:spPr>
          <a:xfrm>
            <a:off x="4826000" y="2413000"/>
            <a:ext cx="628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Nombren la etapa del ciclo y expliquen en dos líneas por qué la falla ocurrió ahí y no en otra.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EB2BD41-0551-E0B5-04B3-81B819480033}"/>
              </a:ext>
            </a:extLst>
          </p:cNvPr>
          <p:cNvSpPr/>
          <p:nvPr/>
        </p:nvSpPr>
        <p:spPr>
          <a:xfrm>
            <a:off x="850900" y="3149600"/>
            <a:ext cx="10490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EAA04F8-E3EC-B5F4-3DD2-20F29C6605B6}"/>
              </a:ext>
            </a:extLst>
          </p:cNvPr>
          <p:cNvSpPr/>
          <p:nvPr/>
        </p:nvSpPr>
        <p:spPr>
          <a:xfrm>
            <a:off x="1117600" y="33909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5FABBD3-0837-B5D6-5840-FA653005FB51}"/>
              </a:ext>
            </a:extLst>
          </p:cNvPr>
          <p:cNvSpPr txBox="1"/>
          <p:nvPr/>
        </p:nvSpPr>
        <p:spPr>
          <a:xfrm>
            <a:off x="1676400" y="33528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La evidencia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CEEF880-5BD8-79E0-12C7-991D6CDDA64B}"/>
              </a:ext>
            </a:extLst>
          </p:cNvPr>
          <p:cNvSpPr txBox="1"/>
          <p:nvPr/>
        </p:nvSpPr>
        <p:spPr>
          <a:xfrm>
            <a:off x="4826000" y="3378200"/>
            <a:ext cx="628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¿Qué señal del caso les permitió detectarlo? Citen el dato concreto del expediente.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7E8904D-70DD-8C54-936A-49E1867CCE97}"/>
              </a:ext>
            </a:extLst>
          </p:cNvPr>
          <p:cNvSpPr/>
          <p:nvPr/>
        </p:nvSpPr>
        <p:spPr>
          <a:xfrm>
            <a:off x="850900" y="4114800"/>
            <a:ext cx="10490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8793A1B5-912F-05A0-D41F-86579F3BBE70}"/>
              </a:ext>
            </a:extLst>
          </p:cNvPr>
          <p:cNvSpPr/>
          <p:nvPr/>
        </p:nvSpPr>
        <p:spPr>
          <a:xfrm>
            <a:off x="1117600" y="43561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5E87C0C-B4E3-3671-66F2-A0E1F44B76DD}"/>
              </a:ext>
            </a:extLst>
          </p:cNvPr>
          <p:cNvSpPr txBox="1"/>
          <p:nvPr/>
        </p:nvSpPr>
        <p:spPr>
          <a:xfrm>
            <a:off x="1676400" y="43180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El rescate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547D43F-7DF9-ED01-CBFF-5107C96EDD0A}"/>
              </a:ext>
            </a:extLst>
          </p:cNvPr>
          <p:cNvSpPr txBox="1"/>
          <p:nvPr/>
        </p:nvSpPr>
        <p:spPr>
          <a:xfrm>
            <a:off x="4826000" y="4343400"/>
            <a:ext cx="628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¿Qué debió hacerse en esa etapa para evitarlo? Una acción concreta, no un consejo general.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A85CAB5-2697-B9E9-0FC5-A74E5833679B}"/>
              </a:ext>
            </a:extLst>
          </p:cNvPr>
          <p:cNvSpPr/>
          <p:nvPr/>
        </p:nvSpPr>
        <p:spPr>
          <a:xfrm>
            <a:off x="850900" y="5080000"/>
            <a:ext cx="10490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E63D02E6-21B1-E2D0-C4E2-088E444EED17}"/>
              </a:ext>
            </a:extLst>
          </p:cNvPr>
          <p:cNvSpPr/>
          <p:nvPr/>
        </p:nvSpPr>
        <p:spPr>
          <a:xfrm>
            <a:off x="1117600" y="53213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F9BB9BB-FB4C-0F72-61ED-D635A96D6C92}"/>
              </a:ext>
            </a:extLst>
          </p:cNvPr>
          <p:cNvSpPr txBox="1"/>
          <p:nvPr/>
        </p:nvSpPr>
        <p:spPr>
          <a:xfrm>
            <a:off x="1676400" y="52832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Su regla preventiva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EED51E5-9256-2BC0-2997-727000D400EE}"/>
              </a:ext>
            </a:extLst>
          </p:cNvPr>
          <p:cNvSpPr txBox="1"/>
          <p:nvPr/>
        </p:nvSpPr>
        <p:spPr>
          <a:xfrm>
            <a:off x="4826000" y="5308600"/>
            <a:ext cx="628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Una frase aplicable a SU proyecto del semestre. Esta es la parte que se lleva la nota más alta.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DE58268-837F-A379-201B-488160FF1CCA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Formato: PDF o Word, una página, con los nombres del equipo. Plazo: hasta el final de la clase.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926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3B12D8C-AD95-70AE-09C9-298A64EAE0C2}"/>
              </a:ext>
            </a:extLst>
          </p:cNvPr>
          <p:cNvSpPr txBox="1"/>
          <p:nvPr/>
        </p:nvSpPr>
        <p:spPr>
          <a:xfrm>
            <a:off x="850900" y="7620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P A R A   C E R R A R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97CEBD7-EE9B-76A9-3E71-73798E6786B5}"/>
              </a:ext>
            </a:extLst>
          </p:cNvPr>
          <p:cNvSpPr txBox="1"/>
          <p:nvPr/>
        </p:nvSpPr>
        <p:spPr>
          <a:xfrm>
            <a:off x="850900" y="10668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300" b="1">
                <a:solidFill>
                  <a:srgbClr val="FFFFFF"/>
                </a:solidFill>
                <a:latin typeface="Cambria" panose="02040503050406030204" pitchFamily="18" charset="0"/>
              </a:rPr>
              <a:t>Cinco ideas para llevarse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FEFC14F-9BC1-36CB-500D-29B2A81532B3}"/>
              </a:ext>
            </a:extLst>
          </p:cNvPr>
          <p:cNvSpPr/>
          <p:nvPr/>
        </p:nvSpPr>
        <p:spPr>
          <a:xfrm>
            <a:off x="850900" y="1854200"/>
            <a:ext cx="1016000" cy="50800"/>
          </a:xfrm>
          <a:prstGeom prst="rect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17D1B07-5A7E-84B4-D49D-9560619C24D2}"/>
              </a:ext>
            </a:extLst>
          </p:cNvPr>
          <p:cNvSpPr/>
          <p:nvPr/>
        </p:nvSpPr>
        <p:spPr>
          <a:xfrm>
            <a:off x="850900" y="2311400"/>
            <a:ext cx="381000" cy="3810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012E33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A1D10DE-D903-8B26-1603-557E99C586C3}"/>
              </a:ext>
            </a:extLst>
          </p:cNvPr>
          <p:cNvSpPr txBox="1"/>
          <p:nvPr/>
        </p:nvSpPr>
        <p:spPr>
          <a:xfrm>
            <a:off x="1460500" y="22860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50">
                <a:solidFill>
                  <a:srgbClr val="C3D6D8"/>
                </a:solidFill>
                <a:latin typeface="Calibri" panose="020F0502020204030204" pitchFamily="34" charset="0"/>
              </a:rPr>
              <a:t>La ciencia de datos no es un algoritmo: es un proceso completo, del problema a la decisión.</a:t>
            </a:r>
            <a:endParaRPr lang="es-CO" sz="14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86F0816-CA51-EE8D-7AA2-FBD0ABD87BC0}"/>
              </a:ext>
            </a:extLst>
          </p:cNvPr>
          <p:cNvSpPr/>
          <p:nvPr/>
        </p:nvSpPr>
        <p:spPr>
          <a:xfrm>
            <a:off x="850900" y="2971800"/>
            <a:ext cx="381000" cy="3810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012E33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93E116B-40E0-E9DF-4C92-37B4CDC4E59B}"/>
              </a:ext>
            </a:extLst>
          </p:cNvPr>
          <p:cNvSpPr txBox="1"/>
          <p:nvPr/>
        </p:nvSpPr>
        <p:spPr>
          <a:xfrm>
            <a:off x="1460500" y="29464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50">
                <a:solidFill>
                  <a:srgbClr val="C3D6D8"/>
                </a:solidFill>
                <a:latin typeface="Calibri" panose="020F0502020204030204" pitchFamily="34" charset="0"/>
              </a:rPr>
              <a:t>El 80% del trabajo está antes del análisis. La limpieza no es un trámite, es el análisis.</a:t>
            </a:r>
            <a:endParaRPr lang="es-CO" sz="14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B5EFA093-D423-8FF9-EEB5-87FE431D3929}"/>
              </a:ext>
            </a:extLst>
          </p:cNvPr>
          <p:cNvSpPr/>
          <p:nvPr/>
        </p:nvSpPr>
        <p:spPr>
          <a:xfrm>
            <a:off x="850900" y="3632200"/>
            <a:ext cx="381000" cy="3810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012E33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32F9D57-46C7-5FD4-32C5-EDAB389708F8}"/>
              </a:ext>
            </a:extLst>
          </p:cNvPr>
          <p:cNvSpPr txBox="1"/>
          <p:nvPr/>
        </p:nvSpPr>
        <p:spPr>
          <a:xfrm>
            <a:off x="1460500" y="36068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50">
                <a:solidFill>
                  <a:srgbClr val="C3D6D8"/>
                </a:solidFill>
                <a:latin typeface="Calibri" panose="020F0502020204030204" pitchFamily="34" charset="0"/>
              </a:rPr>
              <a:t>El EDA se hace con gráficos: el cuarteto de Anscombe demuestra que los números solos engañan.</a:t>
            </a:r>
            <a:endParaRPr lang="es-CO" sz="14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428F50E-787A-DE8A-E905-DF778DEFCDAD}"/>
              </a:ext>
            </a:extLst>
          </p:cNvPr>
          <p:cNvSpPr/>
          <p:nvPr/>
        </p:nvSpPr>
        <p:spPr>
          <a:xfrm>
            <a:off x="850900" y="4292600"/>
            <a:ext cx="381000" cy="3810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012E33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68B7C15-EEA7-52A7-07E0-9787F6ADC506}"/>
              </a:ext>
            </a:extLst>
          </p:cNvPr>
          <p:cNvSpPr txBox="1"/>
          <p:nvPr/>
        </p:nvSpPr>
        <p:spPr>
          <a:xfrm>
            <a:off x="1460500" y="42672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50">
                <a:solidFill>
                  <a:srgbClr val="C3D6D8"/>
                </a:solidFill>
                <a:latin typeface="Calibri" panose="020F0502020204030204" pitchFamily="34" charset="0"/>
              </a:rPr>
              <a:t>La visualización aparece en las etapas 3, 4, 6 y 7, con propósitos distintos en cada una.</a:t>
            </a:r>
            <a:endParaRPr lang="es-CO" sz="14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C2CC72B-7B2D-EC6B-2061-73841C5C17B6}"/>
              </a:ext>
            </a:extLst>
          </p:cNvPr>
          <p:cNvSpPr/>
          <p:nvPr/>
        </p:nvSpPr>
        <p:spPr>
          <a:xfrm>
            <a:off x="850900" y="4953000"/>
            <a:ext cx="381000" cy="3810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012E33"/>
                </a:solidFill>
                <a:latin typeface="Cambria" panose="02040503050406030204" pitchFamily="18" charset="0"/>
              </a:rPr>
              <a:t>5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72E6A78-6C34-454A-8313-11AD8D093D55}"/>
              </a:ext>
            </a:extLst>
          </p:cNvPr>
          <p:cNvSpPr txBox="1"/>
          <p:nvPr/>
        </p:nvSpPr>
        <p:spPr>
          <a:xfrm>
            <a:off x="1460500" y="49276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50">
                <a:solidFill>
                  <a:srgbClr val="C3D6D8"/>
                </a:solidFill>
                <a:latin typeface="Calibri" panose="020F0502020204030204" pitchFamily="34" charset="0"/>
              </a:rPr>
              <a:t>El ciclo no termina: se monitorea, aparecen preguntas nuevas y vuelve a empezar.</a:t>
            </a:r>
            <a:endParaRPr lang="es-CO" sz="14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96137E0-EE1D-41F1-CA36-21B9475ECDAB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31384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E3E35CE-E9EB-A786-9130-DD8C88EA9DE4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P A R A   P R O F U N D I Z A R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235467D-4051-A147-139A-974C08440398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Referencias de la sesión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71FBAF4-2ABE-D224-C6F4-ED23FD4183C2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22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CA6429-E997-5BEB-9DBE-F8F22CF5A467}"/>
              </a:ext>
            </a:extLst>
          </p:cNvPr>
          <p:cNvSpPr/>
          <p:nvPr/>
        </p:nvSpPr>
        <p:spPr>
          <a:xfrm>
            <a:off x="850900" y="1841500"/>
            <a:ext cx="10490200" cy="736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FAFF8FF-62FC-9761-3BA7-16DFAB07CD9E}"/>
              </a:ext>
            </a:extLst>
          </p:cNvPr>
          <p:cNvSpPr txBox="1"/>
          <p:nvPr/>
        </p:nvSpPr>
        <p:spPr>
          <a:xfrm>
            <a:off x="1168400" y="20701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Anscombe, F. J. (1973)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8E4065-DC63-8D93-7405-41EB8E68EC2D}"/>
              </a:ext>
            </a:extLst>
          </p:cNvPr>
          <p:cNvSpPr txBox="1"/>
          <p:nvPr/>
        </p:nvSpPr>
        <p:spPr>
          <a:xfrm>
            <a:off x="3873500" y="20701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150">
                <a:solidFill>
                  <a:srgbClr val="5C6C6E"/>
                </a:solidFill>
                <a:latin typeface="Calibri" panose="020F0502020204030204" pitchFamily="34" charset="0"/>
              </a:rPr>
              <a:t>Graphs in Statistical Analysis. The American Statistician, 27(1), 17-21.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ED4AE7B-44E3-33BD-FE4A-5E12222D6418}"/>
              </a:ext>
            </a:extLst>
          </p:cNvPr>
          <p:cNvSpPr txBox="1"/>
          <p:nvPr/>
        </p:nvSpPr>
        <p:spPr>
          <a:xfrm>
            <a:off x="8890000" y="20701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50" b="1" i="1">
                <a:solidFill>
                  <a:srgbClr val="028090"/>
                </a:solidFill>
                <a:latin typeface="Calibri" panose="020F0502020204030204" pitchFamily="34" charset="0"/>
              </a:rPr>
              <a:t>Origen del cuarteto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97026E4-0BE5-4DC9-9610-401CDC5B72EA}"/>
              </a:ext>
            </a:extLst>
          </p:cNvPr>
          <p:cNvSpPr/>
          <p:nvPr/>
        </p:nvSpPr>
        <p:spPr>
          <a:xfrm>
            <a:off x="850900" y="2679700"/>
            <a:ext cx="10490200" cy="736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BB6CF32-6616-3DD2-FCD9-82DAAA4F58DB}"/>
              </a:ext>
            </a:extLst>
          </p:cNvPr>
          <p:cNvSpPr txBox="1"/>
          <p:nvPr/>
        </p:nvSpPr>
        <p:spPr>
          <a:xfrm>
            <a:off x="1168400" y="29083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Wickham, H. (2014)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96A6C3E-9251-7FF7-BA78-9D7CBA9A59A8}"/>
              </a:ext>
            </a:extLst>
          </p:cNvPr>
          <p:cNvSpPr txBox="1"/>
          <p:nvPr/>
        </p:nvSpPr>
        <p:spPr>
          <a:xfrm>
            <a:off x="3873500" y="29083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150">
                <a:solidFill>
                  <a:srgbClr val="5C6C6E"/>
                </a:solidFill>
                <a:latin typeface="Calibri" panose="020F0502020204030204" pitchFamily="34" charset="0"/>
              </a:rPr>
              <a:t>Tidy Data. Journal of Statistical Software, 59(10).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2C8260C-9325-463E-6DAC-48376446E090}"/>
              </a:ext>
            </a:extLst>
          </p:cNvPr>
          <p:cNvSpPr txBox="1"/>
          <p:nvPr/>
        </p:nvSpPr>
        <p:spPr>
          <a:xfrm>
            <a:off x="8890000" y="29083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50" b="1" i="1">
                <a:solidFill>
                  <a:srgbClr val="028090"/>
                </a:solidFill>
                <a:latin typeface="Calibri" panose="020F0502020204030204" pitchFamily="34" charset="0"/>
              </a:rPr>
              <a:t>Acceso abierto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AFBEA09-34E1-9DBC-1F06-24FFA73DA6F7}"/>
              </a:ext>
            </a:extLst>
          </p:cNvPr>
          <p:cNvSpPr/>
          <p:nvPr/>
        </p:nvSpPr>
        <p:spPr>
          <a:xfrm>
            <a:off x="850900" y="3517900"/>
            <a:ext cx="10490200" cy="736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94E6018-DC01-FDA8-D772-52D764F693F2}"/>
              </a:ext>
            </a:extLst>
          </p:cNvPr>
          <p:cNvSpPr txBox="1"/>
          <p:nvPr/>
        </p:nvSpPr>
        <p:spPr>
          <a:xfrm>
            <a:off x="1168400" y="37465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Kusleika, D. (2021)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DD8871F-6C5F-8FC7-4995-17A2A583955E}"/>
              </a:ext>
            </a:extLst>
          </p:cNvPr>
          <p:cNvSpPr txBox="1"/>
          <p:nvPr/>
        </p:nvSpPr>
        <p:spPr>
          <a:xfrm>
            <a:off x="3873500" y="37465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150">
                <a:solidFill>
                  <a:srgbClr val="5C6C6E"/>
                </a:solidFill>
                <a:latin typeface="Calibri" panose="020F0502020204030204" pitchFamily="34" charset="0"/>
              </a:rPr>
              <a:t>Data Visualization with Excel Dashboards and Reports. Wiley.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BCAF18F-4AF5-94D8-F18F-A2B3BC94E082}"/>
              </a:ext>
            </a:extLst>
          </p:cNvPr>
          <p:cNvSpPr txBox="1"/>
          <p:nvPr/>
        </p:nvSpPr>
        <p:spPr>
          <a:xfrm>
            <a:off x="8890000" y="37465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50" b="1" i="1">
                <a:solidFill>
                  <a:srgbClr val="028090"/>
                </a:solidFill>
                <a:latin typeface="Calibri" panose="020F0502020204030204" pitchFamily="34" charset="0"/>
              </a:rPr>
              <a:t>Biblioteca EAN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9D595BA-450D-25E1-61AD-70DD9D96D68F}"/>
              </a:ext>
            </a:extLst>
          </p:cNvPr>
          <p:cNvSpPr/>
          <p:nvPr/>
        </p:nvSpPr>
        <p:spPr>
          <a:xfrm>
            <a:off x="850900" y="4356100"/>
            <a:ext cx="10490200" cy="736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A1F50BF-215B-FF9B-AC6E-791D9EA07F4E}"/>
              </a:ext>
            </a:extLst>
          </p:cNvPr>
          <p:cNvSpPr txBox="1"/>
          <p:nvPr/>
        </p:nvSpPr>
        <p:spPr>
          <a:xfrm>
            <a:off x="1168400" y="45847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Ware, C.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5C1B8CE-5855-DDD8-37CA-806892BD5434}"/>
              </a:ext>
            </a:extLst>
          </p:cNvPr>
          <p:cNvSpPr txBox="1"/>
          <p:nvPr/>
        </p:nvSpPr>
        <p:spPr>
          <a:xfrm>
            <a:off x="3873500" y="45847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150">
                <a:solidFill>
                  <a:srgbClr val="5C6C6E"/>
                </a:solidFill>
                <a:latin typeface="Calibri" panose="020F0502020204030204" pitchFamily="34" charset="0"/>
              </a:rPr>
              <a:t>Information Visualization: Perception for Design. Morgan Kaufmann.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64A6283-C8EB-6DD3-E907-5E1C7774DC2C}"/>
              </a:ext>
            </a:extLst>
          </p:cNvPr>
          <p:cNvSpPr txBox="1"/>
          <p:nvPr/>
        </p:nvSpPr>
        <p:spPr>
          <a:xfrm>
            <a:off x="8890000" y="45847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50" b="1" i="1">
                <a:solidFill>
                  <a:srgbClr val="028090"/>
                </a:solidFill>
                <a:latin typeface="Calibri" panose="020F0502020204030204" pitchFamily="34" charset="0"/>
              </a:rPr>
              <a:t>Biblioteca EAN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C765AFF-EAB0-F21E-1340-470EA2C11F1D}"/>
              </a:ext>
            </a:extLst>
          </p:cNvPr>
          <p:cNvSpPr/>
          <p:nvPr/>
        </p:nvSpPr>
        <p:spPr>
          <a:xfrm>
            <a:off x="850900" y="5194300"/>
            <a:ext cx="10490200" cy="736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5F997EB-0401-238E-56C4-71056B4BE029}"/>
              </a:ext>
            </a:extLst>
          </p:cNvPr>
          <p:cNvSpPr txBox="1"/>
          <p:nvPr/>
        </p:nvSpPr>
        <p:spPr>
          <a:xfrm>
            <a:off x="1168400" y="54229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Wilke, C. (2019)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9C67486-6D5C-0949-8905-9F69657F53B4}"/>
              </a:ext>
            </a:extLst>
          </p:cNvPr>
          <p:cNvSpPr txBox="1"/>
          <p:nvPr/>
        </p:nvSpPr>
        <p:spPr>
          <a:xfrm>
            <a:off x="3873500" y="54229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150">
                <a:solidFill>
                  <a:srgbClr val="5C6C6E"/>
                </a:solidFill>
                <a:latin typeface="Calibri" panose="020F0502020204030204" pitchFamily="34" charset="0"/>
              </a:rPr>
              <a:t>Fundamentals of Data Visualization. O'Reilly.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557412C-E32B-8E99-92A0-2D1210DB6240}"/>
              </a:ext>
            </a:extLst>
          </p:cNvPr>
          <p:cNvSpPr txBox="1"/>
          <p:nvPr/>
        </p:nvSpPr>
        <p:spPr>
          <a:xfrm>
            <a:off x="8890000" y="54229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50" b="1" i="1">
                <a:solidFill>
                  <a:srgbClr val="028090"/>
                </a:solidFill>
                <a:latin typeface="Calibri" panose="020F0502020204030204" pitchFamily="34" charset="0"/>
              </a:rPr>
              <a:t>clauswilke.com/dataviz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CDBF070-295A-04AD-1915-725E9B8A4F9F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150" i="1">
                <a:solidFill>
                  <a:srgbClr val="028090"/>
                </a:solidFill>
                <a:latin typeface="Calibri" panose="020F0502020204030204" pitchFamily="34" charset="0"/>
              </a:rPr>
              <a:t>Catálogo OCEAN de la Biblioteca EAN: bibliotecaean.primo.exlibrisgroup.com</a:t>
            </a:r>
          </a:p>
        </p:txBody>
      </p:sp>
    </p:spTree>
    <p:extLst>
      <p:ext uri="{BB962C8B-B14F-4D97-AF65-F5344CB8AC3E}">
        <p14:creationId xmlns:p14="http://schemas.microsoft.com/office/powerpoint/2010/main" val="1775805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6FA91D1D-D849-743A-5CE8-1E7618CF2520}"/>
              </a:ext>
            </a:extLst>
          </p:cNvPr>
          <p:cNvSpPr/>
          <p:nvPr/>
        </p:nvSpPr>
        <p:spPr>
          <a:xfrm>
            <a:off x="8890000" y="1905000"/>
            <a:ext cx="3048000" cy="3048000"/>
          </a:xfrm>
          <a:prstGeom prst="ellipse">
            <a:avLst/>
          </a:prstGeom>
          <a:solidFill>
            <a:srgbClr val="0635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87FB8509-DB21-B26C-69BD-CC8FD3DB75F0}"/>
              </a:ext>
            </a:extLst>
          </p:cNvPr>
          <p:cNvSpPr/>
          <p:nvPr/>
        </p:nvSpPr>
        <p:spPr>
          <a:xfrm>
            <a:off x="9461500" y="2476500"/>
            <a:ext cx="1905000" cy="1905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E09CEDA-B54B-5E2A-2D9C-EA0DCA0A75BE}"/>
              </a:ext>
            </a:extLst>
          </p:cNvPr>
          <p:cNvSpPr txBox="1"/>
          <p:nvPr/>
        </p:nvSpPr>
        <p:spPr>
          <a:xfrm>
            <a:off x="9461500" y="27686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7400" b="1">
                <a:solidFill>
                  <a:srgbClr val="FFFFFF"/>
                </a:solidFill>
                <a:latin typeface="Cambria" panose="02040503050406030204" pitchFamily="18" charset="0"/>
              </a:rPr>
              <a:t>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21140DE-CB16-AEFB-E1EE-0DB1C8E17FCF}"/>
              </a:ext>
            </a:extLst>
          </p:cNvPr>
          <p:cNvSpPr txBox="1"/>
          <p:nvPr/>
        </p:nvSpPr>
        <p:spPr>
          <a:xfrm>
            <a:off x="850900" y="2667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4400" b="1">
                <a:solidFill>
                  <a:srgbClr val="FFFFFF"/>
                </a:solidFill>
                <a:latin typeface="Cambria" panose="02040503050406030204" pitchFamily="18" charset="0"/>
              </a:rPr>
              <a:t>¿Preguntas?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4FDC397-58F1-3D23-8EFC-DD4F5B2B65FF}"/>
              </a:ext>
            </a:extLst>
          </p:cNvPr>
          <p:cNvSpPr/>
          <p:nvPr/>
        </p:nvSpPr>
        <p:spPr>
          <a:xfrm>
            <a:off x="850900" y="3759200"/>
            <a:ext cx="1016000" cy="50800"/>
          </a:xfrm>
          <a:prstGeom prst="rect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ADB218E-6B7E-CB00-2191-C05534258972}"/>
              </a:ext>
            </a:extLst>
          </p:cNvPr>
          <p:cNvSpPr txBox="1"/>
          <p:nvPr/>
        </p:nvSpPr>
        <p:spPr>
          <a:xfrm>
            <a:off x="850900" y="4064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500">
                <a:solidFill>
                  <a:srgbClr val="C3D6D8"/>
                </a:solidFill>
                <a:latin typeface="Calibri" panose="020F0502020204030204" pitchFamily="34" charset="0"/>
              </a:rPr>
              <a:t>Estoy aquí para resolver cualquier duda.</a:t>
            </a:r>
            <a:endParaRPr lang="es-CO" sz="15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CEFEDE6-1F6B-4DD1-12A6-8AD41C25FBCE}"/>
              </a:ext>
            </a:extLst>
          </p:cNvPr>
          <p:cNvSpPr txBox="1"/>
          <p:nvPr/>
        </p:nvSpPr>
        <p:spPr>
          <a:xfrm>
            <a:off x="850900" y="5080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BFEAE4"/>
                </a:solidFill>
                <a:latin typeface="Calibri" panose="020F0502020204030204" pitchFamily="34" charset="0"/>
              </a:rPr>
              <a:t>Contacto: chat de la unidad de estudio en Canvas</a:t>
            </a:r>
            <a:endParaRPr lang="es-CO" sz="1200">
              <a:solidFill>
                <a:srgbClr val="BFEAE4"/>
              </a:solidFill>
              <a:latin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F16515A-7A66-13D1-AD90-18B1A1F3D681}"/>
              </a:ext>
            </a:extLst>
          </p:cNvPr>
          <p:cNvSpPr txBox="1"/>
          <p:nvPr/>
        </p:nvSpPr>
        <p:spPr>
          <a:xfrm>
            <a:off x="850900" y="63500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000">
                <a:solidFill>
                  <a:srgbClr val="0B4249"/>
                </a:solidFill>
                <a:latin typeface="Calibri" panose="020F0502020204030204" pitchFamily="34" charset="0"/>
              </a:rPr>
              <a:t>Visualización de Datos  ·  Universidad EAN  ·  Clase 4</a:t>
            </a:r>
            <a:endParaRPr lang="es-CO" sz="1000">
              <a:solidFill>
                <a:srgbClr val="0B424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0992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2795</Words>
  <Application>Microsoft Office PowerPoint</Application>
  <PresentationFormat>Personalizado</PresentationFormat>
  <Paragraphs>332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Cambria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CAMILA SILVA GOMEZ</dc:creator>
  <cp:lastModifiedBy>CAMILA SILVA GOMEZ</cp:lastModifiedBy>
  <cp:revision>1</cp:revision>
  <dcterms:created xsi:type="dcterms:W3CDTF">2026-07-28T16:49:46Z</dcterms:created>
  <dcterms:modified xsi:type="dcterms:W3CDTF">2026-07-28T16:49:46Z</dcterms:modified>
</cp:coreProperties>
</file>