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7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SILVA GOMEZ" userId="744ea9ce-8dfe-4211-8140-fe1f94158012" providerId="ADAL" clId="{B3D4C4A9-7748-4FC4-B673-E76DAC479C57}"/>
    <pc:docChg chg="custSel addSld delSld modSld sldOrd">
      <pc:chgData name="CAMILA SILVA GOMEZ" userId="744ea9ce-8dfe-4211-8140-fe1f94158012" providerId="ADAL" clId="{B3D4C4A9-7748-4FC4-B673-E76DAC479C57}" dt="2026-07-28T18:46:55.762" v="16" actId="1076"/>
      <pc:docMkLst>
        <pc:docMk/>
      </pc:docMkLst>
      <pc:sldChg chg="addSp delSp modSp mod">
        <pc:chgData name="CAMILA SILVA GOMEZ" userId="744ea9ce-8dfe-4211-8140-fe1f94158012" providerId="ADAL" clId="{B3D4C4A9-7748-4FC4-B673-E76DAC479C57}" dt="2026-07-28T18:39:14.450" v="2" actId="1076"/>
        <pc:sldMkLst>
          <pc:docMk/>
          <pc:sldMk cId="4030186967" sldId="275"/>
        </pc:sldMkLst>
        <pc:picChg chg="del">
          <ac:chgData name="CAMILA SILVA GOMEZ" userId="744ea9ce-8dfe-4211-8140-fe1f94158012" providerId="ADAL" clId="{B3D4C4A9-7748-4FC4-B673-E76DAC479C57}" dt="2026-07-28T18:39:10.956" v="0" actId="478"/>
          <ac:picMkLst>
            <pc:docMk/>
            <pc:sldMk cId="4030186967" sldId="275"/>
            <ac:picMk id="3" creationId="{F96BF7A5-8BAE-8606-1D4A-D1F7E409C435}"/>
          </ac:picMkLst>
        </pc:picChg>
        <pc:picChg chg="add mod">
          <ac:chgData name="CAMILA SILVA GOMEZ" userId="744ea9ce-8dfe-4211-8140-fe1f94158012" providerId="ADAL" clId="{B3D4C4A9-7748-4FC4-B673-E76DAC479C57}" dt="2026-07-28T18:39:14.450" v="2" actId="1076"/>
          <ac:picMkLst>
            <pc:docMk/>
            <pc:sldMk cId="4030186967" sldId="275"/>
            <ac:picMk id="10" creationId="{307AF06E-C5F9-DE49-935D-D9430B76FEFF}"/>
          </ac:picMkLst>
        </pc:picChg>
      </pc:sldChg>
      <pc:sldChg chg="modSp mod">
        <pc:chgData name="CAMILA SILVA GOMEZ" userId="744ea9ce-8dfe-4211-8140-fe1f94158012" providerId="ADAL" clId="{B3D4C4A9-7748-4FC4-B673-E76DAC479C57}" dt="2026-07-28T18:42:24.744" v="8" actId="1035"/>
        <pc:sldMkLst>
          <pc:docMk/>
          <pc:sldMk cId="5197356" sldId="276"/>
        </pc:sldMkLst>
        <pc:spChg chg="mod">
          <ac:chgData name="CAMILA SILVA GOMEZ" userId="744ea9ce-8dfe-4211-8140-fe1f94158012" providerId="ADAL" clId="{B3D4C4A9-7748-4FC4-B673-E76DAC479C57}" dt="2026-07-28T18:42:19.775" v="4" actId="1076"/>
          <ac:spMkLst>
            <pc:docMk/>
            <pc:sldMk cId="5197356" sldId="276"/>
            <ac:spMk id="5" creationId="{59B0C52A-CF26-3E1A-8B04-62E5122E6589}"/>
          </ac:spMkLst>
        </pc:spChg>
        <pc:spChg chg="mod">
          <ac:chgData name="CAMILA SILVA GOMEZ" userId="744ea9ce-8dfe-4211-8140-fe1f94158012" providerId="ADAL" clId="{B3D4C4A9-7748-4FC4-B673-E76DAC479C57}" dt="2026-07-28T18:42:24.744" v="8" actId="1035"/>
          <ac:spMkLst>
            <pc:docMk/>
            <pc:sldMk cId="5197356" sldId="276"/>
            <ac:spMk id="6" creationId="{0168E3E1-8B34-6140-6D64-FCF615EB88BE}"/>
          </ac:spMkLst>
        </pc:spChg>
      </pc:sldChg>
      <pc:sldChg chg="modSp mod">
        <pc:chgData name="CAMILA SILVA GOMEZ" userId="744ea9ce-8dfe-4211-8140-fe1f94158012" providerId="ADAL" clId="{B3D4C4A9-7748-4FC4-B673-E76DAC479C57}" dt="2026-07-28T18:46:55.762" v="16" actId="1076"/>
        <pc:sldMkLst>
          <pc:docMk/>
          <pc:sldMk cId="616683841" sldId="279"/>
        </pc:sldMkLst>
        <pc:spChg chg="mod">
          <ac:chgData name="CAMILA SILVA GOMEZ" userId="744ea9ce-8dfe-4211-8140-fe1f94158012" providerId="ADAL" clId="{B3D4C4A9-7748-4FC4-B673-E76DAC479C57}" dt="2026-07-28T18:46:55.762" v="16" actId="1076"/>
          <ac:spMkLst>
            <pc:docMk/>
            <pc:sldMk cId="616683841" sldId="279"/>
            <ac:spMk id="8" creationId="{142CD232-4B6C-E65E-EF0E-DC6AEE1117E7}"/>
          </ac:spMkLst>
        </pc:spChg>
      </pc:sldChg>
      <pc:sldChg chg="modSp add del mod setBg">
        <pc:chgData name="CAMILA SILVA GOMEZ" userId="744ea9ce-8dfe-4211-8140-fe1f94158012" providerId="ADAL" clId="{B3D4C4A9-7748-4FC4-B673-E76DAC479C57}" dt="2026-07-28T18:44:06.689" v="15" actId="47"/>
        <pc:sldMkLst>
          <pc:docMk/>
          <pc:sldMk cId="0" sldId="283"/>
        </pc:sldMkLst>
        <pc:spChg chg="mod">
          <ac:chgData name="CAMILA SILVA GOMEZ" userId="744ea9ce-8dfe-4211-8140-fe1f94158012" providerId="ADAL" clId="{B3D4C4A9-7748-4FC4-B673-E76DAC479C57}" dt="2026-07-28T18:43:48.439" v="10" actId="207"/>
          <ac:spMkLst>
            <pc:docMk/>
            <pc:sldMk cId="0" sldId="283"/>
            <ac:spMk id="2" creationId="{00000000-0000-0000-0000-000000000000}"/>
          </ac:spMkLst>
        </pc:spChg>
        <pc:spChg chg="mod">
          <ac:chgData name="CAMILA SILVA GOMEZ" userId="744ea9ce-8dfe-4211-8140-fe1f94158012" providerId="ADAL" clId="{B3D4C4A9-7748-4FC4-B673-E76DAC479C57}" dt="2026-07-28T18:43:58.082" v="12" actId="208"/>
          <ac:spMkLst>
            <pc:docMk/>
            <pc:sldMk cId="0" sldId="283"/>
            <ac:spMk id="4" creationId="{00000000-0000-0000-0000-000000000000}"/>
          </ac:spMkLst>
        </pc:spChg>
      </pc:sldChg>
      <pc:sldChg chg="add ord">
        <pc:chgData name="CAMILA SILVA GOMEZ" userId="744ea9ce-8dfe-4211-8140-fe1f94158012" providerId="ADAL" clId="{B3D4C4A9-7748-4FC4-B673-E76DAC479C57}" dt="2026-07-28T18:44:04.809" v="14"/>
        <pc:sldMkLst>
          <pc:docMk/>
          <pc:sldMk cId="1667208420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D28D6-D384-4251-B563-FB5C7EC53BE9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B4C3E-211F-4BE5-8EC0-F12BC96B2F7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427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6151B-B2D1-0AB7-AEA0-4B885F1C5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4D324A-2DE2-41D1-EA57-83E97D17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F8146F-0823-E8B7-57B4-40C1E50D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5F884-10F3-B80A-3E18-5908992B4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DB539E-1653-DB9A-473B-FE3E45D7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105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E0B83-6EE9-0D32-284D-145EE984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41C19D-03EC-D336-66FE-67FA548FF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8ABD12-AEBC-A5AA-9751-8C1B7466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B24318-6C1F-97EB-2CB7-E1791283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824F75-4832-DE7F-6A20-5BFFD1A6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608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F639A-12AE-9FA1-8227-B30E0FC6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417CAE-110A-0993-CF85-A124A9126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3A131F-52FE-1262-CCCC-E5F226C6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266442-4D09-200F-012D-7542D4F5B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09922C-FABC-DCEC-DA6C-0EFB1C9A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629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386C7-3522-AB7E-2B86-35856AE9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67CF65-7A6D-D9C6-9703-87CD14A2F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21FE39-9AD6-08C6-C573-2EBE58DF0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52CAFE-A762-93C8-6027-CCCF9895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9A5E63-8789-8C01-8B85-08824C00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E369FD-B34B-EAB1-D14F-CFE3A76E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215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BF927-2D9D-CD54-D69D-39EE2C269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B0ECF-CB77-0A92-0B3C-A1562FEE8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55B672-2BFA-5076-DE44-BA305084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32F2763-C34B-E028-1CD1-E987729ED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49B9377-8D48-6631-DEE4-31FE94375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8809A34-0951-0E43-443B-765970E0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32DC0B-A00E-D3A7-6CF6-20CFB602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38595A6-8912-6209-4F3F-C441877C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556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7D895-C4DA-B087-2FBD-F567E2C3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C84ECB-FA2D-18EF-60A5-06DFA492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A197EB-F6BF-758B-DE09-8840CCEFB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5895A7-9303-D011-467A-4098D895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816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1147F3-DA25-DB36-59EB-77F71172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B1800BC-C58B-9C9E-0D4E-1BB54CF61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EBE632-1502-7092-6F92-094731AF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30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1F1D1-BD22-23D7-64F3-25A5E974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708E46-59AE-74B2-43D9-68E995DC9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218D6D-69E8-5C0F-32BB-EB5AB666E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AEEFC3-C513-1A15-EBE4-49EF1461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3659E4-8B89-3412-370C-1A1FC010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738B0A-AA85-FAB7-1921-EF3A1480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116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D904A-8C0D-09CF-DBB2-E8C67AAE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D3FBF7-D216-68B7-030F-AB93EA6DF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E54B4B-28A5-F41A-F85C-135245D83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D3E72D-A996-48CE-94C3-2F18B117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F2EF48-3E67-C4F6-EE11-E32B3D5B7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176983-41C0-5899-D3A4-8E1CC21B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98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3D33E-3D05-D188-9762-6A4D066E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23B016-C387-FE46-2332-CFF48592E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126F9-DFD6-50FF-21A4-D1F6CEB6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36A1A4-50BD-6167-6AF4-AB6DFF94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1CC38E-C9CE-8A11-3D5A-03C5C8D3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92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5770B9-55B6-5908-D47B-9778D7CA4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363C70-7849-6664-104A-5003846E9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431F5-381D-7855-3082-70F0A654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F00C1A-712B-E10A-4892-725A84B2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4D0FD-4441-C5B9-03B6-26F5C64A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6744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78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C3971B-6364-8952-CEEA-AF8ED221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BE4AA9-F32C-9683-DCE6-6AE79CDBC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2B3F47-375B-FF9B-10F9-944679948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B8886-44DB-4DDA-A2EF-6B4A3E12BD44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F0493D-18F0-8AB1-5736-72B8086DC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FB9C8E-F605-EE80-E4E3-C28EA0C9F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E82B3-AF09-464E-B564-507B864699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7773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FCE4E6-C311-6F19-BACD-E152CF9FFD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0" y="0"/>
            <a:ext cx="45212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0541600-7CC9-7087-9906-434955E47D9C}"/>
              </a:ext>
            </a:extLst>
          </p:cNvPr>
          <p:cNvSpPr txBox="1"/>
          <p:nvPr/>
        </p:nvSpPr>
        <p:spPr>
          <a:xfrm>
            <a:off x="812800" y="16510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C L A S E   3     ·     L O S   D O S   M O D O S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115D8-2067-02E2-E9F4-AF8285CEFBBD}"/>
              </a:ext>
            </a:extLst>
          </p:cNvPr>
          <p:cNvSpPr txBox="1"/>
          <p:nvPr/>
        </p:nvSpPr>
        <p:spPr>
          <a:xfrm>
            <a:off x="812800" y="2006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800" b="1" dirty="0">
                <a:solidFill>
                  <a:srgbClr val="FFFFFF"/>
                </a:solidFill>
                <a:latin typeface="Cambria" panose="02040503050406030204" pitchFamily="18" charset="0"/>
              </a:rPr>
              <a:t>Visualización</a:t>
            </a:r>
          </a:p>
          <a:p>
            <a:pPr>
              <a:lnSpc>
                <a:spcPct val="115000"/>
              </a:lnSpc>
            </a:pPr>
            <a:r>
              <a:rPr lang="es-CO" sz="3800" b="1" dirty="0">
                <a:solidFill>
                  <a:srgbClr val="FFFFFF"/>
                </a:solidFill>
                <a:latin typeface="Cambria" panose="02040503050406030204" pitchFamily="18" charset="0"/>
              </a:rPr>
              <a:t>exploratoria y</a:t>
            </a:r>
          </a:p>
          <a:p>
            <a:pPr>
              <a:lnSpc>
                <a:spcPct val="115000"/>
              </a:lnSpc>
            </a:pPr>
            <a:r>
              <a:rPr lang="es-CO" sz="3800" b="1" dirty="0">
                <a:solidFill>
                  <a:srgbClr val="FFFFFF"/>
                </a:solidFill>
                <a:latin typeface="Cambria" panose="02040503050406030204" pitchFamily="18" charset="0"/>
              </a:rPr>
              <a:t>comunicativa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950B5A2-C612-DE4C-F54C-3D5A10ED6FDE}"/>
              </a:ext>
            </a:extLst>
          </p:cNvPr>
          <p:cNvSpPr/>
          <p:nvPr/>
        </p:nvSpPr>
        <p:spPr>
          <a:xfrm>
            <a:off x="812800" y="40894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6A12F8-267E-F7B5-F370-EB3BA5F430B5}"/>
              </a:ext>
            </a:extLst>
          </p:cNvPr>
          <p:cNvSpPr txBox="1"/>
          <p:nvPr/>
        </p:nvSpPr>
        <p:spPr>
          <a:xfrm>
            <a:off x="812800" y="43815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C3D6D8"/>
                </a:solidFill>
                <a:latin typeface="Calibri" panose="020F0502020204030204" pitchFamily="34" charset="0"/>
              </a:rPr>
              <a:t>Dos oficios distintos con la misma herramienta · Cuál corresponde a cada etapa del ciclo, y por qué</a:t>
            </a:r>
            <a:endParaRPr lang="es-CO" sz="14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918A31-58F6-1163-77E8-1178452D8FE9}"/>
              </a:ext>
            </a:extLst>
          </p:cNvPr>
          <p:cNvSpPr txBox="1"/>
          <p:nvPr/>
        </p:nvSpPr>
        <p:spPr>
          <a:xfrm>
            <a:off x="812800" y="5334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>
                <a:solidFill>
                  <a:srgbClr val="BFEAE4"/>
                </a:solidFill>
                <a:latin typeface="Calibri" panose="020F0502020204030204" pitchFamily="34" charset="0"/>
              </a:rPr>
              <a:t>Visualización de Datos  ·  Universidad EAN</a:t>
            </a:r>
            <a:endParaRPr lang="es-CO" sz="1100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8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741B3D-934A-5180-DDD7-4A82E0D45F78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R U T A   D E   L A   S E S I O N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7DE6EB-24E5-6313-DBA5-B8E519B65252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Lo que veremos hoy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506220-83C1-247E-2BB0-938B542E7611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5222E5-AF16-B457-3898-4F2A0193CF6A}"/>
              </a:ext>
            </a:extLst>
          </p:cNvPr>
          <p:cNvSpPr/>
          <p:nvPr/>
        </p:nvSpPr>
        <p:spPr>
          <a:xfrm>
            <a:off x="850900" y="16764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2DBE405-CE8E-EDC0-9FDF-D60DA1E38D42}"/>
              </a:ext>
            </a:extLst>
          </p:cNvPr>
          <p:cNvSpPr/>
          <p:nvPr/>
        </p:nvSpPr>
        <p:spPr>
          <a:xfrm>
            <a:off x="1117600" y="18923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97204C-1EC8-0921-45B2-FFABF5FF5E70}"/>
              </a:ext>
            </a:extLst>
          </p:cNvPr>
          <p:cNvSpPr txBox="1"/>
          <p:nvPr/>
        </p:nvSpPr>
        <p:spPr>
          <a:xfrm>
            <a:off x="1714500" y="18542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Dos modos, no dos gustos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E660A2-5F05-7914-AA74-9A99E35177F3}"/>
              </a:ext>
            </a:extLst>
          </p:cNvPr>
          <p:cNvSpPr txBox="1"/>
          <p:nvPr/>
        </p:nvSpPr>
        <p:spPr>
          <a:xfrm>
            <a:off x="5461000" y="19050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>
                <a:solidFill>
                  <a:srgbClr val="5C6C6E"/>
                </a:solidFill>
                <a:latin typeface="Calibri" panose="020F0502020204030204" pitchFamily="34" charset="0"/>
              </a:rPr>
              <a:t>Qué distingue realmente a la exploratoria de la comunicativa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641C78F-C20F-CBEA-537C-EA30294FFDAD}"/>
              </a:ext>
            </a:extLst>
          </p:cNvPr>
          <p:cNvSpPr txBox="1"/>
          <p:nvPr/>
        </p:nvSpPr>
        <p:spPr>
          <a:xfrm>
            <a:off x="10350500" y="1930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15 min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E4BD3AB-F0F7-AFAA-181D-3406825606B6}"/>
              </a:ext>
            </a:extLst>
          </p:cNvPr>
          <p:cNvSpPr/>
          <p:nvPr/>
        </p:nvSpPr>
        <p:spPr>
          <a:xfrm>
            <a:off x="850900" y="26162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920B5BF-EFFD-B8EE-A065-1935F244230E}"/>
              </a:ext>
            </a:extLst>
          </p:cNvPr>
          <p:cNvSpPr/>
          <p:nvPr/>
        </p:nvSpPr>
        <p:spPr>
          <a:xfrm>
            <a:off x="1117600" y="28321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5AE171-7055-5CE3-E529-FB186B55F0BF}"/>
              </a:ext>
            </a:extLst>
          </p:cNvPr>
          <p:cNvSpPr txBox="1"/>
          <p:nvPr/>
        </p:nvSpPr>
        <p:spPr>
          <a:xfrm>
            <a:off x="1714500" y="27940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 b="1">
                <a:solidFill>
                  <a:srgbClr val="012E33"/>
                </a:solidFill>
                <a:latin typeface="Cambria" panose="02040503050406030204" pitchFamily="18" charset="0"/>
              </a:rPr>
              <a:t>El mismo dato, dos gráficos</a:t>
            </a:r>
            <a:endParaRPr lang="es-CO" sz="15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6D391CF-85C0-C5B8-09E8-9D9524FE757F}"/>
              </a:ext>
            </a:extLst>
          </p:cNvPr>
          <p:cNvSpPr txBox="1"/>
          <p:nvPr/>
        </p:nvSpPr>
        <p:spPr>
          <a:xfrm>
            <a:off x="5461000" y="28448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La diferencia se ve mejor de lo que se explica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9E971D-F16B-A3AD-1537-918F02088D0F}"/>
              </a:ext>
            </a:extLst>
          </p:cNvPr>
          <p:cNvSpPr txBox="1"/>
          <p:nvPr/>
        </p:nvSpPr>
        <p:spPr>
          <a:xfrm>
            <a:off x="10350500" y="28702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15 min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F0FA7E-E34A-2103-4FD7-06C35D4A474C}"/>
              </a:ext>
            </a:extLst>
          </p:cNvPr>
          <p:cNvSpPr/>
          <p:nvPr/>
        </p:nvSpPr>
        <p:spPr>
          <a:xfrm>
            <a:off x="850900" y="35560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0B9B040-D19D-ACC0-D83D-57E44EFF7A61}"/>
              </a:ext>
            </a:extLst>
          </p:cNvPr>
          <p:cNvSpPr/>
          <p:nvPr/>
        </p:nvSpPr>
        <p:spPr>
          <a:xfrm>
            <a:off x="1117600" y="37719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51AAC88-F08B-20D8-057F-59E1B527BC98}"/>
              </a:ext>
            </a:extLst>
          </p:cNvPr>
          <p:cNvSpPr txBox="1"/>
          <p:nvPr/>
        </p:nvSpPr>
        <p:spPr>
          <a:xfrm>
            <a:off x="1714500" y="37338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Etapa por etapa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B6A6FF-82D4-40DC-12E4-0BE05664D262}"/>
              </a:ext>
            </a:extLst>
          </p:cNvPr>
          <p:cNvSpPr txBox="1"/>
          <p:nvPr/>
        </p:nvSpPr>
        <p:spPr>
          <a:xfrm>
            <a:off x="5461000" y="37846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Cuál corresponde a cada una de las ocho etapas, y por qué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8DBF15E-0D28-F60C-15AB-0DE69A7C3BA7}"/>
              </a:ext>
            </a:extLst>
          </p:cNvPr>
          <p:cNvSpPr txBox="1"/>
          <p:nvPr/>
        </p:nvSpPr>
        <p:spPr>
          <a:xfrm>
            <a:off x="10350500" y="3810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25 min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8165F68-BB24-E0D1-DB42-634FF6ED732A}"/>
              </a:ext>
            </a:extLst>
          </p:cNvPr>
          <p:cNvSpPr/>
          <p:nvPr/>
        </p:nvSpPr>
        <p:spPr>
          <a:xfrm>
            <a:off x="850900" y="44958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1A981C6-83F9-64A6-9E58-553093B3B490}"/>
              </a:ext>
            </a:extLst>
          </p:cNvPr>
          <p:cNvSpPr/>
          <p:nvPr/>
        </p:nvSpPr>
        <p:spPr>
          <a:xfrm>
            <a:off x="1117600" y="47117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C651976-AD33-6BB8-8A57-24C320F274FB}"/>
              </a:ext>
            </a:extLst>
          </p:cNvPr>
          <p:cNvSpPr txBox="1"/>
          <p:nvPr/>
        </p:nvSpPr>
        <p:spPr>
          <a:xfrm>
            <a:off x="1714500" y="46736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La transformación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61AC3F2-A9C9-910B-0FD7-681BA31FBBC9}"/>
              </a:ext>
            </a:extLst>
          </p:cNvPr>
          <p:cNvSpPr txBox="1"/>
          <p:nvPr/>
        </p:nvSpPr>
        <p:spPr>
          <a:xfrm>
            <a:off x="5461000" y="47244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Cómo se convierte un gráfico exploratorio en uno comunicativo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F59C7FD-A0DF-AE11-B4BA-B87173F5EB61}"/>
              </a:ext>
            </a:extLst>
          </p:cNvPr>
          <p:cNvSpPr txBox="1"/>
          <p:nvPr/>
        </p:nvSpPr>
        <p:spPr>
          <a:xfrm>
            <a:off x="10350500" y="4749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15 min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B509690-733B-78F4-8215-C220DAA949EE}"/>
              </a:ext>
            </a:extLst>
          </p:cNvPr>
          <p:cNvSpPr/>
          <p:nvPr/>
        </p:nvSpPr>
        <p:spPr>
          <a:xfrm>
            <a:off x="850900" y="54356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CCE45A5-3031-06F0-765E-B8813F5C4D3D}"/>
              </a:ext>
            </a:extLst>
          </p:cNvPr>
          <p:cNvSpPr/>
          <p:nvPr/>
        </p:nvSpPr>
        <p:spPr>
          <a:xfrm>
            <a:off x="1117600" y="56515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A750616-C448-0D5B-DCF3-A7C53EEC6275}"/>
              </a:ext>
            </a:extLst>
          </p:cNvPr>
          <p:cNvSpPr txBox="1"/>
          <p:nvPr/>
        </p:nvSpPr>
        <p:spPr>
          <a:xfrm>
            <a:off x="1714500" y="5613400"/>
            <a:ext cx="368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Taller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06EED99-7840-3C31-CBA7-29B1179E2368}"/>
              </a:ext>
            </a:extLst>
          </p:cNvPr>
          <p:cNvSpPr txBox="1"/>
          <p:nvPr/>
        </p:nvSpPr>
        <p:spPr>
          <a:xfrm>
            <a:off x="5461000" y="5664200"/>
            <a:ext cx="469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Conviertan uno de sus propios gráficos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D4D1981-C958-79A8-4653-B7130CE80539}"/>
              </a:ext>
            </a:extLst>
          </p:cNvPr>
          <p:cNvSpPr txBox="1"/>
          <p:nvPr/>
        </p:nvSpPr>
        <p:spPr>
          <a:xfrm>
            <a:off x="10350500" y="5689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1150" b="1">
                <a:solidFill>
                  <a:srgbClr val="00A896"/>
                </a:solidFill>
                <a:latin typeface="Calibri" panose="020F0502020204030204" pitchFamily="34" charset="0"/>
              </a:rPr>
              <a:t>20 min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B65194E-97C0-47A8-F2E8-32AE85ECF8F2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Al final deberían poder mirar cualquier gráfico y decir para cuál de los dos modos fue hecho.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28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1FD397-F935-D0DB-C6B7-1998F237D4C8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L A   P R E G U N T A   Q U E   L O   D E F I N E   T O D O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79846F-8FA2-5458-2410-8102C476D168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¿Para quién es este gráfico?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484CB0-27BF-FC59-71AB-3B948CCE09C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03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92E4A1-B2E6-A07E-76C2-41951740D7FC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En la clase 1 vimos que la visualización cumple dos roles. Hoy los vamos a separar en serio, porque de esa distinción depende cada decisión de diseño que van a tomar en su proyecto.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7D92D0-58E6-ADE6-2754-291788C3B5BF}"/>
              </a:ext>
            </a:extLst>
          </p:cNvPr>
          <p:cNvSpPr/>
          <p:nvPr/>
        </p:nvSpPr>
        <p:spPr>
          <a:xfrm>
            <a:off x="850900" y="2311400"/>
            <a:ext cx="5156200" cy="2540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52FCB7B-D44B-9190-4EE5-8F2B83C2C983}"/>
              </a:ext>
            </a:extLst>
          </p:cNvPr>
          <p:cNvSpPr/>
          <p:nvPr/>
        </p:nvSpPr>
        <p:spPr>
          <a:xfrm>
            <a:off x="1168400" y="2603500"/>
            <a:ext cx="508000" cy="508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6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8DAE4E-4455-E5D6-9AC4-2A579430E567}"/>
              </a:ext>
            </a:extLst>
          </p:cNvPr>
          <p:cNvSpPr txBox="1"/>
          <p:nvPr/>
        </p:nvSpPr>
        <p:spPr>
          <a:xfrm>
            <a:off x="1168400" y="3276600"/>
            <a:ext cx="444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2400" b="1">
                <a:solidFill>
                  <a:srgbClr val="FFFFFF"/>
                </a:solidFill>
                <a:latin typeface="Cambria" panose="02040503050406030204" pitchFamily="18" charset="0"/>
              </a:rPr>
              <a:t>Exploratoria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26A9A7C-B385-2F3A-AF7D-4D22A27166BF}"/>
              </a:ext>
            </a:extLst>
          </p:cNvPr>
          <p:cNvSpPr txBox="1"/>
          <p:nvPr/>
        </p:nvSpPr>
        <p:spPr>
          <a:xfrm>
            <a:off x="1168400" y="3733800"/>
            <a:ext cx="45212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 i="1">
                <a:solidFill>
                  <a:srgbClr val="02C39A"/>
                </a:solidFill>
                <a:latin typeface="Calibri" panose="020F0502020204030204" pitchFamily="34" charset="0"/>
              </a:rPr>
              <a:t>La audiencia eres TÚ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D7B60A7-8A9F-570D-CED3-E8F16B204288}"/>
              </a:ext>
            </a:extLst>
          </p:cNvPr>
          <p:cNvSpPr txBox="1"/>
          <p:nvPr/>
        </p:nvSpPr>
        <p:spPr>
          <a:xfrm>
            <a:off x="1168400" y="41148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Es un diálogo con los datos: sirve para descubrir lo que todavía no sabes.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CD49938-23C4-F0F3-6D68-F85690C897EE}"/>
              </a:ext>
            </a:extLst>
          </p:cNvPr>
          <p:cNvSpPr/>
          <p:nvPr/>
        </p:nvSpPr>
        <p:spPr>
          <a:xfrm>
            <a:off x="6261100" y="2311400"/>
            <a:ext cx="5080000" cy="2540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E811253-30BB-2471-D90C-F715E8EC15BD}"/>
              </a:ext>
            </a:extLst>
          </p:cNvPr>
          <p:cNvSpPr/>
          <p:nvPr/>
        </p:nvSpPr>
        <p:spPr>
          <a:xfrm>
            <a:off x="6578600" y="2603500"/>
            <a:ext cx="508000" cy="508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6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D8D9E9-50DF-C087-3CBC-B3F843711536}"/>
              </a:ext>
            </a:extLst>
          </p:cNvPr>
          <p:cNvSpPr txBox="1"/>
          <p:nvPr/>
        </p:nvSpPr>
        <p:spPr>
          <a:xfrm>
            <a:off x="6578600" y="3276600"/>
            <a:ext cx="444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2400" b="1">
                <a:solidFill>
                  <a:srgbClr val="FFFFFF"/>
                </a:solidFill>
                <a:latin typeface="Cambria" panose="02040503050406030204" pitchFamily="18" charset="0"/>
              </a:rPr>
              <a:t>Comunicativa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2413D3-8A08-5D06-9AFB-EE4CE0A9CE6B}"/>
              </a:ext>
            </a:extLst>
          </p:cNvPr>
          <p:cNvSpPr txBox="1"/>
          <p:nvPr/>
        </p:nvSpPr>
        <p:spPr>
          <a:xfrm>
            <a:off x="6578600" y="3733800"/>
            <a:ext cx="4445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 i="1">
                <a:solidFill>
                  <a:srgbClr val="02C39A"/>
                </a:solidFill>
                <a:latin typeface="Calibri" panose="020F0502020204030204" pitchFamily="34" charset="0"/>
              </a:rPr>
              <a:t>La audiencia es OTRO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9456168-6101-A42C-FB83-BE5AAC21DB77}"/>
              </a:ext>
            </a:extLst>
          </p:cNvPr>
          <p:cNvSpPr txBox="1"/>
          <p:nvPr/>
        </p:nvSpPr>
        <p:spPr>
          <a:xfrm>
            <a:off x="6578600" y="41148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C3D6D8"/>
                </a:solidFill>
                <a:latin typeface="Calibri" panose="020F0502020204030204" pitchFamily="34" charset="0"/>
              </a:rPr>
              <a:t>Es contar una historia: sirve para explicar lo que ya descubriste a alguien que no vio los datos.</a:t>
            </a:r>
            <a:endParaRPr lang="es-CO" sz="12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46C180A-3233-5CEF-0373-E395661FE089}"/>
              </a:ext>
            </a:extLst>
          </p:cNvPr>
          <p:cNvSpPr txBox="1"/>
          <p:nvPr/>
        </p:nvSpPr>
        <p:spPr>
          <a:xfrm>
            <a:off x="850900" y="52070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600" b="1">
                <a:solidFill>
                  <a:srgbClr val="02C39A"/>
                </a:solidFill>
                <a:latin typeface="Cambria" panose="02040503050406030204" pitchFamily="18" charset="0"/>
              </a:rPr>
              <a:t>No son dos estilos ni dos gustos: son dos oficios distintos que usan la misma herramienta.</a:t>
            </a:r>
            <a:endParaRPr lang="es-CO" sz="1600" b="1">
              <a:solidFill>
                <a:srgbClr val="02C39A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32E91C2-6413-9946-5BC4-D3D501A43643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Casi todos los gráficos malos que verán en su vida profesional son gráficos hechos para un modo y usados en el otro.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86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CF674C-02D1-6A31-8F85-B7C888A3F97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C556A3-F79A-842D-4F90-606E68722697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P A R T E   I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C4AF4D-098A-14B7-129F-C153719DD42D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Dos modos, no dos gustos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AA94E4-127D-0CA7-55A2-07B482D92BB6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Antes de comparar los gráficos, comparemos los oficios: qué busca cada uno, para quién trabaja y bajo qué reglas.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0C93FB7-8831-33D7-04B0-EB628BF2E15B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8039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7B7545-EE7C-0DC6-E407-FF7D516DDBF4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M O D O   1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D46421C-5387-FB1B-C192-A4FF36F1A69B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Visualización exploratoria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E7CA37C-0A24-2A22-0BE8-E0BB8F88224A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E78870-0831-7B3C-BD3D-4ED2EC788FDA}"/>
              </a:ext>
            </a:extLst>
          </p:cNvPr>
          <p:cNvSpPr/>
          <p:nvPr/>
        </p:nvSpPr>
        <p:spPr>
          <a:xfrm>
            <a:off x="850900" y="1625600"/>
            <a:ext cx="10490200" cy="6604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13D476-0B54-76FB-5FAF-2C76AE4919D5}"/>
              </a:ext>
            </a:extLst>
          </p:cNvPr>
          <p:cNvSpPr txBox="1"/>
          <p:nvPr/>
        </p:nvSpPr>
        <p:spPr>
          <a:xfrm>
            <a:off x="1168400" y="1790700"/>
            <a:ext cx="990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FFFFFF"/>
                </a:solidFill>
                <a:latin typeface="Calibri" panose="020F0502020204030204" pitchFamily="34" charset="0"/>
              </a:rPr>
              <a:t>Graficar para VER lo que hay. No sé qué voy a encontrar: por eso grafico.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4F7F43D-2CE2-4BB2-9F75-4FFAE1C2B097}"/>
              </a:ext>
            </a:extLst>
          </p:cNvPr>
          <p:cNvSpPr/>
          <p:nvPr/>
        </p:nvSpPr>
        <p:spPr>
          <a:xfrm>
            <a:off x="850900" y="24638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F0EE29-14C0-B5D4-DBF4-C6659D958D64}"/>
              </a:ext>
            </a:extLst>
          </p:cNvPr>
          <p:cNvSpPr txBox="1"/>
          <p:nvPr/>
        </p:nvSpPr>
        <p:spPr>
          <a:xfrm>
            <a:off x="1130300" y="2616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Audiencia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F9CCB47-B68C-55B1-52EF-4A7C662ADA82}"/>
              </a:ext>
            </a:extLst>
          </p:cNvPr>
          <p:cNvSpPr txBox="1"/>
          <p:nvPr/>
        </p:nvSpPr>
        <p:spPr>
          <a:xfrm>
            <a:off x="1130300" y="29210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Yo mismo, o mi equipo técnico. Nadie más lo va a ver.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AEF5D6C-F52C-678D-CAC4-0CDA89CDF340}"/>
              </a:ext>
            </a:extLst>
          </p:cNvPr>
          <p:cNvSpPr/>
          <p:nvPr/>
        </p:nvSpPr>
        <p:spPr>
          <a:xfrm>
            <a:off x="6184900" y="24638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368B04-120D-322B-5004-61361B2D15BC}"/>
              </a:ext>
            </a:extLst>
          </p:cNvPr>
          <p:cNvSpPr txBox="1"/>
          <p:nvPr/>
        </p:nvSpPr>
        <p:spPr>
          <a:xfrm>
            <a:off x="6464300" y="2616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Propósito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3F6957E-37D9-EA54-B373-A5ECDC05D1CB}"/>
              </a:ext>
            </a:extLst>
          </p:cNvPr>
          <p:cNvSpPr txBox="1"/>
          <p:nvPr/>
        </p:nvSpPr>
        <p:spPr>
          <a:xfrm>
            <a:off x="6464300" y="29210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Descubrir: distribuciones, atípicos, relaciones y grupos que no conocía.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5CBB40-019A-EAFA-BA9A-A5125859789A}"/>
              </a:ext>
            </a:extLst>
          </p:cNvPr>
          <p:cNvSpPr/>
          <p:nvPr/>
        </p:nvSpPr>
        <p:spPr>
          <a:xfrm>
            <a:off x="850900" y="34544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AA60CF4-EFA2-4E3D-F674-088DE6467EEF}"/>
              </a:ext>
            </a:extLst>
          </p:cNvPr>
          <p:cNvSpPr txBox="1"/>
          <p:nvPr/>
        </p:nvSpPr>
        <p:spPr>
          <a:xfrm>
            <a:off x="1130300" y="3606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Cantidad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7196782-7866-011D-0647-78E8085890AE}"/>
              </a:ext>
            </a:extLst>
          </p:cNvPr>
          <p:cNvSpPr txBox="1"/>
          <p:nvPr/>
        </p:nvSpPr>
        <p:spPr>
          <a:xfrm>
            <a:off x="1130300" y="3911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Muchos gráficos, decenas. Se producen en serie y la mayoría se descarta.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0EA458-51AF-76E1-2410-21D1365CC7AC}"/>
              </a:ext>
            </a:extLst>
          </p:cNvPr>
          <p:cNvSpPr/>
          <p:nvPr/>
        </p:nvSpPr>
        <p:spPr>
          <a:xfrm>
            <a:off x="6184900" y="34544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D2EF781-53AB-345F-91E6-872BF74646FA}"/>
              </a:ext>
            </a:extLst>
          </p:cNvPr>
          <p:cNvSpPr txBox="1"/>
          <p:nvPr/>
        </p:nvSpPr>
        <p:spPr>
          <a:xfrm>
            <a:off x="6464300" y="3606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Velocidad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B0879CF-F627-12C9-195E-511E72193E22}"/>
              </a:ext>
            </a:extLst>
          </p:cNvPr>
          <p:cNvSpPr txBox="1"/>
          <p:nvPr/>
        </p:nvSpPr>
        <p:spPr>
          <a:xfrm>
            <a:off x="6464300" y="3911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Segundos por gráfico. Si tardo, dejo de explorar y empiezo a decorar.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34F3BEC-A105-F422-FAFA-5E35EDC64923}"/>
              </a:ext>
            </a:extLst>
          </p:cNvPr>
          <p:cNvSpPr/>
          <p:nvPr/>
        </p:nvSpPr>
        <p:spPr>
          <a:xfrm>
            <a:off x="850900" y="44450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5480EA9-3045-BC34-44F3-6E500B2180D7}"/>
              </a:ext>
            </a:extLst>
          </p:cNvPr>
          <p:cNvSpPr txBox="1"/>
          <p:nvPr/>
        </p:nvSpPr>
        <p:spPr>
          <a:xfrm>
            <a:off x="1130300" y="4597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Estética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F2BCC98-BBB6-4BCA-90A4-0442050EA145}"/>
              </a:ext>
            </a:extLst>
          </p:cNvPr>
          <p:cNvSpPr txBox="1"/>
          <p:nvPr/>
        </p:nvSpPr>
        <p:spPr>
          <a:xfrm>
            <a:off x="1130300" y="49022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Irrelevante. Los valores por defecto de la herramienta están bien.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B7D3D95-C416-146C-08B5-0E6E80A4322A}"/>
              </a:ext>
            </a:extLst>
          </p:cNvPr>
          <p:cNvSpPr/>
          <p:nvPr/>
        </p:nvSpPr>
        <p:spPr>
          <a:xfrm>
            <a:off x="6184900" y="44450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EF8DAB1-D372-0948-B706-55D1F7A3EB05}"/>
              </a:ext>
            </a:extLst>
          </p:cNvPr>
          <p:cNvSpPr txBox="1"/>
          <p:nvPr/>
        </p:nvSpPr>
        <p:spPr>
          <a:xfrm>
            <a:off x="6464300" y="4597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Contexto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D9E1743-025F-2D2C-2206-C29E974F30CF}"/>
              </a:ext>
            </a:extLst>
          </p:cNvPr>
          <p:cNvSpPr txBox="1"/>
          <p:nvPr/>
        </p:nvSpPr>
        <p:spPr>
          <a:xfrm>
            <a:off x="6464300" y="49022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No necesita título ni explicación: yo sé qué estoy mirando.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B744319-0C76-63A6-BA8B-C614FD6A39B6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Un análisis exploratorio típico produce entre 20 y 100 gráficos. Solo uno o dos llegan a ver la luz.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13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749DC90-0D73-9E84-B6A5-0A8956BB3102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M O D O   2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8DBA1CB-7DB7-6BAE-8B6C-387C2CC2D606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Visualización comunicativa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A55164-AEAB-65B1-DF40-16B0B992B57F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5E060F-5DE2-A3A3-F9CD-16C7B77DBF69}"/>
              </a:ext>
            </a:extLst>
          </p:cNvPr>
          <p:cNvSpPr/>
          <p:nvPr/>
        </p:nvSpPr>
        <p:spPr>
          <a:xfrm>
            <a:off x="850900" y="1625600"/>
            <a:ext cx="10490200" cy="6604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775ED3-08DC-2C67-E6B8-40D9DCD492EE}"/>
              </a:ext>
            </a:extLst>
          </p:cNvPr>
          <p:cNvSpPr txBox="1"/>
          <p:nvPr/>
        </p:nvSpPr>
        <p:spPr>
          <a:xfrm>
            <a:off x="1168400" y="1790700"/>
            <a:ext cx="990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FFFFFF"/>
                </a:solidFill>
                <a:latin typeface="Calibri" panose="020F0502020204030204" pitchFamily="34" charset="0"/>
              </a:rPr>
              <a:t>Graficar para MOSTRAR lo que encontré. Ya sé qué quiero decir: por eso grafico.</a:t>
            </a:r>
            <a:endParaRPr lang="es-CO" sz="15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09DA301-3B0A-CE77-0E95-CF60C4D84D33}"/>
              </a:ext>
            </a:extLst>
          </p:cNvPr>
          <p:cNvSpPr/>
          <p:nvPr/>
        </p:nvSpPr>
        <p:spPr>
          <a:xfrm>
            <a:off x="850900" y="24638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AFCD4FE-F08F-9818-DF87-08D8EDF23F86}"/>
              </a:ext>
            </a:extLst>
          </p:cNvPr>
          <p:cNvSpPr txBox="1"/>
          <p:nvPr/>
        </p:nvSpPr>
        <p:spPr>
          <a:xfrm>
            <a:off x="1130300" y="2616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Audiencia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27A212-E6DC-E51B-2C0A-6B989B73E833}"/>
              </a:ext>
            </a:extLst>
          </p:cNvPr>
          <p:cNvSpPr txBox="1"/>
          <p:nvPr/>
        </p:nvSpPr>
        <p:spPr>
          <a:xfrm>
            <a:off x="1130300" y="29210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Alguien más, que no vio los datos crudos y no tiene tiempo de estudiarlos.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B1C9D15-220D-DA3F-E260-48F312AA461B}"/>
              </a:ext>
            </a:extLst>
          </p:cNvPr>
          <p:cNvSpPr/>
          <p:nvPr/>
        </p:nvSpPr>
        <p:spPr>
          <a:xfrm>
            <a:off x="6184900" y="24638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4A04837-DC5F-AF4B-8ECE-F2AA5BE2B61D}"/>
              </a:ext>
            </a:extLst>
          </p:cNvPr>
          <p:cNvSpPr txBox="1"/>
          <p:nvPr/>
        </p:nvSpPr>
        <p:spPr>
          <a:xfrm>
            <a:off x="6464300" y="2616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Propósito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4FA2235-01AF-5F9E-096D-6783C3E612A8}"/>
              </a:ext>
            </a:extLst>
          </p:cNvPr>
          <p:cNvSpPr txBox="1"/>
          <p:nvPr/>
        </p:nvSpPr>
        <p:spPr>
          <a:xfrm>
            <a:off x="6464300" y="29210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Explicar y persuadir: que entienda un mensaje concreto y pueda decidir.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B6118A2-9E9C-2012-0FA4-D60A47B76666}"/>
              </a:ext>
            </a:extLst>
          </p:cNvPr>
          <p:cNvSpPr/>
          <p:nvPr/>
        </p:nvSpPr>
        <p:spPr>
          <a:xfrm>
            <a:off x="850900" y="34544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E909B22-5EB3-2C9B-2B58-141485A19DE5}"/>
              </a:ext>
            </a:extLst>
          </p:cNvPr>
          <p:cNvSpPr txBox="1"/>
          <p:nvPr/>
        </p:nvSpPr>
        <p:spPr>
          <a:xfrm>
            <a:off x="1130300" y="3606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Cantidad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66FD237-B7E9-F161-8149-605DF57FE9A5}"/>
              </a:ext>
            </a:extLst>
          </p:cNvPr>
          <p:cNvSpPr txBox="1"/>
          <p:nvPr/>
        </p:nvSpPr>
        <p:spPr>
          <a:xfrm>
            <a:off x="1130300" y="3911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Muy pocos gráficos. Idealmente uno solo, el que sostiene la conclusión.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08E484B-1A6C-1DEF-68FD-B438D8B4B81F}"/>
              </a:ext>
            </a:extLst>
          </p:cNvPr>
          <p:cNvSpPr/>
          <p:nvPr/>
        </p:nvSpPr>
        <p:spPr>
          <a:xfrm>
            <a:off x="6184900" y="34544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F234589-E130-945D-3CEB-A501CEB3EFC2}"/>
              </a:ext>
            </a:extLst>
          </p:cNvPr>
          <p:cNvSpPr txBox="1"/>
          <p:nvPr/>
        </p:nvSpPr>
        <p:spPr>
          <a:xfrm>
            <a:off x="6464300" y="3606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Velocidad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9DB5A32-6313-CF63-8CED-C8A1BCF6E003}"/>
              </a:ext>
            </a:extLst>
          </p:cNvPr>
          <p:cNvSpPr txBox="1"/>
          <p:nvPr/>
        </p:nvSpPr>
        <p:spPr>
          <a:xfrm>
            <a:off x="6464300" y="39116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Horas o días por gráfico. Se itera, se revisa y se prueba con alguien.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33CFDB4-DCB3-E2D8-26D1-A8A50D260323}"/>
              </a:ext>
            </a:extLst>
          </p:cNvPr>
          <p:cNvSpPr/>
          <p:nvPr/>
        </p:nvSpPr>
        <p:spPr>
          <a:xfrm>
            <a:off x="850900" y="44450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B3B3140-629C-361F-1EF8-F9B540870FC4}"/>
              </a:ext>
            </a:extLst>
          </p:cNvPr>
          <p:cNvSpPr txBox="1"/>
          <p:nvPr/>
        </p:nvSpPr>
        <p:spPr>
          <a:xfrm>
            <a:off x="1130300" y="4597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Estética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B10216B-E71D-4E34-2ADC-1FD2CD7EFD0D}"/>
              </a:ext>
            </a:extLst>
          </p:cNvPr>
          <p:cNvSpPr txBox="1"/>
          <p:nvPr/>
        </p:nvSpPr>
        <p:spPr>
          <a:xfrm>
            <a:off x="1130300" y="49022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Fundamental. El diseño es lo que hace la diferencia entre entender y no.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0E93C8C-97DE-AAD7-2099-611CE4A3CD5C}"/>
              </a:ext>
            </a:extLst>
          </p:cNvPr>
          <p:cNvSpPr/>
          <p:nvPr/>
        </p:nvSpPr>
        <p:spPr>
          <a:xfrm>
            <a:off x="6184900" y="4445000"/>
            <a:ext cx="5156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9490E3A-1E7E-132E-3BBC-B8B93D818A37}"/>
              </a:ext>
            </a:extLst>
          </p:cNvPr>
          <p:cNvSpPr txBox="1"/>
          <p:nvPr/>
        </p:nvSpPr>
        <p:spPr>
          <a:xfrm>
            <a:off x="6464300" y="4597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50" b="1">
                <a:solidFill>
                  <a:srgbClr val="028090"/>
                </a:solidFill>
                <a:latin typeface="Cambria" panose="02040503050406030204" pitchFamily="18" charset="0"/>
              </a:rPr>
              <a:t>Contexto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E01D09-97CD-A980-C1D8-50FAF4D73983}"/>
              </a:ext>
            </a:extLst>
          </p:cNvPr>
          <p:cNvSpPr txBox="1"/>
          <p:nvPr/>
        </p:nvSpPr>
        <p:spPr>
          <a:xfrm>
            <a:off x="6464300" y="4902200"/>
            <a:ext cx="462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Título, etiquetas, anotaciones y fuente. Debe entenderse solo, sin usted al lado.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5EEDE4B-383E-4E36-A0B7-4B29EEBFF9FE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Prueba definitiva: si el gráfico necesita que usted esté al lado explicándolo, todavía es exploratorio.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20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28DA38-C0B7-10D9-59BD-E69E19C8CD4C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C O M P A R A C I O N   D I R E C T A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7575EF-753A-2272-9F9F-FE237F784D3E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Seis diferencias que importan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81D605-E8BD-9B90-D61D-7150DE81E92D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E9CC61-425E-51C1-C7DA-4CB900D3196B}"/>
              </a:ext>
            </a:extLst>
          </p:cNvPr>
          <p:cNvSpPr/>
          <p:nvPr/>
        </p:nvSpPr>
        <p:spPr>
          <a:xfrm>
            <a:off x="850900" y="1676400"/>
            <a:ext cx="35052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00">
                <a:solidFill>
                  <a:srgbClr val="012E33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F8F9EB-183F-E8F1-E84B-0C5959D26FB6}"/>
              </a:ext>
            </a:extLst>
          </p:cNvPr>
          <p:cNvSpPr/>
          <p:nvPr/>
        </p:nvSpPr>
        <p:spPr>
          <a:xfrm>
            <a:off x="4356100" y="1676400"/>
            <a:ext cx="3492500" cy="50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EXPLORATORIA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11504A-4D66-22B3-DB58-70C6C3E6B5D6}"/>
              </a:ext>
            </a:extLst>
          </p:cNvPr>
          <p:cNvSpPr/>
          <p:nvPr/>
        </p:nvSpPr>
        <p:spPr>
          <a:xfrm>
            <a:off x="7848600" y="1676400"/>
            <a:ext cx="3492500" cy="508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onsolas" panose="020B0609020204030204" pitchFamily="49" charset="0"/>
              </a:rPr>
              <a:t>COMUNICATIVA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48BB9B4-49F0-A921-CA59-9F47F64AB89B}"/>
              </a:ext>
            </a:extLst>
          </p:cNvPr>
          <p:cNvSpPr/>
          <p:nvPr/>
        </p:nvSpPr>
        <p:spPr>
          <a:xfrm>
            <a:off x="850900" y="2184400"/>
            <a:ext cx="35052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onsolas" panose="020B0609020204030204" pitchFamily="49" charset="0"/>
              </a:rPr>
              <a:t>¿Quién lo ve?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4FDA81D-8D22-3646-4789-EB31366B4A69}"/>
              </a:ext>
            </a:extLst>
          </p:cNvPr>
          <p:cNvSpPr/>
          <p:nvPr/>
        </p:nvSpPr>
        <p:spPr>
          <a:xfrm>
            <a:off x="4356100" y="2184400"/>
            <a:ext cx="3492500" cy="6604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Yo y mi equipo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10C19F4-B3CD-BD8D-FF5C-FA0CE0087359}"/>
              </a:ext>
            </a:extLst>
          </p:cNvPr>
          <p:cNvSpPr/>
          <p:nvPr/>
        </p:nvSpPr>
        <p:spPr>
          <a:xfrm>
            <a:off x="7848600" y="2184400"/>
            <a:ext cx="34925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Alguien que decide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A08A1D6-2091-215B-6C03-EB849DD18E71}"/>
              </a:ext>
            </a:extLst>
          </p:cNvPr>
          <p:cNvSpPr/>
          <p:nvPr/>
        </p:nvSpPr>
        <p:spPr>
          <a:xfrm>
            <a:off x="850900" y="2844800"/>
            <a:ext cx="35052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onsolas" panose="020B0609020204030204" pitchFamily="49" charset="0"/>
              </a:rPr>
              <a:t>¿Qué busca?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ED5699F-4863-626E-2406-5DB9AFD43AA3}"/>
              </a:ext>
            </a:extLst>
          </p:cNvPr>
          <p:cNvSpPr/>
          <p:nvPr/>
        </p:nvSpPr>
        <p:spPr>
          <a:xfrm>
            <a:off x="4356100" y="2844800"/>
            <a:ext cx="3492500" cy="6604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Descubrir lo desconocido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C7F27C7-8AE0-FE5C-43BC-21345E8AC103}"/>
              </a:ext>
            </a:extLst>
          </p:cNvPr>
          <p:cNvSpPr/>
          <p:nvPr/>
        </p:nvSpPr>
        <p:spPr>
          <a:xfrm>
            <a:off x="7848600" y="2844800"/>
            <a:ext cx="34925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Explicar lo ya descubierto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47737FB-7F82-265D-4E7E-F7190DEB2777}"/>
              </a:ext>
            </a:extLst>
          </p:cNvPr>
          <p:cNvSpPr/>
          <p:nvPr/>
        </p:nvSpPr>
        <p:spPr>
          <a:xfrm>
            <a:off x="850900" y="3505200"/>
            <a:ext cx="35052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onsolas" panose="020B0609020204030204" pitchFamily="49" charset="0"/>
              </a:rPr>
              <a:t>¿Cuántos?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3CB4FE6-2BEE-8B24-0294-762290EC608C}"/>
              </a:ext>
            </a:extLst>
          </p:cNvPr>
          <p:cNvSpPr/>
          <p:nvPr/>
        </p:nvSpPr>
        <p:spPr>
          <a:xfrm>
            <a:off x="4356100" y="3505200"/>
            <a:ext cx="3492500" cy="6604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Decenas, desechables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8AE5D26-03E4-7C01-90C8-37049547CE5A}"/>
              </a:ext>
            </a:extLst>
          </p:cNvPr>
          <p:cNvSpPr/>
          <p:nvPr/>
        </p:nvSpPr>
        <p:spPr>
          <a:xfrm>
            <a:off x="7848600" y="3505200"/>
            <a:ext cx="34925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Uno o dos, cuidados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AA570EA-7355-AA6D-2198-BFFA3159A88A}"/>
              </a:ext>
            </a:extLst>
          </p:cNvPr>
          <p:cNvSpPr/>
          <p:nvPr/>
        </p:nvSpPr>
        <p:spPr>
          <a:xfrm>
            <a:off x="850900" y="4165600"/>
            <a:ext cx="35052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onsolas" panose="020B0609020204030204" pitchFamily="49" charset="0"/>
              </a:rPr>
              <a:t>¿Cuánto tarda?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210942-89D6-0B39-8BB4-6F55C0A58132}"/>
              </a:ext>
            </a:extLst>
          </p:cNvPr>
          <p:cNvSpPr/>
          <p:nvPr/>
        </p:nvSpPr>
        <p:spPr>
          <a:xfrm>
            <a:off x="4356100" y="4165600"/>
            <a:ext cx="3492500" cy="6604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Segundos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6C98421-C220-1CD6-B553-6E3B5F23826B}"/>
              </a:ext>
            </a:extLst>
          </p:cNvPr>
          <p:cNvSpPr/>
          <p:nvPr/>
        </p:nvSpPr>
        <p:spPr>
          <a:xfrm>
            <a:off x="7848600" y="4165600"/>
            <a:ext cx="34925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Horas o días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4495559-8DD0-BBB0-E110-140DC4950EC7}"/>
              </a:ext>
            </a:extLst>
          </p:cNvPr>
          <p:cNvSpPr/>
          <p:nvPr/>
        </p:nvSpPr>
        <p:spPr>
          <a:xfrm>
            <a:off x="850900" y="4826000"/>
            <a:ext cx="35052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onsolas" panose="020B0609020204030204" pitchFamily="49" charset="0"/>
              </a:rPr>
              <a:t>¿Importa el diseño?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0DC70D3-EF3F-F9B1-5A88-C30540FC4BEA}"/>
              </a:ext>
            </a:extLst>
          </p:cNvPr>
          <p:cNvSpPr/>
          <p:nvPr/>
        </p:nvSpPr>
        <p:spPr>
          <a:xfrm>
            <a:off x="4356100" y="4826000"/>
            <a:ext cx="3492500" cy="6604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No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2A12C03-68C1-EE4D-B9EC-66DA2B0CF913}"/>
              </a:ext>
            </a:extLst>
          </p:cNvPr>
          <p:cNvSpPr/>
          <p:nvPr/>
        </p:nvSpPr>
        <p:spPr>
          <a:xfrm>
            <a:off x="7848600" y="4826000"/>
            <a:ext cx="34925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MX" sz="1150">
                <a:solidFill>
                  <a:srgbClr val="5C6C6E"/>
                </a:solidFill>
                <a:latin typeface="Consolas" panose="020B0609020204030204" pitchFamily="49" charset="0"/>
              </a:rPr>
              <a:t>Es la mitad del trabajo</a:t>
            </a:r>
            <a:endParaRPr lang="es-CO" sz="1150">
              <a:solidFill>
                <a:srgbClr val="5C6C6E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62B97B1-8C07-D561-3F03-BA2990C056F8}"/>
              </a:ext>
            </a:extLst>
          </p:cNvPr>
          <p:cNvSpPr/>
          <p:nvPr/>
        </p:nvSpPr>
        <p:spPr>
          <a:xfrm>
            <a:off x="850900" y="5486400"/>
            <a:ext cx="35052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200" b="1">
                <a:solidFill>
                  <a:srgbClr val="012E33"/>
                </a:solidFill>
                <a:latin typeface="Consolas" panose="020B0609020204030204" pitchFamily="49" charset="0"/>
              </a:rPr>
              <a:t>¿Se explica solo?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BB061A8-2892-CFB6-40C0-1BC7CD1EA67E}"/>
              </a:ext>
            </a:extLst>
          </p:cNvPr>
          <p:cNvSpPr/>
          <p:nvPr/>
        </p:nvSpPr>
        <p:spPr>
          <a:xfrm>
            <a:off x="4356100" y="5486400"/>
            <a:ext cx="3492500" cy="660400"/>
          </a:xfrm>
          <a:prstGeom prst="rect">
            <a:avLst/>
          </a:prstGeom>
          <a:solidFill>
            <a:srgbClr val="E8F7F4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No hace falta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7AEEA14-FB85-1A73-64E4-B934790F62AE}"/>
              </a:ext>
            </a:extLst>
          </p:cNvPr>
          <p:cNvSpPr/>
          <p:nvPr/>
        </p:nvSpPr>
        <p:spPr>
          <a:xfrm>
            <a:off x="7848600" y="5486400"/>
            <a:ext cx="3492500" cy="6604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150">
                <a:solidFill>
                  <a:srgbClr val="5C6C6E"/>
                </a:solidFill>
                <a:latin typeface="Consolas" panose="020B0609020204030204" pitchFamily="49" charset="0"/>
              </a:rPr>
              <a:t>Obligatorio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170819F-6A67-EA32-A9A6-D43BCE197F1D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La única diferencia que NO aparece aquí: la herramienta. Las dos se hacen con lo mismo. Lo que cambia es el propósito.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2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1FA19E-3106-5B9B-58CB-6EFCDBF0DA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0757E4F-9859-8EB9-A038-90A91AC143AF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P A R T E   I I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A4ACEDF-5509-D9DA-D8F0-0E86FB83BC79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300" b="1">
                <a:solidFill>
                  <a:srgbClr val="FFFFFF"/>
                </a:solidFill>
                <a:latin typeface="Cambria" panose="02040503050406030204" pitchFamily="18" charset="0"/>
              </a:rPr>
              <a:t>El mismo dato, dos gráficos</a:t>
            </a:r>
            <a:endParaRPr lang="es-CO" sz="33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AF6639-49E7-BF34-BF90-6001F3A5769C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La diferencia entre los dos modos se ve mejor de lo que se explica. Miren estos dos: son exactamente los mismos datos.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40BAC7-E14E-9B9A-E2F3-15EFC97ABFE6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9424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655E453-B39B-F910-51AC-FAD46B3D20D0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L A D O   A   L A D O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AEDFFF-AA36-5384-FD76-C47F04F4CB2C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Los mismos 25 estudiantes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8491F2-EA9D-A04E-A03D-DB48E9320E6A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09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8777C8-4B9F-8048-09AD-EDAB71C6AA94}"/>
              </a:ext>
            </a:extLst>
          </p:cNvPr>
          <p:cNvSpPr txBox="1"/>
          <p:nvPr/>
        </p:nvSpPr>
        <p:spPr>
          <a:xfrm>
            <a:off x="850900" y="162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X P L O R A T O R I A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B07A16F-E159-9E10-7BB2-6694641CF5E0}"/>
              </a:ext>
            </a:extLst>
          </p:cNvPr>
          <p:cNvSpPr/>
          <p:nvPr/>
        </p:nvSpPr>
        <p:spPr>
          <a:xfrm>
            <a:off x="850900" y="1930400"/>
            <a:ext cx="5080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23A685B-093B-D2E9-3E95-73BB93A52DE6}"/>
              </a:ext>
            </a:extLst>
          </p:cNvPr>
          <p:cNvSpPr/>
          <p:nvPr/>
        </p:nvSpPr>
        <p:spPr>
          <a:xfrm>
            <a:off x="1615694" y="404241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637E216-C4FD-A128-87F3-274B0C100FD3}"/>
              </a:ext>
            </a:extLst>
          </p:cNvPr>
          <p:cNvSpPr/>
          <p:nvPr/>
        </p:nvSpPr>
        <p:spPr>
          <a:xfrm>
            <a:off x="2203450" y="385343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F6DC5E9-CF6B-CB24-6EB3-84E9BE0BAC38}"/>
              </a:ext>
            </a:extLst>
          </p:cNvPr>
          <p:cNvSpPr/>
          <p:nvPr/>
        </p:nvSpPr>
        <p:spPr>
          <a:xfrm>
            <a:off x="2474722" y="368808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53D17D6-111E-4A27-827A-C0AC50853E11}"/>
              </a:ext>
            </a:extLst>
          </p:cNvPr>
          <p:cNvSpPr/>
          <p:nvPr/>
        </p:nvSpPr>
        <p:spPr>
          <a:xfrm>
            <a:off x="3062478" y="356997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A0DB8E1-1077-B0FB-ED2C-8592550AB65E}"/>
              </a:ext>
            </a:extLst>
          </p:cNvPr>
          <p:cNvSpPr/>
          <p:nvPr/>
        </p:nvSpPr>
        <p:spPr>
          <a:xfrm>
            <a:off x="3424174" y="338099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66FCAA5-05C2-220E-0954-76376DCCE700}"/>
              </a:ext>
            </a:extLst>
          </p:cNvPr>
          <p:cNvSpPr/>
          <p:nvPr/>
        </p:nvSpPr>
        <p:spPr>
          <a:xfrm>
            <a:off x="3695446" y="345186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07A12D7-F30A-175E-0376-84A888CC6394}"/>
              </a:ext>
            </a:extLst>
          </p:cNvPr>
          <p:cNvSpPr/>
          <p:nvPr/>
        </p:nvSpPr>
        <p:spPr>
          <a:xfrm>
            <a:off x="3921506" y="314477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4A93987-B02C-B8A2-F07A-55CF76394FE9}"/>
              </a:ext>
            </a:extLst>
          </p:cNvPr>
          <p:cNvSpPr/>
          <p:nvPr/>
        </p:nvSpPr>
        <p:spPr>
          <a:xfrm>
            <a:off x="4237990" y="3050286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6FC6BA4-F277-2259-CF6B-0F53EE93EC94}"/>
              </a:ext>
            </a:extLst>
          </p:cNvPr>
          <p:cNvSpPr/>
          <p:nvPr/>
        </p:nvSpPr>
        <p:spPr>
          <a:xfrm>
            <a:off x="4554474" y="286131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85E4E11-06F8-EA3D-5BAE-E34833B0CBD9}"/>
              </a:ext>
            </a:extLst>
          </p:cNvPr>
          <p:cNvSpPr/>
          <p:nvPr/>
        </p:nvSpPr>
        <p:spPr>
          <a:xfrm>
            <a:off x="4916170" y="2814066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7A92611-6552-8514-65FA-0FA22AF27F12}"/>
              </a:ext>
            </a:extLst>
          </p:cNvPr>
          <p:cNvSpPr/>
          <p:nvPr/>
        </p:nvSpPr>
        <p:spPr>
          <a:xfrm>
            <a:off x="5232654" y="250698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1F96494D-43E2-4437-C577-36D1E547AD4F}"/>
              </a:ext>
            </a:extLst>
          </p:cNvPr>
          <p:cNvSpPr/>
          <p:nvPr/>
        </p:nvSpPr>
        <p:spPr>
          <a:xfrm>
            <a:off x="1886966" y="392430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E32342D-E3A9-ACEC-24EC-8A9F00931771}"/>
              </a:ext>
            </a:extLst>
          </p:cNvPr>
          <p:cNvSpPr/>
          <p:nvPr/>
        </p:nvSpPr>
        <p:spPr>
          <a:xfrm>
            <a:off x="2791206" y="3522726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6B426886-FF8D-FECC-7285-D9D5F463B63C}"/>
              </a:ext>
            </a:extLst>
          </p:cNvPr>
          <p:cNvSpPr/>
          <p:nvPr/>
        </p:nvSpPr>
        <p:spPr>
          <a:xfrm>
            <a:off x="3198114" y="333375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4B8B6A82-9B72-8BF7-36FB-014CE68A363D}"/>
              </a:ext>
            </a:extLst>
          </p:cNvPr>
          <p:cNvSpPr/>
          <p:nvPr/>
        </p:nvSpPr>
        <p:spPr>
          <a:xfrm>
            <a:off x="4057142" y="309753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0AAAC9E9-B561-6F3D-B834-A261BC9451E7}"/>
              </a:ext>
            </a:extLst>
          </p:cNvPr>
          <p:cNvSpPr/>
          <p:nvPr/>
        </p:nvSpPr>
        <p:spPr>
          <a:xfrm>
            <a:off x="4690110" y="267233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998EF9A-AE53-0908-5136-A69B90FA72A6}"/>
              </a:ext>
            </a:extLst>
          </p:cNvPr>
          <p:cNvSpPr/>
          <p:nvPr/>
        </p:nvSpPr>
        <p:spPr>
          <a:xfrm>
            <a:off x="2384298" y="380619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C51D524-BA4F-0803-9ADE-8098E481549C}"/>
              </a:ext>
            </a:extLst>
          </p:cNvPr>
          <p:cNvSpPr/>
          <p:nvPr/>
        </p:nvSpPr>
        <p:spPr>
          <a:xfrm>
            <a:off x="3559810" y="3286506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5E74471F-505A-005F-755D-91EC6260D013}"/>
              </a:ext>
            </a:extLst>
          </p:cNvPr>
          <p:cNvSpPr/>
          <p:nvPr/>
        </p:nvSpPr>
        <p:spPr>
          <a:xfrm>
            <a:off x="4373626" y="290855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730EF919-FFA8-6024-248C-3A382A53644D}"/>
              </a:ext>
            </a:extLst>
          </p:cNvPr>
          <p:cNvSpPr/>
          <p:nvPr/>
        </p:nvSpPr>
        <p:spPr>
          <a:xfrm>
            <a:off x="5051806" y="262509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52F728B-B356-527D-AE51-4F6B52A26111}"/>
              </a:ext>
            </a:extLst>
          </p:cNvPr>
          <p:cNvSpPr/>
          <p:nvPr/>
        </p:nvSpPr>
        <p:spPr>
          <a:xfrm>
            <a:off x="1751330" y="408965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E4C2734-AA07-EA49-F22A-D68ED064F753}"/>
              </a:ext>
            </a:extLst>
          </p:cNvPr>
          <p:cNvSpPr/>
          <p:nvPr/>
        </p:nvSpPr>
        <p:spPr>
          <a:xfrm>
            <a:off x="2926842" y="3475482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CBD77900-154F-D82A-C2E3-0C23ABDFF67D}"/>
              </a:ext>
            </a:extLst>
          </p:cNvPr>
          <p:cNvSpPr/>
          <p:nvPr/>
        </p:nvSpPr>
        <p:spPr>
          <a:xfrm>
            <a:off x="3785870" y="302666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1D0A79C7-1B36-DFC2-4EB4-247F0D4816E1}"/>
              </a:ext>
            </a:extLst>
          </p:cNvPr>
          <p:cNvSpPr/>
          <p:nvPr/>
        </p:nvSpPr>
        <p:spPr>
          <a:xfrm>
            <a:off x="5368290" y="2388870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DFC3BFF0-D0E4-64E0-4144-E9EF2F02E5CE}"/>
              </a:ext>
            </a:extLst>
          </p:cNvPr>
          <p:cNvSpPr/>
          <p:nvPr/>
        </p:nvSpPr>
        <p:spPr>
          <a:xfrm>
            <a:off x="2655570" y="3617214"/>
            <a:ext cx="114300" cy="114300"/>
          </a:xfrm>
          <a:prstGeom prst="ellipse">
            <a:avLst/>
          </a:prstGeom>
          <a:solidFill>
            <a:srgbClr val="5C6C6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F8BCB25-B179-6D21-1E95-97C62FCED76C}"/>
              </a:ext>
            </a:extLst>
          </p:cNvPr>
          <p:cNvCxnSpPr/>
          <p:nvPr/>
        </p:nvCxnSpPr>
        <p:spPr>
          <a:xfrm>
            <a:off x="1130300" y="4572000"/>
            <a:ext cx="4521200" cy="0"/>
          </a:xfrm>
          <a:prstGeom prst="line">
            <a:avLst/>
          </a:prstGeom>
          <a:ln w="12700">
            <a:solidFill>
              <a:srgbClr val="5C6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5D111B0-6F46-F2E1-1C1A-2A94659CFA73}"/>
              </a:ext>
            </a:extLst>
          </p:cNvPr>
          <p:cNvCxnSpPr/>
          <p:nvPr/>
        </p:nvCxnSpPr>
        <p:spPr>
          <a:xfrm>
            <a:off x="1130300" y="2209800"/>
            <a:ext cx="0" cy="2362200"/>
          </a:xfrm>
          <a:prstGeom prst="line">
            <a:avLst/>
          </a:prstGeom>
          <a:ln w="12700">
            <a:solidFill>
              <a:srgbClr val="5C6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C9668B-98CE-95EB-9433-5EE67F7CF42D}"/>
              </a:ext>
            </a:extLst>
          </p:cNvPr>
          <p:cNvSpPr txBox="1"/>
          <p:nvPr/>
        </p:nvSpPr>
        <p:spPr>
          <a:xfrm>
            <a:off x="1130300" y="45974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800">
                <a:solidFill>
                  <a:srgbClr val="5C6C6E"/>
                </a:solidFill>
                <a:latin typeface="Consolas" panose="020B0609020204030204" pitchFamily="49" charset="0"/>
              </a:rPr>
              <a:t>0    50   100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343C9BD-FA27-C1E9-A7B6-5A4BD19DF1EE}"/>
              </a:ext>
            </a:extLst>
          </p:cNvPr>
          <p:cNvSpPr txBox="1"/>
          <p:nvPr/>
        </p:nvSpPr>
        <p:spPr>
          <a:xfrm>
            <a:off x="850900" y="4927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Sin título, colores por defecto, ejes crudos. Producido en 4 segundos para responder: ¿hay relación?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48B9A4E-0CD1-8588-8D6C-6EDA026C0E17}"/>
              </a:ext>
            </a:extLst>
          </p:cNvPr>
          <p:cNvSpPr txBox="1"/>
          <p:nvPr/>
        </p:nvSpPr>
        <p:spPr>
          <a:xfrm>
            <a:off x="6261100" y="1625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12E33"/>
                </a:solidFill>
                <a:latin typeface="Calibri" panose="020F0502020204030204" pitchFamily="34" charset="0"/>
              </a:rPr>
              <a:t>C O M U N I C A T I V A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A940638-9D81-7F34-DCCE-AEEE5F46C19E}"/>
              </a:ext>
            </a:extLst>
          </p:cNvPr>
          <p:cNvSpPr/>
          <p:nvPr/>
        </p:nvSpPr>
        <p:spPr>
          <a:xfrm>
            <a:off x="6261100" y="1930400"/>
            <a:ext cx="5080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0FFD1AF-67FE-27DB-5DED-9785612EF426}"/>
              </a:ext>
            </a:extLst>
          </p:cNvPr>
          <p:cNvSpPr txBox="1"/>
          <p:nvPr/>
        </p:nvSpPr>
        <p:spPr>
          <a:xfrm>
            <a:off x="6515100" y="2082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Estudiar más se relaciona con mejores notas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60943E0-5CDC-0B5F-7D59-F775DCEBFA54}"/>
              </a:ext>
            </a:extLst>
          </p:cNvPr>
          <p:cNvSpPr txBox="1"/>
          <p:nvPr/>
        </p:nvSpPr>
        <p:spPr>
          <a:xfrm>
            <a:off x="6515100" y="23622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850">
                <a:solidFill>
                  <a:srgbClr val="5C6C6E"/>
                </a:solidFill>
                <a:latin typeface="Calibri" panose="020F0502020204030204" pitchFamily="34" charset="0"/>
              </a:rPr>
              <a:t>Horas semanales de estudio vs. nota final · 25 estudiantes · 2025-II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03F765B-3418-C455-91FB-06BCFEE7FFF7}"/>
              </a:ext>
            </a:extLst>
          </p:cNvPr>
          <p:cNvSpPr/>
          <p:nvPr/>
        </p:nvSpPr>
        <p:spPr>
          <a:xfrm>
            <a:off x="6982460" y="42164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46E420DB-2D3D-8489-46DB-32FDB71DD131}"/>
              </a:ext>
            </a:extLst>
          </p:cNvPr>
          <p:cNvSpPr/>
          <p:nvPr/>
        </p:nvSpPr>
        <p:spPr>
          <a:xfrm>
            <a:off x="7543800" y="40640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3E6860A-9010-6A5F-F23E-6697A5290E98}"/>
              </a:ext>
            </a:extLst>
          </p:cNvPr>
          <p:cNvSpPr/>
          <p:nvPr/>
        </p:nvSpPr>
        <p:spPr>
          <a:xfrm>
            <a:off x="7802880" y="393065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9E3B1B44-1B88-3C47-CEEF-C37628F0AF39}"/>
              </a:ext>
            </a:extLst>
          </p:cNvPr>
          <p:cNvSpPr/>
          <p:nvPr/>
        </p:nvSpPr>
        <p:spPr>
          <a:xfrm>
            <a:off x="8364220" y="38354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B4EECDF9-9B21-77AA-5E1D-5A5FC7380767}"/>
              </a:ext>
            </a:extLst>
          </p:cNvPr>
          <p:cNvSpPr/>
          <p:nvPr/>
        </p:nvSpPr>
        <p:spPr>
          <a:xfrm>
            <a:off x="8709660" y="36830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EF808FF9-552E-BEA3-D8A8-E3FD86FEB726}"/>
              </a:ext>
            </a:extLst>
          </p:cNvPr>
          <p:cNvSpPr/>
          <p:nvPr/>
        </p:nvSpPr>
        <p:spPr>
          <a:xfrm>
            <a:off x="8968740" y="374015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8457E416-A6A7-401A-C2BF-828A6B0D5C7C}"/>
              </a:ext>
            </a:extLst>
          </p:cNvPr>
          <p:cNvSpPr/>
          <p:nvPr/>
        </p:nvSpPr>
        <p:spPr>
          <a:xfrm>
            <a:off x="9184640" y="34925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ACA434AB-DB79-6806-C66B-FC5650A6CC5E}"/>
              </a:ext>
            </a:extLst>
          </p:cNvPr>
          <p:cNvSpPr/>
          <p:nvPr/>
        </p:nvSpPr>
        <p:spPr>
          <a:xfrm>
            <a:off x="9486900" y="34163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48C30D9E-BB25-FA0E-0453-131668FED8C4}"/>
              </a:ext>
            </a:extLst>
          </p:cNvPr>
          <p:cNvSpPr/>
          <p:nvPr/>
        </p:nvSpPr>
        <p:spPr>
          <a:xfrm>
            <a:off x="9789160" y="32639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C362E861-126E-9F41-DACD-0E5A3DD0FAF1}"/>
              </a:ext>
            </a:extLst>
          </p:cNvPr>
          <p:cNvSpPr/>
          <p:nvPr/>
        </p:nvSpPr>
        <p:spPr>
          <a:xfrm>
            <a:off x="10134600" y="32258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42747BF4-296F-0D37-4FA0-8B1933593407}"/>
              </a:ext>
            </a:extLst>
          </p:cNvPr>
          <p:cNvSpPr/>
          <p:nvPr/>
        </p:nvSpPr>
        <p:spPr>
          <a:xfrm>
            <a:off x="10436860" y="297815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30426306-B7E4-E902-71A4-007B43FCF306}"/>
              </a:ext>
            </a:extLst>
          </p:cNvPr>
          <p:cNvSpPr/>
          <p:nvPr/>
        </p:nvSpPr>
        <p:spPr>
          <a:xfrm>
            <a:off x="7241540" y="412115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7CCC55B3-B1B2-89EB-DC1B-4A674FAE376D}"/>
              </a:ext>
            </a:extLst>
          </p:cNvPr>
          <p:cNvSpPr/>
          <p:nvPr/>
        </p:nvSpPr>
        <p:spPr>
          <a:xfrm>
            <a:off x="8105140" y="37973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853800B0-6A9A-C6F5-7A37-3E18471CE017}"/>
              </a:ext>
            </a:extLst>
          </p:cNvPr>
          <p:cNvSpPr/>
          <p:nvPr/>
        </p:nvSpPr>
        <p:spPr>
          <a:xfrm>
            <a:off x="8493760" y="36449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0906A4E8-2FDA-239F-F9F5-87C5D2664FE8}"/>
              </a:ext>
            </a:extLst>
          </p:cNvPr>
          <p:cNvSpPr/>
          <p:nvPr/>
        </p:nvSpPr>
        <p:spPr>
          <a:xfrm>
            <a:off x="9314180" y="34544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71EA6F65-B03F-ED71-3DF1-EAF599BE184C}"/>
              </a:ext>
            </a:extLst>
          </p:cNvPr>
          <p:cNvSpPr/>
          <p:nvPr/>
        </p:nvSpPr>
        <p:spPr>
          <a:xfrm>
            <a:off x="9918700" y="31115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A6AA6695-23FA-29E2-2EB8-0D473F8281A6}"/>
              </a:ext>
            </a:extLst>
          </p:cNvPr>
          <p:cNvSpPr/>
          <p:nvPr/>
        </p:nvSpPr>
        <p:spPr>
          <a:xfrm>
            <a:off x="7716520" y="40259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26928564-4C96-3EAC-983B-90D0254F4283}"/>
              </a:ext>
            </a:extLst>
          </p:cNvPr>
          <p:cNvSpPr/>
          <p:nvPr/>
        </p:nvSpPr>
        <p:spPr>
          <a:xfrm>
            <a:off x="8839200" y="36068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635AB0B7-D186-A295-9F6F-DFE281ECF04C}"/>
              </a:ext>
            </a:extLst>
          </p:cNvPr>
          <p:cNvSpPr/>
          <p:nvPr/>
        </p:nvSpPr>
        <p:spPr>
          <a:xfrm>
            <a:off x="9616440" y="33020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D4CD3979-5468-BA33-E6EC-BB1971E332F5}"/>
              </a:ext>
            </a:extLst>
          </p:cNvPr>
          <p:cNvSpPr/>
          <p:nvPr/>
        </p:nvSpPr>
        <p:spPr>
          <a:xfrm>
            <a:off x="10264140" y="30734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68AFC5B4-FB59-3383-7C8B-BF1320493474}"/>
              </a:ext>
            </a:extLst>
          </p:cNvPr>
          <p:cNvSpPr/>
          <p:nvPr/>
        </p:nvSpPr>
        <p:spPr>
          <a:xfrm>
            <a:off x="7112000" y="42545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590D8473-9243-0714-C175-88295A676BB3}"/>
              </a:ext>
            </a:extLst>
          </p:cNvPr>
          <p:cNvSpPr/>
          <p:nvPr/>
        </p:nvSpPr>
        <p:spPr>
          <a:xfrm>
            <a:off x="8234680" y="37592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7411A59-33C6-DCA6-0AA7-BE1EDEACBB04}"/>
              </a:ext>
            </a:extLst>
          </p:cNvPr>
          <p:cNvSpPr/>
          <p:nvPr/>
        </p:nvSpPr>
        <p:spPr>
          <a:xfrm>
            <a:off x="9055100" y="339725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F94231E5-9D12-FECB-9C30-9FE93E6D1C31}"/>
              </a:ext>
            </a:extLst>
          </p:cNvPr>
          <p:cNvSpPr/>
          <p:nvPr/>
        </p:nvSpPr>
        <p:spPr>
          <a:xfrm>
            <a:off x="10566400" y="2882900"/>
            <a:ext cx="101600" cy="101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0886BA18-27DB-B29B-9B47-C709E60F691E}"/>
              </a:ext>
            </a:extLst>
          </p:cNvPr>
          <p:cNvSpPr/>
          <p:nvPr/>
        </p:nvSpPr>
        <p:spPr>
          <a:xfrm>
            <a:off x="7975600" y="3873500"/>
            <a:ext cx="101600" cy="101600"/>
          </a:xfrm>
          <a:prstGeom prst="ellipse">
            <a:avLst/>
          </a:prstGeom>
          <a:solidFill>
            <a:srgbClr val="C9D8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5BA64794-DB5B-EDA0-0650-BF374DB69C84}"/>
              </a:ext>
            </a:extLst>
          </p:cNvPr>
          <p:cNvCxnSpPr/>
          <p:nvPr/>
        </p:nvCxnSpPr>
        <p:spPr>
          <a:xfrm flipV="1">
            <a:off x="6553200" y="2870200"/>
            <a:ext cx="4318000" cy="1600200"/>
          </a:xfrm>
          <a:prstGeom prst="line">
            <a:avLst/>
          </a:prstGeom>
          <a:ln w="2540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4A03861-D748-4881-9F0F-549130AC4906}"/>
              </a:ext>
            </a:extLst>
          </p:cNvPr>
          <p:cNvSpPr txBox="1"/>
          <p:nvPr/>
        </p:nvSpPr>
        <p:spPr>
          <a:xfrm>
            <a:off x="8763000" y="2616200"/>
            <a:ext cx="2349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900" b="1">
                <a:solidFill>
                  <a:srgbClr val="00A896"/>
                </a:solidFill>
                <a:latin typeface="Calibri" panose="020F0502020204030204" pitchFamily="34" charset="0"/>
              </a:rPr>
              <a:t>quienes superan 15 h/semana</a:t>
            </a:r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EE1D47D9-8FD8-967E-BF40-48F38DD9C19A}"/>
              </a:ext>
            </a:extLst>
          </p:cNvPr>
          <p:cNvCxnSpPr/>
          <p:nvPr/>
        </p:nvCxnSpPr>
        <p:spPr>
          <a:xfrm>
            <a:off x="10769600" y="2946400"/>
            <a:ext cx="101600" cy="228600"/>
          </a:xfrm>
          <a:prstGeom prst="line">
            <a:avLst/>
          </a:prstGeom>
          <a:ln w="15875">
            <a:solidFill>
              <a:srgbClr val="00A89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01FF7BE-DBE1-A0CB-2478-F074C76FCDCB}"/>
              </a:ext>
            </a:extLst>
          </p:cNvPr>
          <p:cNvSpPr txBox="1"/>
          <p:nvPr/>
        </p:nvSpPr>
        <p:spPr>
          <a:xfrm>
            <a:off x="6515100" y="46482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750" i="1">
                <a:solidFill>
                  <a:srgbClr val="5C6C6E"/>
                </a:solidFill>
                <a:latin typeface="Calibri" panose="020F0502020204030204" pitchFamily="34" charset="0"/>
              </a:rPr>
              <a:t>Fuente: encuesta interna del curso</a:t>
            </a:r>
            <a:endParaRPr lang="es-CO" sz="750" i="1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F05735D6-19B0-8913-658B-06A5DA1FE555}"/>
              </a:ext>
            </a:extLst>
          </p:cNvPr>
          <p:cNvSpPr txBox="1"/>
          <p:nvPr/>
        </p:nvSpPr>
        <p:spPr>
          <a:xfrm>
            <a:off x="6261100" y="4927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Título con la conclusión, un color que destaca lo relevante, anotación y fuente. Producido en 40 minutos.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D76C516-14B5-79C9-3386-28BA436CE874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Mismos datos, misma herramienta, mismo autor. Lo único que cambió fue para quién era.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49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D635DB4-DC3B-EABD-9974-A8EBCC959680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C U A N D O   S E   C O N F U N D E N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6B66A7B-4327-0696-3C50-7EE427356AB4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Los dos errores clásicos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9A584D-904F-F359-AB98-31B2AF008575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0DA68F-AFD9-479C-9D6C-6848819588E1}"/>
              </a:ext>
            </a:extLst>
          </p:cNvPr>
          <p:cNvSpPr/>
          <p:nvPr/>
        </p:nvSpPr>
        <p:spPr>
          <a:xfrm>
            <a:off x="850900" y="1727200"/>
            <a:ext cx="5156200" cy="3175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0CD0B29-C472-702A-A3E9-FE71A2444CB9}"/>
              </a:ext>
            </a:extLst>
          </p:cNvPr>
          <p:cNvSpPr txBox="1"/>
          <p:nvPr/>
        </p:nvSpPr>
        <p:spPr>
          <a:xfrm>
            <a:off x="1168400" y="2006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C0564B"/>
                </a:solidFill>
                <a:latin typeface="Calibri" panose="020F0502020204030204" pitchFamily="34" charset="0"/>
              </a:rPr>
              <a:t>E R R O R   1</a:t>
            </a:r>
            <a:endParaRPr lang="es-CO" sz="1000" b="1">
              <a:solidFill>
                <a:srgbClr val="C0564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D5A11D9-6BB0-5015-EF95-05DD9B81DF74}"/>
              </a:ext>
            </a:extLst>
          </p:cNvPr>
          <p:cNvSpPr txBox="1"/>
          <p:nvPr/>
        </p:nvSpPr>
        <p:spPr>
          <a:xfrm>
            <a:off x="1168400" y="2311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900" b="1">
                <a:solidFill>
                  <a:srgbClr val="012E33"/>
                </a:solidFill>
                <a:latin typeface="Cambria" panose="02040503050406030204" pitchFamily="18" charset="0"/>
              </a:rPr>
              <a:t>Presentar un gráfico exploratorio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AC0EF6-CE63-B33E-0238-6C3F3C80DA7C}"/>
              </a:ext>
            </a:extLst>
          </p:cNvPr>
          <p:cNvSpPr txBox="1"/>
          <p:nvPr/>
        </p:nvSpPr>
        <p:spPr>
          <a:xfrm>
            <a:off x="1168400" y="3149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Llevar a una reunión el gráfico crudo que sirvió para descubrir algo.</a:t>
            </a:r>
          </a:p>
          <a:p>
            <a:pPr>
              <a:lnSpc>
                <a:spcPct val="115000"/>
              </a:lnSpc>
            </a:pPr>
            <a:endParaRPr lang="es-MX" sz="12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La audiencia no sabe dónde mirar, pregunta por los ejes, se distrae con un punto raro... y el hallazgo se pierde en la confusión.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89A372B-9EA7-724B-8667-E4C7573A1DEA}"/>
              </a:ext>
            </a:extLst>
          </p:cNvPr>
          <p:cNvSpPr/>
          <p:nvPr/>
        </p:nvSpPr>
        <p:spPr>
          <a:xfrm>
            <a:off x="6261100" y="1727200"/>
            <a:ext cx="5080000" cy="3175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50E9B6-FF9A-5FD3-CB10-A4BB1A6D03DC}"/>
              </a:ext>
            </a:extLst>
          </p:cNvPr>
          <p:cNvSpPr txBox="1"/>
          <p:nvPr/>
        </p:nvSpPr>
        <p:spPr>
          <a:xfrm>
            <a:off x="6578600" y="2006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C0564B"/>
                </a:solidFill>
                <a:latin typeface="Calibri" panose="020F0502020204030204" pitchFamily="34" charset="0"/>
              </a:rPr>
              <a:t>E R R O R   2</a:t>
            </a:r>
            <a:endParaRPr lang="es-CO" sz="1000" b="1">
              <a:solidFill>
                <a:srgbClr val="C0564B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062480B-FFD4-4CB7-7363-BBA7D9EEA7DA}"/>
              </a:ext>
            </a:extLst>
          </p:cNvPr>
          <p:cNvSpPr txBox="1"/>
          <p:nvPr/>
        </p:nvSpPr>
        <p:spPr>
          <a:xfrm>
            <a:off x="6578600" y="23114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900" b="1">
                <a:solidFill>
                  <a:srgbClr val="012E33"/>
                </a:solidFill>
                <a:latin typeface="Cambria" panose="02040503050406030204" pitchFamily="18" charset="0"/>
              </a:rPr>
              <a:t>Explorar con gráficos pulidos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45546E6-1B66-775E-6AEB-366471D47451}"/>
              </a:ext>
            </a:extLst>
          </p:cNvPr>
          <p:cNvSpPr txBox="1"/>
          <p:nvPr/>
        </p:nvSpPr>
        <p:spPr>
          <a:xfrm>
            <a:off x="6578600" y="3149600"/>
            <a:ext cx="444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Dedicar veinte minutos a cada gráfico durante el análisis exploratorio.</a:t>
            </a:r>
          </a:p>
          <a:p>
            <a:pPr>
              <a:lnSpc>
                <a:spcPct val="115000"/>
              </a:lnSpc>
            </a:pPr>
            <a:endParaRPr lang="es-MX" sz="1200">
              <a:solidFill>
                <a:srgbClr val="5C6C6E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Resultado: se hacen cinco gráficos en vez de cincuenta, y los hallazgos que estaban en los otros cuarenta y cinco nunca aparecen.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E4E1D26-A330-DDB8-E25A-55521B9BA614}"/>
              </a:ext>
            </a:extLst>
          </p:cNvPr>
          <p:cNvSpPr/>
          <p:nvPr/>
        </p:nvSpPr>
        <p:spPr>
          <a:xfrm>
            <a:off x="850900" y="5130800"/>
            <a:ext cx="10490200" cy="7112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5FBF9C-C4B2-83C6-B0EA-25D5C806A6DC}"/>
              </a:ext>
            </a:extLst>
          </p:cNvPr>
          <p:cNvSpPr txBox="1"/>
          <p:nvPr/>
        </p:nvSpPr>
        <p:spPr>
          <a:xfrm>
            <a:off x="1168400" y="5308600"/>
            <a:ext cx="990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MX" sz="1450" b="1">
                <a:solidFill>
                  <a:srgbClr val="FFFFFF"/>
                </a:solidFill>
                <a:latin typeface="Cambria" panose="02040503050406030204" pitchFamily="18" charset="0"/>
              </a:rPr>
              <a:t>El primero hace perder credibilidad. El segundo hace perder descubrimientos. Los dos cuestan caro.</a:t>
            </a:r>
            <a:endParaRPr lang="es-CO" sz="145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C18E9D-EC1C-7C50-555C-731CCD657F87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Regla: nunca lleven a una presentación un gráfico que salió tal cual de la herramienta.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806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4B0AD1-B821-5508-123A-5434AF39D2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1D3E4D-86A4-2619-6A1D-5E33F1A804D1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P A R T E   I I I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19B5C0-F4C4-ADBA-D475-059C6134F98A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Etapa por etapa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6D74A6-083E-89D4-E752-552F126165DC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La pregunta central de hoy: en cada una de las ocho etapas del ciclo, ¿cuál de los dos modos corresponde y por qué?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917A883-94C0-4CEE-BA7C-645DA196623C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3362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5AF604-A5D9-E04D-D56C-516DE9357021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T A P A S   1   A   4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55841C9-1D6A-BF0C-A92B-1773B78FC312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Dónde aparece cada modo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8A63CB-F7DE-DF16-15FC-F26DE0623D84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63B78E3-822D-25E0-8684-0B70D5A39832}"/>
              </a:ext>
            </a:extLst>
          </p:cNvPr>
          <p:cNvSpPr/>
          <p:nvPr/>
        </p:nvSpPr>
        <p:spPr>
          <a:xfrm>
            <a:off x="850900" y="17526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D65F510-8D2D-0C1D-3E02-31EFFFC05973}"/>
              </a:ext>
            </a:extLst>
          </p:cNvPr>
          <p:cNvSpPr/>
          <p:nvPr/>
        </p:nvSpPr>
        <p:spPr>
          <a:xfrm>
            <a:off x="1117600" y="20828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89E140F-C986-D8A2-91A7-0048AB65B78F}"/>
              </a:ext>
            </a:extLst>
          </p:cNvPr>
          <p:cNvSpPr txBox="1"/>
          <p:nvPr/>
        </p:nvSpPr>
        <p:spPr>
          <a:xfrm>
            <a:off x="1701800" y="1930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12E33"/>
                </a:solidFill>
                <a:latin typeface="Cambria" panose="02040503050406030204" pitchFamily="18" charset="0"/>
              </a:rPr>
              <a:t>Definir el problema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AA01EE-2970-828A-EA83-FD2905EF4B35}"/>
              </a:ext>
            </a:extLst>
          </p:cNvPr>
          <p:cNvSpPr/>
          <p:nvPr/>
        </p:nvSpPr>
        <p:spPr>
          <a:xfrm>
            <a:off x="1701800" y="2286000"/>
            <a:ext cx="1651000" cy="304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5C6C6E"/>
                </a:solidFill>
                <a:latin typeface="Calibri" panose="020F0502020204030204" pitchFamily="34" charset="0"/>
              </a:rPr>
              <a:t>NINGUNO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25BD06-047D-A6D2-7EA9-8AFC1C0A577A}"/>
              </a:ext>
            </a:extLst>
          </p:cNvPr>
          <p:cNvSpPr txBox="1"/>
          <p:nvPr/>
        </p:nvSpPr>
        <p:spPr>
          <a:xfrm>
            <a:off x="3810000" y="20320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Todavía no hay datos que graficar. Aquí se dibuja en papel: bocetos de qué se querría ver.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6AF7191-A3F5-A678-253C-0705A59BE77A}"/>
              </a:ext>
            </a:extLst>
          </p:cNvPr>
          <p:cNvSpPr/>
          <p:nvPr/>
        </p:nvSpPr>
        <p:spPr>
          <a:xfrm>
            <a:off x="850900" y="29210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3A6AED7-214E-3F7C-9BEC-1A3272E99EA9}"/>
              </a:ext>
            </a:extLst>
          </p:cNvPr>
          <p:cNvSpPr/>
          <p:nvPr/>
        </p:nvSpPr>
        <p:spPr>
          <a:xfrm>
            <a:off x="1117600" y="32512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2F841CA-FC95-48F6-BBE2-9D221187B2E9}"/>
              </a:ext>
            </a:extLst>
          </p:cNvPr>
          <p:cNvSpPr txBox="1"/>
          <p:nvPr/>
        </p:nvSpPr>
        <p:spPr>
          <a:xfrm>
            <a:off x="1701800" y="3098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12E33"/>
                </a:solidFill>
                <a:latin typeface="Cambria" panose="02040503050406030204" pitchFamily="18" charset="0"/>
              </a:rPr>
              <a:t>Recolectar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8364356-06BE-286D-222C-150BA73D6767}"/>
              </a:ext>
            </a:extLst>
          </p:cNvPr>
          <p:cNvSpPr/>
          <p:nvPr/>
        </p:nvSpPr>
        <p:spPr>
          <a:xfrm>
            <a:off x="1701800" y="3454400"/>
            <a:ext cx="1651000" cy="304800"/>
          </a:xfrm>
          <a:prstGeom prst="rect">
            <a:avLst/>
          </a:prstGeom>
          <a:solidFill>
            <a:srgbClr val="E8F7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028090"/>
                </a:solidFill>
                <a:latin typeface="Calibri" panose="020F0502020204030204" pitchFamily="34" charset="0"/>
              </a:rPr>
              <a:t>EXPLORATORIA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F40C5FA-C7D9-3306-9452-3D38BC206A53}"/>
              </a:ext>
            </a:extLst>
          </p:cNvPr>
          <p:cNvSpPr txBox="1"/>
          <p:nvPr/>
        </p:nvSpPr>
        <p:spPr>
          <a:xfrm>
            <a:off x="3810000" y="32004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Un primer gráfico rápido para ver si los datos llegaron completos y en el rango esperado.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F68696-2163-6B9E-9418-453F8ED157EC}"/>
              </a:ext>
            </a:extLst>
          </p:cNvPr>
          <p:cNvSpPr/>
          <p:nvPr/>
        </p:nvSpPr>
        <p:spPr>
          <a:xfrm>
            <a:off x="850900" y="40894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EB629820-E6B3-ED58-6B54-3C8943FB2A88}"/>
              </a:ext>
            </a:extLst>
          </p:cNvPr>
          <p:cNvSpPr/>
          <p:nvPr/>
        </p:nvSpPr>
        <p:spPr>
          <a:xfrm>
            <a:off x="1117600" y="44196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8B2ECB1-3F02-C030-BFC1-9E1C18F28814}"/>
              </a:ext>
            </a:extLst>
          </p:cNvPr>
          <p:cNvSpPr txBox="1"/>
          <p:nvPr/>
        </p:nvSpPr>
        <p:spPr>
          <a:xfrm>
            <a:off x="1701800" y="426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12E33"/>
                </a:solidFill>
                <a:latin typeface="Cambria" panose="02040503050406030204" pitchFamily="18" charset="0"/>
              </a:rPr>
              <a:t>Limpiar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BE8D77E-A27D-20E2-C4C6-A25500129898}"/>
              </a:ext>
            </a:extLst>
          </p:cNvPr>
          <p:cNvSpPr/>
          <p:nvPr/>
        </p:nvSpPr>
        <p:spPr>
          <a:xfrm>
            <a:off x="1701800" y="4622800"/>
            <a:ext cx="1651000" cy="304800"/>
          </a:xfrm>
          <a:prstGeom prst="rect">
            <a:avLst/>
          </a:prstGeom>
          <a:solidFill>
            <a:srgbClr val="E8F7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028090"/>
                </a:solidFill>
                <a:latin typeface="Calibri" panose="020F0502020204030204" pitchFamily="34" charset="0"/>
              </a:rPr>
              <a:t>EXPLORATORIA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4A011CF-BEE5-D55C-25FD-DCEC3486ACB0}"/>
              </a:ext>
            </a:extLst>
          </p:cNvPr>
          <p:cNvSpPr txBox="1"/>
          <p:nvPr/>
        </p:nvSpPr>
        <p:spPr>
          <a:xfrm>
            <a:off x="3810000" y="43688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Un histograma revela en un segundo los valores imposibles y los vacíos que una tabla esconde.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4AD64BE-4E43-6833-AAD9-AE8F8A981C6D}"/>
              </a:ext>
            </a:extLst>
          </p:cNvPr>
          <p:cNvSpPr/>
          <p:nvPr/>
        </p:nvSpPr>
        <p:spPr>
          <a:xfrm>
            <a:off x="850900" y="52578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F330EE8F-DE77-59B5-C8CB-6E579F326957}"/>
              </a:ext>
            </a:extLst>
          </p:cNvPr>
          <p:cNvSpPr/>
          <p:nvPr/>
        </p:nvSpPr>
        <p:spPr>
          <a:xfrm>
            <a:off x="1117600" y="5588000"/>
            <a:ext cx="406400" cy="406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67860D8-B6B1-2160-1C1C-1C02BF48596B}"/>
              </a:ext>
            </a:extLst>
          </p:cNvPr>
          <p:cNvSpPr txBox="1"/>
          <p:nvPr/>
        </p:nvSpPr>
        <p:spPr>
          <a:xfrm>
            <a:off x="1701800" y="5435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012E33"/>
                </a:solidFill>
                <a:latin typeface="Cambria" panose="02040503050406030204" pitchFamily="18" charset="0"/>
              </a:rPr>
              <a:t>Explorar (EDA)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4313130-ADDD-BFAC-4A91-82BF608404FC}"/>
              </a:ext>
            </a:extLst>
          </p:cNvPr>
          <p:cNvSpPr/>
          <p:nvPr/>
        </p:nvSpPr>
        <p:spPr>
          <a:xfrm>
            <a:off x="1701800" y="5791200"/>
            <a:ext cx="1651000" cy="304800"/>
          </a:xfrm>
          <a:prstGeom prst="rect">
            <a:avLst/>
          </a:prstGeom>
          <a:solidFill>
            <a:srgbClr val="E8F7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028090"/>
                </a:solidFill>
                <a:latin typeface="Calibri" panose="020F0502020204030204" pitchFamily="34" charset="0"/>
              </a:rPr>
              <a:t>EXPLORATORIA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6685C75-FC07-BECD-8802-8B98F35F1765}"/>
              </a:ext>
            </a:extLst>
          </p:cNvPr>
          <p:cNvSpPr txBox="1"/>
          <p:nvPr/>
        </p:nvSpPr>
        <p:spPr>
          <a:xfrm>
            <a:off x="3810000" y="5537200"/>
            <a:ext cx="730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Es el territorio natural del modo exploratorio: aquí se producen decenas de gráficos desechables.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8165216-A9CC-6A78-2F5C-B694CDD3B39A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Nota: en la etapa 1 no se grafica todavía, pero sí se BOCETA. Dibujar el gráfico que se quisiera tener ayuda a definir la pregunta.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75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9858DE6-1BF8-F78A-DE63-6C1FC8EA82F9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T A P A S   5   A   8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8AB1EA-7380-51BD-9619-D29C96FE67E4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FFFFFF"/>
                </a:solidFill>
                <a:latin typeface="Cambria" panose="02040503050406030204" pitchFamily="18" charset="0"/>
              </a:rPr>
              <a:t>Dónde aparece cada modo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B0E55E-507E-73C3-C75C-2076AEA488D1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1CFABAC-58F9-0B78-4B3D-862BB1D91AC0}"/>
              </a:ext>
            </a:extLst>
          </p:cNvPr>
          <p:cNvSpPr/>
          <p:nvPr/>
        </p:nvSpPr>
        <p:spPr>
          <a:xfrm>
            <a:off x="850900" y="1752600"/>
            <a:ext cx="10490200" cy="1066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62A918A-BC04-C29A-02B2-ED1E49CBB133}"/>
              </a:ext>
            </a:extLst>
          </p:cNvPr>
          <p:cNvSpPr/>
          <p:nvPr/>
        </p:nvSpPr>
        <p:spPr>
          <a:xfrm>
            <a:off x="1117600" y="20828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D29D5D-D9F9-FF39-4F3F-85FA9AD280D3}"/>
              </a:ext>
            </a:extLst>
          </p:cNvPr>
          <p:cNvSpPr txBox="1"/>
          <p:nvPr/>
        </p:nvSpPr>
        <p:spPr>
          <a:xfrm>
            <a:off x="1701800" y="1930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Modelar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B5B0B21-7DFA-6780-9396-B498DD2D346D}"/>
              </a:ext>
            </a:extLst>
          </p:cNvPr>
          <p:cNvSpPr/>
          <p:nvPr/>
        </p:nvSpPr>
        <p:spPr>
          <a:xfrm>
            <a:off x="1701800" y="2286000"/>
            <a:ext cx="1778000" cy="3048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02C39A"/>
                </a:solidFill>
                <a:latin typeface="Calibri" panose="020F0502020204030204" pitchFamily="34" charset="0"/>
              </a:rPr>
              <a:t>EXPLORATORIA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71EE11-6DD0-0005-87ED-9E41B7000EDE}"/>
              </a:ext>
            </a:extLst>
          </p:cNvPr>
          <p:cNvSpPr txBox="1"/>
          <p:nvPr/>
        </p:nvSpPr>
        <p:spPr>
          <a:xfrm>
            <a:off x="3937000" y="1981200"/>
            <a:ext cx="717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Gráficos de residuos, curvas de aprendizaje, importancia de variables: sirven para entender el modelo, no para mostrarlo.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0697D09-051F-7665-E05C-F7B8385FBC91}"/>
              </a:ext>
            </a:extLst>
          </p:cNvPr>
          <p:cNvSpPr/>
          <p:nvPr/>
        </p:nvSpPr>
        <p:spPr>
          <a:xfrm>
            <a:off x="850900" y="2921000"/>
            <a:ext cx="10490200" cy="1066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E9E43DA-97AD-70A7-3B05-AA8C85F427B5}"/>
              </a:ext>
            </a:extLst>
          </p:cNvPr>
          <p:cNvSpPr/>
          <p:nvPr/>
        </p:nvSpPr>
        <p:spPr>
          <a:xfrm>
            <a:off x="1117600" y="32512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6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21452C0-2529-3242-752D-DAC2BB3ACF14}"/>
              </a:ext>
            </a:extLst>
          </p:cNvPr>
          <p:cNvSpPr txBox="1"/>
          <p:nvPr/>
        </p:nvSpPr>
        <p:spPr>
          <a:xfrm>
            <a:off x="1701800" y="3098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Evaluar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17A4B90-F384-9B7C-9BDC-9D84788F88D6}"/>
              </a:ext>
            </a:extLst>
          </p:cNvPr>
          <p:cNvSpPr/>
          <p:nvPr/>
        </p:nvSpPr>
        <p:spPr>
          <a:xfrm>
            <a:off x="1701800" y="3454400"/>
            <a:ext cx="1778000" cy="3048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02C39A"/>
                </a:solidFill>
                <a:latin typeface="Calibri" panose="020F0502020204030204" pitchFamily="34" charset="0"/>
              </a:rPr>
              <a:t>LAS DOS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E5E41C-AF4C-E1B2-55CE-F888CF1151C4}"/>
              </a:ext>
            </a:extLst>
          </p:cNvPr>
          <p:cNvSpPr txBox="1"/>
          <p:nvPr/>
        </p:nvSpPr>
        <p:spPr>
          <a:xfrm>
            <a:off x="3937000" y="3149600"/>
            <a:ext cx="717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Exploratoria mientras se ajusta; comunicativa cuando hay que justificar ante alguien por qué el modelo es confiable.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9C25C54-6CBC-D057-0B66-4F54B78FA2DC}"/>
              </a:ext>
            </a:extLst>
          </p:cNvPr>
          <p:cNvSpPr/>
          <p:nvPr/>
        </p:nvSpPr>
        <p:spPr>
          <a:xfrm>
            <a:off x="850900" y="4089400"/>
            <a:ext cx="10490200" cy="1066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ED8C31C-18EC-D1E9-0130-90773037A114}"/>
              </a:ext>
            </a:extLst>
          </p:cNvPr>
          <p:cNvSpPr/>
          <p:nvPr/>
        </p:nvSpPr>
        <p:spPr>
          <a:xfrm>
            <a:off x="1117600" y="44196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7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E88FFB0-EBC7-B72D-C8B9-4C8123683A3F}"/>
              </a:ext>
            </a:extLst>
          </p:cNvPr>
          <p:cNvSpPr txBox="1"/>
          <p:nvPr/>
        </p:nvSpPr>
        <p:spPr>
          <a:xfrm>
            <a:off x="1701800" y="42672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Comunicar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F124F-7F20-DD75-22C3-3F60BE81E237}"/>
              </a:ext>
            </a:extLst>
          </p:cNvPr>
          <p:cNvSpPr/>
          <p:nvPr/>
        </p:nvSpPr>
        <p:spPr>
          <a:xfrm>
            <a:off x="1701800" y="4622800"/>
            <a:ext cx="1778000" cy="304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012E33"/>
                </a:solidFill>
                <a:latin typeface="Calibri" panose="020F0502020204030204" pitchFamily="34" charset="0"/>
              </a:rPr>
              <a:t>COMUNICATIVA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2DFC966-8A3F-F001-6EA6-2A6B82F0DDD9}"/>
              </a:ext>
            </a:extLst>
          </p:cNvPr>
          <p:cNvSpPr txBox="1"/>
          <p:nvPr/>
        </p:nvSpPr>
        <p:spPr>
          <a:xfrm>
            <a:off x="3937000" y="4318000"/>
            <a:ext cx="717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Es la etapa donde el modo comunicativo es obligatorio. Aquí vive el dashboard, el informe y el storytelling.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66B1B49-A5B8-8CEF-E4EE-C15112029D3C}"/>
              </a:ext>
            </a:extLst>
          </p:cNvPr>
          <p:cNvSpPr/>
          <p:nvPr/>
        </p:nvSpPr>
        <p:spPr>
          <a:xfrm>
            <a:off x="850900" y="5257800"/>
            <a:ext cx="10490200" cy="1066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A71C380-9A96-006F-A2D7-C7E1250AB857}"/>
              </a:ext>
            </a:extLst>
          </p:cNvPr>
          <p:cNvSpPr/>
          <p:nvPr/>
        </p:nvSpPr>
        <p:spPr>
          <a:xfrm>
            <a:off x="1117600" y="55880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8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B44E78D-D7A5-D0D4-DBB2-E37432D53517}"/>
              </a:ext>
            </a:extLst>
          </p:cNvPr>
          <p:cNvSpPr txBox="1"/>
          <p:nvPr/>
        </p:nvSpPr>
        <p:spPr>
          <a:xfrm>
            <a:off x="1701800" y="5435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Decidir y monitorear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2AF9C80-E4D6-CE1B-D00A-938D4D5487F7}"/>
              </a:ext>
            </a:extLst>
          </p:cNvPr>
          <p:cNvSpPr/>
          <p:nvPr/>
        </p:nvSpPr>
        <p:spPr>
          <a:xfrm>
            <a:off x="1701800" y="5791200"/>
            <a:ext cx="1778000" cy="304800"/>
          </a:xfrm>
          <a:prstGeom prst="rect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950" b="1">
                <a:solidFill>
                  <a:srgbClr val="012E33"/>
                </a:solidFill>
                <a:latin typeface="Calibri" panose="020F0502020204030204" pitchFamily="34" charset="0"/>
              </a:rPr>
              <a:t>COMUNICATIVA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3F78D86-0B19-777D-E448-FD11E29FEAC0}"/>
              </a:ext>
            </a:extLst>
          </p:cNvPr>
          <p:cNvSpPr txBox="1"/>
          <p:nvPr/>
        </p:nvSpPr>
        <p:spPr>
          <a:xfrm>
            <a:off x="3937000" y="5486400"/>
            <a:ext cx="717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C3D6D8"/>
                </a:solidFill>
                <a:latin typeface="Calibri" panose="020F0502020204030204" pitchFamily="34" charset="0"/>
              </a:rPr>
              <a:t>El tablero de seguimiento lo lee alguien más, cada semana, sin usted al lado. Debe explicarse solo.</a:t>
            </a:r>
            <a:endParaRPr lang="es-CO" sz="12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E22DD6E-C494-575E-6A3C-A0D38D7CCEC5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La etapa 6 es la única mixta: el mismo gráfico de evaluación cambia de modo según si lo mira usted o su cliente.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658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84C1356-A442-D7BB-83D0-D5B21349B0D7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b="1">
                <a:solidFill>
                  <a:srgbClr val="028090"/>
                </a:solidFill>
                <a:latin typeface="Calibri" panose="020F0502020204030204" pitchFamily="34" charset="0"/>
              </a:rPr>
              <a:t>L A   J U S T I F I C A C I O 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A14CED-2B7F-3E11-2B5E-F8350E5D116E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Por qué corresponde ese modo a cada etapa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2E4CBD-42C8-A17D-48BC-5F67FB610D5D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3375CA-816B-EC33-BC15-744053D64794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>
                <a:solidFill>
                  <a:srgbClr val="5C6C6E"/>
                </a:solidFill>
                <a:latin typeface="Calibri" panose="020F0502020204030204" pitchFamily="34" charset="0"/>
              </a:rPr>
              <a:t>La regla que ordena todo el cuadro es una sola pregunta: ¿quién va a mirar este gráfico?</a:t>
            </a:r>
            <a:endParaRPr lang="es-CO" sz="14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CCF291D-1F24-3DF1-CBCB-2FAE99455452}"/>
              </a:ext>
            </a:extLst>
          </p:cNvPr>
          <p:cNvSpPr/>
          <p:nvPr/>
        </p:nvSpPr>
        <p:spPr>
          <a:xfrm>
            <a:off x="850900" y="2133600"/>
            <a:ext cx="10490200" cy="1219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6AF7210-CB18-1E7B-6180-64209D4F588A}"/>
              </a:ext>
            </a:extLst>
          </p:cNvPr>
          <p:cNvSpPr txBox="1"/>
          <p:nvPr/>
        </p:nvSpPr>
        <p:spPr>
          <a:xfrm>
            <a:off x="1168400" y="2387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Etapas 2 a 5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0BC910-D1B4-F047-9F37-4544A9D5D06C}"/>
              </a:ext>
            </a:extLst>
          </p:cNvPr>
          <p:cNvSpPr/>
          <p:nvPr/>
        </p:nvSpPr>
        <p:spPr>
          <a:xfrm>
            <a:off x="1168400" y="2768600"/>
            <a:ext cx="1778000" cy="330200"/>
          </a:xfrm>
          <a:prstGeom prst="rect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libri" panose="020F0502020204030204" pitchFamily="34" charset="0"/>
              </a:rPr>
              <a:t>Exploratoria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31048B-6A15-AEAD-9D74-82AF49DBD9F6}"/>
              </a:ext>
            </a:extLst>
          </p:cNvPr>
          <p:cNvSpPr txBox="1"/>
          <p:nvPr/>
        </p:nvSpPr>
        <p:spPr>
          <a:xfrm>
            <a:off x="3365500" y="2387600"/>
            <a:ext cx="774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Porque la audiencia es el propio analista. Nadie más va a ver esos gráficos, y el objetivo es descubrir, no explicar. Invertir tiempo en diseño aquí resta tiempo de exploración.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CF09216-B5C1-C311-3799-5EAB99575D0C}"/>
              </a:ext>
            </a:extLst>
          </p:cNvPr>
          <p:cNvSpPr/>
          <p:nvPr/>
        </p:nvSpPr>
        <p:spPr>
          <a:xfrm>
            <a:off x="850900" y="3454400"/>
            <a:ext cx="10490200" cy="1219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D5BCF4-BE17-FC9A-1042-98017DB7D866}"/>
              </a:ext>
            </a:extLst>
          </p:cNvPr>
          <p:cNvSpPr txBox="1"/>
          <p:nvPr/>
        </p:nvSpPr>
        <p:spPr>
          <a:xfrm>
            <a:off x="1168400" y="3708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Etapa 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0A62856-8BFA-DD3F-1E1B-16E499AE6136}"/>
              </a:ext>
            </a:extLst>
          </p:cNvPr>
          <p:cNvSpPr/>
          <p:nvPr/>
        </p:nvSpPr>
        <p:spPr>
          <a:xfrm>
            <a:off x="1168400" y="4089400"/>
            <a:ext cx="1778000" cy="330200"/>
          </a:xfrm>
          <a:prstGeom prst="rect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libri" panose="020F0502020204030204" pitchFamily="34" charset="0"/>
              </a:rPr>
              <a:t>Las dos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ACA1AC-B4F7-CE45-E926-8AFA6393BF47}"/>
              </a:ext>
            </a:extLst>
          </p:cNvPr>
          <p:cNvSpPr txBox="1"/>
          <p:nvPr/>
        </p:nvSpPr>
        <p:spPr>
          <a:xfrm>
            <a:off x="3365500" y="3708400"/>
            <a:ext cx="774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Porque el mismo gráfico cumple dos funciones en momentos distintos: diagnosticar el modelo (yo) y justificarlo ante quien lo va a usar (otro).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61F29A-7344-08C4-8F18-27DAD20D3665}"/>
              </a:ext>
            </a:extLst>
          </p:cNvPr>
          <p:cNvSpPr/>
          <p:nvPr/>
        </p:nvSpPr>
        <p:spPr>
          <a:xfrm>
            <a:off x="850900" y="4775200"/>
            <a:ext cx="10490200" cy="1219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9974DA2-DD6E-6A35-A26E-5D4AA1399106}"/>
              </a:ext>
            </a:extLst>
          </p:cNvPr>
          <p:cNvSpPr txBox="1"/>
          <p:nvPr/>
        </p:nvSpPr>
        <p:spPr>
          <a:xfrm>
            <a:off x="1168400" y="5029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Etapas 7 y 8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373B97-28D5-A810-A996-477573E59B10}"/>
              </a:ext>
            </a:extLst>
          </p:cNvPr>
          <p:cNvSpPr/>
          <p:nvPr/>
        </p:nvSpPr>
        <p:spPr>
          <a:xfrm>
            <a:off x="1168400" y="5410200"/>
            <a:ext cx="1778000" cy="330200"/>
          </a:xfrm>
          <a:prstGeom prst="rect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000" b="1">
                <a:solidFill>
                  <a:srgbClr val="FFFFFF"/>
                </a:solidFill>
                <a:latin typeface="Calibri" panose="020F0502020204030204" pitchFamily="34" charset="0"/>
              </a:rPr>
              <a:t>Comunicativa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2266D14-0CE3-BAD5-D455-D411C52F56F2}"/>
              </a:ext>
            </a:extLst>
          </p:cNvPr>
          <p:cNvSpPr txBox="1"/>
          <p:nvPr/>
        </p:nvSpPr>
        <p:spPr>
          <a:xfrm>
            <a:off x="3365500" y="5029200"/>
            <a:ext cx="774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5C6C6E"/>
                </a:solidFill>
                <a:latin typeface="Calibri" panose="020F0502020204030204" pitchFamily="34" charset="0"/>
              </a:rPr>
              <a:t>Porque la audiencia es alguien que no vio los datos, no conoce el proceso y debe tomar una decisión. Sin diseño, contexto y una conclusión explícita, el hallazgo no se transfiere.</a:t>
            </a:r>
            <a:endParaRPr lang="es-CO" sz="120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2B5063-1B26-D66F-A90F-A7762C172BB3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Si duda en qué modo está: pregúntese si la persona que va a mirar el gráfico estuvo presente cuando lo hizo.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736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207AF5-0A82-F79B-A65E-8705E5498738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L A   Z O N A   G R I S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043368-CD7C-8060-B788-EE9BCD05CFF7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Cuando un gráfico cambia de modo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55DB95-E35F-C22B-80E2-D07627B17D4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DB4819-B908-B3E5-F29C-8BC8D0A79E9E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5C6C6E"/>
                </a:solidFill>
                <a:latin typeface="Calibri" panose="020F0502020204030204" pitchFamily="34" charset="0"/>
              </a:rPr>
              <a:t>Un mismo gráfico puede pasar de un modo al otro sin que cambie una sola línea de código: lo que cambia es quién lo mira. Tres situaciones donde ocurre y hay que estar atento:</a:t>
            </a:r>
            <a:endParaRPr lang="es-CO" sz="13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89212C-5300-4002-A168-24AE5EAE3CEC}"/>
              </a:ext>
            </a:extLst>
          </p:cNvPr>
          <p:cNvSpPr/>
          <p:nvPr/>
        </p:nvSpPr>
        <p:spPr>
          <a:xfrm>
            <a:off x="850900" y="2336800"/>
            <a:ext cx="10490200" cy="990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547F0F-DA0B-B8ED-95A5-169A9A8B336C}"/>
              </a:ext>
            </a:extLst>
          </p:cNvPr>
          <p:cNvSpPr txBox="1"/>
          <p:nvPr/>
        </p:nvSpPr>
        <p:spPr>
          <a:xfrm>
            <a:off x="1168400" y="25400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El gráfico del EDA que resultó revelador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F9FD11-E936-DAED-F157-AE44935D1975}"/>
              </a:ext>
            </a:extLst>
          </p:cNvPr>
          <p:cNvSpPr txBox="1"/>
          <p:nvPr/>
        </p:nvSpPr>
        <p:spPr>
          <a:xfrm>
            <a:off x="5461000" y="2514600"/>
            <a:ext cx="565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Nació exploratorio, pero contiene el hallazgo central del proyecto. NO se lleva tal cual a la presentación: se rehace en modo comunicativo.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0FA0BF4-AD53-8319-D7DD-DB2C81F99A87}"/>
              </a:ext>
            </a:extLst>
          </p:cNvPr>
          <p:cNvSpPr/>
          <p:nvPr/>
        </p:nvSpPr>
        <p:spPr>
          <a:xfrm>
            <a:off x="850900" y="3429000"/>
            <a:ext cx="10490200" cy="990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622FDFD-5396-A2B2-2C81-71AC9056F66F}"/>
              </a:ext>
            </a:extLst>
          </p:cNvPr>
          <p:cNvSpPr txBox="1"/>
          <p:nvPr/>
        </p:nvSpPr>
        <p:spPr>
          <a:xfrm>
            <a:off x="1168400" y="36322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El dashboard interno del equipo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2762C7C-C023-136B-4647-85048AFB2EC8}"/>
              </a:ext>
            </a:extLst>
          </p:cNvPr>
          <p:cNvSpPr txBox="1"/>
          <p:nvPr/>
        </p:nvSpPr>
        <p:spPr>
          <a:xfrm>
            <a:off x="5461000" y="3606800"/>
            <a:ext cx="565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Parece comunicativo porque está pulido, pero si solo lo usa el equipo técnico para monitorear, sigue siendo exploratorio en su función.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2DEB98-FF49-3A6C-A8D8-46402B2A81B4}"/>
              </a:ext>
            </a:extLst>
          </p:cNvPr>
          <p:cNvSpPr/>
          <p:nvPr/>
        </p:nvSpPr>
        <p:spPr>
          <a:xfrm>
            <a:off x="850900" y="4521200"/>
            <a:ext cx="10490200" cy="990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81919D6-4767-6BCF-C912-125470FA5F98}"/>
              </a:ext>
            </a:extLst>
          </p:cNvPr>
          <p:cNvSpPr txBox="1"/>
          <p:nvPr/>
        </p:nvSpPr>
        <p:spPr>
          <a:xfrm>
            <a:off x="1168400" y="47244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El anexo técnico del informe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91A9D0E-CBB6-A1A4-08A8-B01AF6318038}"/>
              </a:ext>
            </a:extLst>
          </p:cNvPr>
          <p:cNvSpPr txBox="1"/>
          <p:nvPr/>
        </p:nvSpPr>
        <p:spPr>
          <a:xfrm>
            <a:off x="5461000" y="4699000"/>
            <a:ext cx="565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Gráficos exploratorios que se adjuntan como evidencia. Es válido, siempre que estén claramente separados del cuerpo comunicativo.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2CEF45-AF4A-A799-78C3-23DB462BC6C0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El error más común del semestre pasado: llevar al Hito 3 el gráfico crudo del EDA porque 'ya mostraba lo importante'.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746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76C72E-9B39-3339-47AD-5B28BD650AB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E975ED-C07E-19BF-6270-EB0A06995C6E}"/>
              </a:ext>
            </a:extLst>
          </p:cNvPr>
          <p:cNvSpPr txBox="1"/>
          <p:nvPr/>
        </p:nvSpPr>
        <p:spPr>
          <a:xfrm>
            <a:off x="5715000" y="3048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P A R T E   I V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18224A2-F8AE-181D-FD55-DC88D725BA0B}"/>
              </a:ext>
            </a:extLst>
          </p:cNvPr>
          <p:cNvSpPr txBox="1"/>
          <p:nvPr/>
        </p:nvSpPr>
        <p:spPr>
          <a:xfrm>
            <a:off x="5715000" y="33274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La transformación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058889-E89B-8EE9-3794-46431AD3829E}"/>
              </a:ext>
            </a:extLst>
          </p:cNvPr>
          <p:cNvSpPr txBox="1"/>
          <p:nvPr/>
        </p:nvSpPr>
        <p:spPr>
          <a:xfrm>
            <a:off x="5715000" y="45720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Cómo se convierte un gráfico exploratorio en uno comunicativo, en cinco pasos concretos.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3A3821-1BF3-961A-B967-CDEFB3538AC7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25803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896CF2-0A6E-214F-CC3F-170C62A4EAF1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D E   E X P L O R A T O R I A   A   C O M U N I C A T I V A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621248-72CD-2FD2-6040-A9523EEDD069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Cinco pasos concretos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AF36A0-D1AA-ADA0-6C6E-42B1DCDD6CB6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3F90EC1-EDF9-0431-B3F5-7BD28A0B1ECD}"/>
              </a:ext>
            </a:extLst>
          </p:cNvPr>
          <p:cNvSpPr/>
          <p:nvPr/>
        </p:nvSpPr>
        <p:spPr>
          <a:xfrm>
            <a:off x="850900" y="16764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9A7FFAC-A3A2-CDB9-3EDE-CF10CC76C5C3}"/>
              </a:ext>
            </a:extLst>
          </p:cNvPr>
          <p:cNvSpPr/>
          <p:nvPr/>
        </p:nvSpPr>
        <p:spPr>
          <a:xfrm>
            <a:off x="1117600" y="19050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6E5C84-2FF8-E26A-EC4F-192800551E85}"/>
              </a:ext>
            </a:extLst>
          </p:cNvPr>
          <p:cNvSpPr txBox="1"/>
          <p:nvPr/>
        </p:nvSpPr>
        <p:spPr>
          <a:xfrm>
            <a:off x="1676400" y="18542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Escriba la conclusión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3A4BB6-1627-9650-E9C1-3FC5959E6B83}"/>
              </a:ext>
            </a:extLst>
          </p:cNvPr>
          <p:cNvSpPr txBox="1"/>
          <p:nvPr/>
        </p:nvSpPr>
        <p:spPr>
          <a:xfrm>
            <a:off x="5397500" y="18796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Antes de tocar el gráfico, escriba en una frase qué quiere que la audiencia entienda. Esa frase será el título.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F065AB9-7741-1C7E-CFC4-0702A31C8C90}"/>
              </a:ext>
            </a:extLst>
          </p:cNvPr>
          <p:cNvSpPr/>
          <p:nvPr/>
        </p:nvSpPr>
        <p:spPr>
          <a:xfrm>
            <a:off x="850900" y="26162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AD14F04-AD4B-98D2-298B-A4E25BCA0823}"/>
              </a:ext>
            </a:extLst>
          </p:cNvPr>
          <p:cNvSpPr/>
          <p:nvPr/>
        </p:nvSpPr>
        <p:spPr>
          <a:xfrm>
            <a:off x="1117600" y="28448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FCCE93-8AEA-59A8-6AC0-4F3AC995EC95}"/>
              </a:ext>
            </a:extLst>
          </p:cNvPr>
          <p:cNvSpPr txBox="1"/>
          <p:nvPr/>
        </p:nvSpPr>
        <p:spPr>
          <a:xfrm>
            <a:off x="1676400" y="2794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Quite todo lo que no la sostenga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A503F8-65CA-B7C3-C5F1-B1474CE204F9}"/>
              </a:ext>
            </a:extLst>
          </p:cNvPr>
          <p:cNvSpPr txBox="1"/>
          <p:nvPr/>
        </p:nvSpPr>
        <p:spPr>
          <a:xfrm>
            <a:off x="5397500" y="28194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Cuadrículas, bordes, leyendas redundantes, decimales de más, la tercera dimensión. Si no aporta a la conclusión, sale.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378AD75-9AE7-61FD-8342-14BA011BBE33}"/>
              </a:ext>
            </a:extLst>
          </p:cNvPr>
          <p:cNvSpPr/>
          <p:nvPr/>
        </p:nvSpPr>
        <p:spPr>
          <a:xfrm>
            <a:off x="850900" y="35560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2C67585-488B-7DFF-38CE-343C34C72ED0}"/>
              </a:ext>
            </a:extLst>
          </p:cNvPr>
          <p:cNvSpPr/>
          <p:nvPr/>
        </p:nvSpPr>
        <p:spPr>
          <a:xfrm>
            <a:off x="1117600" y="37846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6F8DCA-8159-903C-1A5C-11588F74078C}"/>
              </a:ext>
            </a:extLst>
          </p:cNvPr>
          <p:cNvSpPr txBox="1"/>
          <p:nvPr/>
        </p:nvSpPr>
        <p:spPr>
          <a:xfrm>
            <a:off x="1676400" y="3733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Dirija la mirada con el color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24456AF-A8A6-B448-072B-3A5C5F2E022D}"/>
              </a:ext>
            </a:extLst>
          </p:cNvPr>
          <p:cNvSpPr txBox="1"/>
          <p:nvPr/>
        </p:nvSpPr>
        <p:spPr>
          <a:xfrm>
            <a:off x="5397500" y="37592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dirty="0">
                <a:solidFill>
                  <a:srgbClr val="5C6C6E"/>
                </a:solidFill>
                <a:latin typeface="Calibri" panose="020F0502020204030204" pitchFamily="34" charset="0"/>
              </a:rPr>
              <a:t>Un solo elemento destacado; todo lo demás en gris. El color se usa para señalar, no para adornar.</a:t>
            </a:r>
            <a:endParaRPr lang="es-CO" sz="1150" dirty="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C2590A2-6C92-B68C-B634-F15263876C57}"/>
              </a:ext>
            </a:extLst>
          </p:cNvPr>
          <p:cNvSpPr/>
          <p:nvPr/>
        </p:nvSpPr>
        <p:spPr>
          <a:xfrm>
            <a:off x="850900" y="44958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F33C390-1BF2-AFF4-15E3-E61806993EB5}"/>
              </a:ext>
            </a:extLst>
          </p:cNvPr>
          <p:cNvSpPr/>
          <p:nvPr/>
        </p:nvSpPr>
        <p:spPr>
          <a:xfrm>
            <a:off x="1117600" y="47244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B154A66-C5FF-CE6B-32DE-DA218BE62798}"/>
              </a:ext>
            </a:extLst>
          </p:cNvPr>
          <p:cNvSpPr txBox="1"/>
          <p:nvPr/>
        </p:nvSpPr>
        <p:spPr>
          <a:xfrm>
            <a:off x="1676400" y="4673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Agregue el contexto que falta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EF0AA5-F686-CEFA-538C-46866CE2F936}"/>
              </a:ext>
            </a:extLst>
          </p:cNvPr>
          <p:cNvSpPr txBox="1"/>
          <p:nvPr/>
        </p:nvSpPr>
        <p:spPr>
          <a:xfrm>
            <a:off x="5397500" y="46990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dirty="0">
                <a:solidFill>
                  <a:srgbClr val="5C6C6E"/>
                </a:solidFill>
                <a:latin typeface="Calibri" panose="020F0502020204030204" pitchFamily="34" charset="0"/>
              </a:rPr>
              <a:t>Título con la conclusión, unidades, periodo, fuente y una anotación donde está lo importante.</a:t>
            </a:r>
            <a:endParaRPr lang="es-CO" sz="1150" dirty="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D196A6F-2D69-3550-1FBA-6DCBE334ED77}"/>
              </a:ext>
            </a:extLst>
          </p:cNvPr>
          <p:cNvSpPr/>
          <p:nvPr/>
        </p:nvSpPr>
        <p:spPr>
          <a:xfrm>
            <a:off x="850900" y="5435600"/>
            <a:ext cx="10490200" cy="8382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E26D3AA-41B9-D3F7-2F27-31F7D00C1431}"/>
              </a:ext>
            </a:extLst>
          </p:cNvPr>
          <p:cNvSpPr/>
          <p:nvPr/>
        </p:nvSpPr>
        <p:spPr>
          <a:xfrm>
            <a:off x="1117600" y="56642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90A4FDF-F459-72F7-B53E-7CA521D33BCF}"/>
              </a:ext>
            </a:extLst>
          </p:cNvPr>
          <p:cNvSpPr txBox="1"/>
          <p:nvPr/>
        </p:nvSpPr>
        <p:spPr>
          <a:xfrm>
            <a:off x="1676400" y="56134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Pruébelo con alguien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89BD7A-F321-E9B7-C8D1-7B653BBCC581}"/>
              </a:ext>
            </a:extLst>
          </p:cNvPr>
          <p:cNvSpPr txBox="1"/>
          <p:nvPr/>
        </p:nvSpPr>
        <p:spPr>
          <a:xfrm>
            <a:off x="5397500" y="5638800"/>
            <a:ext cx="571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Muéstrelo cinco segundos a alguien ajeno al proyecto y pregunte qué entendió. Si no coincide con su frase del paso 1, vuelva al paso 2.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C3D689B-1394-34B4-FEE5-65CE95FEE200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El paso 5 es el que casi nadie hace, y es el único que da información real sobre si el gráfico funciona.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330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F1BA1A7-EA2D-010D-C3DF-BFF51F87914B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E L   C A M B I O   M A S   R E N T A B L E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1AE3C5-56FF-56EE-E70A-405559B44D48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FFFFFF"/>
                </a:solidFill>
                <a:latin typeface="Cambria" panose="02040503050406030204" pitchFamily="18" charset="0"/>
              </a:rPr>
              <a:t>El título hace la mitad del trabajo</a:t>
            </a:r>
            <a:endParaRPr lang="es-CO" sz="31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DDA07B2-E91A-1673-1CD3-B2E567E94486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18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82378B-835F-E209-0947-0C4661C78794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Si solo pudieran hacer un cambio para convertir un gráfico exploratorio en comunicativo, sería este: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B56536-250C-2F22-5053-BE6085F14F41}"/>
              </a:ext>
            </a:extLst>
          </p:cNvPr>
          <p:cNvSpPr/>
          <p:nvPr/>
        </p:nvSpPr>
        <p:spPr>
          <a:xfrm>
            <a:off x="850900" y="2235200"/>
            <a:ext cx="10490200" cy="1016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3DBCD7-C6FA-A93A-D232-C82B7821BB8A}"/>
              </a:ext>
            </a:extLst>
          </p:cNvPr>
          <p:cNvSpPr txBox="1"/>
          <p:nvPr/>
        </p:nvSpPr>
        <p:spPr>
          <a:xfrm>
            <a:off x="1168400" y="2438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00" b="1">
                <a:solidFill>
                  <a:srgbClr val="5C6C6E"/>
                </a:solidFill>
                <a:latin typeface="Calibri" panose="020F0502020204030204" pitchFamily="34" charset="0"/>
              </a:rPr>
              <a:t>E X P L O R A T O R I O</a:t>
            </a:r>
            <a:endParaRPr lang="es-CO" sz="900" b="1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9085A5-55D7-ED19-E8E8-430A7EEE56B9}"/>
              </a:ext>
            </a:extLst>
          </p:cNvPr>
          <p:cNvSpPr txBox="1"/>
          <p:nvPr/>
        </p:nvSpPr>
        <p:spPr>
          <a:xfrm>
            <a:off x="1168400" y="2692400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700" b="1">
                <a:solidFill>
                  <a:srgbClr val="FFFFFF"/>
                </a:solidFill>
                <a:latin typeface="Cambria" panose="02040503050406030204" pitchFamily="18" charset="0"/>
              </a:rPr>
              <a:t>Ventas 2025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1637B45-3CFE-1382-F968-462DF20731A4}"/>
              </a:ext>
            </a:extLst>
          </p:cNvPr>
          <p:cNvSpPr txBox="1"/>
          <p:nvPr/>
        </p:nvSpPr>
        <p:spPr>
          <a:xfrm>
            <a:off x="6604000" y="2514600"/>
            <a:ext cx="4508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Describe qué hay en el gráfico. Obliga a la audiencia a sacar la conclusión sola.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3EF1CC-4D59-92D8-0E25-1473B340B9E5}"/>
              </a:ext>
            </a:extLst>
          </p:cNvPr>
          <p:cNvSpPr/>
          <p:nvPr/>
        </p:nvSpPr>
        <p:spPr>
          <a:xfrm>
            <a:off x="850900" y="3352800"/>
            <a:ext cx="10490200" cy="1016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CB5C0BB-8FB1-8DA3-4ECE-11D92B10715D}"/>
              </a:ext>
            </a:extLst>
          </p:cNvPr>
          <p:cNvSpPr txBox="1"/>
          <p:nvPr/>
        </p:nvSpPr>
        <p:spPr>
          <a:xfrm>
            <a:off x="1168400" y="3556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00" b="1">
                <a:solidFill>
                  <a:srgbClr val="02C39A"/>
                </a:solidFill>
                <a:latin typeface="Calibri" panose="020F0502020204030204" pitchFamily="34" charset="0"/>
              </a:rPr>
              <a:t>M E J O R</a:t>
            </a:r>
            <a:endParaRPr lang="es-CO" sz="900" b="1">
              <a:solidFill>
                <a:srgbClr val="02C39A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E3D1E4F-FBF0-51E1-26DA-DDFF66D14C8D}"/>
              </a:ext>
            </a:extLst>
          </p:cNvPr>
          <p:cNvSpPr txBox="1"/>
          <p:nvPr/>
        </p:nvSpPr>
        <p:spPr>
          <a:xfrm>
            <a:off x="1168400" y="3810000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700" b="1">
                <a:solidFill>
                  <a:srgbClr val="FFFFFF"/>
                </a:solidFill>
                <a:latin typeface="Cambria" panose="02040503050406030204" pitchFamily="18" charset="0"/>
              </a:rPr>
              <a:t>Ventas mensuales 2025 por región</a:t>
            </a:r>
            <a:endParaRPr lang="es-CO" sz="17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639DA11-BA2B-84D5-7318-30698E1849EF}"/>
              </a:ext>
            </a:extLst>
          </p:cNvPr>
          <p:cNvSpPr txBox="1"/>
          <p:nvPr/>
        </p:nvSpPr>
        <p:spPr>
          <a:xfrm>
            <a:off x="6604000" y="3632200"/>
            <a:ext cx="4508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Ya orienta, pero sigue siendo una etiqueta: no dice qué pasó.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2605E7D-8DF7-4374-FD45-DAAA2BAE7D72}"/>
              </a:ext>
            </a:extLst>
          </p:cNvPr>
          <p:cNvSpPr/>
          <p:nvPr/>
        </p:nvSpPr>
        <p:spPr>
          <a:xfrm>
            <a:off x="850900" y="4470400"/>
            <a:ext cx="10490200" cy="10160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DFCC43A-4A14-AB08-3515-68E7D23C361E}"/>
              </a:ext>
            </a:extLst>
          </p:cNvPr>
          <p:cNvSpPr txBox="1"/>
          <p:nvPr/>
        </p:nvSpPr>
        <p:spPr>
          <a:xfrm>
            <a:off x="1168400" y="4673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900" b="1">
                <a:solidFill>
                  <a:srgbClr val="00A896"/>
                </a:solidFill>
                <a:latin typeface="Calibri" panose="020F0502020204030204" pitchFamily="34" charset="0"/>
              </a:rPr>
              <a:t>C O M U N I C A T I V 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C02BB3C-1F10-142D-A0DF-8D772FAEABD2}"/>
              </a:ext>
            </a:extLst>
          </p:cNvPr>
          <p:cNvSpPr txBox="1"/>
          <p:nvPr/>
        </p:nvSpPr>
        <p:spPr>
          <a:xfrm>
            <a:off x="1168400" y="4927600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700" b="1">
                <a:solidFill>
                  <a:srgbClr val="FFFFFF"/>
                </a:solidFill>
                <a:latin typeface="Cambria" panose="02040503050406030204" pitchFamily="18" charset="0"/>
              </a:rPr>
              <a:t>La región Caribe cayó 18% desde julio</a:t>
            </a:r>
            <a:endParaRPr lang="es-CO" sz="17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99DC53-9B21-96F7-903F-CAC480040976}"/>
              </a:ext>
            </a:extLst>
          </p:cNvPr>
          <p:cNvSpPr txBox="1"/>
          <p:nvPr/>
        </p:nvSpPr>
        <p:spPr>
          <a:xfrm>
            <a:off x="6604000" y="4749800"/>
            <a:ext cx="4508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Dice la conclusión. La audiencia mira el gráfico para verificarla, no para descifrarla.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E5EC4C8-C11D-8619-B87B-D69057D0395E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BFEAE4"/>
                </a:solidFill>
                <a:latin typeface="Calibri" panose="020F0502020204030204" pitchFamily="34" charset="0"/>
              </a:rPr>
              <a:t>Un título que afirma algo se puede discutir, verificar y recordar. Un título que solo nombra, no.</a:t>
            </a:r>
            <a:endParaRPr lang="es-CO" sz="1150" i="1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533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66B6D6-EC55-D94D-E09E-892BD009E144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A N T E S   D E   P R E S E N T A R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7CB8D40-6060-2C41-4679-7DB1A38CF069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Checklist de siete preguntas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ACB729-6EE9-AAD7-B592-B694D6C8632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19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EA4AD7-A30E-9816-F9DD-BBB6E7346C6A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5C6C6E"/>
                </a:solidFill>
                <a:latin typeface="Calibri" panose="020F0502020204030204" pitchFamily="34" charset="0"/>
              </a:rPr>
              <a:t>Pásenle esta lista a cualquier gráfico antes de llevarlo a una sustentación o a un hito del proyecto:</a:t>
            </a:r>
            <a:endParaRPr lang="es-CO" sz="13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A711F2-5DC8-7414-FB88-502A37DFAC06}"/>
              </a:ext>
            </a:extLst>
          </p:cNvPr>
          <p:cNvSpPr/>
          <p:nvPr/>
        </p:nvSpPr>
        <p:spPr>
          <a:xfrm>
            <a:off x="850900" y="2133600"/>
            <a:ext cx="10490200" cy="533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7A5BF06-073B-4D3A-B6C4-697BEB4036F1}"/>
              </a:ext>
            </a:extLst>
          </p:cNvPr>
          <p:cNvSpPr/>
          <p:nvPr/>
        </p:nvSpPr>
        <p:spPr>
          <a:xfrm>
            <a:off x="1143000" y="22860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E21261-93E9-03C8-810A-1B97276E85AE}"/>
              </a:ext>
            </a:extLst>
          </p:cNvPr>
          <p:cNvSpPr txBox="1"/>
          <p:nvPr/>
        </p:nvSpPr>
        <p:spPr>
          <a:xfrm>
            <a:off x="1574800" y="22733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012E33"/>
                </a:solidFill>
                <a:latin typeface="Calibri" panose="020F0502020204030204" pitchFamily="34" charset="0"/>
              </a:rPr>
              <a:t>¿El título dice la conclusión, o solo nombra el contenido?</a:t>
            </a:r>
            <a:endParaRPr lang="es-CO" sz="12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26647BD-FEDC-749C-A2DD-710784FD87C3}"/>
              </a:ext>
            </a:extLst>
          </p:cNvPr>
          <p:cNvSpPr/>
          <p:nvPr/>
        </p:nvSpPr>
        <p:spPr>
          <a:xfrm>
            <a:off x="850900" y="2743200"/>
            <a:ext cx="10490200" cy="533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E0892F8-34AB-DB37-B3EF-0BCE562EA609}"/>
              </a:ext>
            </a:extLst>
          </p:cNvPr>
          <p:cNvSpPr/>
          <p:nvPr/>
        </p:nvSpPr>
        <p:spPr>
          <a:xfrm>
            <a:off x="1143000" y="28956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1040F8-C02D-BD5F-0109-F7A1C342CDE4}"/>
              </a:ext>
            </a:extLst>
          </p:cNvPr>
          <p:cNvSpPr txBox="1"/>
          <p:nvPr/>
        </p:nvSpPr>
        <p:spPr>
          <a:xfrm>
            <a:off x="1574800" y="28829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012E33"/>
                </a:solidFill>
                <a:latin typeface="Calibri" panose="020F0502020204030204" pitchFamily="34" charset="0"/>
              </a:rPr>
              <a:t>¿Se entiende sin que yo esté al lado explicándolo?</a:t>
            </a:r>
            <a:endParaRPr lang="es-CO" sz="12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052C557-4DD4-F4B4-DD0D-796169B2B167}"/>
              </a:ext>
            </a:extLst>
          </p:cNvPr>
          <p:cNvSpPr/>
          <p:nvPr/>
        </p:nvSpPr>
        <p:spPr>
          <a:xfrm>
            <a:off x="850900" y="3352800"/>
            <a:ext cx="10490200" cy="533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31920FD-CA4E-0D48-8332-D32E11ECDC16}"/>
              </a:ext>
            </a:extLst>
          </p:cNvPr>
          <p:cNvSpPr/>
          <p:nvPr/>
        </p:nvSpPr>
        <p:spPr>
          <a:xfrm>
            <a:off x="1143000" y="35052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9C6ED3-A47D-C728-23BE-12A0E6BD4365}"/>
              </a:ext>
            </a:extLst>
          </p:cNvPr>
          <p:cNvSpPr txBox="1"/>
          <p:nvPr/>
        </p:nvSpPr>
        <p:spPr>
          <a:xfrm>
            <a:off x="1574800" y="34925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012E33"/>
                </a:solidFill>
                <a:latin typeface="Calibri" panose="020F0502020204030204" pitchFamily="34" charset="0"/>
              </a:rPr>
              <a:t>¿Hay algo que pueda quitar sin perder el mensaje?</a:t>
            </a:r>
            <a:endParaRPr lang="es-CO" sz="12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690327-1D32-125C-99E9-BFA1A805AD0F}"/>
              </a:ext>
            </a:extLst>
          </p:cNvPr>
          <p:cNvSpPr/>
          <p:nvPr/>
        </p:nvSpPr>
        <p:spPr>
          <a:xfrm>
            <a:off x="850900" y="3962400"/>
            <a:ext cx="10490200" cy="533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7C3B5BA-744F-55FD-162B-89779BCBF3C4}"/>
              </a:ext>
            </a:extLst>
          </p:cNvPr>
          <p:cNvSpPr/>
          <p:nvPr/>
        </p:nvSpPr>
        <p:spPr>
          <a:xfrm>
            <a:off x="1143000" y="41148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1E4F27-F06B-8678-6FDD-362D10F98319}"/>
              </a:ext>
            </a:extLst>
          </p:cNvPr>
          <p:cNvSpPr txBox="1"/>
          <p:nvPr/>
        </p:nvSpPr>
        <p:spPr>
          <a:xfrm>
            <a:off x="1574800" y="41021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50">
                <a:solidFill>
                  <a:srgbClr val="012E33"/>
                </a:solidFill>
                <a:latin typeface="Calibri" panose="020F0502020204030204" pitchFamily="34" charset="0"/>
              </a:rPr>
              <a:t>¿El color destaca lo importante, o solo decora?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9B6C771-2BD3-1B45-CB66-A53FA3D043EE}"/>
              </a:ext>
            </a:extLst>
          </p:cNvPr>
          <p:cNvSpPr/>
          <p:nvPr/>
        </p:nvSpPr>
        <p:spPr>
          <a:xfrm>
            <a:off x="850900" y="4572000"/>
            <a:ext cx="10490200" cy="533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C4C2DBF-7AF6-4968-9763-5CA23A3405B0}"/>
              </a:ext>
            </a:extLst>
          </p:cNvPr>
          <p:cNvSpPr/>
          <p:nvPr/>
        </p:nvSpPr>
        <p:spPr>
          <a:xfrm>
            <a:off x="1143000" y="47244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7104B85-3A30-CC4B-C5B1-98DE695E363B}"/>
              </a:ext>
            </a:extLst>
          </p:cNvPr>
          <p:cNvSpPr txBox="1"/>
          <p:nvPr/>
        </p:nvSpPr>
        <p:spPr>
          <a:xfrm>
            <a:off x="1574800" y="47117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012E33"/>
                </a:solidFill>
                <a:latin typeface="Calibri" panose="020F0502020204030204" pitchFamily="34" charset="0"/>
              </a:rPr>
              <a:t>¿Están las unidades, el periodo y la fuente?</a:t>
            </a:r>
            <a:endParaRPr lang="es-CO" sz="12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E827024-A2D8-2A8B-6A0A-5B63328FEF8B}"/>
              </a:ext>
            </a:extLst>
          </p:cNvPr>
          <p:cNvSpPr/>
          <p:nvPr/>
        </p:nvSpPr>
        <p:spPr>
          <a:xfrm>
            <a:off x="850900" y="5181600"/>
            <a:ext cx="10490200" cy="533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3BD40A7-EE82-35A0-DC5B-4D1DA5CCB50E}"/>
              </a:ext>
            </a:extLst>
          </p:cNvPr>
          <p:cNvSpPr/>
          <p:nvPr/>
        </p:nvSpPr>
        <p:spPr>
          <a:xfrm>
            <a:off x="1143000" y="53340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F57B45D-366A-EEC7-A51B-DF59DC7B99D2}"/>
              </a:ext>
            </a:extLst>
          </p:cNvPr>
          <p:cNvSpPr txBox="1"/>
          <p:nvPr/>
        </p:nvSpPr>
        <p:spPr>
          <a:xfrm>
            <a:off x="1574800" y="53213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012E33"/>
                </a:solidFill>
                <a:latin typeface="Calibri" panose="020F0502020204030204" pitchFamily="34" charset="0"/>
              </a:rPr>
              <a:t>¿La escala empieza donde debe, o exagera la diferencia?</a:t>
            </a:r>
            <a:endParaRPr lang="es-CO" sz="12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9047F45-1704-0FC3-484D-769FD1ED0B71}"/>
              </a:ext>
            </a:extLst>
          </p:cNvPr>
          <p:cNvSpPr/>
          <p:nvPr/>
        </p:nvSpPr>
        <p:spPr>
          <a:xfrm>
            <a:off x="850900" y="5791200"/>
            <a:ext cx="10490200" cy="5334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DDF54A6-DD93-5A43-25D8-4DA24EA72B4D}"/>
              </a:ext>
            </a:extLst>
          </p:cNvPr>
          <p:cNvSpPr/>
          <p:nvPr/>
        </p:nvSpPr>
        <p:spPr>
          <a:xfrm>
            <a:off x="1143000" y="594360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C048FB2-AFDD-AB93-482D-3F227533FAC3}"/>
              </a:ext>
            </a:extLst>
          </p:cNvPr>
          <p:cNvSpPr txBox="1"/>
          <p:nvPr/>
        </p:nvSpPr>
        <p:spPr>
          <a:xfrm>
            <a:off x="1574800" y="5930900"/>
            <a:ext cx="952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>
                <a:solidFill>
                  <a:srgbClr val="012E33"/>
                </a:solidFill>
                <a:latin typeface="Calibri" panose="020F0502020204030204" pitchFamily="34" charset="0"/>
              </a:rPr>
              <a:t>¿Alguien ajeno al proyecto lo entendió en cinco segundos?</a:t>
            </a:r>
            <a:endParaRPr lang="es-CO" sz="1250">
              <a:solidFill>
                <a:srgbClr val="012E33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B39A5C7-8384-8001-BF6E-546D3E71CFA4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Las dos últimas son las que más gráficos rechazan. Y son las que menos cuesta verificar.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7908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9CDA1FC-AD6D-D62B-9CCE-0CBCC497C388}"/>
              </a:ext>
            </a:extLst>
          </p:cNvPr>
          <p:cNvSpPr txBox="1"/>
          <p:nvPr/>
        </p:nvSpPr>
        <p:spPr>
          <a:xfrm>
            <a:off x="5715000" y="17780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A C T I V I D A D   D E   C I E R R E     ·     2 5   M I N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7386D83-29B4-A523-495B-004FFEDEFACB}"/>
              </a:ext>
            </a:extLst>
          </p:cNvPr>
          <p:cNvSpPr txBox="1"/>
          <p:nvPr/>
        </p:nvSpPr>
        <p:spPr>
          <a:xfrm>
            <a:off x="5715000" y="21082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400" b="1">
                <a:solidFill>
                  <a:srgbClr val="FFFFFF"/>
                </a:solidFill>
                <a:latin typeface="Cambria" panose="02040503050406030204" pitchFamily="18" charset="0"/>
              </a:rPr>
              <a:t>Cuatro audiencias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111656-B37E-3D6F-5288-B06FB3DD13B0}"/>
              </a:ext>
            </a:extLst>
          </p:cNvPr>
          <p:cNvSpPr txBox="1"/>
          <p:nvPr/>
        </p:nvSpPr>
        <p:spPr>
          <a:xfrm>
            <a:off x="5715000" y="2870200"/>
            <a:ext cx="584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700" i="1" dirty="0">
                <a:solidFill>
                  <a:srgbClr val="02C39A"/>
                </a:solidFill>
                <a:latin typeface="Cambria" panose="02040503050406030204" pitchFamily="18" charset="0"/>
              </a:rPr>
              <a:t>Un mismo hallazgo, cuatro gráficos distintos</a:t>
            </a:r>
            <a:endParaRPr lang="es-CO" sz="1700" i="1" dirty="0">
              <a:solidFill>
                <a:srgbClr val="02C39A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008FD57-FD8A-E311-139A-1384676AFF0B}"/>
              </a:ext>
            </a:extLst>
          </p:cNvPr>
          <p:cNvSpPr/>
          <p:nvPr/>
        </p:nvSpPr>
        <p:spPr>
          <a:xfrm>
            <a:off x="5715000" y="35306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F8825E3-295C-2B44-FF16-13BB1700FF5E}"/>
              </a:ext>
            </a:extLst>
          </p:cNvPr>
          <p:cNvSpPr txBox="1"/>
          <p:nvPr/>
        </p:nvSpPr>
        <p:spPr>
          <a:xfrm>
            <a:off x="5715000" y="3835400"/>
            <a:ext cx="558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La universidad terminó un estudio y encontró algo importante. Cuatro áreas distintas necesitan que se lo cuenten, y cada una tiene su propia urgencia.</a:t>
            </a:r>
          </a:p>
          <a:p>
            <a:pPr>
              <a:lnSpc>
                <a:spcPct val="115000"/>
              </a:lnSpc>
            </a:pPr>
            <a:endParaRPr lang="es-MX" sz="1350">
              <a:solidFill>
                <a:srgbClr val="C3D6D8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s-MX" sz="1350">
                <a:solidFill>
                  <a:srgbClr val="C3D6D8"/>
                </a:solidFill>
                <a:latin typeface="Calibri" panose="020F0502020204030204" pitchFamily="34" charset="0"/>
              </a:rPr>
              <a:t>A cada equipo le toca una audiencia. Todos parten del MISMO hallazgo.</a:t>
            </a:r>
            <a:endParaRPr lang="es-CO" sz="13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03C06F7-0C4B-EE0E-9690-7CFF7995970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20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07AF06E-C5F9-DE49-935D-D9430B76F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83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86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3206D7-DB13-AE77-E491-9646437C988B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L   H A L L A Z G O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430305-1937-DF4D-6876-7A893D895193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Lo que encontró el estudio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D4EF79-6C03-050B-4C97-54292705A080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9B0C52A-CF26-3E1A-8B04-62E5122E6589}"/>
              </a:ext>
            </a:extLst>
          </p:cNvPr>
          <p:cNvSpPr/>
          <p:nvPr/>
        </p:nvSpPr>
        <p:spPr>
          <a:xfrm>
            <a:off x="850900" y="1600200"/>
            <a:ext cx="10490200" cy="762000"/>
          </a:xfrm>
          <a:prstGeom prst="rect">
            <a:avLst/>
          </a:prstGeom>
          <a:solidFill>
            <a:srgbClr val="012E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68E3E1-8B34-6140-6D64-FCF615EB88BE}"/>
              </a:ext>
            </a:extLst>
          </p:cNvPr>
          <p:cNvSpPr txBox="1"/>
          <p:nvPr/>
        </p:nvSpPr>
        <p:spPr>
          <a:xfrm>
            <a:off x="1168400" y="1750568"/>
            <a:ext cx="9906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50" dirty="0">
                <a:solidFill>
                  <a:srgbClr val="FFFFFF"/>
                </a:solidFill>
                <a:latin typeface="Calibri" panose="020F0502020204030204" pitchFamily="34" charset="0"/>
              </a:rPr>
              <a:t>Los estudiantes que entran a la plataforma virtual 4 o más veces por semana tienen mejor promedio y desertan menos... pero el efecto casi desaparece en la jornada nocturna.</a:t>
            </a:r>
            <a:endParaRPr lang="es-CO" sz="1450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50C594-E6D7-CA64-9AD7-9C8A224ED6AC}"/>
              </a:ext>
            </a:extLst>
          </p:cNvPr>
          <p:cNvSpPr txBox="1"/>
          <p:nvPr/>
        </p:nvSpPr>
        <p:spPr>
          <a:xfrm>
            <a:off x="850900" y="2540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50" b="1">
                <a:solidFill>
                  <a:srgbClr val="028090"/>
                </a:solidFill>
                <a:latin typeface="Calibri" panose="020F0502020204030204" pitchFamily="34" charset="0"/>
              </a:rPr>
              <a:t>T A B L A   1     ·     P O R   F R E C U E N C I A   D E   U S O</a:t>
            </a:r>
            <a:endParaRPr lang="es-CO" sz="95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5EF6A6-B6B2-432E-57F5-545C6AE69787}"/>
              </a:ext>
            </a:extLst>
          </p:cNvPr>
          <p:cNvSpPr/>
          <p:nvPr/>
        </p:nvSpPr>
        <p:spPr>
          <a:xfrm>
            <a:off x="850900" y="2844800"/>
            <a:ext cx="1905000" cy="381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Uso semanal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D40AE45-5E92-B051-6690-3C2A212119EB}"/>
              </a:ext>
            </a:extLst>
          </p:cNvPr>
          <p:cNvSpPr/>
          <p:nvPr/>
        </p:nvSpPr>
        <p:spPr>
          <a:xfrm>
            <a:off x="2755900" y="2844800"/>
            <a:ext cx="1524000" cy="381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Promedio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EF18CBB-8A79-20E6-9222-CEA245B7A8DA}"/>
              </a:ext>
            </a:extLst>
          </p:cNvPr>
          <p:cNvSpPr/>
          <p:nvPr/>
        </p:nvSpPr>
        <p:spPr>
          <a:xfrm>
            <a:off x="4279900" y="2844800"/>
            <a:ext cx="1524000" cy="381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Deserción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81B9FD-F3E8-A6B4-3F3F-24D782FE290C}"/>
              </a:ext>
            </a:extLst>
          </p:cNvPr>
          <p:cNvSpPr/>
          <p:nvPr/>
        </p:nvSpPr>
        <p:spPr>
          <a:xfrm>
            <a:off x="850900" y="3225800"/>
            <a:ext cx="1905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0 a 1 vez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77D8091-6BF0-8DC8-E531-B45600B58BF0}"/>
              </a:ext>
            </a:extLst>
          </p:cNvPr>
          <p:cNvSpPr/>
          <p:nvPr/>
        </p:nvSpPr>
        <p:spPr>
          <a:xfrm>
            <a:off x="2755900" y="3225800"/>
            <a:ext cx="1524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3.2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964E3D-A6C1-CFCC-9E32-4392A665E548}"/>
              </a:ext>
            </a:extLst>
          </p:cNvPr>
          <p:cNvSpPr/>
          <p:nvPr/>
        </p:nvSpPr>
        <p:spPr>
          <a:xfrm>
            <a:off x="4279900" y="3225800"/>
            <a:ext cx="1524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22%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A460E8D-55C6-FAF8-5144-214CF725762A}"/>
              </a:ext>
            </a:extLst>
          </p:cNvPr>
          <p:cNvSpPr/>
          <p:nvPr/>
        </p:nvSpPr>
        <p:spPr>
          <a:xfrm>
            <a:off x="850900" y="3606800"/>
            <a:ext cx="1905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2 a 3 veces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0FBF746-692F-9D67-31C1-3472FBA21673}"/>
              </a:ext>
            </a:extLst>
          </p:cNvPr>
          <p:cNvSpPr/>
          <p:nvPr/>
        </p:nvSpPr>
        <p:spPr>
          <a:xfrm>
            <a:off x="2755900" y="3606800"/>
            <a:ext cx="1524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3.7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92E7A96-6B49-5EC9-2392-5C4DEED935C0}"/>
              </a:ext>
            </a:extLst>
          </p:cNvPr>
          <p:cNvSpPr/>
          <p:nvPr/>
        </p:nvSpPr>
        <p:spPr>
          <a:xfrm>
            <a:off x="4279900" y="3606800"/>
            <a:ext cx="1524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14%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7315251-223F-CE22-EB2F-3F2153BA2A10}"/>
              </a:ext>
            </a:extLst>
          </p:cNvPr>
          <p:cNvSpPr/>
          <p:nvPr/>
        </p:nvSpPr>
        <p:spPr>
          <a:xfrm>
            <a:off x="850900" y="3987800"/>
            <a:ext cx="1905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4 o más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2E7B9B6-44FB-E82C-3BE2-39AB8F0677BC}"/>
              </a:ext>
            </a:extLst>
          </p:cNvPr>
          <p:cNvSpPr/>
          <p:nvPr/>
        </p:nvSpPr>
        <p:spPr>
          <a:xfrm>
            <a:off x="2755900" y="3987800"/>
            <a:ext cx="1524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4.0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31C600-927E-07A5-D354-FD26A6E774B0}"/>
              </a:ext>
            </a:extLst>
          </p:cNvPr>
          <p:cNvSpPr/>
          <p:nvPr/>
        </p:nvSpPr>
        <p:spPr>
          <a:xfrm>
            <a:off x="4279900" y="3987800"/>
            <a:ext cx="1524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9%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D4A4AB7-A7EC-97B9-C882-C104498355D8}"/>
              </a:ext>
            </a:extLst>
          </p:cNvPr>
          <p:cNvSpPr txBox="1"/>
          <p:nvPr/>
        </p:nvSpPr>
        <p:spPr>
          <a:xfrm>
            <a:off x="6261100" y="2540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950" b="1">
                <a:solidFill>
                  <a:srgbClr val="C0564B"/>
                </a:solidFill>
                <a:latin typeface="Calibri" panose="020F0502020204030204" pitchFamily="34" charset="0"/>
              </a:rPr>
              <a:t>T A B L A   2     ·     E L   M A T I Z ,   P O R   J O R N A D A</a:t>
            </a:r>
            <a:endParaRPr lang="es-CO" sz="950" b="1">
              <a:solidFill>
                <a:srgbClr val="C0564B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0F48D0E-DF04-3EE8-4948-31E5CC011366}"/>
              </a:ext>
            </a:extLst>
          </p:cNvPr>
          <p:cNvSpPr/>
          <p:nvPr/>
        </p:nvSpPr>
        <p:spPr>
          <a:xfrm>
            <a:off x="6261100" y="2844800"/>
            <a:ext cx="1397000" cy="381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Jornada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DA3CB2F-EDB8-20FD-B816-FEA991203E4D}"/>
              </a:ext>
            </a:extLst>
          </p:cNvPr>
          <p:cNvSpPr/>
          <p:nvPr/>
        </p:nvSpPr>
        <p:spPr>
          <a:xfrm>
            <a:off x="7658100" y="2844800"/>
            <a:ext cx="1270000" cy="381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Uso bajo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C514E70-4DD2-0157-438E-7529E3DF3686}"/>
              </a:ext>
            </a:extLst>
          </p:cNvPr>
          <p:cNvSpPr/>
          <p:nvPr/>
        </p:nvSpPr>
        <p:spPr>
          <a:xfrm>
            <a:off x="8928100" y="2844800"/>
            <a:ext cx="1270000" cy="381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Uso alto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D8605F3-3E59-5995-2F1B-492B92B25241}"/>
              </a:ext>
            </a:extLst>
          </p:cNvPr>
          <p:cNvSpPr/>
          <p:nvPr/>
        </p:nvSpPr>
        <p:spPr>
          <a:xfrm>
            <a:off x="10198100" y="2844800"/>
            <a:ext cx="1270000" cy="381000"/>
          </a:xfrm>
          <a:prstGeom prst="rect">
            <a:avLst/>
          </a:prstGeom>
          <a:solidFill>
            <a:srgbClr val="012E3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 b="1">
                <a:solidFill>
                  <a:srgbClr val="FFFFFF"/>
                </a:solidFill>
                <a:latin typeface="Consolas" panose="020B0609020204030204" pitchFamily="49" charset="0"/>
              </a:rPr>
              <a:t>Diferencia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7978274-71AD-06F2-2FD1-72E997CEE127}"/>
              </a:ext>
            </a:extLst>
          </p:cNvPr>
          <p:cNvSpPr/>
          <p:nvPr/>
        </p:nvSpPr>
        <p:spPr>
          <a:xfrm>
            <a:off x="6261100" y="3225800"/>
            <a:ext cx="1397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Diurna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5A037FF-0ADC-A792-5F0D-4790F13DD5E2}"/>
              </a:ext>
            </a:extLst>
          </p:cNvPr>
          <p:cNvSpPr/>
          <p:nvPr/>
        </p:nvSpPr>
        <p:spPr>
          <a:xfrm>
            <a:off x="7658100" y="3225800"/>
            <a:ext cx="1270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3.1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ADA4C87-F1DC-D89C-939B-DBC03C89D34D}"/>
              </a:ext>
            </a:extLst>
          </p:cNvPr>
          <p:cNvSpPr/>
          <p:nvPr/>
        </p:nvSpPr>
        <p:spPr>
          <a:xfrm>
            <a:off x="8928100" y="3225800"/>
            <a:ext cx="1270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4.1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C2255A8-A428-E375-D90B-98ADD0754CE3}"/>
              </a:ext>
            </a:extLst>
          </p:cNvPr>
          <p:cNvSpPr/>
          <p:nvPr/>
        </p:nvSpPr>
        <p:spPr>
          <a:xfrm>
            <a:off x="10198100" y="3225800"/>
            <a:ext cx="1270000" cy="381000"/>
          </a:xfrm>
          <a:prstGeom prst="rect">
            <a:avLst/>
          </a:prstGeom>
          <a:solidFill>
            <a:srgbClr val="F4F8F8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+1.0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ADA813A-413F-6EA6-2E1B-84D173D499F6}"/>
              </a:ext>
            </a:extLst>
          </p:cNvPr>
          <p:cNvSpPr/>
          <p:nvPr/>
        </p:nvSpPr>
        <p:spPr>
          <a:xfrm>
            <a:off x="6261100" y="3606800"/>
            <a:ext cx="1397000" cy="3810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Nocturna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2657022-A65A-A5E9-107C-97FDD11CCDDB}"/>
              </a:ext>
            </a:extLst>
          </p:cNvPr>
          <p:cNvSpPr/>
          <p:nvPr/>
        </p:nvSpPr>
        <p:spPr>
          <a:xfrm>
            <a:off x="7658100" y="3606800"/>
            <a:ext cx="1270000" cy="3810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3.5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11AC90D-7478-11B6-F5A6-E858ECE769E6}"/>
              </a:ext>
            </a:extLst>
          </p:cNvPr>
          <p:cNvSpPr/>
          <p:nvPr/>
        </p:nvSpPr>
        <p:spPr>
          <a:xfrm>
            <a:off x="8928100" y="3606800"/>
            <a:ext cx="1270000" cy="3810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3.6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BA6BDCA-A1F9-9C3B-4236-6FB24E2C29FD}"/>
              </a:ext>
            </a:extLst>
          </p:cNvPr>
          <p:cNvSpPr/>
          <p:nvPr/>
        </p:nvSpPr>
        <p:spPr>
          <a:xfrm>
            <a:off x="10198100" y="3606800"/>
            <a:ext cx="1270000" cy="381000"/>
          </a:xfrm>
          <a:prstGeom prst="rect">
            <a:avLst/>
          </a:prstGeom>
          <a:solidFill>
            <a:srgbClr val="FBEDEA"/>
          </a:solidFill>
          <a:ln w="12700">
            <a:solidFill>
              <a:srgbClr val="C9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12700" rIns="38100" bIns="12700" rtlCol="0" anchor="ctr"/>
          <a:lstStyle/>
          <a:p>
            <a:pPr algn="ctr"/>
            <a:r>
              <a:rPr lang="es-CO" sz="1050">
                <a:solidFill>
                  <a:srgbClr val="5C6C6E"/>
                </a:solidFill>
                <a:latin typeface="Consolas" panose="020B0609020204030204" pitchFamily="49" charset="0"/>
              </a:rPr>
              <a:t>+0.1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9391CF8-13F5-974A-2507-C059B2968E59}"/>
              </a:ext>
            </a:extLst>
          </p:cNvPr>
          <p:cNvSpPr txBox="1"/>
          <p:nvPr/>
        </p:nvSpPr>
        <p:spPr>
          <a:xfrm>
            <a:off x="6261100" y="4064000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00" i="1">
                <a:solidFill>
                  <a:srgbClr val="C0564B"/>
                </a:solidFill>
                <a:latin typeface="Calibri" panose="020F0502020204030204" pitchFamily="34" charset="0"/>
              </a:rPr>
              <a:t>En nocturna el uso de la plataforma casi no cambia el promedio.</a:t>
            </a:r>
            <a:endParaRPr lang="es-CO" sz="1100" i="1">
              <a:solidFill>
                <a:srgbClr val="C0564B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157BC26-E5B9-8389-EC00-E4FD20D0E208}"/>
              </a:ext>
            </a:extLst>
          </p:cNvPr>
          <p:cNvSpPr/>
          <p:nvPr/>
        </p:nvSpPr>
        <p:spPr>
          <a:xfrm>
            <a:off x="850900" y="4521200"/>
            <a:ext cx="10490200" cy="8890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E1E366B-FD63-B736-8A36-D265D5CAC3C8}"/>
              </a:ext>
            </a:extLst>
          </p:cNvPr>
          <p:cNvSpPr txBox="1"/>
          <p:nvPr/>
        </p:nvSpPr>
        <p:spPr>
          <a:xfrm>
            <a:off x="1168400" y="46990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200" b="1">
                <a:solidFill>
                  <a:srgbClr val="028090"/>
                </a:solidFill>
                <a:latin typeface="Cambria" panose="02040503050406030204" pitchFamily="18" charset="0"/>
              </a:rPr>
              <a:t>Ficha técnica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129DC7B-895C-3C06-1AB2-F50664AF9B55}"/>
              </a:ext>
            </a:extLst>
          </p:cNvPr>
          <p:cNvSpPr txBox="1"/>
          <p:nvPr/>
        </p:nvSpPr>
        <p:spPr>
          <a:xfrm>
            <a:off x="1168400" y="4978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1.240 estudiantes  ·  periodos 2025-I y 2025-II  ·  fuente: registros de la plataforma y sistema académico  ·  estudio observacional (no experimental)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8D940F8-FA01-D4B7-392C-54F926AEE127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 dirty="0">
                <a:solidFill>
                  <a:srgbClr val="028090"/>
                </a:solidFill>
                <a:latin typeface="Calibri" panose="020F0502020204030204" pitchFamily="34" charset="0"/>
              </a:rPr>
              <a:t>Ojo: es un estudio observacional. Correlación, no causalidad. Ese matiz también hay que comunicarlo.</a:t>
            </a:r>
            <a:endParaRPr lang="es-CO" sz="1150" i="1" dirty="0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7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170311-6148-5307-9C93-661B776D8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20"/>
          <a:stretch/>
        </p:blipFill>
        <p:spPr>
          <a:xfrm>
            <a:off x="54851" y="942783"/>
            <a:ext cx="6286667" cy="54062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7D8DEE1-BB59-9F49-61A2-79FF704D8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8"/>
          <a:stretch/>
        </p:blipFill>
        <p:spPr>
          <a:xfrm>
            <a:off x="6363412" y="942782"/>
            <a:ext cx="5563376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08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B2CA1F5-42C7-D1F7-2CC3-9689BB12B598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L   E N C A R G O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24363B-90C8-385B-D39B-0A6354E9073B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3100" b="1">
                <a:solidFill>
                  <a:srgbClr val="012E33"/>
                </a:solidFill>
                <a:latin typeface="Cambria" panose="02040503050406030204" pitchFamily="18" charset="0"/>
              </a:rPr>
              <a:t>Cada equipo tiene una audiencia distinta</a:t>
            </a:r>
            <a:endParaRPr lang="es-CO" sz="31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F4DC8F-0460-4FFF-1815-7FF95D4DA05A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001636-25EC-3571-6DB4-A3EA3968EB1F}"/>
              </a:ext>
            </a:extLst>
          </p:cNvPr>
          <p:cNvSpPr/>
          <p:nvPr/>
        </p:nvSpPr>
        <p:spPr>
          <a:xfrm>
            <a:off x="850900" y="16764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3BEE266-67AF-253A-8854-18FC338C1518}"/>
              </a:ext>
            </a:extLst>
          </p:cNvPr>
          <p:cNvSpPr/>
          <p:nvPr/>
        </p:nvSpPr>
        <p:spPr>
          <a:xfrm>
            <a:off x="1117600" y="2006600"/>
            <a:ext cx="431800" cy="4318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06233D-4CF9-CA38-D898-A39B45B9C26E}"/>
              </a:ext>
            </a:extLst>
          </p:cNvPr>
          <p:cNvSpPr txBox="1"/>
          <p:nvPr/>
        </p:nvSpPr>
        <p:spPr>
          <a:xfrm>
            <a:off x="1727200" y="1854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El equipo de datos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0EB774-AF87-887B-6076-ABBDC39B6682}"/>
              </a:ext>
            </a:extLst>
          </p:cNvPr>
          <p:cNvSpPr txBox="1"/>
          <p:nvPr/>
        </p:nvSpPr>
        <p:spPr>
          <a:xfrm>
            <a:off x="1727200" y="2209800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5 personas, 1 hora, todos técnicos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BFFDDE-749A-3007-B8BB-209150630182}"/>
              </a:ext>
            </a:extLst>
          </p:cNvPr>
          <p:cNvSpPr txBox="1"/>
          <p:nvPr/>
        </p:nvSpPr>
        <p:spPr>
          <a:xfrm>
            <a:off x="5207000" y="195580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Reunión interna de trabajo. Quieren seguir explorando: ¿hay más variables que expliquen el matiz de la nocturna?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B4D841-5B83-8F1E-0925-627B0DE4BEF1}"/>
              </a:ext>
            </a:extLst>
          </p:cNvPr>
          <p:cNvSpPr/>
          <p:nvPr/>
        </p:nvSpPr>
        <p:spPr>
          <a:xfrm>
            <a:off x="850900" y="28448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F02CAAF-3587-4B46-FD72-2BDDCA2F6FD9}"/>
              </a:ext>
            </a:extLst>
          </p:cNvPr>
          <p:cNvSpPr/>
          <p:nvPr/>
        </p:nvSpPr>
        <p:spPr>
          <a:xfrm>
            <a:off x="1117600" y="3175000"/>
            <a:ext cx="431800" cy="4318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B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8A5267-7F58-BB79-91D6-2544C3027DD2}"/>
              </a:ext>
            </a:extLst>
          </p:cNvPr>
          <p:cNvSpPr txBox="1"/>
          <p:nvPr/>
        </p:nvSpPr>
        <p:spPr>
          <a:xfrm>
            <a:off x="1727200" y="30226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El Consejo Académico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418F6B6-D3AC-8983-7399-60799057A040}"/>
              </a:ext>
            </a:extLst>
          </p:cNvPr>
          <p:cNvSpPr txBox="1"/>
          <p:nvPr/>
        </p:nvSpPr>
        <p:spPr>
          <a:xfrm>
            <a:off x="1727200" y="3378200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12 directivos, 3 minutos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A6C5D1-6975-F2CB-B8E4-3EC4AE30CCE7}"/>
              </a:ext>
            </a:extLst>
          </p:cNvPr>
          <p:cNvSpPr txBox="1"/>
          <p:nvPr/>
        </p:nvSpPr>
        <p:spPr>
          <a:xfrm>
            <a:off x="5207000" y="312420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Deciden si aprueban presupuesto para reforzar la plataforma. Tienen 3 minutos y no son técnicos.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DDA28D3-EB46-3C68-2914-2792D4A7A973}"/>
              </a:ext>
            </a:extLst>
          </p:cNvPr>
          <p:cNvSpPr/>
          <p:nvPr/>
        </p:nvSpPr>
        <p:spPr>
          <a:xfrm>
            <a:off x="850900" y="40132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1D19DC0-C5BB-F613-06B4-F5850B3DB225}"/>
              </a:ext>
            </a:extLst>
          </p:cNvPr>
          <p:cNvSpPr/>
          <p:nvPr/>
        </p:nvSpPr>
        <p:spPr>
          <a:xfrm>
            <a:off x="1117600" y="4343400"/>
            <a:ext cx="431800" cy="4318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C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8DAFDAB-4199-6F1B-EE29-2A11A5250B9D}"/>
              </a:ext>
            </a:extLst>
          </p:cNvPr>
          <p:cNvSpPr txBox="1"/>
          <p:nvPr/>
        </p:nvSpPr>
        <p:spPr>
          <a:xfrm>
            <a:off x="1727200" y="4191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500" b="1">
                <a:solidFill>
                  <a:srgbClr val="012E33"/>
                </a:solidFill>
                <a:latin typeface="Cambria" panose="02040503050406030204" pitchFamily="18" charset="0"/>
              </a:rPr>
              <a:t>El periódico universitario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5B3C902-2621-9897-0053-09DDE6A2E98C}"/>
              </a:ext>
            </a:extLst>
          </p:cNvPr>
          <p:cNvSpPr txBox="1"/>
          <p:nvPr/>
        </p:nvSpPr>
        <p:spPr>
          <a:xfrm>
            <a:off x="1727200" y="4546600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4.000 lectores, 20 segundos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605464A-5E54-8CFE-361F-F119E6853571}"/>
              </a:ext>
            </a:extLst>
          </p:cNvPr>
          <p:cNvSpPr txBox="1"/>
          <p:nvPr/>
        </p:nvSpPr>
        <p:spPr>
          <a:xfrm>
            <a:off x="5207000" y="429260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Publican una nota que leerán los estudiantes en el celular, entre clase y clase.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95625CF-C826-EBF9-121C-39C29F128EFA}"/>
              </a:ext>
            </a:extLst>
          </p:cNvPr>
          <p:cNvSpPr/>
          <p:nvPr/>
        </p:nvSpPr>
        <p:spPr>
          <a:xfrm>
            <a:off x="850900" y="5181600"/>
            <a:ext cx="10490200" cy="10668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10F09D7C-1F7A-7569-CE6B-043D4938F503}"/>
              </a:ext>
            </a:extLst>
          </p:cNvPr>
          <p:cNvSpPr/>
          <p:nvPr/>
        </p:nvSpPr>
        <p:spPr>
          <a:xfrm>
            <a:off x="1117600" y="5511800"/>
            <a:ext cx="431800" cy="4318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>
                <a:solidFill>
                  <a:srgbClr val="FFFFFF"/>
                </a:solidFill>
                <a:latin typeface="Cambria" panose="02040503050406030204" pitchFamily="18" charset="0"/>
              </a:rPr>
              <a:t>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ACA6EA4-D47B-25C6-B4EB-08745233C79C}"/>
              </a:ext>
            </a:extLst>
          </p:cNvPr>
          <p:cNvSpPr txBox="1"/>
          <p:nvPr/>
        </p:nvSpPr>
        <p:spPr>
          <a:xfrm>
            <a:off x="1727200" y="53594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 b="1">
                <a:solidFill>
                  <a:srgbClr val="012E33"/>
                </a:solidFill>
                <a:latin typeface="Cambria" panose="02040503050406030204" pitchFamily="18" charset="0"/>
              </a:rPr>
              <a:t>Los docentes de la nocturna</a:t>
            </a:r>
            <a:endParaRPr lang="es-CO" sz="15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D16F238-EB2C-5B54-B404-A98A7CAE8C51}"/>
              </a:ext>
            </a:extLst>
          </p:cNvPr>
          <p:cNvSpPr txBox="1"/>
          <p:nvPr/>
        </p:nvSpPr>
        <p:spPr>
          <a:xfrm>
            <a:off x="1727200" y="5715000"/>
            <a:ext cx="330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00" i="1">
                <a:solidFill>
                  <a:srgbClr val="00A896"/>
                </a:solidFill>
                <a:latin typeface="Calibri" panose="020F0502020204030204" pitchFamily="34" charset="0"/>
              </a:rPr>
              <a:t>30 docentes, 15 minutos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AE51EAA-D400-7C2B-E9FF-A3CBFFDC28B0}"/>
              </a:ext>
            </a:extLst>
          </p:cNvPr>
          <p:cNvSpPr txBox="1"/>
          <p:nvPr/>
        </p:nvSpPr>
        <p:spPr>
          <a:xfrm>
            <a:off x="5207000" y="5461000"/>
            <a:ext cx="590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Deben decidir qué hacer distinto en sus cursos a partir del próximo mes.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B8F4D98-F7D2-07F1-EFE8-FF311F05BDA3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Nadie sabe qué audiencia le tocó a los demás. Al final compararemos los cuatro resultados.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777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D6131B6-455D-990C-679B-72282ADD8275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C O M O   S E   J U E G A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F03BEF-2A34-4676-22D5-D89B923E0781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FFFFFF"/>
                </a:solidFill>
                <a:latin typeface="Cambria" panose="02040503050406030204" pitchFamily="18" charset="0"/>
              </a:rPr>
              <a:t>Cuatro pasos, veinticinco minutos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B43BE7-E93F-7D6A-90B7-B068FDC6BCCE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23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56DDEF-D784-D04E-398E-5FD1E9B4C573}"/>
              </a:ext>
            </a:extLst>
          </p:cNvPr>
          <p:cNvSpPr/>
          <p:nvPr/>
        </p:nvSpPr>
        <p:spPr>
          <a:xfrm>
            <a:off x="850900" y="1778000"/>
            <a:ext cx="10490200" cy="939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8E7E483-2B87-07A9-D86D-32ED4E9DCAC2}"/>
              </a:ext>
            </a:extLst>
          </p:cNvPr>
          <p:cNvSpPr/>
          <p:nvPr/>
        </p:nvSpPr>
        <p:spPr>
          <a:xfrm>
            <a:off x="1143000" y="20447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4968673-7270-B7FB-4615-6138AF6DA402}"/>
              </a:ext>
            </a:extLst>
          </p:cNvPr>
          <p:cNvSpPr txBox="1"/>
          <p:nvPr/>
        </p:nvSpPr>
        <p:spPr>
          <a:xfrm>
            <a:off x="1727200" y="19812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Decidan el modo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15726E2-B903-F1E5-4DA1-5A70F952954A}"/>
              </a:ext>
            </a:extLst>
          </p:cNvPr>
          <p:cNvSpPr txBox="1"/>
          <p:nvPr/>
        </p:nvSpPr>
        <p:spPr>
          <a:xfrm>
            <a:off x="1727200" y="23368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>
                <a:solidFill>
                  <a:srgbClr val="02C39A"/>
                </a:solidFill>
                <a:latin typeface="Calibri" panose="020F0502020204030204" pitchFamily="34" charset="0"/>
              </a:rPr>
              <a:t>3 min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DB8ED71-C071-6CD7-5377-1DE5BC9425EC}"/>
              </a:ext>
            </a:extLst>
          </p:cNvPr>
          <p:cNvSpPr txBox="1"/>
          <p:nvPr/>
        </p:nvSpPr>
        <p:spPr>
          <a:xfrm>
            <a:off x="4826000" y="20320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¿Su audiencia necesita un gráfico exploratorio o comunicativo? Anótenlo y justifíquenlo en una frase.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DD40206-E316-47A9-C897-91251906B9D7}"/>
              </a:ext>
            </a:extLst>
          </p:cNvPr>
          <p:cNvSpPr/>
          <p:nvPr/>
        </p:nvSpPr>
        <p:spPr>
          <a:xfrm>
            <a:off x="850900" y="2819400"/>
            <a:ext cx="10490200" cy="939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F85A772-16E3-0ED8-21A5-3D3A8C978280}"/>
              </a:ext>
            </a:extLst>
          </p:cNvPr>
          <p:cNvSpPr/>
          <p:nvPr/>
        </p:nvSpPr>
        <p:spPr>
          <a:xfrm>
            <a:off x="1143000" y="30861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EF32180-CDDF-752F-C03E-0FF354B302AA}"/>
              </a:ext>
            </a:extLst>
          </p:cNvPr>
          <p:cNvSpPr txBox="1"/>
          <p:nvPr/>
        </p:nvSpPr>
        <p:spPr>
          <a:xfrm>
            <a:off x="1727200" y="3022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Dibujen el gráfico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09CD200-4B71-4FF7-8414-D9928EEBB3CC}"/>
              </a:ext>
            </a:extLst>
          </p:cNvPr>
          <p:cNvSpPr txBox="1"/>
          <p:nvPr/>
        </p:nvSpPr>
        <p:spPr>
          <a:xfrm>
            <a:off x="1727200" y="33782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>
                <a:solidFill>
                  <a:srgbClr val="02C39A"/>
                </a:solidFill>
                <a:latin typeface="Calibri" panose="020F0502020204030204" pitchFamily="34" charset="0"/>
              </a:rPr>
              <a:t>10 min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489E7AA-3702-A1F3-B984-F5E8FE0EB49F}"/>
              </a:ext>
            </a:extLst>
          </p:cNvPr>
          <p:cNvSpPr txBox="1"/>
          <p:nvPr/>
        </p:nvSpPr>
        <p:spPr>
          <a:xfrm>
            <a:off x="4826000" y="30734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A mano, en la hoja de trabajo. No importa el pulso: importa la decisión de qué mostrar y qué dejar por fuera.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466E6F0-3E1F-83BA-3FD9-2BA3BCDBF50F}"/>
              </a:ext>
            </a:extLst>
          </p:cNvPr>
          <p:cNvSpPr/>
          <p:nvPr/>
        </p:nvSpPr>
        <p:spPr>
          <a:xfrm>
            <a:off x="850900" y="3860800"/>
            <a:ext cx="10490200" cy="939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8082E00-633B-30B2-8A4B-C5F05D9E6DF3}"/>
              </a:ext>
            </a:extLst>
          </p:cNvPr>
          <p:cNvSpPr/>
          <p:nvPr/>
        </p:nvSpPr>
        <p:spPr>
          <a:xfrm>
            <a:off x="1143000" y="41275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9776482-14F0-A516-F5F7-DEC1AAD1E745}"/>
              </a:ext>
            </a:extLst>
          </p:cNvPr>
          <p:cNvSpPr txBox="1"/>
          <p:nvPr/>
        </p:nvSpPr>
        <p:spPr>
          <a:xfrm>
            <a:off x="1727200" y="4064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Escriban el título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A2EE3B4-9F60-2A5A-BEC3-56ACC2478AC8}"/>
              </a:ext>
            </a:extLst>
          </p:cNvPr>
          <p:cNvSpPr txBox="1"/>
          <p:nvPr/>
        </p:nvSpPr>
        <p:spPr>
          <a:xfrm>
            <a:off x="1727200" y="4419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>
                <a:solidFill>
                  <a:srgbClr val="02C39A"/>
                </a:solidFill>
                <a:latin typeface="Calibri" panose="020F0502020204030204" pitchFamily="34" charset="0"/>
              </a:rPr>
              <a:t>4 min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82DA1A3-34A4-5597-006B-70DCE81B6E8C}"/>
              </a:ext>
            </a:extLst>
          </p:cNvPr>
          <p:cNvSpPr txBox="1"/>
          <p:nvPr/>
        </p:nvSpPr>
        <p:spPr>
          <a:xfrm>
            <a:off x="4826000" y="41148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El que iría en la versión final. Recuerden: un título que afirma, no uno que solo nombra.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4AFCD76-D730-F2C1-5E9B-38F301690F98}"/>
              </a:ext>
            </a:extLst>
          </p:cNvPr>
          <p:cNvSpPr/>
          <p:nvPr/>
        </p:nvSpPr>
        <p:spPr>
          <a:xfrm>
            <a:off x="850900" y="4902200"/>
            <a:ext cx="10490200" cy="9398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4493BEB-47BB-AF2F-7632-EEF0C31330A7}"/>
              </a:ext>
            </a:extLst>
          </p:cNvPr>
          <p:cNvSpPr/>
          <p:nvPr/>
        </p:nvSpPr>
        <p:spPr>
          <a:xfrm>
            <a:off x="1143000" y="51689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956C58A-D48C-22CD-C61C-E484E520EBD9}"/>
              </a:ext>
            </a:extLst>
          </p:cNvPr>
          <p:cNvSpPr txBox="1"/>
          <p:nvPr/>
        </p:nvSpPr>
        <p:spPr>
          <a:xfrm>
            <a:off x="1727200" y="51054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50" b="1">
                <a:solidFill>
                  <a:srgbClr val="FFFFFF"/>
                </a:solidFill>
                <a:latin typeface="Cambria" panose="02040503050406030204" pitchFamily="18" charset="0"/>
              </a:rPr>
              <a:t>Anoten tres decisiones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054F2B3-6ACF-662B-292E-7D55A2892910}"/>
              </a:ext>
            </a:extLst>
          </p:cNvPr>
          <p:cNvSpPr txBox="1"/>
          <p:nvPr/>
        </p:nvSpPr>
        <p:spPr>
          <a:xfrm>
            <a:off x="1727200" y="54610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00" b="1">
                <a:solidFill>
                  <a:srgbClr val="02C39A"/>
                </a:solidFill>
                <a:latin typeface="Calibri" panose="020F0502020204030204" pitchFamily="34" charset="0"/>
              </a:rPr>
              <a:t>3 min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EAD2001-29B2-EE9C-8F12-632D0B44126A}"/>
              </a:ext>
            </a:extLst>
          </p:cNvPr>
          <p:cNvSpPr txBox="1"/>
          <p:nvPr/>
        </p:nvSpPr>
        <p:spPr>
          <a:xfrm>
            <a:off x="4826000" y="5156200"/>
            <a:ext cx="628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C3D6D8"/>
                </a:solidFill>
                <a:latin typeface="Calibri" panose="020F0502020204030204" pitchFamily="34" charset="0"/>
              </a:rPr>
              <a:t>Tres cosas que decidieron incluir o quitar, con su razón. Aquí está la nota.</a:t>
            </a:r>
            <a:endParaRPr lang="es-CO" sz="115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CC24090-3E12-EA75-9085-BC73CABC66B1}"/>
              </a:ext>
            </a:extLst>
          </p:cNvPr>
          <p:cNvSpPr/>
          <p:nvPr/>
        </p:nvSpPr>
        <p:spPr>
          <a:xfrm>
            <a:off x="850900" y="5943600"/>
            <a:ext cx="10490200" cy="584200"/>
          </a:xfrm>
          <a:prstGeom prst="rect">
            <a:avLst/>
          </a:prstGeom>
          <a:solidFill>
            <a:srgbClr val="0A3A40"/>
          </a:solidFill>
          <a:ln w="12700">
            <a:solidFill>
              <a:srgbClr val="063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A338109-773C-89BC-48A5-9FBCE6E114BA}"/>
              </a:ext>
            </a:extLst>
          </p:cNvPr>
          <p:cNvSpPr txBox="1"/>
          <p:nvPr/>
        </p:nvSpPr>
        <p:spPr>
          <a:xfrm>
            <a:off x="1168400" y="60960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50" i="1">
                <a:solidFill>
                  <a:srgbClr val="02C39A"/>
                </a:solidFill>
                <a:latin typeface="Calibri" panose="020F0502020204030204" pitchFamily="34" charset="0"/>
              </a:rPr>
              <a:t>Últimos 5 minutos: las cuatro hojas se pegan en el tablero, una al lado de la otra. Mismo dato, cuatro resultados.</a:t>
            </a:r>
            <a:endParaRPr lang="es-CO" sz="1250" i="1">
              <a:solidFill>
                <a:srgbClr val="02C39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8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569724F-1D90-CA1C-62A1-E26BF1E0F0D0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E N T R E G A   E N   C A N V A S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84BF7C-2352-4BD1-5D3C-756C35F3979E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La ficha del encargo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0ABCDE-B762-E06F-4E4B-64B6BEC20685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24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0CB1B8-5844-1836-4946-34D5636A394D}"/>
              </a:ext>
            </a:extLst>
          </p:cNvPr>
          <p:cNvSpPr txBox="1"/>
          <p:nvPr/>
        </p:nvSpPr>
        <p:spPr>
          <a:xfrm>
            <a:off x="850900" y="1625600"/>
            <a:ext cx="10490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dirty="0">
                <a:solidFill>
                  <a:srgbClr val="5C6C6E"/>
                </a:solidFill>
                <a:latin typeface="Calibri" panose="020F0502020204030204" pitchFamily="34" charset="0"/>
              </a:rPr>
              <a:t>Tomen una foto de su hoja y súbanla junto con un documento breve que responda:</a:t>
            </a:r>
            <a:endParaRPr lang="es-CO" sz="1400" dirty="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15AE12-DCAF-D5E5-EAFA-FB7B8ED2B3BD}"/>
              </a:ext>
            </a:extLst>
          </p:cNvPr>
          <p:cNvSpPr/>
          <p:nvPr/>
        </p:nvSpPr>
        <p:spPr>
          <a:xfrm>
            <a:off x="850900" y="21844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3511DD4-583F-0180-6691-DE2EAE5E12CD}"/>
              </a:ext>
            </a:extLst>
          </p:cNvPr>
          <p:cNvSpPr/>
          <p:nvPr/>
        </p:nvSpPr>
        <p:spPr>
          <a:xfrm>
            <a:off x="1117600" y="24257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42CD232-4B6C-E65E-EF0E-DC6AEE1117E7}"/>
              </a:ext>
            </a:extLst>
          </p:cNvPr>
          <p:cNvSpPr txBox="1"/>
          <p:nvPr/>
        </p:nvSpPr>
        <p:spPr>
          <a:xfrm>
            <a:off x="1701800" y="2413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Su audiencia y el modo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2A17CC-1A5D-A036-37BA-A51C1453B5DC}"/>
              </a:ext>
            </a:extLst>
          </p:cNvPr>
          <p:cNvSpPr txBox="1"/>
          <p:nvPr/>
        </p:nvSpPr>
        <p:spPr>
          <a:xfrm>
            <a:off x="5080000" y="2413000"/>
            <a:ext cx="603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Qué audiencia les tocó y si eligieron exploratorio o comunicativo, con la justificación.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ADBEC3E-27DD-2D9B-649A-F842EB436776}"/>
              </a:ext>
            </a:extLst>
          </p:cNvPr>
          <p:cNvSpPr/>
          <p:nvPr/>
        </p:nvSpPr>
        <p:spPr>
          <a:xfrm>
            <a:off x="850900" y="31496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30A19A9-A908-9B61-0813-071E4E1DA680}"/>
              </a:ext>
            </a:extLst>
          </p:cNvPr>
          <p:cNvSpPr/>
          <p:nvPr/>
        </p:nvSpPr>
        <p:spPr>
          <a:xfrm>
            <a:off x="1117600" y="33909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7F2D569-5FCE-5EB6-9DA2-F912DF66DE06}"/>
              </a:ext>
            </a:extLst>
          </p:cNvPr>
          <p:cNvSpPr txBox="1"/>
          <p:nvPr/>
        </p:nvSpPr>
        <p:spPr>
          <a:xfrm>
            <a:off x="1676400" y="33528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El título final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FD72E9-EF5D-07F7-C2A0-2D52AFED2211}"/>
              </a:ext>
            </a:extLst>
          </p:cNvPr>
          <p:cNvSpPr txBox="1"/>
          <p:nvPr/>
        </p:nvSpPr>
        <p:spPr>
          <a:xfrm>
            <a:off x="5080000" y="3378200"/>
            <a:ext cx="603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La frase que encabezaría el gráfico. Debe afirmar algo, no solo nombrar el contenido.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56C5108-B46D-F36D-2F56-5C68469535EF}"/>
              </a:ext>
            </a:extLst>
          </p:cNvPr>
          <p:cNvSpPr/>
          <p:nvPr/>
        </p:nvSpPr>
        <p:spPr>
          <a:xfrm>
            <a:off x="850900" y="41148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63CA1B3-54FD-0F88-EE5E-8536C0E01B67}"/>
              </a:ext>
            </a:extLst>
          </p:cNvPr>
          <p:cNvSpPr/>
          <p:nvPr/>
        </p:nvSpPr>
        <p:spPr>
          <a:xfrm>
            <a:off x="1117600" y="43561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9659D99-5746-E779-F9A8-9338F4E49761}"/>
              </a:ext>
            </a:extLst>
          </p:cNvPr>
          <p:cNvSpPr txBox="1"/>
          <p:nvPr/>
        </p:nvSpPr>
        <p:spPr>
          <a:xfrm>
            <a:off x="1676400" y="4318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400" b="1">
                <a:solidFill>
                  <a:srgbClr val="012E33"/>
                </a:solidFill>
                <a:latin typeface="Cambria" panose="02040503050406030204" pitchFamily="18" charset="0"/>
              </a:rPr>
              <a:t>Tres decisiones de diseño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25C08DD-08E8-B33B-5898-A96AD88F9267}"/>
              </a:ext>
            </a:extLst>
          </p:cNvPr>
          <p:cNvSpPr txBox="1"/>
          <p:nvPr/>
        </p:nvSpPr>
        <p:spPr>
          <a:xfrm>
            <a:off x="5080000" y="4343400"/>
            <a:ext cx="603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Qué incluyeron o quitaron y por qué. Al menos una debe ser algo que decidieron QUITAR.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3488EC9-7751-5D82-5A76-628216539687}"/>
              </a:ext>
            </a:extLst>
          </p:cNvPr>
          <p:cNvSpPr/>
          <p:nvPr/>
        </p:nvSpPr>
        <p:spPr>
          <a:xfrm>
            <a:off x="850900" y="5080000"/>
            <a:ext cx="10490200" cy="863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1E9DEE4-65EE-679A-BD24-B8EF038DD492}"/>
              </a:ext>
            </a:extLst>
          </p:cNvPr>
          <p:cNvSpPr/>
          <p:nvPr/>
        </p:nvSpPr>
        <p:spPr>
          <a:xfrm>
            <a:off x="1117600" y="5321300"/>
            <a:ext cx="381000" cy="381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200" b="1">
                <a:solidFill>
                  <a:srgbClr val="FFFFF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C213C55-24E9-5612-DAFE-63AC18E63CFE}"/>
              </a:ext>
            </a:extLst>
          </p:cNvPr>
          <p:cNvSpPr txBox="1"/>
          <p:nvPr/>
        </p:nvSpPr>
        <p:spPr>
          <a:xfrm>
            <a:off x="1676400" y="52832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400" b="1">
                <a:solidFill>
                  <a:srgbClr val="012E33"/>
                </a:solidFill>
                <a:latin typeface="Cambria" panose="02040503050406030204" pitchFamily="18" charset="0"/>
              </a:rPr>
              <a:t>El matiz de la nocturna</a:t>
            </a:r>
            <a:endParaRPr lang="es-CO" sz="1400" b="1">
              <a:solidFill>
                <a:srgbClr val="012E33"/>
              </a:solidFill>
              <a:latin typeface="Cambria" panose="020405030504060302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B02D1A5-D142-49C9-A42F-0278C9DAA369}"/>
              </a:ext>
            </a:extLst>
          </p:cNvPr>
          <p:cNvSpPr txBox="1"/>
          <p:nvPr/>
        </p:nvSpPr>
        <p:spPr>
          <a:xfrm>
            <a:off x="5080000" y="5308600"/>
            <a:ext cx="603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>
                <a:solidFill>
                  <a:srgbClr val="5C6C6E"/>
                </a:solidFill>
                <a:latin typeface="Calibri" panose="020F0502020204030204" pitchFamily="34" charset="0"/>
              </a:rPr>
              <a:t>¿Lo mostraron a su audiencia? ¿Por qué sí o por qué no? Esta pregunta vale doble.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16969B5-D659-E108-8FD0-84E1CEBB04C0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150" i="1">
                <a:solidFill>
                  <a:srgbClr val="028090"/>
                </a:solidFill>
                <a:latin typeface="Calibri" panose="020F0502020204030204" pitchFamily="34" charset="0"/>
              </a:rPr>
              <a:t>El punto 4 es el que separa una buena entrega de una excelente: comunicar bien incluye decidir qué NO se puede omitir.</a:t>
            </a:r>
            <a:endParaRPr lang="es-CO" sz="1150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683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DED9F80-3242-C0F2-E514-92676EF8DB52}"/>
              </a:ext>
            </a:extLst>
          </p:cNvPr>
          <p:cNvSpPr txBox="1"/>
          <p:nvPr/>
        </p:nvSpPr>
        <p:spPr>
          <a:xfrm>
            <a:off x="850900" y="762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0A896"/>
                </a:solidFill>
                <a:latin typeface="Calibri" panose="020F0502020204030204" pitchFamily="34" charset="0"/>
              </a:rPr>
              <a:t>P A R A   C E R R A R</a:t>
            </a:r>
            <a:endParaRPr lang="es-CO" sz="1000" b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AEF97B-412F-CAC0-6FFD-6D492A370E30}"/>
              </a:ext>
            </a:extLst>
          </p:cNvPr>
          <p:cNvSpPr txBox="1"/>
          <p:nvPr/>
        </p:nvSpPr>
        <p:spPr>
          <a:xfrm>
            <a:off x="850900" y="1066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300" b="1">
                <a:solidFill>
                  <a:srgbClr val="FFFFFF"/>
                </a:solidFill>
                <a:latin typeface="Cambria" panose="02040503050406030204" pitchFamily="18" charset="0"/>
              </a:rPr>
              <a:t>Cuatro ideas para llevarse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DDFD04E-593E-2704-DC0C-36C37EFCCCF7}"/>
              </a:ext>
            </a:extLst>
          </p:cNvPr>
          <p:cNvSpPr/>
          <p:nvPr/>
        </p:nvSpPr>
        <p:spPr>
          <a:xfrm>
            <a:off x="850900" y="18542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7E27440-7BCA-A147-10DD-4F0AA2728C69}"/>
              </a:ext>
            </a:extLst>
          </p:cNvPr>
          <p:cNvSpPr/>
          <p:nvPr/>
        </p:nvSpPr>
        <p:spPr>
          <a:xfrm>
            <a:off x="850900" y="24384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06B643-34EB-29A1-137B-9BB44E9822DC}"/>
              </a:ext>
            </a:extLst>
          </p:cNvPr>
          <p:cNvSpPr txBox="1"/>
          <p:nvPr/>
        </p:nvSpPr>
        <p:spPr>
          <a:xfrm>
            <a:off x="1498600" y="24130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C3D6D8"/>
                </a:solidFill>
                <a:latin typeface="Calibri" panose="020F0502020204030204" pitchFamily="34" charset="0"/>
              </a:rPr>
              <a:t>No son dos estilos: son dos oficios distintos con la misma herramienta.</a:t>
            </a:r>
            <a:endParaRPr lang="es-CO" sz="15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D84D883-21E4-6CC8-30B1-7B17CC4F0CE5}"/>
              </a:ext>
            </a:extLst>
          </p:cNvPr>
          <p:cNvSpPr/>
          <p:nvPr/>
        </p:nvSpPr>
        <p:spPr>
          <a:xfrm>
            <a:off x="850900" y="32258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96A84AE-6765-65F4-0970-DFEC88254A63}"/>
              </a:ext>
            </a:extLst>
          </p:cNvPr>
          <p:cNvSpPr txBox="1"/>
          <p:nvPr/>
        </p:nvSpPr>
        <p:spPr>
          <a:xfrm>
            <a:off x="1498600" y="3200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C3D6D8"/>
                </a:solidFill>
                <a:latin typeface="Calibri" panose="020F0502020204030204" pitchFamily="34" charset="0"/>
              </a:rPr>
              <a:t>La pregunta que decide el modo es siempre la misma: ¿quién va a mirar este gráfico?</a:t>
            </a:r>
            <a:endParaRPr lang="es-CO" sz="15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4884054-3793-A56E-8FB9-5C5A47EE186B}"/>
              </a:ext>
            </a:extLst>
          </p:cNvPr>
          <p:cNvSpPr/>
          <p:nvPr/>
        </p:nvSpPr>
        <p:spPr>
          <a:xfrm>
            <a:off x="850900" y="40132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C987DF-F34D-1F5B-BFA8-4AD879625EB0}"/>
              </a:ext>
            </a:extLst>
          </p:cNvPr>
          <p:cNvSpPr txBox="1"/>
          <p:nvPr/>
        </p:nvSpPr>
        <p:spPr>
          <a:xfrm>
            <a:off x="1498600" y="39878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C3D6D8"/>
                </a:solidFill>
                <a:latin typeface="Calibri" panose="020F0502020204030204" pitchFamily="34" charset="0"/>
              </a:rPr>
              <a:t>Etapas 2 a 5: exploratoria. Etapa 6: las dos. Etapas 7 y 8: comunicativa.</a:t>
            </a:r>
            <a:endParaRPr lang="es-CO" sz="15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26D515C-FD60-33FD-1487-108165D5752F}"/>
              </a:ext>
            </a:extLst>
          </p:cNvPr>
          <p:cNvSpPr/>
          <p:nvPr/>
        </p:nvSpPr>
        <p:spPr>
          <a:xfrm>
            <a:off x="850900" y="4800600"/>
            <a:ext cx="406400" cy="4064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402632E-9C5D-8593-CFFC-F602E618A465}"/>
              </a:ext>
            </a:extLst>
          </p:cNvPr>
          <p:cNvSpPr txBox="1"/>
          <p:nvPr/>
        </p:nvSpPr>
        <p:spPr>
          <a:xfrm>
            <a:off x="1498600" y="47752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C3D6D8"/>
                </a:solidFill>
                <a:latin typeface="Calibri" panose="020F0502020204030204" pitchFamily="34" charset="0"/>
              </a:rPr>
              <a:t>Ningún gráfico exploratorio se lleva tal cual a una presentación. Se rehace.</a:t>
            </a:r>
            <a:endParaRPr lang="es-CO" sz="15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269CBE9-58B9-3F81-5B64-859C04195076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0B4249"/>
                </a:solidFill>
                <a:latin typeface="Cambria" panose="020405030504060302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51906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6D3EFBC-AC70-9F1A-5107-339F940E4E79}"/>
              </a:ext>
            </a:extLst>
          </p:cNvPr>
          <p:cNvSpPr txBox="1"/>
          <p:nvPr/>
        </p:nvSpPr>
        <p:spPr>
          <a:xfrm>
            <a:off x="850900" y="5334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pt-BR" sz="1000" b="1">
                <a:solidFill>
                  <a:srgbClr val="028090"/>
                </a:solidFill>
                <a:latin typeface="Calibri" panose="020F0502020204030204" pitchFamily="34" charset="0"/>
              </a:rPr>
              <a:t>P A R A   P R O F U N D I Z A R</a:t>
            </a:r>
            <a:endParaRPr lang="es-CO" sz="1000" b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D83312-FACB-471D-0A98-A97050DB65E3}"/>
              </a:ext>
            </a:extLst>
          </p:cNvPr>
          <p:cNvSpPr txBox="1"/>
          <p:nvPr/>
        </p:nvSpPr>
        <p:spPr>
          <a:xfrm>
            <a:off x="850900" y="787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3100" b="1">
                <a:solidFill>
                  <a:srgbClr val="012E33"/>
                </a:solidFill>
                <a:latin typeface="Cambria" panose="02040503050406030204" pitchFamily="18" charset="0"/>
              </a:rPr>
              <a:t>Referencias de la sesión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C4545C-11ED-A4C5-8AFC-A0BF5BC99917}"/>
              </a:ext>
            </a:extLst>
          </p:cNvPr>
          <p:cNvSpPr txBox="1"/>
          <p:nvPr/>
        </p:nvSpPr>
        <p:spPr>
          <a:xfrm>
            <a:off x="10160000" y="457200"/>
            <a:ext cx="1206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s-CO" sz="3400" b="1">
                <a:solidFill>
                  <a:srgbClr val="C9D8D8"/>
                </a:solidFill>
                <a:latin typeface="Cambria" panose="02040503050406030204" pitchFamily="18" charset="0"/>
              </a:rPr>
              <a:t>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8DFEA2-B1E1-D65E-82D7-B41162681AF9}"/>
              </a:ext>
            </a:extLst>
          </p:cNvPr>
          <p:cNvSpPr/>
          <p:nvPr/>
        </p:nvSpPr>
        <p:spPr>
          <a:xfrm>
            <a:off x="850900" y="18415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9F37C8-03C3-85AB-A242-4E6C8897DAFE}"/>
              </a:ext>
            </a:extLst>
          </p:cNvPr>
          <p:cNvSpPr txBox="1"/>
          <p:nvPr/>
        </p:nvSpPr>
        <p:spPr>
          <a:xfrm>
            <a:off x="1168400" y="20701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Knaflic, C. N. (2017)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B95A38-31F5-551E-E002-3518E45D579B}"/>
              </a:ext>
            </a:extLst>
          </p:cNvPr>
          <p:cNvSpPr txBox="1"/>
          <p:nvPr/>
        </p:nvSpPr>
        <p:spPr>
          <a:xfrm>
            <a:off x="3746500" y="20701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>
                <a:solidFill>
                  <a:srgbClr val="5C6C6E"/>
                </a:solidFill>
                <a:latin typeface="Calibri" panose="020F0502020204030204" pitchFamily="34" charset="0"/>
              </a:rPr>
              <a:t>Storytelling con datos, caps. 1 a 3. Anaya.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C5611F9-B8E2-FE1F-1523-4E8C8D79ADA8}"/>
              </a:ext>
            </a:extLst>
          </p:cNvPr>
          <p:cNvSpPr txBox="1"/>
          <p:nvPr/>
        </p:nvSpPr>
        <p:spPr>
          <a:xfrm>
            <a:off x="8890000" y="20701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50" b="1" i="1">
                <a:solidFill>
                  <a:srgbClr val="028090"/>
                </a:solidFill>
                <a:latin typeface="Calibri" panose="020F0502020204030204" pitchFamily="34" charset="0"/>
              </a:rPr>
              <a:t>Biblioteca EAN: físico y en línea</a:t>
            </a:r>
            <a:endParaRPr lang="es-CO" sz="1050" b="1" i="1">
              <a:solidFill>
                <a:srgbClr val="02809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0AE513-EEFD-3F7B-9F0B-BEB66F1B0275}"/>
              </a:ext>
            </a:extLst>
          </p:cNvPr>
          <p:cNvSpPr/>
          <p:nvPr/>
        </p:nvSpPr>
        <p:spPr>
          <a:xfrm>
            <a:off x="850900" y="26797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ED6F5B3-572D-315F-DA34-C2FF7E4CBDB8}"/>
              </a:ext>
            </a:extLst>
          </p:cNvPr>
          <p:cNvSpPr txBox="1"/>
          <p:nvPr/>
        </p:nvSpPr>
        <p:spPr>
          <a:xfrm>
            <a:off x="1168400" y="29083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Wilke, C. (2019)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1D95D6-E83E-0F1C-CE4D-C7CB8AD10E6C}"/>
              </a:ext>
            </a:extLst>
          </p:cNvPr>
          <p:cNvSpPr txBox="1"/>
          <p:nvPr/>
        </p:nvSpPr>
        <p:spPr>
          <a:xfrm>
            <a:off x="3746500" y="29083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>
                <a:solidFill>
                  <a:srgbClr val="5C6C6E"/>
                </a:solidFill>
                <a:latin typeface="Calibri" panose="020F0502020204030204" pitchFamily="34" charset="0"/>
              </a:rPr>
              <a:t>Fundamentals of Data Visualization, cap. 29: Telling a story.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D53215-8159-2094-D63E-01C4A7D7C32D}"/>
              </a:ext>
            </a:extLst>
          </p:cNvPr>
          <p:cNvSpPr txBox="1"/>
          <p:nvPr/>
        </p:nvSpPr>
        <p:spPr>
          <a:xfrm>
            <a:off x="8890000" y="29083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clauswilke.com/dataviz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11C7F0C-7A29-4067-5B1E-BDAD769A0CF2}"/>
              </a:ext>
            </a:extLst>
          </p:cNvPr>
          <p:cNvSpPr/>
          <p:nvPr/>
        </p:nvSpPr>
        <p:spPr>
          <a:xfrm>
            <a:off x="850900" y="35179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037656F-1F75-DF1B-8CCF-B34531CCD89C}"/>
              </a:ext>
            </a:extLst>
          </p:cNvPr>
          <p:cNvSpPr txBox="1"/>
          <p:nvPr/>
        </p:nvSpPr>
        <p:spPr>
          <a:xfrm>
            <a:off x="1168400" y="37465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Tukey, J. (1977)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4E6169-CCA7-00A6-DEDF-FD41F87A1F2F}"/>
              </a:ext>
            </a:extLst>
          </p:cNvPr>
          <p:cNvSpPr txBox="1"/>
          <p:nvPr/>
        </p:nvSpPr>
        <p:spPr>
          <a:xfrm>
            <a:off x="3746500" y="37465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>
                <a:solidFill>
                  <a:srgbClr val="5C6C6E"/>
                </a:solidFill>
                <a:latin typeface="Calibri" panose="020F0502020204030204" pitchFamily="34" charset="0"/>
              </a:rPr>
              <a:t>Exploratory Data Analysis. Addison-Wesley.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9877B71-B36B-2975-1EA9-8911BDA89298}"/>
              </a:ext>
            </a:extLst>
          </p:cNvPr>
          <p:cNvSpPr txBox="1"/>
          <p:nvPr/>
        </p:nvSpPr>
        <p:spPr>
          <a:xfrm>
            <a:off x="8890000" y="37465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Origen del término EDA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F5F0E33-B745-2564-EF9B-D51466CB3011}"/>
              </a:ext>
            </a:extLst>
          </p:cNvPr>
          <p:cNvSpPr/>
          <p:nvPr/>
        </p:nvSpPr>
        <p:spPr>
          <a:xfrm>
            <a:off x="850900" y="43561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FDB1BF3-86FC-231C-AD13-38B8DA879C6D}"/>
              </a:ext>
            </a:extLst>
          </p:cNvPr>
          <p:cNvSpPr txBox="1"/>
          <p:nvPr/>
        </p:nvSpPr>
        <p:spPr>
          <a:xfrm>
            <a:off x="1168400" y="45847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Kusleika, D. (2021)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E89FA61-118F-7896-C469-19330D9C6BCD}"/>
              </a:ext>
            </a:extLst>
          </p:cNvPr>
          <p:cNvSpPr txBox="1"/>
          <p:nvPr/>
        </p:nvSpPr>
        <p:spPr>
          <a:xfrm>
            <a:off x="3746500" y="45847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>
                <a:solidFill>
                  <a:srgbClr val="5C6C6E"/>
                </a:solidFill>
                <a:latin typeface="Calibri" panose="020F0502020204030204" pitchFamily="34" charset="0"/>
              </a:rPr>
              <a:t>Data Visualization with Excel Dashboards and Reports, cap. 4.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A21A4FA-D406-1762-AE9E-F7220B7E671A}"/>
              </a:ext>
            </a:extLst>
          </p:cNvPr>
          <p:cNvSpPr txBox="1"/>
          <p:nvPr/>
        </p:nvSpPr>
        <p:spPr>
          <a:xfrm>
            <a:off x="8890000" y="45847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Biblioteca EAN: en línea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E81F179-E9C7-689A-5BA3-8EB9CD672A75}"/>
              </a:ext>
            </a:extLst>
          </p:cNvPr>
          <p:cNvSpPr/>
          <p:nvPr/>
        </p:nvSpPr>
        <p:spPr>
          <a:xfrm>
            <a:off x="850900" y="5194300"/>
            <a:ext cx="10490200" cy="736600"/>
          </a:xfrm>
          <a:prstGeom prst="rect">
            <a:avLst/>
          </a:prstGeom>
          <a:solidFill>
            <a:srgbClr val="F4F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1946463-72F1-FC10-54DA-2598237E834B}"/>
              </a:ext>
            </a:extLst>
          </p:cNvPr>
          <p:cNvSpPr txBox="1"/>
          <p:nvPr/>
        </p:nvSpPr>
        <p:spPr>
          <a:xfrm>
            <a:off x="1168400" y="54229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300" b="1">
                <a:solidFill>
                  <a:srgbClr val="012E33"/>
                </a:solidFill>
                <a:latin typeface="Cambria" panose="02040503050406030204" pitchFamily="18" charset="0"/>
              </a:rPr>
              <a:t>Ware, C.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3C3C05A-96D7-24D3-2286-B909FC5651CF}"/>
              </a:ext>
            </a:extLst>
          </p:cNvPr>
          <p:cNvSpPr txBox="1"/>
          <p:nvPr/>
        </p:nvSpPr>
        <p:spPr>
          <a:xfrm>
            <a:off x="3746500" y="54229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150">
                <a:solidFill>
                  <a:srgbClr val="5C6C6E"/>
                </a:solidFill>
                <a:latin typeface="Calibri" panose="020F0502020204030204" pitchFamily="34" charset="0"/>
              </a:rPr>
              <a:t>Information Visualization: Perception for Design.</a:t>
            </a:r>
            <a:endParaRPr lang="es-CO" sz="1150">
              <a:solidFill>
                <a:srgbClr val="5C6C6E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EC747A8-D91F-71ED-DA35-0D1BFF82BF43}"/>
              </a:ext>
            </a:extLst>
          </p:cNvPr>
          <p:cNvSpPr txBox="1"/>
          <p:nvPr/>
        </p:nvSpPr>
        <p:spPr>
          <a:xfrm>
            <a:off x="8890000" y="5422900"/>
            <a:ext cx="222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050" b="1" i="1">
                <a:solidFill>
                  <a:srgbClr val="028090"/>
                </a:solidFill>
                <a:latin typeface="Calibri" panose="020F0502020204030204" pitchFamily="34" charset="0"/>
              </a:rPr>
              <a:t>Biblioteca EAN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902233C-BDF2-099A-737A-0120975C4194}"/>
              </a:ext>
            </a:extLst>
          </p:cNvPr>
          <p:cNvSpPr txBox="1"/>
          <p:nvPr/>
        </p:nvSpPr>
        <p:spPr>
          <a:xfrm>
            <a:off x="850900" y="62484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1150" i="1">
                <a:solidFill>
                  <a:srgbClr val="028090"/>
                </a:solidFill>
                <a:latin typeface="Calibri" panose="020F0502020204030204" pitchFamily="34" charset="0"/>
              </a:rPr>
              <a:t>Catálogo OCEAN de la Biblioteca EAN: bibliotecaean.primo.exlibrisgroup.com</a:t>
            </a:r>
          </a:p>
        </p:txBody>
      </p:sp>
    </p:spTree>
    <p:extLst>
      <p:ext uri="{BB962C8B-B14F-4D97-AF65-F5344CB8AC3E}">
        <p14:creationId xmlns:p14="http://schemas.microsoft.com/office/powerpoint/2010/main" val="2883289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61A125F5-2D75-0E13-F265-D47577124A02}"/>
              </a:ext>
            </a:extLst>
          </p:cNvPr>
          <p:cNvSpPr/>
          <p:nvPr/>
        </p:nvSpPr>
        <p:spPr>
          <a:xfrm>
            <a:off x="8890000" y="1905000"/>
            <a:ext cx="3048000" cy="3048000"/>
          </a:xfrm>
          <a:prstGeom prst="ellipse">
            <a:avLst/>
          </a:prstGeom>
          <a:solidFill>
            <a:srgbClr val="0635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D3EDC27-3A18-FD51-F53C-F06E9CA2C02D}"/>
              </a:ext>
            </a:extLst>
          </p:cNvPr>
          <p:cNvSpPr/>
          <p:nvPr/>
        </p:nvSpPr>
        <p:spPr>
          <a:xfrm>
            <a:off x="9461500" y="2476500"/>
            <a:ext cx="1905000" cy="1905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1C776E-F2ED-5B21-8F21-FAF1C5D8749A}"/>
              </a:ext>
            </a:extLst>
          </p:cNvPr>
          <p:cNvSpPr txBox="1"/>
          <p:nvPr/>
        </p:nvSpPr>
        <p:spPr>
          <a:xfrm>
            <a:off x="9461500" y="2768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s-CO" sz="7400" b="1">
                <a:solidFill>
                  <a:srgbClr val="FFFFFF"/>
                </a:solidFill>
                <a:latin typeface="Cambria" panose="02040503050406030204" pitchFamily="18" charset="0"/>
              </a:rPr>
              <a:t>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167DA8-9DFC-5F69-8AFE-E3C01AD8B9BD}"/>
              </a:ext>
            </a:extLst>
          </p:cNvPr>
          <p:cNvSpPr txBox="1"/>
          <p:nvPr/>
        </p:nvSpPr>
        <p:spPr>
          <a:xfrm>
            <a:off x="850900" y="2667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CO" sz="4400" b="1">
                <a:solidFill>
                  <a:srgbClr val="FFFFFF"/>
                </a:solidFill>
                <a:latin typeface="Cambria" panose="02040503050406030204" pitchFamily="18" charset="0"/>
              </a:rPr>
              <a:t>¿Preguntas?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3C23601-2DB0-3884-5B26-0DF6C0D3060D}"/>
              </a:ext>
            </a:extLst>
          </p:cNvPr>
          <p:cNvSpPr/>
          <p:nvPr/>
        </p:nvSpPr>
        <p:spPr>
          <a:xfrm>
            <a:off x="850900" y="3759200"/>
            <a:ext cx="1016000" cy="50800"/>
          </a:xfrm>
          <a:prstGeom prst="rect">
            <a:avLst/>
          </a:prstGeom>
          <a:solidFill>
            <a:srgbClr val="02C39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438616-B521-8551-9709-DF495EF8C635}"/>
              </a:ext>
            </a:extLst>
          </p:cNvPr>
          <p:cNvSpPr txBox="1"/>
          <p:nvPr/>
        </p:nvSpPr>
        <p:spPr>
          <a:xfrm>
            <a:off x="850900" y="406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500">
                <a:solidFill>
                  <a:srgbClr val="C3D6D8"/>
                </a:solidFill>
                <a:latin typeface="Calibri" panose="020F0502020204030204" pitchFamily="34" charset="0"/>
              </a:rPr>
              <a:t>Estoy aquí para resolver cualquier duda.</a:t>
            </a:r>
            <a:endParaRPr lang="es-CO" sz="1500">
              <a:solidFill>
                <a:srgbClr val="C3D6D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FC7357D-BB02-D3BC-67E7-75A87D163098}"/>
              </a:ext>
            </a:extLst>
          </p:cNvPr>
          <p:cNvSpPr txBox="1"/>
          <p:nvPr/>
        </p:nvSpPr>
        <p:spPr>
          <a:xfrm>
            <a:off x="850900" y="508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200">
                <a:solidFill>
                  <a:srgbClr val="BFEAE4"/>
                </a:solidFill>
                <a:latin typeface="Calibri" panose="020F0502020204030204" pitchFamily="34" charset="0"/>
              </a:rPr>
              <a:t>Contacto: chat de la unidad de estudio en Canvas</a:t>
            </a:r>
            <a:endParaRPr lang="es-CO" sz="1200">
              <a:solidFill>
                <a:srgbClr val="BFEAE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8A2C92-67B0-4C3D-6205-785E59EEFE22}"/>
              </a:ext>
            </a:extLst>
          </p:cNvPr>
          <p:cNvSpPr txBox="1"/>
          <p:nvPr/>
        </p:nvSpPr>
        <p:spPr>
          <a:xfrm>
            <a:off x="850900" y="6350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lang="es-MX" sz="1000">
                <a:solidFill>
                  <a:srgbClr val="0B4249"/>
                </a:solidFill>
                <a:latin typeface="Calibri" panose="020F0502020204030204" pitchFamily="34" charset="0"/>
              </a:rPr>
              <a:t>Visualización de Datos  ·  Universidad EAN  ·  Clase 3</a:t>
            </a:r>
            <a:endParaRPr lang="es-CO" sz="1000">
              <a:solidFill>
                <a:srgbClr val="0B424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5630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3211</Words>
  <Application>Microsoft Office PowerPoint</Application>
  <PresentationFormat>Panorámica</PresentationFormat>
  <Paragraphs>390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Cambria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SILVA GOMEZ</dc:creator>
  <cp:lastModifiedBy>CAMILA SILVA GOMEZ</cp:lastModifiedBy>
  <cp:revision>1</cp:revision>
  <dcterms:created xsi:type="dcterms:W3CDTF">2026-07-28T18:30:57Z</dcterms:created>
  <dcterms:modified xsi:type="dcterms:W3CDTF">2026-07-28T19:53:36Z</dcterms:modified>
</cp:coreProperties>
</file>