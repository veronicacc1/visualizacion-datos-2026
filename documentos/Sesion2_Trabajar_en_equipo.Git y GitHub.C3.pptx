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minutos, no más. Pedir que alguien lo diga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Dibujarlo también en el tablero. La idea clave: main no se toca directo.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-c y checkout -b hacen lo mismo; switch es el moderno.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 de oro: pull antes de empezar, push al terminar. Reduce el 80 % de los conflictos.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Provocarlo a propósito con el script crear_conflicto.sh antes de clase. Es el ejercicio más valioso de las tres sesiones.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el archivo en VS Code: resalta las marcas y ofrece botones 'Accept current / incoming'. Que lo hagan a mano la primera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cada uno lo haga en su máquina. Luego, en parejas, uno hace push y el otro provoca el conflicto real vía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un PR en vivo con el repo de un grupo. Mostrar la pestaña 'Files changed'.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git log de un repo real con malos mensajes. Suele haber uno en cada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Enfatizar: revert es el seguro; reset --hard después de push le rompe el repo a los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 grupo no tiene repo todavía, este es el momento: lo crean en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2C39A"/>
                </a:solidFill>
                <a:latin typeface="Consolas"/>
              </a:rPr>
              <a:t>GIT Y GITHUB PARA CIENCIA DE DATOS  ·  SESIÓN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852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Cambria"/>
              </a:rPr>
              <a:t>Trabajar en equipo sin romper 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1">
                <a:solidFill>
                  <a:srgbClr val="BFEAE4"/>
                </a:solidFill>
                <a:latin typeface="Calibri"/>
              </a:rPr>
              <a:t>Ramas, conflictos y Pull Requests, con el proyecto real del grupo.</a:t>
            </a:r>
          </a:p>
        </p:txBody>
      </p:sp>
      <p:pic>
        <p:nvPicPr>
          <p:cNvPr id="7" name="Picture 6" descr="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394960" cy="20829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pregunta de hoy:  ¿cómo trabajamos cuatro personas sobre el mismo dashboard al mismo tiempo?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93782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LAS PRÓXIMAS DOS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Agenda de la sesión</a:t>
            </a:r>
          </a:p>
        </p:txBody>
      </p:sp>
      <p:pic>
        <p:nvPicPr>
          <p:cNvPr id="5" name="Picture 4" descr="agend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1155680" cy="24505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1474F"/>
                </a:solidFill>
                <a:latin typeface="Calibri"/>
              </a:rPr>
              <a:t>Al terminar, se llevan:  el repositorio del grupo funcionando en equipo, con ramas, un conflicto resuelto y un Pull Request aprobado.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87564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2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REPASO ·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Lo de la sesión pasada, en una pantalla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status → add → commit</a:t>
            </a:r>
            <a:r>
              <a:rPr sz="1900">
                <a:solidFill>
                  <a:srgbClr val="1C2B2E"/>
                </a:solidFill>
                <a:latin typeface="Calibri"/>
              </a:rPr>
              <a:t>  el ciclo local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push</a:t>
            </a:r>
            <a:r>
              <a:rPr sz="1900">
                <a:solidFill>
                  <a:srgbClr val="1C2B2E"/>
                </a:solidFill>
                <a:latin typeface="Calibri"/>
              </a:rPr>
              <a:t>  sube al remoto (GitHub)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log --oneline</a:t>
            </a:r>
            <a:r>
              <a:rPr sz="1900">
                <a:solidFill>
                  <a:srgbClr val="1C2B2E"/>
                </a:solidFill>
                <a:latin typeface="Calibri"/>
              </a:rPr>
              <a:t>  la historia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Hoy agregamos</a:t>
            </a:r>
            <a:r>
              <a:rPr sz="1900">
                <a:solidFill>
                  <a:srgbClr val="1C2B2E"/>
                </a:solidFill>
                <a:latin typeface="Calibri"/>
              </a:rPr>
              <a:t>  clone, pull, branch, merge, y el conflicto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>git status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>git add .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>git commit -m "mensaje"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>git push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E9F4F2"/>
                </a:solidFill>
                <a:latin typeface="Consolas"/>
              </a:rPr>
              <a:t>git log --oneline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2813468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3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2C39A"/>
                </a:solidFill>
                <a:latin typeface="Consolas"/>
              </a:rPr>
              <a:t>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Una rama por tarea; main siempre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127248"/>
            <a:ext cx="8778240" cy="50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880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2651760" y="2880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4114800" y="2880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503920" y="2880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9966960" y="2880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4407408"/>
            <a:ext cx="1463040" cy="50800"/>
          </a:xfrm>
          <a:prstGeom prst="rect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4160520"/>
            <a:ext cx="548640" cy="548640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4160520"/>
            <a:ext cx="548640" cy="548640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383280"/>
            <a:ext cx="1097280" cy="822960"/>
          </a:xfrm>
          <a:prstGeom prst="line">
            <a:avLst/>
          </a:prstGeom>
          <a:ln w="38100">
            <a:solidFill>
              <a:srgbClr val="FFC1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98080" y="3383280"/>
            <a:ext cx="1097280" cy="822960"/>
          </a:xfrm>
          <a:prstGeom prst="line">
            <a:avLst/>
          </a:prstGeom>
          <a:ln w="38100">
            <a:solidFill>
              <a:srgbClr val="FFC1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" y="22860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2C39A"/>
                </a:solidFill>
                <a:latin typeface="Consolas"/>
              </a:rPr>
              <a:t>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84632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FFC145"/>
                </a:solidFill>
                <a:latin typeface="Consolas"/>
              </a:rPr>
              <a:t>feature/mapa-estaciones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6916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FEAE4"/>
                </a:solidFill>
                <a:latin typeface="Consolas"/>
              </a:rPr>
              <a:t>git switch -c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691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FEAE4"/>
                </a:solidFill>
                <a:latin typeface="Consolas"/>
              </a:rPr>
              <a:t>merge / Pull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 i="1">
                <a:solidFill>
                  <a:srgbClr val="BFEAE4"/>
                </a:solidFill>
                <a:latin typeface="Calibri"/>
              </a:rPr>
              <a:t>Mientras tú trabajas en tu rama, main sigue funcionando para todos. Cuando terminas, la unes.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 i="1">
                <a:solidFill>
                  <a:srgbClr val="BFEAE4"/>
                </a:solidFill>
                <a:latin typeface="Calibri"/>
              </a:rPr>
              <a:t>Si dos personas tocan la misma línea, Git te pide decidir: eso es un conflicto.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775704"/>
            <a:ext cx="3751290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FEAE4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C39A"/>
                </a:solidFill>
                <a:latin typeface="Consolas"/>
              </a:rPr>
              <a:t>4</a:t>
            </a:fld>
            <a:r>
              <a:rPr sz="1600">
                <a:solidFill>
                  <a:srgbClr val="BFEAE4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Crear, moverse, unir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branch</a:t>
            </a:r>
            <a:r>
              <a:rPr sz="1900">
                <a:solidFill>
                  <a:srgbClr val="1C2B2E"/>
                </a:solidFill>
                <a:latin typeface="Calibri"/>
              </a:rPr>
              <a:t>  lista las ramas; la actual tiene *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switch -c nombre</a:t>
            </a:r>
            <a:r>
              <a:rPr sz="1900">
                <a:solidFill>
                  <a:srgbClr val="1C2B2E"/>
                </a:solidFill>
                <a:latin typeface="Calibri"/>
              </a:rPr>
              <a:t>  crea una rama y te pasa a ella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switch main</a:t>
            </a:r>
            <a:r>
              <a:rPr sz="1900">
                <a:solidFill>
                  <a:srgbClr val="1C2B2E"/>
                </a:solidFill>
                <a:latin typeface="Calibri"/>
              </a:rPr>
              <a:t>  vuelve a main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merge nombre</a:t>
            </a:r>
            <a:r>
              <a:rPr sz="1900">
                <a:solidFill>
                  <a:srgbClr val="1C2B2E"/>
                </a:solidFill>
                <a:latin typeface="Calibri"/>
              </a:rPr>
              <a:t>  trae los cambios de esa rama a la actual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Nombres útiles</a:t>
            </a:r>
            <a:r>
              <a:rPr sz="1900">
                <a:solidFill>
                  <a:srgbClr val="1C2B2E"/>
                </a:solidFill>
                <a:latin typeface="Calibri"/>
              </a:rPr>
              <a:t>  feature/mapa-calor, fix/eje-truncado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switch -c feature/mapa-estaciones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... trabajas, add, commit ...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switch main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merge feature/mapa-estaciones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ya unida: se puede borrar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branch -d feature/mapa-estaciones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4689113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5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CLONAR Y SINCRONIZAR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El repositorio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Uno crea el repo</a:t>
            </a:r>
            <a:r>
              <a:rPr sz="1900">
                <a:solidFill>
                  <a:srgbClr val="1C2B2E"/>
                </a:solidFill>
                <a:latin typeface="Calibri"/>
              </a:rPr>
              <a:t>  y agrega a los demás como colaboradores (Settings → Collaborators)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Los demás clonan</a:t>
            </a:r>
            <a:r>
              <a:rPr sz="1900">
                <a:solidFill>
                  <a:srgbClr val="1C2B2E"/>
                </a:solidFill>
                <a:latin typeface="Calibri"/>
              </a:rPr>
              <a:t>  git clone descarga el repo completo con toda su historia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pull</a:t>
            </a:r>
            <a:r>
              <a:rPr sz="1900">
                <a:solidFill>
                  <a:srgbClr val="1C2B2E"/>
                </a:solidFill>
                <a:latin typeface="Calibri"/>
              </a:rPr>
              <a:t>  trae lo que los demás subieron. Hazlo ANTES de empezar a trabajar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fetch</a:t>
            </a:r>
            <a:r>
              <a:rPr sz="1900">
                <a:solidFill>
                  <a:srgbClr val="1C2B2E"/>
                </a:solidFill>
                <a:latin typeface="Calibri"/>
              </a:rPr>
              <a:t>  solo mira qué hay nuevo, sin mezclarlo todavía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los compañeros: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clone https://github.com/ana/aire-bogota.git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cd aire-bogota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cada vez que te sientas a trabajar: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pull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luego tu rama: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switch -c feature/filtro-localidad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562693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6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EL MOMENTO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El conflicto: dos personas, la misma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No es un error</a:t>
            </a:r>
            <a:r>
              <a:rPr sz="1900">
                <a:solidFill>
                  <a:srgbClr val="1C2B2E"/>
                </a:solidFill>
                <a:latin typeface="Calibri"/>
              </a:rPr>
              <a:t>  es Git pidiéndote que decidas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HEAD</a:t>
            </a:r>
            <a:r>
              <a:rPr sz="1900">
                <a:solidFill>
                  <a:srgbClr val="1C2B2E"/>
                </a:solidFill>
                <a:latin typeface="Calibri"/>
              </a:rPr>
              <a:t>  lo que había en tu rama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La otra parte</a:t>
            </a:r>
            <a:r>
              <a:rPr sz="1900">
                <a:solidFill>
                  <a:srgbClr val="1C2B2E"/>
                </a:solidFill>
                <a:latin typeface="Calibri"/>
              </a:rPr>
              <a:t>  lo que trae la rama que estás uniendo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Resolver</a:t>
            </a:r>
            <a:r>
              <a:rPr sz="1900">
                <a:solidFill>
                  <a:srgbClr val="1C2B2E"/>
                </a:solidFill>
                <a:latin typeface="Calibri"/>
              </a:rPr>
              <a:t>  borrar las marcas, dejar la versión correcta (o una mezcla), add, commit</a:t>
            </a:r>
          </a:p>
        </p:txBody>
      </p:sp>
      <p:pic>
        <p:nvPicPr>
          <p:cNvPr id="6" name="Picture 5" descr="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5486400" cy="3235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1474F"/>
                </a:solidFill>
                <a:latin typeface="Cambria"/>
              </a:rPr>
              <a:t>Git nunca elige por ti qué línea es la correcta. Esa decisión es del equipo: por eso hay que hablar.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6564758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7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ASÍ SE 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Las marcas del conflicto, en el archivo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035040" cy="3108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5778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titulo = "PM2.5 por hora"</a:t>
            </a:r>
          </a:p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&lt;&lt;&lt;&lt;&lt;&lt;&lt; HEAD</a:t>
            </a:r>
          </a:p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color = "#00A896"</a:t>
            </a:r>
          </a:p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=======</a:t>
            </a:r>
          </a:p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color = "#F96167"</a:t>
            </a:r>
          </a:p>
          <a:p>
            <a:pPr>
              <a:spcAft>
                <a:spcPts val="200"/>
              </a:spcAft>
            </a:pPr>
            <a:r>
              <a:rPr sz="1900">
                <a:solidFill>
                  <a:srgbClr val="E9F4F2"/>
                </a:solidFill>
                <a:latin typeface="Consolas"/>
              </a:rPr>
              <a:t>&gt;&gt;&gt;&gt;&gt;&gt;&gt; feature/color-alerta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7452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&lt;&lt;&lt;&lt;&lt;&lt;&lt; HEAD</a:t>
            </a:r>
            <a:r>
              <a:rPr sz="1700">
                <a:solidFill>
                  <a:srgbClr val="1C2B2E"/>
                </a:solidFill>
                <a:latin typeface="Calibri"/>
              </a:rPr>
              <a:t>  empieza tu versión (main)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=======</a:t>
            </a:r>
            <a:r>
              <a:rPr sz="1700">
                <a:solidFill>
                  <a:srgbClr val="1C2B2E"/>
                </a:solidFill>
                <a:latin typeface="Calibri"/>
              </a:rPr>
              <a:t>  separa las dos versiones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&gt;&gt;&gt;&gt;&gt;&gt;&gt; rama</a:t>
            </a:r>
            <a:r>
              <a:rPr sz="1700">
                <a:solidFill>
                  <a:srgbClr val="1C2B2E"/>
                </a:solidFill>
                <a:latin typeface="Calibri"/>
              </a:rPr>
              <a:t>  termina la versión que llega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Se borran las tres</a:t>
            </a:r>
            <a:r>
              <a:rPr sz="1700">
                <a:solidFill>
                  <a:srgbClr val="1C2B2E"/>
                </a:solidFill>
                <a:latin typeface="Calibri"/>
              </a:rPr>
              <a:t>  y queda una sola línea de color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1474F"/>
                </a:solidFill>
                <a:latin typeface="Calibri"/>
              </a:rPr>
              <a:t>El archivo debe quedar como un archivo normal: sin ningún &lt;&lt;&lt;, === ni &gt;&gt;&gt;.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7502581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8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EJERCICIO GUIADO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Provocar y resolver un conflicto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Preparar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6712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Corre el script crear_conflicto.sh: crea un repo con dos ramas que editan la misma línea.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28600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84607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863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Intentar unir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3011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merge feature/color-alerta → CONFLICT. Mira git status: dice exactamente qué archivo.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34899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9090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162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Resolver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9310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Abre el archivo, elige qué queda, borra las marcas &lt;&lt;&lt; === &gt;&gt;&gt;.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41198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97205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461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Cerrar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09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add del archivo y git commit. El conflicto queda resuelto en la historia.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bash crear_conflicto.sh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cd demo_conflicto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git switch main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git merge feature/color-alerta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8FE3D3"/>
                </a:solidFill>
                <a:latin typeface="Consolas"/>
              </a:rPr>
              <a:t># CONFLICT (content): Merge conflict in app.py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git status        # 'both modified: app.py'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8FE3D3"/>
                </a:solidFill>
                <a:latin typeface="Consolas"/>
              </a:rPr>
              <a:t># editar app.py, dejar la línea buena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git add app.py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git commit -m "Resuelve conflicto de color"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8440404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9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PULL REQUEST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Unir por GitHub, con revisión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Subir la 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6712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push -u origin feature/... — GitHub muestra un botón 'Compare &amp; pull request'.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28600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84607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863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Abrir el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3011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Título claro, descripción de qué cambia y por qué. Asignar a un compañero como revisor.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34899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9090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162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Revisar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9310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El revisor lee el diff, comenta línea por línea si hace falta, y aprueba o pide cambios.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41198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97205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461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09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Con la aprobación, 'Merge pull request'. Luego todos hacen git pull en 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push -u origin feature/filtro-localidad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→ en github.com: Compare &amp; pull request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  título:  Agrega filtro por localidad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  reviewer: @compañera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después del merge, en tu máquina: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switch main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pull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937822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10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BUENOS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El mensaje es para el tú del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67512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Un commit, un cambio</a:t>
            </a:r>
            <a:r>
              <a:rPr sz="1900">
                <a:solidFill>
                  <a:srgbClr val="1C2B2E"/>
                </a:solidFill>
                <a:latin typeface="Calibri"/>
              </a:rPr>
              <a:t>  'Agrega filtro por localidad', no 'cambios varios'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Imperativo y concreto</a:t>
            </a:r>
            <a:r>
              <a:rPr sz="1900">
                <a:solidFill>
                  <a:srgbClr val="1C2B2E"/>
                </a:solidFill>
                <a:latin typeface="Calibri"/>
              </a:rPr>
              <a:t>  'Corrige eje truncado en gráfica 2' &gt; 'arreglos'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Frecuentes</a:t>
            </a:r>
            <a:r>
              <a:rPr sz="1900">
                <a:solidFill>
                  <a:srgbClr val="1C2B2E"/>
                </a:solidFill>
                <a:latin typeface="Calibri"/>
              </a:rPr>
              <a:t>  cada vez que algo funciona, foto. No al final del día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Nunca</a:t>
            </a:r>
            <a:r>
              <a:rPr sz="1900">
                <a:solidFill>
                  <a:srgbClr val="1C2B2E"/>
                </a:solidFill>
                <a:latin typeface="Calibri"/>
              </a:rPr>
              <a:t>  'final', 'ahora sí', 'asdf', 'update'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57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2C39A"/>
                </a:solidFill>
                <a:latin typeface="Cambria"/>
              </a:rPr>
              <a:t>Prueba rápida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5176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 tu mensaje no completa la frase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«Este commit va a…»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todavía no está bien escrito.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0316049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11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DESHACER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Con cuidado: hay tres niveles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git restore archivo</a:t>
            </a:r>
            <a:r>
              <a:rPr sz="1700">
                <a:solidFill>
                  <a:srgbClr val="1C2B2E"/>
                </a:solidFill>
                <a:latin typeface="Calibri"/>
              </a:rPr>
              <a:t>  descarta cambios que NO has preparado (vuelve a la última foto)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git restore --staged archivo</a:t>
            </a:r>
            <a:r>
              <a:rPr sz="1700">
                <a:solidFill>
                  <a:srgbClr val="1C2B2E"/>
                </a:solidFill>
                <a:latin typeface="Calibri"/>
              </a:rPr>
              <a:t>  saca del staging sin perder el cambio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git revert hash</a:t>
            </a:r>
            <a:r>
              <a:rPr sz="1700">
                <a:solidFill>
                  <a:srgbClr val="1C2B2E"/>
                </a:solidFill>
                <a:latin typeface="Calibri"/>
              </a:rPr>
              <a:t>  crea un commit nuevo que deshace otro. Seguro, queda en la historia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git reset --hard</a:t>
            </a:r>
            <a:r>
              <a:rPr sz="1700">
                <a:solidFill>
                  <a:srgbClr val="1C2B2E"/>
                </a:solidFill>
                <a:latin typeface="Calibri"/>
              </a:rPr>
              <a:t>  borra commits. Solo en tu rama, nunca después de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me arrepentí de editar app.py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restore app.py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lo preparé por error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restore --staged app.py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ese commit rompió todo: deshacerlo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revert a1b2c3d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PELIGRO: borra los últimos 2 commits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reset --hard HEAD~2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125387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12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2C39A"/>
                </a:solidFill>
                <a:latin typeface="Consolas"/>
              </a:rPr>
              <a:t>RETO DE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El repositorio de tu grupo, funcionando en equipo: una rama por persona y un Pull Request aprobado.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2606040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2C39A"/>
                </a:solidFill>
                <a:latin typeface="Cambria"/>
              </a:rPr>
              <a:t>Nadie sale sin: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241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Los 3-4 integrantes clonaron el repo del proyecto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Cada uno hizo commits en su propia rama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Hay al menos un Pull Request revisado y unido a main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Cada uno resolvió un conflicto (aunque fuera el del script)</a:t>
            </a:r>
          </a:p>
        </p:txBody>
      </p:sp>
      <p:pic>
        <p:nvPicPr>
          <p:cNvPr id="9" name="Picture 8" descr="calenda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66360"/>
            <a:ext cx="6273511" cy="960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FEAE4"/>
                </a:solidFill>
                <a:latin typeface="Consolas"/>
              </a:rPr>
              <a:t>GIT Y GITHUB  ·  SESIÓN 2  ·  TRABAJAR EN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C39A"/>
                </a:solidFill>
                <a:latin typeface="Consolas"/>
              </a:rPr>
              <a:t>13</a:t>
            </a:fld>
            <a:r>
              <a:rPr sz="1600">
                <a:solidFill>
                  <a:srgbClr val="BFEAE4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